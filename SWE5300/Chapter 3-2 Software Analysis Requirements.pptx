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5"/>
    <p:sldMasterId id="2147483752" r:id="rId6"/>
  </p:sldMasterIdLst>
  <p:notesMasterIdLst>
    <p:notesMasterId r:id="rId61"/>
  </p:notesMasterIdLst>
  <p:handoutMasterIdLst>
    <p:handoutMasterId r:id="rId62"/>
  </p:handoutMasterIdLst>
  <p:sldIdLst>
    <p:sldId id="256" r:id="rId7"/>
    <p:sldId id="399" r:id="rId8"/>
    <p:sldId id="259" r:id="rId9"/>
    <p:sldId id="400" r:id="rId10"/>
    <p:sldId id="401" r:id="rId11"/>
    <p:sldId id="402" r:id="rId12"/>
    <p:sldId id="263" r:id="rId13"/>
    <p:sldId id="264" r:id="rId14"/>
    <p:sldId id="405" r:id="rId15"/>
    <p:sldId id="267" r:id="rId16"/>
    <p:sldId id="403" r:id="rId17"/>
    <p:sldId id="268" r:id="rId18"/>
    <p:sldId id="269" r:id="rId19"/>
    <p:sldId id="404"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406" r:id="rId57"/>
    <p:sldId id="407" r:id="rId58"/>
    <p:sldId id="408" r:id="rId59"/>
    <p:sldId id="394"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Stephenso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34" autoAdjust="0"/>
  </p:normalViewPr>
  <p:slideViewPr>
    <p:cSldViewPr>
      <p:cViewPr varScale="1">
        <p:scale>
          <a:sx n="85" d="100"/>
          <a:sy n="85" d="100"/>
        </p:scale>
        <p:origin x="236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commentAuthors" Target="commen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notesMaster" Target="notesMasters/notes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fld id="{42C02424-9E94-4DF9-B165-6A7C7C649FAE}"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cs typeface="Arial" charset="0"/>
              </a:defRPr>
            </a:lvl1pPr>
          </a:lstStyle>
          <a:p>
            <a:pPr>
              <a:defRPr/>
            </a:pPr>
            <a:fld id="{8867AF4F-024D-4D0C-A75F-D7C012F15A6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6DF13EF4-CB63-460D-BD57-F56D4266DBE0}" type="slidenum">
              <a:rPr lang="en-US" smtClean="0">
                <a:cs typeface="Arial" pitchFamily="34" charset="0"/>
              </a:rPr>
              <a:pPr/>
              <a:t>1</a:t>
            </a:fld>
            <a:endParaRPr lang="en-US">
              <a:cs typeface="Arial" pitchFamily="3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spcBef>
                <a:spcPts val="150"/>
              </a:spcBef>
              <a:spcAft>
                <a:spcPts val="450"/>
              </a:spcAft>
              <a:buNone/>
            </a:pPr>
            <a:r>
              <a:rPr lang="en-US" b="0" i="0" dirty="0">
                <a:solidFill>
                  <a:srgbClr val="424242"/>
                </a:solidFill>
                <a:effectLst/>
                <a:latin typeface="Segoe Sans"/>
              </a:rPr>
              <a:t>Decompose Processes</a:t>
            </a:r>
          </a:p>
          <a:p>
            <a:pPr algn="l">
              <a:spcAft>
                <a:spcPts val="600"/>
              </a:spcAft>
              <a:buFont typeface="Arial" panose="020B0604020202020204" pitchFamily="34" charset="0"/>
              <a:buChar char="•"/>
            </a:pPr>
            <a:r>
              <a:rPr lang="en-US" b="0" i="0" dirty="0">
                <a:solidFill>
                  <a:srgbClr val="424242"/>
                </a:solidFill>
                <a:effectLst/>
                <a:latin typeface="Segoe Sans"/>
              </a:rPr>
              <a:t>Start with a high-level context diagram (Level 0 DFD) that shows the system as a single process with its interactions with external entities.</a:t>
            </a:r>
          </a:p>
          <a:p>
            <a:pPr algn="l">
              <a:spcAft>
                <a:spcPts val="600"/>
              </a:spcAft>
              <a:buFont typeface="Arial" panose="020B0604020202020204" pitchFamily="34" charset="0"/>
              <a:buChar char="•"/>
            </a:pPr>
            <a:r>
              <a:rPr lang="en-US" b="0" i="0" dirty="0">
                <a:solidFill>
                  <a:srgbClr val="424242"/>
                </a:solidFill>
                <a:effectLst/>
                <a:latin typeface="Segoe Sans"/>
              </a:rPr>
              <a:t>Decompose this into more detailed Level 1, Level 2, etc., DFDs, breaking down each process into subprocesses.</a:t>
            </a:r>
          </a:p>
          <a:p>
            <a:endParaRPr lang="en-MY" dirty="0"/>
          </a:p>
        </p:txBody>
      </p:sp>
      <p:sp>
        <p:nvSpPr>
          <p:cNvPr id="4" name="Slide Number Placeholder 3"/>
          <p:cNvSpPr>
            <a:spLocks noGrp="1"/>
          </p:cNvSpPr>
          <p:nvPr>
            <p:ph type="sldNum" sz="quarter" idx="5"/>
          </p:nvPr>
        </p:nvSpPr>
        <p:spPr/>
        <p:txBody>
          <a:bodyPr/>
          <a:lstStyle/>
          <a:p>
            <a:pPr>
              <a:defRPr/>
            </a:pPr>
            <a:fld id="{8867AF4F-024D-4D0C-A75F-D7C012F15A63}" type="slidenum">
              <a:rPr lang="en-US" smtClean="0"/>
              <a:pPr>
                <a:defRPr/>
              </a:pPr>
              <a:t>19</a:t>
            </a:fld>
            <a:endParaRPr lang="en-US"/>
          </a:p>
        </p:txBody>
      </p:sp>
    </p:spTree>
    <p:extLst>
      <p:ext uri="{BB962C8B-B14F-4D97-AF65-F5344CB8AC3E}">
        <p14:creationId xmlns:p14="http://schemas.microsoft.com/office/powerpoint/2010/main" val="3959441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spcBef>
                <a:spcPts val="150"/>
              </a:spcBef>
              <a:spcAft>
                <a:spcPts val="450"/>
              </a:spcAft>
              <a:buNone/>
            </a:pPr>
            <a:r>
              <a:rPr lang="en-US" b="0" i="0" dirty="0">
                <a:solidFill>
                  <a:srgbClr val="424242"/>
                </a:solidFill>
                <a:effectLst/>
                <a:latin typeface="Segoe Sans"/>
              </a:rPr>
              <a:t>Maintain Consistency</a:t>
            </a:r>
          </a:p>
          <a:p>
            <a:pPr algn="l">
              <a:spcAft>
                <a:spcPts val="600"/>
              </a:spcAft>
              <a:buFont typeface="Arial" panose="020B0604020202020204" pitchFamily="34" charset="0"/>
              <a:buChar char="•"/>
            </a:pPr>
            <a:r>
              <a:rPr lang="en-US" b="0" i="0" dirty="0">
                <a:solidFill>
                  <a:srgbClr val="424242"/>
                </a:solidFill>
                <a:effectLst/>
                <a:latin typeface="Segoe Sans"/>
              </a:rPr>
              <a:t>Ensure that the names of processes, data flows, data stores, and external entities are consistent throughout the DFD.</a:t>
            </a:r>
          </a:p>
          <a:p>
            <a:pPr algn="l">
              <a:spcAft>
                <a:spcPts val="600"/>
              </a:spcAft>
              <a:buFont typeface="Arial" panose="020B0604020202020204" pitchFamily="34" charset="0"/>
              <a:buChar char="•"/>
            </a:pPr>
            <a:r>
              <a:rPr lang="en-US" b="0" i="0" dirty="0">
                <a:solidFill>
                  <a:srgbClr val="424242"/>
                </a:solidFill>
                <a:effectLst/>
                <a:latin typeface="Segoe Sans"/>
              </a:rPr>
              <a:t>Use the same symbols and naming conventions across all levels of DFDs.</a:t>
            </a:r>
          </a:p>
          <a:p>
            <a:pPr algn="l">
              <a:spcAft>
                <a:spcPts val="600"/>
              </a:spcAft>
              <a:buFont typeface="Arial" panose="020B0604020202020204" pitchFamily="34" charset="0"/>
              <a:buChar char="•"/>
            </a:pPr>
            <a:endParaRPr lang="en-US" b="0" i="0" dirty="0">
              <a:solidFill>
                <a:srgbClr val="424242"/>
              </a:solidFill>
              <a:effectLst/>
              <a:latin typeface="Segoe Sans"/>
            </a:endParaRPr>
          </a:p>
          <a:p>
            <a:pPr algn="l">
              <a:lnSpc>
                <a:spcPts val="2400"/>
              </a:lnSpc>
              <a:spcBef>
                <a:spcPts val="150"/>
              </a:spcBef>
              <a:spcAft>
                <a:spcPts val="450"/>
              </a:spcAft>
              <a:buNone/>
            </a:pPr>
            <a:r>
              <a:rPr lang="en-US" b="0" i="0" dirty="0">
                <a:solidFill>
                  <a:srgbClr val="424242"/>
                </a:solidFill>
                <a:effectLst/>
                <a:latin typeface="Segoe Sans"/>
              </a:rPr>
              <a:t> Balance DFD Levels</a:t>
            </a:r>
          </a:p>
          <a:p>
            <a:pPr algn="l">
              <a:spcAft>
                <a:spcPts val="600"/>
              </a:spcAft>
              <a:buFont typeface="Arial" panose="020B0604020202020204" pitchFamily="34" charset="0"/>
              <a:buChar char="•"/>
            </a:pPr>
            <a:r>
              <a:rPr lang="en-US" b="0" i="0" dirty="0">
                <a:solidFill>
                  <a:srgbClr val="424242"/>
                </a:solidFill>
                <a:effectLst/>
                <a:latin typeface="Segoe Sans"/>
              </a:rPr>
              <a:t>Ensure that the input and output data flows of a process at one level match the input and output data flows of the corresponding process at the next level.</a:t>
            </a:r>
          </a:p>
          <a:p>
            <a:pPr algn="l">
              <a:spcAft>
                <a:spcPts val="600"/>
              </a:spcAft>
              <a:buFont typeface="Arial" panose="020B0604020202020204" pitchFamily="34" charset="0"/>
              <a:buChar char="•"/>
            </a:pPr>
            <a:r>
              <a:rPr lang="en-US" b="0" i="0" dirty="0">
                <a:solidFill>
                  <a:srgbClr val="424242"/>
                </a:solidFill>
                <a:effectLst/>
                <a:latin typeface="Segoe Sans"/>
              </a:rPr>
              <a:t>This is known as "balancing" and helps maintain consistency between different levels of DFDs.</a:t>
            </a:r>
          </a:p>
          <a:p>
            <a:pPr algn="l">
              <a:spcAft>
                <a:spcPts val="600"/>
              </a:spcAft>
              <a:buFont typeface="Arial" panose="020B0604020202020204" pitchFamily="34" charset="0"/>
              <a:buChar char="•"/>
            </a:pPr>
            <a:endParaRPr lang="en-US" b="0" i="0" dirty="0">
              <a:solidFill>
                <a:srgbClr val="424242"/>
              </a:solidFill>
              <a:effectLst/>
              <a:latin typeface="Segoe Sans"/>
            </a:endParaRPr>
          </a:p>
          <a:p>
            <a:endParaRPr lang="en-MY" dirty="0"/>
          </a:p>
        </p:txBody>
      </p:sp>
      <p:sp>
        <p:nvSpPr>
          <p:cNvPr id="4" name="Slide Number Placeholder 3"/>
          <p:cNvSpPr>
            <a:spLocks noGrp="1"/>
          </p:cNvSpPr>
          <p:nvPr>
            <p:ph type="sldNum" sz="quarter" idx="5"/>
          </p:nvPr>
        </p:nvSpPr>
        <p:spPr/>
        <p:txBody>
          <a:bodyPr/>
          <a:lstStyle/>
          <a:p>
            <a:pPr>
              <a:defRPr/>
            </a:pPr>
            <a:fld id="{8867AF4F-024D-4D0C-A75F-D7C012F15A63}" type="slidenum">
              <a:rPr lang="en-US" smtClean="0"/>
              <a:pPr>
                <a:defRPr/>
              </a:pPr>
              <a:t>23</a:t>
            </a:fld>
            <a:endParaRPr lang="en-US"/>
          </a:p>
        </p:txBody>
      </p:sp>
    </p:spTree>
    <p:extLst>
      <p:ext uri="{BB962C8B-B14F-4D97-AF65-F5344CB8AC3E}">
        <p14:creationId xmlns:p14="http://schemas.microsoft.com/office/powerpoint/2010/main" val="1171501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spcBef>
                <a:spcPts val="150"/>
              </a:spcBef>
              <a:spcAft>
                <a:spcPts val="450"/>
              </a:spcAft>
              <a:buNone/>
            </a:pPr>
            <a:r>
              <a:rPr lang="en-US" b="0" i="0" dirty="0">
                <a:solidFill>
                  <a:srgbClr val="424242"/>
                </a:solidFill>
                <a:effectLst/>
                <a:latin typeface="Segoe Sans"/>
              </a:rPr>
              <a:t> Balance DFD Levels</a:t>
            </a:r>
          </a:p>
          <a:p>
            <a:pPr algn="l">
              <a:spcAft>
                <a:spcPts val="600"/>
              </a:spcAft>
              <a:buFont typeface="Arial" panose="020B0604020202020204" pitchFamily="34" charset="0"/>
              <a:buChar char="•"/>
            </a:pPr>
            <a:r>
              <a:rPr lang="en-US" b="0" i="0" dirty="0">
                <a:solidFill>
                  <a:srgbClr val="424242"/>
                </a:solidFill>
                <a:effectLst/>
                <a:latin typeface="Segoe Sans"/>
              </a:rPr>
              <a:t>Ensure that the input and output data flows of a process at one level match the input and output data flows of the corresponding process at the next level.</a:t>
            </a:r>
          </a:p>
          <a:p>
            <a:pPr algn="l">
              <a:spcAft>
                <a:spcPts val="600"/>
              </a:spcAft>
              <a:buFont typeface="Arial" panose="020B0604020202020204" pitchFamily="34" charset="0"/>
              <a:buChar char="•"/>
            </a:pPr>
            <a:r>
              <a:rPr lang="en-US" b="0" i="0" dirty="0">
                <a:solidFill>
                  <a:srgbClr val="424242"/>
                </a:solidFill>
                <a:effectLst/>
                <a:latin typeface="Segoe Sans"/>
              </a:rPr>
              <a:t>This is known as "balancing" and helps maintain consistency between different levels of DFDs.</a:t>
            </a:r>
          </a:p>
          <a:p>
            <a:endParaRPr lang="en-MY" dirty="0"/>
          </a:p>
        </p:txBody>
      </p:sp>
      <p:sp>
        <p:nvSpPr>
          <p:cNvPr id="4" name="Slide Number Placeholder 3"/>
          <p:cNvSpPr>
            <a:spLocks noGrp="1"/>
          </p:cNvSpPr>
          <p:nvPr>
            <p:ph type="sldNum" sz="quarter" idx="5"/>
          </p:nvPr>
        </p:nvSpPr>
        <p:spPr/>
        <p:txBody>
          <a:bodyPr/>
          <a:lstStyle/>
          <a:p>
            <a:pPr>
              <a:defRPr/>
            </a:pPr>
            <a:fld id="{8867AF4F-024D-4D0C-A75F-D7C012F15A63}" type="slidenum">
              <a:rPr lang="en-US" smtClean="0"/>
              <a:pPr>
                <a:defRPr/>
              </a:pPr>
              <a:t>24</a:t>
            </a:fld>
            <a:endParaRPr lang="en-US"/>
          </a:p>
        </p:txBody>
      </p:sp>
    </p:spTree>
    <p:extLst>
      <p:ext uri="{BB962C8B-B14F-4D97-AF65-F5344CB8AC3E}">
        <p14:creationId xmlns:p14="http://schemas.microsoft.com/office/powerpoint/2010/main" val="2739378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spcBef>
                <a:spcPts val="150"/>
              </a:spcBef>
              <a:spcAft>
                <a:spcPts val="450"/>
              </a:spcAft>
              <a:buNone/>
            </a:pPr>
            <a:r>
              <a:rPr lang="en-US" b="0" i="0" dirty="0">
                <a:solidFill>
                  <a:srgbClr val="424242"/>
                </a:solidFill>
                <a:effectLst/>
                <a:latin typeface="Segoe Sans"/>
              </a:rPr>
              <a:t>Maintain Consistency</a:t>
            </a:r>
          </a:p>
          <a:p>
            <a:pPr algn="l">
              <a:spcAft>
                <a:spcPts val="600"/>
              </a:spcAft>
              <a:buFont typeface="Arial" panose="020B0604020202020204" pitchFamily="34" charset="0"/>
              <a:buChar char="•"/>
            </a:pPr>
            <a:r>
              <a:rPr lang="en-US" b="0" i="0" dirty="0">
                <a:solidFill>
                  <a:srgbClr val="424242"/>
                </a:solidFill>
                <a:effectLst/>
                <a:latin typeface="Segoe Sans"/>
              </a:rPr>
              <a:t>Ensure that the names of processes, data flows, data stores, and external entities are consistent throughout the DFD.</a:t>
            </a:r>
          </a:p>
          <a:p>
            <a:pPr algn="l">
              <a:spcAft>
                <a:spcPts val="600"/>
              </a:spcAft>
              <a:buFont typeface="Arial" panose="020B0604020202020204" pitchFamily="34" charset="0"/>
              <a:buChar char="•"/>
            </a:pPr>
            <a:r>
              <a:rPr lang="en-US" b="0" i="0" dirty="0">
                <a:solidFill>
                  <a:srgbClr val="424242"/>
                </a:solidFill>
                <a:effectLst/>
                <a:latin typeface="Segoe Sans"/>
              </a:rPr>
              <a:t>Use the same symbols and naming conventions across all levels of DFDs.</a:t>
            </a:r>
          </a:p>
          <a:p>
            <a:endParaRPr lang="en-MY" dirty="0"/>
          </a:p>
        </p:txBody>
      </p:sp>
      <p:sp>
        <p:nvSpPr>
          <p:cNvPr id="4" name="Slide Number Placeholder 3"/>
          <p:cNvSpPr>
            <a:spLocks noGrp="1"/>
          </p:cNvSpPr>
          <p:nvPr>
            <p:ph type="sldNum" sz="quarter" idx="5"/>
          </p:nvPr>
        </p:nvSpPr>
        <p:spPr/>
        <p:txBody>
          <a:bodyPr/>
          <a:lstStyle/>
          <a:p>
            <a:pPr>
              <a:defRPr/>
            </a:pPr>
            <a:fld id="{8867AF4F-024D-4D0C-A75F-D7C012F15A63}" type="slidenum">
              <a:rPr lang="en-US" smtClean="0"/>
              <a:pPr>
                <a:defRPr/>
              </a:pPr>
              <a:t>31</a:t>
            </a:fld>
            <a:endParaRPr lang="en-US"/>
          </a:p>
        </p:txBody>
      </p:sp>
    </p:spTree>
    <p:extLst>
      <p:ext uri="{BB962C8B-B14F-4D97-AF65-F5344CB8AC3E}">
        <p14:creationId xmlns:p14="http://schemas.microsoft.com/office/powerpoint/2010/main" val="2724527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spcBef>
                <a:spcPts val="150"/>
              </a:spcBef>
              <a:spcAft>
                <a:spcPts val="450"/>
              </a:spcAft>
              <a:buNone/>
            </a:pPr>
            <a:r>
              <a:rPr lang="en-US" b="0" i="0" dirty="0">
                <a:solidFill>
                  <a:srgbClr val="424242"/>
                </a:solidFill>
                <a:effectLst/>
                <a:latin typeface="Segoe Sans"/>
              </a:rPr>
              <a:t>Keep It Simple</a:t>
            </a:r>
          </a:p>
          <a:p>
            <a:pPr algn="l">
              <a:spcAft>
                <a:spcPts val="600"/>
              </a:spcAft>
              <a:buFont typeface="Arial" panose="020B0604020202020204" pitchFamily="34" charset="0"/>
              <a:buChar char="•"/>
            </a:pPr>
            <a:r>
              <a:rPr lang="en-US" b="0" i="0" dirty="0">
                <a:solidFill>
                  <a:srgbClr val="424242"/>
                </a:solidFill>
                <a:effectLst/>
                <a:latin typeface="Segoe Sans"/>
              </a:rPr>
              <a:t>Avoid unnecessary complexity. Each DFD should be as simple as possible while still accurately representing the system.</a:t>
            </a:r>
          </a:p>
          <a:p>
            <a:pPr algn="l">
              <a:spcAft>
                <a:spcPts val="600"/>
              </a:spcAft>
              <a:buFont typeface="Arial" panose="020B0604020202020204" pitchFamily="34" charset="0"/>
              <a:buChar char="•"/>
            </a:pPr>
            <a:r>
              <a:rPr lang="en-US" b="0" i="0" dirty="0">
                <a:solidFill>
                  <a:srgbClr val="424242"/>
                </a:solidFill>
                <a:effectLst/>
                <a:latin typeface="Segoe Sans"/>
              </a:rPr>
              <a:t>Use multiple levels of DFDs to break down complex systems into manageable parts.</a:t>
            </a:r>
          </a:p>
          <a:p>
            <a:endParaRPr lang="en-MY" dirty="0"/>
          </a:p>
        </p:txBody>
      </p:sp>
      <p:sp>
        <p:nvSpPr>
          <p:cNvPr id="4" name="Slide Number Placeholder 3"/>
          <p:cNvSpPr>
            <a:spLocks noGrp="1"/>
          </p:cNvSpPr>
          <p:nvPr>
            <p:ph type="sldNum" sz="quarter" idx="5"/>
          </p:nvPr>
        </p:nvSpPr>
        <p:spPr/>
        <p:txBody>
          <a:bodyPr/>
          <a:lstStyle/>
          <a:p>
            <a:pPr>
              <a:defRPr/>
            </a:pPr>
            <a:fld id="{8867AF4F-024D-4D0C-A75F-D7C012F15A63}" type="slidenum">
              <a:rPr lang="en-US" smtClean="0"/>
              <a:pPr>
                <a:defRPr/>
              </a:pPr>
              <a:t>35</a:t>
            </a:fld>
            <a:endParaRPr lang="en-US"/>
          </a:p>
        </p:txBody>
      </p:sp>
    </p:spTree>
    <p:extLst>
      <p:ext uri="{BB962C8B-B14F-4D97-AF65-F5344CB8AC3E}">
        <p14:creationId xmlns:p14="http://schemas.microsoft.com/office/powerpoint/2010/main" val="2586132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p:spPr>
        <p:txBody>
          <a:bodyPr/>
          <a:lstStyle/>
          <a:p>
            <a:endParaRPr lang="en-US">
              <a:latin typeface="Arial" pitchFamily="34" charset="0"/>
              <a:cs typeface="Arial" pitchFamily="34" charset="0"/>
            </a:endParaRPr>
          </a:p>
        </p:txBody>
      </p:sp>
      <p:sp>
        <p:nvSpPr>
          <p:cNvPr id="99332" name="Slide Number Placeholder 3"/>
          <p:cNvSpPr>
            <a:spLocks noGrp="1"/>
          </p:cNvSpPr>
          <p:nvPr>
            <p:ph type="sldNum" sz="quarter" idx="5"/>
          </p:nvPr>
        </p:nvSpPr>
        <p:spPr>
          <a:noFill/>
        </p:spPr>
        <p:txBody>
          <a:bodyPr/>
          <a:lstStyle/>
          <a:p>
            <a:fld id="{CF9387E6-F32F-49AF-BA4C-BBE128C22B44}" type="slidenum">
              <a:rPr lang="en-US" smtClean="0">
                <a:cs typeface="Arial" pitchFamily="34" charset="0"/>
              </a:rPr>
              <a:pPr/>
              <a:t>54</a:t>
            </a:fld>
            <a:endParaRPr lang="en-US">
              <a:cs typeface="Arial" pitchFamily="34" charset="0"/>
            </a:endParaRPr>
          </a:p>
        </p:txBody>
      </p:sp>
    </p:spTree>
    <p:extLst>
      <p:ext uri="{BB962C8B-B14F-4D97-AF65-F5344CB8AC3E}">
        <p14:creationId xmlns:p14="http://schemas.microsoft.com/office/powerpoint/2010/main" val="4170322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BC55929-9D02-4ED0-B45B-00C22D5B5D26}"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58EFFD8C-6B70-4156-A8DC-27560EBC3DB0}"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EAC7E96-6012-4B62-8ABB-1579208B77AA}"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1B52D003-7EA6-4D11-8869-570A404E122D}"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F437E98D-8280-4218-9B9D-7FBD2361DF5D}"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CBD64288-D622-4DC0-B100-084D4B0A844B}"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E466C542-2515-46F9-8FCE-2720EE69DA51}"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D9A2A49F-E1EE-4F0E-B5D5-FCE138EE252A}"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CF08A9EF-B924-45A3-BA1D-180B1344699F}"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71358F75-595C-45E5-8073-5E582BBFCF3D}"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C3FD9E39-46A8-4B42-AA22-F71A7DC8339D}"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BC55929-9D02-4ED0-B45B-00C22D5B5D26}" type="slidenum">
              <a:rPr lang="en-US" smtClean="0"/>
              <a:pPr>
                <a:defRPr/>
              </a:pPr>
              <a:t>‹#›</a:t>
            </a:fld>
            <a:endParaRPr lang="en-US"/>
          </a:p>
        </p:txBody>
      </p:sp>
    </p:spTree>
    <p:extLst>
      <p:ext uri="{BB962C8B-B14F-4D97-AF65-F5344CB8AC3E}">
        <p14:creationId xmlns:p14="http://schemas.microsoft.com/office/powerpoint/2010/main" val="3788634771"/>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8EFFD8C-6B70-4156-A8DC-27560EBC3DB0}" type="slidenum">
              <a:rPr lang="en-US" smtClean="0"/>
              <a:pPr>
                <a:defRPr/>
              </a:pPr>
              <a:t>‹#›</a:t>
            </a:fld>
            <a:endParaRPr lang="en-US"/>
          </a:p>
        </p:txBody>
      </p:sp>
    </p:spTree>
    <p:extLst>
      <p:ext uri="{BB962C8B-B14F-4D97-AF65-F5344CB8AC3E}">
        <p14:creationId xmlns:p14="http://schemas.microsoft.com/office/powerpoint/2010/main" val="148836106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EAC7E96-6012-4B62-8ABB-1579208B77AA}" type="slidenum">
              <a:rPr lang="en-US" smtClean="0"/>
              <a:pPr>
                <a:defRPr/>
              </a:pPr>
              <a:t>‹#›</a:t>
            </a:fld>
            <a:endParaRPr lang="en-US"/>
          </a:p>
        </p:txBody>
      </p:sp>
    </p:spTree>
    <p:extLst>
      <p:ext uri="{BB962C8B-B14F-4D97-AF65-F5344CB8AC3E}">
        <p14:creationId xmlns:p14="http://schemas.microsoft.com/office/powerpoint/2010/main" val="2494673159"/>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B52D003-7EA6-4D11-8869-570A404E122D}" type="slidenum">
              <a:rPr lang="en-US" smtClean="0"/>
              <a:pPr>
                <a:defRPr/>
              </a:pPr>
              <a:t>‹#›</a:t>
            </a:fld>
            <a:endParaRPr lang="en-US"/>
          </a:p>
        </p:txBody>
      </p:sp>
    </p:spTree>
    <p:extLst>
      <p:ext uri="{BB962C8B-B14F-4D97-AF65-F5344CB8AC3E}">
        <p14:creationId xmlns:p14="http://schemas.microsoft.com/office/powerpoint/2010/main" val="3360994187"/>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437E98D-8280-4218-9B9D-7FBD2361DF5D}" type="slidenum">
              <a:rPr lang="en-US" smtClean="0"/>
              <a:pPr>
                <a:defRPr/>
              </a:pPr>
              <a:t>‹#›</a:t>
            </a:fld>
            <a:endParaRPr lang="en-US"/>
          </a:p>
        </p:txBody>
      </p:sp>
    </p:spTree>
    <p:extLst>
      <p:ext uri="{BB962C8B-B14F-4D97-AF65-F5344CB8AC3E}">
        <p14:creationId xmlns:p14="http://schemas.microsoft.com/office/powerpoint/2010/main" val="1611871813"/>
      </p:ext>
    </p:extLst>
  </p:cSld>
  <p:clrMapOvr>
    <a:masterClrMapping/>
  </p:clrMapOvr>
  <p:transition>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BD64288-D622-4DC0-B100-084D4B0A844B}" type="slidenum">
              <a:rPr lang="en-US" smtClean="0"/>
              <a:pPr>
                <a:defRPr/>
              </a:pPr>
              <a:t>‹#›</a:t>
            </a:fld>
            <a:endParaRPr lang="en-US"/>
          </a:p>
        </p:txBody>
      </p:sp>
    </p:spTree>
    <p:extLst>
      <p:ext uri="{BB962C8B-B14F-4D97-AF65-F5344CB8AC3E}">
        <p14:creationId xmlns:p14="http://schemas.microsoft.com/office/powerpoint/2010/main" val="2865626276"/>
      </p:ext>
    </p:extLst>
  </p:cSld>
  <p:clrMapOvr>
    <a:masterClrMapping/>
  </p:clrMapOvr>
  <p:transition>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E466C542-2515-46F9-8FCE-2720EE69DA51}" type="slidenum">
              <a:rPr lang="en-US" smtClean="0"/>
              <a:pPr>
                <a:defRPr/>
              </a:pPr>
              <a:t>‹#›</a:t>
            </a:fld>
            <a:endParaRPr lang="en-US"/>
          </a:p>
        </p:txBody>
      </p:sp>
    </p:spTree>
    <p:extLst>
      <p:ext uri="{BB962C8B-B14F-4D97-AF65-F5344CB8AC3E}">
        <p14:creationId xmlns:p14="http://schemas.microsoft.com/office/powerpoint/2010/main" val="2844633250"/>
      </p:ext>
    </p:extLst>
  </p:cSld>
  <p:clrMapOvr>
    <a:masterClrMapping/>
  </p:clrMapOvr>
  <p:transition>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9A2A49F-E1EE-4F0E-B5D5-FCE138EE252A}" type="slidenum">
              <a:rPr lang="en-US" smtClean="0"/>
              <a:pPr>
                <a:defRPr/>
              </a:pPr>
              <a:t>‹#›</a:t>
            </a:fld>
            <a:endParaRPr lang="en-US"/>
          </a:p>
        </p:txBody>
      </p:sp>
    </p:spTree>
    <p:extLst>
      <p:ext uri="{BB962C8B-B14F-4D97-AF65-F5344CB8AC3E}">
        <p14:creationId xmlns:p14="http://schemas.microsoft.com/office/powerpoint/2010/main" val="3067392301"/>
      </p:ext>
    </p:extLst>
  </p:cSld>
  <p:clrMapOvr>
    <a:masterClrMapping/>
  </p:clrMapOvr>
  <p:transition>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F08A9EF-B924-45A3-BA1D-180B1344699F}" type="slidenum">
              <a:rPr lang="en-US" smtClean="0"/>
              <a:pPr>
                <a:defRPr/>
              </a:pPr>
              <a:t>‹#›</a:t>
            </a:fld>
            <a:endParaRPr lang="en-US"/>
          </a:p>
        </p:txBody>
      </p:sp>
    </p:spTree>
    <p:extLst>
      <p:ext uri="{BB962C8B-B14F-4D97-AF65-F5344CB8AC3E}">
        <p14:creationId xmlns:p14="http://schemas.microsoft.com/office/powerpoint/2010/main" val="1988420729"/>
      </p:ext>
    </p:extLst>
  </p:cSld>
  <p:clrMapOvr>
    <a:masterClrMapping/>
  </p:clrMapOvr>
  <p:transition>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1358F75-595C-45E5-8073-5E582BBFCF3D}" type="slidenum">
              <a:rPr lang="en-US" smtClean="0"/>
              <a:pPr>
                <a:defRPr/>
              </a:pPr>
              <a:t>‹#›</a:t>
            </a:fld>
            <a:endParaRPr lang="en-US"/>
          </a:p>
        </p:txBody>
      </p:sp>
    </p:spTree>
    <p:extLst>
      <p:ext uri="{BB962C8B-B14F-4D97-AF65-F5344CB8AC3E}">
        <p14:creationId xmlns:p14="http://schemas.microsoft.com/office/powerpoint/2010/main" val="2894029483"/>
      </p:ext>
    </p:extLst>
  </p:cSld>
  <p:clrMapOvr>
    <a:masterClrMapping/>
  </p:clrMapOvr>
  <p:transition>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FD9E39-46A8-4B42-AA22-F71A7DC8339D}" type="slidenum">
              <a:rPr lang="en-US" smtClean="0"/>
              <a:pPr>
                <a:defRPr/>
              </a:pPr>
              <a:t>‹#›</a:t>
            </a:fld>
            <a:endParaRPr lang="en-US"/>
          </a:p>
        </p:txBody>
      </p:sp>
    </p:spTree>
    <p:extLst>
      <p:ext uri="{BB962C8B-B14F-4D97-AF65-F5344CB8AC3E}">
        <p14:creationId xmlns:p14="http://schemas.microsoft.com/office/powerpoint/2010/main" val="439094332"/>
      </p:ext>
    </p:extLst>
  </p:cSld>
  <p:clrMapOvr>
    <a:masterClrMapping/>
  </p:clrMapOvr>
  <p:transition>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59667" y="1013383"/>
            <a:ext cx="7365698" cy="378886"/>
          </a:xfrm>
          <a:prstGeom prst="rect">
            <a:avLst/>
          </a:prstGeom>
        </p:spPr>
        <p:txBody>
          <a:bodyPr wrap="square" lIns="0" tIns="0" rIns="0" bIns="0">
            <a:spAutoFit/>
          </a:bodyPr>
          <a:lstStyle>
            <a:lvl1pPr>
              <a:defRPr sz="2736" b="0"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378886"/>
          </a:xfrm>
          <a:prstGeom prst="rect">
            <a:avLst/>
          </a:prstGeom>
        </p:spPr>
        <p:txBody>
          <a:bodyPr wrap="square" lIns="0" tIns="0" rIns="0" bIns="0">
            <a:spAutoFit/>
          </a:bodyPr>
          <a:lstStyle>
            <a:lvl1pPr>
              <a:defRPr sz="2736"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4/29/2025</a:t>
            </a:fld>
            <a:endParaRPr lang="en-US"/>
          </a:p>
        </p:txBody>
      </p:sp>
      <p:sp>
        <p:nvSpPr>
          <p:cNvPr id="6" name="Holder 6"/>
          <p:cNvSpPr>
            <a:spLocks noGrp="1"/>
          </p:cNvSpPr>
          <p:nvPr>
            <p:ph type="sldNum" sz="quarter" idx="7"/>
          </p:nvPr>
        </p:nvSpPr>
        <p:spPr/>
        <p:txBody>
          <a:bodyPr lIns="0" tIns="0" rIns="0" bIns="0"/>
          <a:lstStyle>
            <a:lvl1pPr>
              <a:defRPr sz="1026" b="0" i="0">
                <a:solidFill>
                  <a:schemeClr val="tx1"/>
                </a:solidFill>
                <a:latin typeface="Arial Black"/>
                <a:cs typeface="Arial Black"/>
              </a:defRPr>
            </a:lvl1pPr>
          </a:lstStyle>
          <a:p>
            <a:pPr marL="10860">
              <a:spcBef>
                <a:spcPts val="188"/>
              </a:spcBef>
            </a:pPr>
            <a:fld id="{81D60167-4931-47E6-BA6A-407CBD079E47}" type="slidenum">
              <a:rPr lang="en-MY" spc="-21" smtClean="0"/>
              <a:pPr marL="10860">
                <a:spcBef>
                  <a:spcPts val="188"/>
                </a:spcBef>
              </a:pPr>
              <a:t>‹#›</a:t>
            </a:fld>
            <a:endParaRPr lang="en-MY" spc="-21" dirty="0"/>
          </a:p>
        </p:txBody>
      </p:sp>
    </p:spTree>
    <p:extLst>
      <p:ext uri="{BB962C8B-B14F-4D97-AF65-F5344CB8AC3E}">
        <p14:creationId xmlns:p14="http://schemas.microsoft.com/office/powerpoint/2010/main" val="4247084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6722" name="Rectangle 2"/>
          <p:cNvSpPr>
            <a:spLocks noGrp="1" noChangeArrowheads="1"/>
          </p:cNvSpPr>
          <p:nvPr>
            <p:ph type="ftr" sz="quarter" idx="3"/>
          </p:nvPr>
        </p:nvSpPr>
        <p:spPr bwMode="auto">
          <a:xfrm>
            <a:off x="1524000" y="6248400"/>
            <a:ext cx="594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latin typeface="Arial" charset="0"/>
                <a:cs typeface="Arial" charset="0"/>
              </a:defRPr>
            </a:lvl1pPr>
          </a:lstStyle>
          <a:p>
            <a:pPr>
              <a:defRPr/>
            </a:pPr>
            <a:endParaRPr lang="en-US"/>
          </a:p>
        </p:txBody>
      </p:sp>
      <p:sp>
        <p:nvSpPr>
          <p:cNvPr id="286723"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cs typeface="Arial" charset="0"/>
              </a:defRPr>
            </a:lvl1pPr>
          </a:lstStyle>
          <a:p>
            <a:pPr>
              <a:defRPr/>
            </a:pPr>
            <a:fld id="{92B6F396-17F8-4A99-B699-97563CCE2890}" type="slidenum">
              <a:rPr lang="en-US"/>
              <a:pPr>
                <a:defRPr/>
              </a:pPr>
              <a:t>‹#›</a:t>
            </a:fld>
            <a:endParaRPr lang="en-US"/>
          </a:p>
        </p:txBody>
      </p:sp>
      <p:grpSp>
        <p:nvGrpSpPr>
          <p:cNvPr id="1028" name="Group 4"/>
          <p:cNvGrpSpPr>
            <a:grpSpLocks/>
          </p:cNvGrpSpPr>
          <p:nvPr/>
        </p:nvGrpSpPr>
        <p:grpSpPr bwMode="auto">
          <a:xfrm>
            <a:off x="0" y="0"/>
            <a:ext cx="9144000" cy="546100"/>
            <a:chOff x="0" y="0"/>
            <a:chExt cx="5760" cy="344"/>
          </a:xfrm>
        </p:grpSpPr>
        <p:sp>
          <p:nvSpPr>
            <p:cNvPr id="2867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cs typeface="Arial" charset="0"/>
              </a:endParaRPr>
            </a:p>
          </p:txBody>
        </p:sp>
        <p:sp>
          <p:nvSpPr>
            <p:cNvPr id="2867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286727"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86728"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86729"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286730"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86731"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286732"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286733"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6736"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cs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ransition>
    <p:zoom/>
  </p:transition>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2B6F396-17F8-4A99-B699-97563CCE2890}" type="slidenum">
              <a:rPr lang="en-US" smtClean="0"/>
              <a:pPr>
                <a:defRPr/>
              </a:pPr>
              <a:t>‹#›</a:t>
            </a:fld>
            <a:endParaRPr lang="en-US"/>
          </a:p>
        </p:txBody>
      </p:sp>
    </p:spTree>
    <p:extLst>
      <p:ext uri="{BB962C8B-B14F-4D97-AF65-F5344CB8AC3E}">
        <p14:creationId xmlns:p14="http://schemas.microsoft.com/office/powerpoint/2010/main" val="230494845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transition>
    <p:zoom/>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 name="Rectangle 205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Freeform: Shape 206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2062473-9456-8CF2-2A6B-B909D5A442E5}"/>
              </a:ext>
            </a:extLst>
          </p:cNvPr>
          <p:cNvSpPr>
            <a:spLocks noGrp="1"/>
          </p:cNvSpPr>
          <p:nvPr>
            <p:ph type="ctrTitle"/>
          </p:nvPr>
        </p:nvSpPr>
        <p:spPr>
          <a:xfrm>
            <a:off x="986118" y="735106"/>
            <a:ext cx="7540322" cy="2928470"/>
          </a:xfrm>
        </p:spPr>
        <p:txBody>
          <a:bodyPr anchor="b">
            <a:normAutofit/>
          </a:bodyPr>
          <a:lstStyle/>
          <a:p>
            <a:pPr algn="l"/>
            <a:r>
              <a:rPr lang="en-US" sz="4200" b="1" dirty="0">
                <a:solidFill>
                  <a:srgbClr val="FFFFFF"/>
                </a:solidFill>
              </a:rPr>
              <a:t>Chapter 3 Software Requirement Analysis –PART 2</a:t>
            </a:r>
            <a:br>
              <a:rPr lang="en-US" sz="4200" b="1" dirty="0">
                <a:solidFill>
                  <a:srgbClr val="FFFFFF"/>
                </a:solidFill>
              </a:rPr>
            </a:br>
            <a:endParaRPr lang="en-MY" sz="4200" dirty="0">
              <a:solidFill>
                <a:srgbClr val="FFFFFF"/>
              </a:solidFill>
            </a:endParaRPr>
          </a:p>
        </p:txBody>
      </p:sp>
      <p:sp>
        <p:nvSpPr>
          <p:cNvPr id="2050" name="Rectangle 3"/>
          <p:cNvSpPr>
            <a:spLocks noGrp="1" noChangeArrowheads="1"/>
          </p:cNvSpPr>
          <p:nvPr>
            <p:ph type="subTitle" idx="1"/>
          </p:nvPr>
        </p:nvSpPr>
        <p:spPr>
          <a:xfrm>
            <a:off x="1013011" y="4870824"/>
            <a:ext cx="7504463" cy="1458258"/>
          </a:xfrm>
        </p:spPr>
        <p:txBody>
          <a:bodyPr anchor="ctr">
            <a:normAutofit/>
          </a:bodyPr>
          <a:lstStyle/>
          <a:p>
            <a:pPr algn="l" eaLnBrk="1" hangingPunct="1"/>
            <a:r>
              <a:rPr lang="en-US" dirty="0"/>
              <a:t>Determining System Requirements</a:t>
            </a:r>
          </a:p>
          <a:p>
            <a:pPr algn="l" eaLnBrk="1" hangingPunct="1"/>
            <a:r>
              <a:rPr lang="en-US" b="1" dirty="0"/>
              <a:t>System Process Requirements</a:t>
            </a:r>
          </a:p>
          <a:p>
            <a:pPr algn="l" eaLnBrk="1" hangingPunct="1"/>
            <a:r>
              <a:rPr lang="en-US" dirty="0"/>
              <a:t>System Data Requirements</a:t>
            </a:r>
          </a:p>
        </p:txBody>
      </p:sp>
      <p:sp>
        <p:nvSpPr>
          <p:cNvPr id="2051" name="Rectangle 8"/>
          <p:cNvSpPr>
            <a:spLocks noChangeArrowheads="1"/>
          </p:cNvSpPr>
          <p:nvPr/>
        </p:nvSpPr>
        <p:spPr bwMode="auto">
          <a:xfrm>
            <a:off x="914400" y="457200"/>
            <a:ext cx="7467600" cy="3581400"/>
          </a:xfrm>
          <a:prstGeom prst="rect">
            <a:avLst/>
          </a:prstGeom>
          <a:noFill/>
          <a:ln w="9525">
            <a:noFill/>
            <a:miter lim="800000"/>
            <a:headEnd/>
            <a:tailEnd/>
          </a:ln>
        </p:spPr>
        <p:txBody>
          <a:bodyPr anchor="b"/>
          <a:lstStyle/>
          <a:p>
            <a:pPr algn="ctr">
              <a:lnSpc>
                <a:spcPct val="75000"/>
              </a:lnSpc>
              <a:spcAft>
                <a:spcPts val="600"/>
              </a:spcAft>
            </a:pPr>
            <a:endParaRPr lang="en-US" sz="4000" b="1">
              <a:solidFill>
                <a:schemeClr val="tx2"/>
              </a:solidFill>
            </a:endParaRPr>
          </a:p>
          <a:p>
            <a:pPr algn="ctr">
              <a:lnSpc>
                <a:spcPct val="75000"/>
              </a:lnSpc>
              <a:spcAft>
                <a:spcPts val="600"/>
              </a:spcAft>
            </a:pPr>
            <a:endParaRPr lang="en-US" sz="4000" b="1">
              <a:solidFill>
                <a:schemeClr val="tx2"/>
              </a:solidFill>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55ABDEB-632B-212A-8653-56EC432D9FB6}"/>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algn="ctr"/>
            <a:r>
              <a:rPr lang="en-US" sz="6300" kern="1200" dirty="0" err="1">
                <a:solidFill>
                  <a:schemeClr val="tx1"/>
                </a:solidFill>
                <a:latin typeface="+mj-lt"/>
                <a:ea typeface="+mj-ea"/>
                <a:cs typeface="+mj-cs"/>
              </a:rPr>
              <a:t>SystemProcess</a:t>
            </a:r>
            <a:r>
              <a:rPr lang="en-US" sz="6300" kern="1200" dirty="0">
                <a:solidFill>
                  <a:schemeClr val="tx1"/>
                </a:solidFill>
                <a:latin typeface="+mj-lt"/>
                <a:ea typeface="+mj-ea"/>
                <a:cs typeface="+mj-cs"/>
              </a:rPr>
              <a:t> Requirements</a:t>
            </a:r>
          </a:p>
        </p:txBody>
      </p:sp>
      <p:sp>
        <p:nvSpPr>
          <p:cNvPr id="17" name="Rectangle 1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0EF5927-B1A2-33C2-78C6-E76460EA2F35}"/>
              </a:ext>
            </a:extLst>
          </p:cNvPr>
          <p:cNvSpPr>
            <a:spLocks noGrp="1"/>
          </p:cNvSpPr>
          <p:nvPr>
            <p:ph type="dt" sz="half" idx="10"/>
          </p:nvPr>
        </p:nvSpPr>
        <p:spPr>
          <a:xfrm>
            <a:off x="325622" y="6356350"/>
            <a:ext cx="874528" cy="365125"/>
          </a:xfrm>
        </p:spPr>
        <p:txBody>
          <a:bodyPr vert="horz" lIns="91440" tIns="45720" rIns="91440" bIns="45720" rtlCol="0" anchor="ctr">
            <a:normAutofit/>
          </a:bodyPr>
          <a:lstStyle/>
          <a:p>
            <a:pPr>
              <a:defRPr/>
            </a:pPr>
            <a:endParaRPr lang="en-US">
              <a:solidFill>
                <a:schemeClr val="tx1">
                  <a:lumMod val="50000"/>
                  <a:lumOff val="50000"/>
                </a:schemeClr>
              </a:solidFill>
              <a:latin typeface="+mn-lt"/>
              <a:cs typeface="+mn-cs"/>
            </a:endParaRPr>
          </a:p>
        </p:txBody>
      </p:sp>
      <p:sp>
        <p:nvSpPr>
          <p:cNvPr id="5" name="Footer Placeholder 4">
            <a:extLst>
              <a:ext uri="{FF2B5EF4-FFF2-40B4-BE49-F238E27FC236}">
                <a16:creationId xmlns:a16="http://schemas.microsoft.com/office/drawing/2014/main" id="{39330D8F-E1CC-8F0D-C387-11FFB2B04F37}"/>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defRPr/>
            </a:pPr>
            <a:endParaRPr lang="en-US" sz="1200" kern="1200">
              <a:solidFill>
                <a:schemeClr val="tx1">
                  <a:lumMod val="50000"/>
                  <a:lumOff val="50000"/>
                </a:schemeClr>
              </a:solidFill>
              <a:latin typeface="+mn-lt"/>
              <a:ea typeface="+mn-ea"/>
              <a:cs typeface="+mn-cs"/>
            </a:endParaRPr>
          </a:p>
        </p:txBody>
      </p:sp>
      <p:sp>
        <p:nvSpPr>
          <p:cNvPr id="6" name="Slide Number Placeholder 5">
            <a:extLst>
              <a:ext uri="{FF2B5EF4-FFF2-40B4-BE49-F238E27FC236}">
                <a16:creationId xmlns:a16="http://schemas.microsoft.com/office/drawing/2014/main" id="{A8B06E06-BF2C-39C0-37C3-F40F1714AC25}"/>
              </a:ext>
            </a:extLst>
          </p:cNvPr>
          <p:cNvSpPr>
            <a:spLocks noGrp="1"/>
          </p:cNvSpPr>
          <p:nvPr>
            <p:ph type="sldNum" sz="quarter" idx="12"/>
          </p:nvPr>
        </p:nvSpPr>
        <p:spPr>
          <a:xfrm>
            <a:off x="7866764" y="6356350"/>
            <a:ext cx="951613" cy="365125"/>
          </a:xfrm>
        </p:spPr>
        <p:txBody>
          <a:bodyPr vert="horz" lIns="91440" tIns="45720" rIns="91440" bIns="45720" rtlCol="0" anchor="ctr">
            <a:normAutofit/>
          </a:bodyPr>
          <a:lstStyle/>
          <a:p>
            <a:pPr>
              <a:spcAft>
                <a:spcPts val="600"/>
              </a:spcAft>
              <a:defRPr/>
            </a:pPr>
            <a:fld id="{6EAC7E96-6012-4B62-8ABB-1579208B77AA}" type="slidenum">
              <a:rPr lang="en-US">
                <a:solidFill>
                  <a:schemeClr val="tx1">
                    <a:lumMod val="50000"/>
                    <a:lumOff val="50000"/>
                  </a:schemeClr>
                </a:solidFill>
                <a:latin typeface="+mn-lt"/>
                <a:cs typeface="+mn-cs"/>
              </a:rPr>
              <a:pPr>
                <a:spcAft>
                  <a:spcPts val="600"/>
                </a:spcAft>
                <a:defRPr/>
              </a:pPr>
              <a:t>2</a:t>
            </a:fld>
            <a:endParaRPr lang="en-US">
              <a:solidFill>
                <a:schemeClr val="tx1">
                  <a:lumMod val="50000"/>
                  <a:lumOff val="50000"/>
                </a:schemeClr>
              </a:solidFill>
              <a:latin typeface="+mn-lt"/>
              <a:cs typeface="+mn-cs"/>
            </a:endParaRPr>
          </a:p>
        </p:txBody>
      </p:sp>
    </p:spTree>
    <p:extLst>
      <p:ext uri="{BB962C8B-B14F-4D97-AF65-F5344CB8AC3E}">
        <p14:creationId xmlns:p14="http://schemas.microsoft.com/office/powerpoint/2010/main" val="38710419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Process</a:t>
            </a:r>
            <a:r>
              <a:rPr sz="3762" spc="-141" dirty="0"/>
              <a:t> </a:t>
            </a:r>
            <a:r>
              <a:rPr sz="3762" spc="-9" dirty="0"/>
              <a:t>Modeling</a:t>
            </a:r>
            <a:endParaRPr sz="3762"/>
          </a:p>
        </p:txBody>
      </p:sp>
      <p:sp>
        <p:nvSpPr>
          <p:cNvPr id="3" name="object 3"/>
          <p:cNvSpPr txBox="1"/>
          <p:nvPr/>
        </p:nvSpPr>
        <p:spPr>
          <a:xfrm>
            <a:off x="1454134" y="5486400"/>
            <a:ext cx="5827400" cy="48468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sz="1539" b="1" spc="-30" dirty="0">
                <a:latin typeface="Arial"/>
                <a:cs typeface="Arial"/>
              </a:rPr>
              <a:t> </a:t>
            </a:r>
            <a:r>
              <a:rPr sz="1539" b="1" spc="-43" dirty="0">
                <a:latin typeface="Arial"/>
                <a:cs typeface="Arial"/>
              </a:rPr>
              <a:t>1</a:t>
            </a:r>
            <a:endParaRPr sz="1539" dirty="0">
              <a:latin typeface="Arial"/>
              <a:cs typeface="Arial"/>
            </a:endParaRPr>
          </a:p>
          <a:p>
            <a:pPr marL="10860"/>
            <a:r>
              <a:rPr sz="1539" dirty="0">
                <a:latin typeface="Arial"/>
                <a:cs typeface="Arial"/>
              </a:rPr>
              <a:t>Systems</a:t>
            </a:r>
            <a:r>
              <a:rPr sz="1539" spc="-64" dirty="0">
                <a:latin typeface="Arial"/>
                <a:cs typeface="Arial"/>
              </a:rPr>
              <a:t> </a:t>
            </a:r>
            <a:r>
              <a:rPr sz="1539" dirty="0">
                <a:latin typeface="Arial"/>
                <a:cs typeface="Arial"/>
              </a:rPr>
              <a:t>development</a:t>
            </a:r>
            <a:r>
              <a:rPr sz="1539" spc="-60" dirty="0">
                <a:latin typeface="Arial"/>
                <a:cs typeface="Arial"/>
              </a:rPr>
              <a:t> </a:t>
            </a:r>
            <a:r>
              <a:rPr sz="1539" dirty="0">
                <a:latin typeface="Arial"/>
                <a:cs typeface="Arial"/>
              </a:rPr>
              <a:t>life</a:t>
            </a:r>
            <a:r>
              <a:rPr sz="1539" spc="-9" dirty="0">
                <a:latin typeface="Arial"/>
                <a:cs typeface="Arial"/>
              </a:rPr>
              <a:t> </a:t>
            </a:r>
            <a:r>
              <a:rPr sz="1539" dirty="0">
                <a:latin typeface="Arial"/>
                <a:cs typeface="Arial"/>
              </a:rPr>
              <a:t>cycle</a:t>
            </a:r>
            <a:r>
              <a:rPr sz="1539" spc="-4" dirty="0">
                <a:latin typeface="Arial"/>
                <a:cs typeface="Arial"/>
              </a:rPr>
              <a:t> </a:t>
            </a:r>
            <a:r>
              <a:rPr sz="1539" dirty="0">
                <a:latin typeface="Arial"/>
                <a:cs typeface="Arial"/>
              </a:rPr>
              <a:t>with</a:t>
            </a:r>
            <a:r>
              <a:rPr sz="1539" spc="17" dirty="0">
                <a:latin typeface="Arial"/>
                <a:cs typeface="Arial"/>
              </a:rPr>
              <a:t> </a:t>
            </a:r>
            <a:r>
              <a:rPr sz="1539" dirty="0">
                <a:latin typeface="Arial"/>
                <a:cs typeface="Arial"/>
              </a:rPr>
              <a:t>the</a:t>
            </a:r>
            <a:r>
              <a:rPr sz="1539" spc="-4" dirty="0">
                <a:latin typeface="Arial"/>
                <a:cs typeface="Arial"/>
              </a:rPr>
              <a:t> </a:t>
            </a:r>
            <a:r>
              <a:rPr sz="1539" dirty="0">
                <a:latin typeface="Arial"/>
                <a:cs typeface="Arial"/>
              </a:rPr>
              <a:t>analysis</a:t>
            </a:r>
            <a:r>
              <a:rPr sz="1539" spc="-34" dirty="0">
                <a:latin typeface="Arial"/>
                <a:cs typeface="Arial"/>
              </a:rPr>
              <a:t> </a:t>
            </a:r>
            <a:r>
              <a:rPr sz="1539" dirty="0">
                <a:latin typeface="Arial"/>
                <a:cs typeface="Arial"/>
              </a:rPr>
              <a:t>phase</a:t>
            </a:r>
            <a:r>
              <a:rPr sz="1539" spc="-9" dirty="0">
                <a:latin typeface="Arial"/>
                <a:cs typeface="Arial"/>
              </a:rPr>
              <a:t> highlighted</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a:t>
            </a:fld>
            <a:endParaRPr spc="-21" dirty="0"/>
          </a:p>
        </p:txBody>
      </p:sp>
      <p:pic>
        <p:nvPicPr>
          <p:cNvPr id="7" name="Picture 6">
            <a:extLst>
              <a:ext uri="{FF2B5EF4-FFF2-40B4-BE49-F238E27FC236}">
                <a16:creationId xmlns:a16="http://schemas.microsoft.com/office/drawing/2014/main" id="{4DA48203-6EEF-DF8A-F87E-C23FE3E45D3A}"/>
              </a:ext>
            </a:extLst>
          </p:cNvPr>
          <p:cNvPicPr>
            <a:picLocks noChangeAspect="1"/>
          </p:cNvPicPr>
          <p:nvPr/>
        </p:nvPicPr>
        <p:blipFill>
          <a:blip r:embed="rId2"/>
          <a:stretch>
            <a:fillRect/>
          </a:stretch>
        </p:blipFill>
        <p:spPr>
          <a:xfrm>
            <a:off x="589994" y="1642813"/>
            <a:ext cx="7964011" cy="3572374"/>
          </a:xfrm>
          <a:prstGeom prst="rect">
            <a:avLst/>
          </a:prstGeom>
        </p:spPr>
      </p:pic>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2">
            <a:extLst>
              <a:ext uri="{FF2B5EF4-FFF2-40B4-BE49-F238E27FC236}">
                <a16:creationId xmlns:a16="http://schemas.microsoft.com/office/drawing/2014/main" id="{88C3E0E1-8B3C-7BA5-6499-8D57F096CF4C}"/>
              </a:ext>
            </a:extLst>
          </p:cNvPr>
          <p:cNvSpPr>
            <a:spLocks noGrp="1"/>
          </p:cNvSpPr>
          <p:nvPr>
            <p:ph idx="4294967295"/>
          </p:nvPr>
        </p:nvSpPr>
        <p:spPr>
          <a:xfrm>
            <a:off x="628650" y="1929384"/>
            <a:ext cx="7886700" cy="4251960"/>
          </a:xfrm>
        </p:spPr>
        <p:txBody>
          <a:bodyPr vert="horz" lIns="91440" tIns="45720" rIns="91440" bIns="45720" rtlCol="0">
            <a:normAutofit/>
          </a:bodyPr>
          <a:lstStyle/>
          <a:p>
            <a:r>
              <a:rPr lang="en-US" sz="2400" b="0" i="0" u="none" strike="noStrike" baseline="0" dirty="0"/>
              <a:t>Data flow diagrams </a:t>
            </a:r>
          </a:p>
          <a:p>
            <a:pPr lvl="1"/>
            <a:r>
              <a:rPr lang="en-US" sz="1800" b="0" i="0" u="none" strike="noStrike" baseline="0" dirty="0"/>
              <a:t>used to coherently represent the information gathered as part of requirements determination</a:t>
            </a:r>
          </a:p>
          <a:p>
            <a:pPr lvl="1"/>
            <a:r>
              <a:rPr lang="en-US" sz="1800" b="0" i="0" u="none" strike="noStrike" baseline="0" dirty="0"/>
              <a:t>enable to model how data flow through an information system, the relationships among the data flows, and how data come to be stored at specific locations.</a:t>
            </a:r>
          </a:p>
          <a:p>
            <a:pPr lvl="1"/>
            <a:r>
              <a:rPr lang="en-US" sz="1800" b="0" i="0" u="none" strike="noStrike" baseline="0" dirty="0"/>
              <a:t>show the processes that change or transform data. Because data flow diagrams concentrate on the movement of data between processes</a:t>
            </a:r>
            <a:endParaRPr lang="en-US" sz="1800" b="1" i="0" u="none" strike="noStrike" baseline="0" dirty="0"/>
          </a:p>
          <a:p>
            <a:r>
              <a:rPr lang="en-US" sz="2400" b="0" i="0" u="none" strike="noStrike" baseline="0" dirty="0"/>
              <a:t>a data flow diagram is a graphical tool that allows analysts (and users, for that matter) to depict the flow of data in an information system. The system can be physical or logical, manual or computer based.</a:t>
            </a:r>
          </a:p>
        </p:txBody>
      </p:sp>
      <p:sp>
        <p:nvSpPr>
          <p:cNvPr id="4" name="Date Placeholder 3">
            <a:extLst>
              <a:ext uri="{FF2B5EF4-FFF2-40B4-BE49-F238E27FC236}">
                <a16:creationId xmlns:a16="http://schemas.microsoft.com/office/drawing/2014/main" id="{03527306-68E9-F7D2-C2F1-2282F4FD7DA7}"/>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defRPr/>
            </a:pPr>
            <a:endParaRPr lang="en-US">
              <a:latin typeface="+mn-lt"/>
              <a:cs typeface="+mn-cs"/>
            </a:endParaRPr>
          </a:p>
        </p:txBody>
      </p:sp>
      <p:sp>
        <p:nvSpPr>
          <p:cNvPr id="5" name="Footer Placeholder 4">
            <a:extLst>
              <a:ext uri="{FF2B5EF4-FFF2-40B4-BE49-F238E27FC236}">
                <a16:creationId xmlns:a16="http://schemas.microsoft.com/office/drawing/2014/main" id="{5122C7F0-410A-8B0C-C62F-92997041B437}"/>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defRPr/>
            </a:pPr>
            <a:endParaRPr lang="en-US" sz="1200" kern="1200">
              <a:solidFill>
                <a:schemeClr val="tx1">
                  <a:tint val="75000"/>
                </a:schemeClr>
              </a:solidFill>
              <a:latin typeface="+mn-lt"/>
              <a:ea typeface="+mn-ea"/>
              <a:cs typeface="+mn-cs"/>
            </a:endParaRPr>
          </a:p>
        </p:txBody>
      </p:sp>
      <p:sp>
        <p:nvSpPr>
          <p:cNvPr id="6" name="Slide Number Placeholder 5">
            <a:extLst>
              <a:ext uri="{FF2B5EF4-FFF2-40B4-BE49-F238E27FC236}">
                <a16:creationId xmlns:a16="http://schemas.microsoft.com/office/drawing/2014/main" id="{6A1EEFA5-D952-E4E5-7315-7911E56C3DA1}"/>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58EFFD8C-6B70-4156-A8DC-27560EBC3DB0}" type="slidenum">
              <a:rPr lang="en-US" smtClean="0">
                <a:latin typeface="+mn-lt"/>
                <a:cs typeface="+mn-cs"/>
              </a:rPr>
              <a:pPr>
                <a:spcAft>
                  <a:spcPts val="600"/>
                </a:spcAft>
                <a:defRPr/>
              </a:pPr>
              <a:t>4</a:t>
            </a:fld>
            <a:endParaRPr lang="en-US">
              <a:latin typeface="+mn-lt"/>
              <a:cs typeface="+mn-cs"/>
            </a:endParaRPr>
          </a:p>
        </p:txBody>
      </p:sp>
    </p:spTree>
    <p:extLst>
      <p:ext uri="{BB962C8B-B14F-4D97-AF65-F5344CB8AC3E}">
        <p14:creationId xmlns:p14="http://schemas.microsoft.com/office/powerpoint/2010/main" val="1497075955"/>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TextBox 15">
            <a:extLst>
              <a:ext uri="{FF2B5EF4-FFF2-40B4-BE49-F238E27FC236}">
                <a16:creationId xmlns:a16="http://schemas.microsoft.com/office/drawing/2014/main" id="{DF4C9D53-5546-D807-BA13-18796C1C823A}"/>
              </a:ext>
            </a:extLst>
          </p:cNvPr>
          <p:cNvSpPr txBox="1"/>
          <p:nvPr/>
        </p:nvSpPr>
        <p:spPr>
          <a:xfrm>
            <a:off x="628650" y="1825625"/>
            <a:ext cx="78867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latin typeface="+mn-lt"/>
                <a:cs typeface="+mn-cs"/>
              </a:rPr>
              <a:t>What Do We Create in Process Modeling?</a:t>
            </a:r>
          </a:p>
          <a:p>
            <a:pPr indent="-228600">
              <a:lnSpc>
                <a:spcPct val="90000"/>
              </a:lnSpc>
              <a:spcAft>
                <a:spcPts val="600"/>
              </a:spcAft>
              <a:buFont typeface="Arial" panose="020B0604020202020204" pitchFamily="34" charset="0"/>
              <a:buChar char="•"/>
            </a:pPr>
            <a:endParaRPr lang="en-US">
              <a:latin typeface="+mn-lt"/>
              <a:cs typeface="+mn-cs"/>
            </a:endParaRPr>
          </a:p>
          <a:p>
            <a:pPr marL="285750" indent="-228600">
              <a:lnSpc>
                <a:spcPct val="90000"/>
              </a:lnSpc>
              <a:spcAft>
                <a:spcPts val="600"/>
              </a:spcAft>
              <a:buFont typeface="Arial" panose="020B0604020202020204" pitchFamily="34" charset="0"/>
              <a:buChar char="•"/>
            </a:pPr>
            <a:r>
              <a:rPr lang="en-US">
                <a:latin typeface="+mn-lt"/>
                <a:cs typeface="+mn-cs"/>
              </a:rPr>
              <a:t>We make a series of </a:t>
            </a:r>
            <a:r>
              <a:rPr lang="en-US" b="1">
                <a:latin typeface="+mn-lt"/>
                <a:cs typeface="+mn-cs"/>
              </a:rPr>
              <a:t>Data Flow Diagrams (DFDs)</a:t>
            </a:r>
            <a:r>
              <a:rPr lang="en-US">
                <a:latin typeface="+mn-lt"/>
                <a:cs typeface="+mn-cs"/>
              </a:rPr>
              <a:t> to understand how a system works.</a:t>
            </a:r>
          </a:p>
          <a:p>
            <a:pPr indent="-228600">
              <a:lnSpc>
                <a:spcPct val="90000"/>
              </a:lnSpc>
              <a:spcAft>
                <a:spcPts val="600"/>
              </a:spcAft>
              <a:buFont typeface="Arial" panose="020B0604020202020204" pitchFamily="34" charset="0"/>
              <a:buChar char="•"/>
            </a:pPr>
            <a:endParaRPr lang="en-US">
              <a:latin typeface="+mn-lt"/>
              <a:cs typeface="+mn-cs"/>
            </a:endParaRPr>
          </a:p>
          <a:p>
            <a:pPr marL="285750" indent="-228600">
              <a:lnSpc>
                <a:spcPct val="90000"/>
              </a:lnSpc>
              <a:spcAft>
                <a:spcPts val="600"/>
              </a:spcAft>
              <a:buFont typeface="Arial" panose="020B0604020202020204" pitchFamily="34" charset="0"/>
              <a:buChar char="•"/>
            </a:pPr>
            <a:r>
              <a:rPr lang="en-US" b="1">
                <a:latin typeface="+mn-lt"/>
                <a:cs typeface="+mn-cs"/>
              </a:rPr>
              <a:t>Main items we create:</a:t>
            </a:r>
            <a:endParaRPr lang="en-US">
              <a:latin typeface="+mn-lt"/>
              <a:cs typeface="+mn-cs"/>
            </a:endParaRPr>
          </a:p>
          <a:p>
            <a:pPr marL="742950" lvl="1" indent="-228600">
              <a:lnSpc>
                <a:spcPct val="90000"/>
              </a:lnSpc>
              <a:spcAft>
                <a:spcPts val="600"/>
              </a:spcAft>
              <a:buFont typeface="Arial" panose="020B0604020202020204" pitchFamily="34" charset="0"/>
              <a:buChar char="•"/>
            </a:pPr>
            <a:r>
              <a:rPr lang="en-US" b="1">
                <a:latin typeface="+mn-lt"/>
                <a:cs typeface="+mn-cs"/>
              </a:rPr>
              <a:t>Context Diagram</a:t>
            </a:r>
            <a:r>
              <a:rPr lang="en-US">
                <a:latin typeface="+mn-lt"/>
                <a:cs typeface="+mn-cs"/>
              </a:rPr>
              <a:t> – shows what’s inside the system and what’s outside.</a:t>
            </a:r>
          </a:p>
          <a:p>
            <a:pPr marL="742950" lvl="1" indent="-228600">
              <a:lnSpc>
                <a:spcPct val="90000"/>
              </a:lnSpc>
              <a:spcAft>
                <a:spcPts val="600"/>
              </a:spcAft>
              <a:buFont typeface="Arial" panose="020B0604020202020204" pitchFamily="34" charset="0"/>
              <a:buChar char="•"/>
            </a:pPr>
            <a:r>
              <a:rPr lang="en-US" b="1">
                <a:latin typeface="+mn-lt"/>
                <a:cs typeface="+mn-cs"/>
              </a:rPr>
              <a:t>System DFDs</a:t>
            </a:r>
            <a:r>
              <a:rPr lang="en-US">
                <a:latin typeface="+mn-lt"/>
                <a:cs typeface="+mn-cs"/>
              </a:rPr>
              <a:t> – show how data moves and changes in the system.</a:t>
            </a:r>
          </a:p>
          <a:p>
            <a:pPr marL="742950" lvl="1" indent="-228600">
              <a:lnSpc>
                <a:spcPct val="90000"/>
              </a:lnSpc>
              <a:spcAft>
                <a:spcPts val="600"/>
              </a:spcAft>
              <a:buFont typeface="Arial" panose="020B0604020202020204" pitchFamily="34" charset="0"/>
              <a:buChar char="•"/>
            </a:pPr>
            <a:r>
              <a:rPr lang="en-US" b="1">
                <a:latin typeface="+mn-lt"/>
                <a:cs typeface="+mn-cs"/>
              </a:rPr>
              <a:t>Descriptions</a:t>
            </a:r>
            <a:r>
              <a:rPr lang="en-US">
                <a:latin typeface="+mn-lt"/>
                <a:cs typeface="+mn-cs"/>
              </a:rPr>
              <a:t> – explain each part of the diagrams clearly.</a:t>
            </a:r>
          </a:p>
          <a:p>
            <a:pPr marL="742950" lvl="1" indent="-228600">
              <a:lnSpc>
                <a:spcPct val="90000"/>
              </a:lnSpc>
              <a:spcAft>
                <a:spcPts val="600"/>
              </a:spcAft>
              <a:buFont typeface="Arial" panose="020B0604020202020204" pitchFamily="34" charset="0"/>
              <a:buChar char="•"/>
            </a:pPr>
            <a:r>
              <a:rPr lang="en-US" b="1">
                <a:latin typeface="+mn-lt"/>
                <a:cs typeface="+mn-cs"/>
              </a:rPr>
              <a:t>Project Dictionary</a:t>
            </a:r>
            <a:r>
              <a:rPr lang="en-US">
                <a:latin typeface="+mn-lt"/>
                <a:cs typeface="+mn-cs"/>
              </a:rPr>
              <a:t> – keeps records of all items used in the diagrams.</a:t>
            </a:r>
          </a:p>
        </p:txBody>
      </p:sp>
      <p:sp>
        <p:nvSpPr>
          <p:cNvPr id="2" name="Date Placeholder 1">
            <a:extLst>
              <a:ext uri="{FF2B5EF4-FFF2-40B4-BE49-F238E27FC236}">
                <a16:creationId xmlns:a16="http://schemas.microsoft.com/office/drawing/2014/main" id="{F0481B56-34EC-30F2-2881-A8078D6DAEC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defRPr/>
            </a:pPr>
            <a:endParaRPr lang="en-US">
              <a:latin typeface="+mn-lt"/>
              <a:cs typeface="+mn-cs"/>
            </a:endParaRPr>
          </a:p>
        </p:txBody>
      </p:sp>
      <p:sp>
        <p:nvSpPr>
          <p:cNvPr id="3" name="Footer Placeholder 2">
            <a:extLst>
              <a:ext uri="{FF2B5EF4-FFF2-40B4-BE49-F238E27FC236}">
                <a16:creationId xmlns:a16="http://schemas.microsoft.com/office/drawing/2014/main" id="{5B0685D6-2530-1BDE-5A8C-CF4DEB1824CD}"/>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defRPr/>
            </a:pPr>
            <a:endParaRPr lang="en-US" sz="1200" kern="1200">
              <a:solidFill>
                <a:schemeClr val="tx1">
                  <a:tint val="75000"/>
                </a:schemeClr>
              </a:solidFill>
              <a:latin typeface="+mn-lt"/>
              <a:ea typeface="+mn-ea"/>
              <a:cs typeface="+mn-cs"/>
            </a:endParaRPr>
          </a:p>
        </p:txBody>
      </p:sp>
      <p:sp>
        <p:nvSpPr>
          <p:cNvPr id="4" name="Slide Number Placeholder 3">
            <a:extLst>
              <a:ext uri="{FF2B5EF4-FFF2-40B4-BE49-F238E27FC236}">
                <a16:creationId xmlns:a16="http://schemas.microsoft.com/office/drawing/2014/main" id="{DA8D38EC-3591-5A5E-C6EB-5DF62D3470F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E466C542-2515-46F9-8FCE-2720EE69DA51}" type="slidenum">
              <a:rPr lang="en-US" smtClean="0">
                <a:latin typeface="+mn-lt"/>
                <a:cs typeface="+mn-cs"/>
              </a:rPr>
              <a:pPr>
                <a:spcAft>
                  <a:spcPts val="600"/>
                </a:spcAft>
                <a:defRPr/>
              </a:pPr>
              <a:t>5</a:t>
            </a:fld>
            <a:endParaRPr lang="en-US">
              <a:latin typeface="+mn-lt"/>
              <a:cs typeface="+mn-cs"/>
            </a:endParaRPr>
          </a:p>
        </p:txBody>
      </p:sp>
    </p:spTree>
    <p:extLst>
      <p:ext uri="{BB962C8B-B14F-4D97-AF65-F5344CB8AC3E}">
        <p14:creationId xmlns:p14="http://schemas.microsoft.com/office/powerpoint/2010/main" val="79407994"/>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A8291B2F-C426-8A14-B525-4787EC258859}"/>
              </a:ext>
            </a:extLst>
          </p:cNvPr>
          <p:cNvSpPr txBox="1"/>
          <p:nvPr/>
        </p:nvSpPr>
        <p:spPr>
          <a:xfrm>
            <a:off x="628650" y="1825625"/>
            <a:ext cx="78867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latin typeface="+mn-lt"/>
                <a:cs typeface="+mn-cs"/>
              </a:rPr>
              <a:t>Why and How We Use DFDs</a:t>
            </a:r>
          </a:p>
          <a:p>
            <a:pPr indent="-228600">
              <a:lnSpc>
                <a:spcPct val="90000"/>
              </a:lnSpc>
              <a:spcAft>
                <a:spcPts val="600"/>
              </a:spcAft>
              <a:buFont typeface="Arial" panose="020B0604020202020204" pitchFamily="34" charset="0"/>
              <a:buChar char="•"/>
            </a:pPr>
            <a:endParaRPr lang="en-US" b="1">
              <a:latin typeface="+mn-lt"/>
              <a:cs typeface="+mn-cs"/>
            </a:endParaRPr>
          </a:p>
          <a:p>
            <a:pPr indent="-228600">
              <a:lnSpc>
                <a:spcPct val="90000"/>
              </a:lnSpc>
              <a:spcAft>
                <a:spcPts val="600"/>
              </a:spcAft>
              <a:buFont typeface="Arial" panose="020B0604020202020204" pitchFamily="34" charset="0"/>
              <a:buChar char="•"/>
            </a:pPr>
            <a:r>
              <a:rPr lang="en-US" b="1">
                <a:latin typeface="+mn-lt"/>
                <a:cs typeface="+mn-cs"/>
              </a:rPr>
              <a:t>Why:</a:t>
            </a:r>
            <a:r>
              <a:rPr lang="en-US">
                <a:latin typeface="+mn-lt"/>
                <a:cs typeface="+mn-cs"/>
              </a:rPr>
              <a:t> To learn how the current system works and plan for a better one.</a:t>
            </a:r>
          </a:p>
          <a:p>
            <a:pPr indent="-228600">
              <a:lnSpc>
                <a:spcPct val="90000"/>
              </a:lnSpc>
              <a:spcAft>
                <a:spcPts val="600"/>
              </a:spcAft>
              <a:buFont typeface="Arial" panose="020B0604020202020204" pitchFamily="34" charset="0"/>
              <a:buChar char="•"/>
            </a:pPr>
            <a:endParaRPr lang="en-US" b="1">
              <a:latin typeface="+mn-lt"/>
              <a:cs typeface="+mn-cs"/>
            </a:endParaRPr>
          </a:p>
          <a:p>
            <a:pPr indent="-228600">
              <a:lnSpc>
                <a:spcPct val="90000"/>
              </a:lnSpc>
              <a:spcAft>
                <a:spcPts val="600"/>
              </a:spcAft>
              <a:buFont typeface="Arial" panose="020B0604020202020204" pitchFamily="34" charset="0"/>
              <a:buChar char="•"/>
            </a:pPr>
            <a:r>
              <a:rPr lang="en-US" b="1">
                <a:latin typeface="+mn-lt"/>
                <a:cs typeface="+mn-cs"/>
              </a:rPr>
              <a:t>How it works:</a:t>
            </a:r>
            <a:endParaRPr lang="en-US">
              <a:latin typeface="+mn-lt"/>
              <a:cs typeface="+mn-cs"/>
            </a:endParaRPr>
          </a:p>
          <a:p>
            <a:pPr marL="742950" lvl="1" indent="-228600">
              <a:lnSpc>
                <a:spcPct val="90000"/>
              </a:lnSpc>
              <a:spcAft>
                <a:spcPts val="600"/>
              </a:spcAft>
              <a:buFont typeface="Arial" panose="020B0604020202020204" pitchFamily="34" charset="0"/>
              <a:buChar char="•"/>
            </a:pPr>
            <a:r>
              <a:rPr lang="en-US">
                <a:latin typeface="+mn-lt"/>
                <a:cs typeface="+mn-cs"/>
              </a:rPr>
              <a:t>Start simple (context diagram), then add more details (DFDs).</a:t>
            </a:r>
          </a:p>
          <a:p>
            <a:pPr marL="742950" lvl="1" indent="-228600">
              <a:lnSpc>
                <a:spcPct val="90000"/>
              </a:lnSpc>
              <a:spcAft>
                <a:spcPts val="600"/>
              </a:spcAft>
              <a:buFont typeface="Arial" panose="020B0604020202020204" pitchFamily="34" charset="0"/>
              <a:buChar char="•"/>
            </a:pPr>
            <a:r>
              <a:rPr lang="en-US">
                <a:latin typeface="+mn-lt"/>
                <a:cs typeface="+mn-cs"/>
              </a:rPr>
              <a:t>Use diagrams to show what we found during requirements gathering.</a:t>
            </a:r>
          </a:p>
          <a:p>
            <a:pPr marL="742950" lvl="1" indent="-228600">
              <a:lnSpc>
                <a:spcPct val="90000"/>
              </a:lnSpc>
              <a:spcAft>
                <a:spcPts val="600"/>
              </a:spcAft>
              <a:buFont typeface="Arial" panose="020B0604020202020204" pitchFamily="34" charset="0"/>
              <a:buChar char="•"/>
            </a:pPr>
            <a:r>
              <a:rPr lang="en-US">
                <a:latin typeface="+mn-lt"/>
                <a:cs typeface="+mn-cs"/>
              </a:rPr>
              <a:t>Later, we decide how the new system will do things (manually or automatically).</a:t>
            </a:r>
          </a:p>
          <a:p>
            <a:pPr lvl="1" indent="-228600">
              <a:lnSpc>
                <a:spcPct val="90000"/>
              </a:lnSpc>
              <a:spcAft>
                <a:spcPts val="600"/>
              </a:spcAft>
              <a:buFont typeface="Arial" panose="020B0604020202020204" pitchFamily="34" charset="0"/>
              <a:buChar char="•"/>
            </a:pPr>
            <a:endParaRPr lang="en-US">
              <a:latin typeface="+mn-lt"/>
              <a:cs typeface="+mn-cs"/>
            </a:endParaRPr>
          </a:p>
          <a:p>
            <a:pPr indent="-228600">
              <a:lnSpc>
                <a:spcPct val="90000"/>
              </a:lnSpc>
              <a:spcAft>
                <a:spcPts val="600"/>
              </a:spcAft>
              <a:buFont typeface="Arial" panose="020B0604020202020204" pitchFamily="34" charset="0"/>
              <a:buChar char="•"/>
            </a:pPr>
            <a:r>
              <a:rPr lang="en-US">
                <a:latin typeface="+mn-lt"/>
                <a:cs typeface="+mn-cs"/>
              </a:rPr>
              <a:t> DFDs grow and change as we understand the system better.</a:t>
            </a:r>
          </a:p>
        </p:txBody>
      </p:sp>
      <p:sp>
        <p:nvSpPr>
          <p:cNvPr id="2" name="Date Placeholder 1">
            <a:extLst>
              <a:ext uri="{FF2B5EF4-FFF2-40B4-BE49-F238E27FC236}">
                <a16:creationId xmlns:a16="http://schemas.microsoft.com/office/drawing/2014/main" id="{40780FCB-5832-408F-8C71-F0DAFC7F485E}"/>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defRPr/>
            </a:pPr>
            <a:endParaRPr lang="en-US">
              <a:latin typeface="+mn-lt"/>
              <a:cs typeface="+mn-cs"/>
            </a:endParaRPr>
          </a:p>
        </p:txBody>
      </p:sp>
      <p:sp>
        <p:nvSpPr>
          <p:cNvPr id="3" name="Footer Placeholder 2">
            <a:extLst>
              <a:ext uri="{FF2B5EF4-FFF2-40B4-BE49-F238E27FC236}">
                <a16:creationId xmlns:a16="http://schemas.microsoft.com/office/drawing/2014/main" id="{1261B6C1-A7C4-8FDF-33CA-C9B05D649096}"/>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defRPr/>
            </a:pPr>
            <a:endParaRPr lang="en-US" sz="1200" kern="1200">
              <a:solidFill>
                <a:schemeClr val="tx1">
                  <a:tint val="75000"/>
                </a:schemeClr>
              </a:solidFill>
              <a:latin typeface="+mn-lt"/>
              <a:ea typeface="+mn-ea"/>
              <a:cs typeface="+mn-cs"/>
            </a:endParaRPr>
          </a:p>
        </p:txBody>
      </p:sp>
      <p:sp>
        <p:nvSpPr>
          <p:cNvPr id="4" name="Slide Number Placeholder 3">
            <a:extLst>
              <a:ext uri="{FF2B5EF4-FFF2-40B4-BE49-F238E27FC236}">
                <a16:creationId xmlns:a16="http://schemas.microsoft.com/office/drawing/2014/main" id="{17B105DC-4F7D-EDF9-F76C-2722E660420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E466C542-2515-46F9-8FCE-2720EE69DA51}" type="slidenum">
              <a:rPr lang="en-US" smtClean="0">
                <a:latin typeface="+mn-lt"/>
                <a:cs typeface="+mn-cs"/>
              </a:rPr>
              <a:pPr>
                <a:spcAft>
                  <a:spcPts val="600"/>
                </a:spcAft>
                <a:defRPr/>
              </a:pPr>
              <a:t>6</a:t>
            </a:fld>
            <a:endParaRPr lang="en-US">
              <a:latin typeface="+mn-lt"/>
              <a:cs typeface="+mn-cs"/>
            </a:endParaRPr>
          </a:p>
        </p:txBody>
      </p:sp>
    </p:spTree>
    <p:extLst>
      <p:ext uri="{BB962C8B-B14F-4D97-AF65-F5344CB8AC3E}">
        <p14:creationId xmlns:p14="http://schemas.microsoft.com/office/powerpoint/2010/main" val="707762525"/>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03" rIns="0" bIns="0" rtlCol="0" anchor="ctr">
            <a:spAutoFit/>
          </a:bodyPr>
          <a:lstStyle/>
          <a:p>
            <a:pPr marL="10860">
              <a:lnSpc>
                <a:spcPct val="100000"/>
              </a:lnSpc>
              <a:spcBef>
                <a:spcPts val="90"/>
              </a:spcBef>
            </a:pPr>
            <a:r>
              <a:rPr sz="3420" dirty="0"/>
              <a:t>Data</a:t>
            </a:r>
            <a:r>
              <a:rPr sz="3420" spc="-26" dirty="0"/>
              <a:t> </a:t>
            </a:r>
            <a:r>
              <a:rPr sz="3420" dirty="0"/>
              <a:t>Flow</a:t>
            </a:r>
            <a:r>
              <a:rPr sz="3420" spc="-86" dirty="0"/>
              <a:t> </a:t>
            </a:r>
            <a:r>
              <a:rPr sz="3420" dirty="0"/>
              <a:t>Diagramming</a:t>
            </a:r>
            <a:r>
              <a:rPr sz="3420" spc="-21" dirty="0"/>
              <a:t> </a:t>
            </a:r>
            <a:r>
              <a:rPr sz="3420" spc="-9" dirty="0"/>
              <a:t>Mechanics</a:t>
            </a:r>
            <a:endParaRPr sz="3420"/>
          </a:p>
        </p:txBody>
      </p:sp>
      <p:sp>
        <p:nvSpPr>
          <p:cNvPr id="5" name="Content Placeholder 4">
            <a:extLst>
              <a:ext uri="{FF2B5EF4-FFF2-40B4-BE49-F238E27FC236}">
                <a16:creationId xmlns:a16="http://schemas.microsoft.com/office/drawing/2014/main" id="{0353C233-3789-319A-C897-573D9746EA1B}"/>
              </a:ext>
            </a:extLst>
          </p:cNvPr>
          <p:cNvSpPr>
            <a:spLocks noGrp="1"/>
          </p:cNvSpPr>
          <p:nvPr>
            <p:ph sz="half" idx="1"/>
          </p:nvPr>
        </p:nvSpPr>
        <p:spPr>
          <a:xfrm>
            <a:off x="628650" y="1825625"/>
            <a:ext cx="7981950" cy="4351338"/>
          </a:xfrm>
        </p:spPr>
        <p:txBody>
          <a:bodyPr>
            <a:normAutofit lnSpcReduction="10000"/>
          </a:bodyPr>
          <a:lstStyle/>
          <a:p>
            <a:r>
              <a:rPr lang="en-US" dirty="0"/>
              <a:t>Represent both physical and logical information systems</a:t>
            </a:r>
          </a:p>
          <a:p>
            <a:r>
              <a:rPr lang="en-US" dirty="0"/>
              <a:t>Only four symbols are used</a:t>
            </a:r>
          </a:p>
          <a:p>
            <a:r>
              <a:rPr lang="en-US" dirty="0"/>
              <a:t>Useful for depicting purely logical information flows</a:t>
            </a:r>
          </a:p>
          <a:p>
            <a:r>
              <a:rPr lang="en-MY" dirty="0"/>
              <a:t>Key elements:</a:t>
            </a:r>
          </a:p>
          <a:p>
            <a:pPr lvl="1"/>
            <a:r>
              <a:rPr lang="en-US" b="1" dirty="0"/>
              <a:t>Process: </a:t>
            </a:r>
            <a:r>
              <a:rPr lang="en-US" dirty="0"/>
              <a:t>work or actions performed on data (inside the system)</a:t>
            </a:r>
          </a:p>
          <a:p>
            <a:pPr lvl="1"/>
            <a:r>
              <a:rPr lang="en-US" b="1" dirty="0"/>
              <a:t>Data store</a:t>
            </a:r>
            <a:r>
              <a:rPr lang="en-US" dirty="0"/>
              <a:t>: data at rest (inside the system)</a:t>
            </a:r>
          </a:p>
          <a:p>
            <a:pPr lvl="1"/>
            <a:r>
              <a:rPr lang="en-US" b="1" dirty="0"/>
              <a:t>Process: </a:t>
            </a:r>
            <a:r>
              <a:rPr lang="en-US" dirty="0"/>
              <a:t>work or actions performed on data (inside the system)</a:t>
            </a:r>
          </a:p>
          <a:p>
            <a:pPr lvl="1"/>
            <a:r>
              <a:rPr lang="en-US" b="1" dirty="0"/>
              <a:t>Data store: </a:t>
            </a:r>
            <a:r>
              <a:rPr lang="en-US" dirty="0"/>
              <a:t>data at rest (inside the system)</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7</a:t>
            </a:fld>
            <a:endParaRPr spc="-21" dirty="0"/>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45777"/>
            <a:ext cx="6743971" cy="857344"/>
          </a:xfrm>
          <a:prstGeom prst="rect">
            <a:avLst/>
          </a:prstGeom>
        </p:spPr>
        <p:txBody>
          <a:bodyPr vert="horz" wrap="square" lIns="0" tIns="275710" rIns="0" bIns="0" rtlCol="0" anchor="ctr">
            <a:spAutoFit/>
          </a:bodyPr>
          <a:lstStyle/>
          <a:p>
            <a:pPr marL="10860">
              <a:lnSpc>
                <a:spcPct val="100000"/>
              </a:lnSpc>
              <a:spcBef>
                <a:spcPts val="77"/>
              </a:spcBef>
            </a:pPr>
            <a:r>
              <a:rPr sz="3762" dirty="0"/>
              <a:t>Definitions</a:t>
            </a:r>
            <a:r>
              <a:rPr sz="3762" spc="-128" dirty="0"/>
              <a:t> </a:t>
            </a:r>
            <a:r>
              <a:rPr sz="3762" dirty="0"/>
              <a:t>and</a:t>
            </a:r>
            <a:r>
              <a:rPr sz="3762" spc="-64" dirty="0"/>
              <a:t> </a:t>
            </a:r>
            <a:r>
              <a:rPr sz="3762" spc="-9" dirty="0"/>
              <a:t>Symbols</a:t>
            </a:r>
            <a:endParaRPr sz="3762"/>
          </a:p>
        </p:txBody>
      </p:sp>
      <p:sp>
        <p:nvSpPr>
          <p:cNvPr id="4" name="object 4"/>
          <p:cNvSpPr txBox="1"/>
          <p:nvPr/>
        </p:nvSpPr>
        <p:spPr>
          <a:xfrm>
            <a:off x="5681479" y="3059404"/>
            <a:ext cx="2132333" cy="119526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sz="1539" b="1" spc="-30" dirty="0">
                <a:latin typeface="Arial"/>
                <a:cs typeface="Arial"/>
              </a:rPr>
              <a:t> </a:t>
            </a:r>
            <a:r>
              <a:rPr sz="1539" b="1" spc="-43" dirty="0">
                <a:latin typeface="Arial"/>
                <a:cs typeface="Arial"/>
              </a:rPr>
              <a:t>2</a:t>
            </a:r>
            <a:endParaRPr sz="1539" dirty="0">
              <a:latin typeface="Arial"/>
              <a:cs typeface="Arial"/>
            </a:endParaRPr>
          </a:p>
          <a:p>
            <a:pPr marL="10860" marR="4344"/>
            <a:r>
              <a:rPr sz="1539" dirty="0">
                <a:latin typeface="Arial"/>
                <a:cs typeface="Arial"/>
              </a:rPr>
              <a:t>Comparison</a:t>
            </a:r>
            <a:r>
              <a:rPr sz="1539" spc="-86" dirty="0">
                <a:latin typeface="Arial"/>
                <a:cs typeface="Arial"/>
              </a:rPr>
              <a:t> </a:t>
            </a:r>
            <a:r>
              <a:rPr sz="1539" dirty="0">
                <a:latin typeface="Arial"/>
                <a:cs typeface="Arial"/>
              </a:rPr>
              <a:t>of</a:t>
            </a:r>
            <a:r>
              <a:rPr sz="1539" spc="13" dirty="0">
                <a:latin typeface="Arial"/>
                <a:cs typeface="Arial"/>
              </a:rPr>
              <a:t> </a:t>
            </a:r>
            <a:r>
              <a:rPr sz="1539" spc="-9" dirty="0">
                <a:latin typeface="Arial"/>
                <a:cs typeface="Arial"/>
              </a:rPr>
              <a:t>DeMarco </a:t>
            </a:r>
            <a:r>
              <a:rPr sz="1539" dirty="0">
                <a:latin typeface="Arial"/>
                <a:cs typeface="Arial"/>
              </a:rPr>
              <a:t>and</a:t>
            </a:r>
            <a:r>
              <a:rPr sz="1539" spc="-68" dirty="0">
                <a:latin typeface="Arial"/>
                <a:cs typeface="Arial"/>
              </a:rPr>
              <a:t> </a:t>
            </a:r>
            <a:r>
              <a:rPr sz="1539" spc="-9" dirty="0">
                <a:latin typeface="Arial"/>
                <a:cs typeface="Arial"/>
              </a:rPr>
              <a:t>Yourdon</a:t>
            </a:r>
            <a:endParaRPr sz="1539" dirty="0">
              <a:latin typeface="Arial"/>
              <a:cs typeface="Arial"/>
            </a:endParaRPr>
          </a:p>
          <a:p>
            <a:pPr marL="10860" marR="201449"/>
            <a:r>
              <a:rPr sz="1539" dirty="0">
                <a:latin typeface="Arial"/>
                <a:cs typeface="Arial"/>
              </a:rPr>
              <a:t>and</a:t>
            </a:r>
            <a:r>
              <a:rPr sz="1539" spc="-38" dirty="0">
                <a:latin typeface="Arial"/>
                <a:cs typeface="Arial"/>
              </a:rPr>
              <a:t> </a:t>
            </a:r>
            <a:r>
              <a:rPr sz="1539" dirty="0">
                <a:latin typeface="Arial"/>
                <a:cs typeface="Arial"/>
              </a:rPr>
              <a:t>Gane</a:t>
            </a:r>
            <a:r>
              <a:rPr sz="1539" spc="-9" dirty="0">
                <a:latin typeface="Arial"/>
                <a:cs typeface="Arial"/>
              </a:rPr>
              <a:t> </a:t>
            </a:r>
            <a:r>
              <a:rPr sz="1539" dirty="0">
                <a:latin typeface="Arial"/>
                <a:cs typeface="Arial"/>
              </a:rPr>
              <a:t>and</a:t>
            </a:r>
            <a:r>
              <a:rPr sz="1539" spc="-9" dirty="0">
                <a:latin typeface="Arial"/>
                <a:cs typeface="Arial"/>
              </a:rPr>
              <a:t> Sarson </a:t>
            </a:r>
            <a:r>
              <a:rPr sz="1539" dirty="0">
                <a:latin typeface="Arial"/>
                <a:cs typeface="Arial"/>
              </a:rPr>
              <a:t>DFD</a:t>
            </a:r>
            <a:r>
              <a:rPr sz="1539" spc="-30" dirty="0">
                <a:latin typeface="Arial"/>
                <a:cs typeface="Arial"/>
              </a:rPr>
              <a:t> </a:t>
            </a:r>
            <a:r>
              <a:rPr sz="1539" dirty="0">
                <a:latin typeface="Arial"/>
                <a:cs typeface="Arial"/>
              </a:rPr>
              <a:t>symbol</a:t>
            </a:r>
            <a:r>
              <a:rPr sz="1539" spc="-56" dirty="0">
                <a:latin typeface="Arial"/>
                <a:cs typeface="Arial"/>
              </a:rPr>
              <a:t> </a:t>
            </a:r>
            <a:r>
              <a:rPr sz="1539" spc="-17" dirty="0">
                <a:latin typeface="Arial"/>
                <a:cs typeface="Arial"/>
              </a:rPr>
              <a:t>sets</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8</a:t>
            </a:fld>
            <a:endParaRPr spc="-21" dirty="0"/>
          </a:p>
        </p:txBody>
      </p:sp>
      <p:pic>
        <p:nvPicPr>
          <p:cNvPr id="7" name="Picture 6">
            <a:extLst>
              <a:ext uri="{FF2B5EF4-FFF2-40B4-BE49-F238E27FC236}">
                <a16:creationId xmlns:a16="http://schemas.microsoft.com/office/drawing/2014/main" id="{A85461AF-923F-38DB-AB63-3537DFB070F8}"/>
              </a:ext>
            </a:extLst>
          </p:cNvPr>
          <p:cNvPicPr>
            <a:picLocks noChangeAspect="1"/>
          </p:cNvPicPr>
          <p:nvPr/>
        </p:nvPicPr>
        <p:blipFill>
          <a:blip r:embed="rId2"/>
          <a:stretch>
            <a:fillRect/>
          </a:stretch>
        </p:blipFill>
        <p:spPr>
          <a:xfrm>
            <a:off x="990600" y="1752600"/>
            <a:ext cx="4152900" cy="4181475"/>
          </a:xfrm>
          <a:prstGeom prst="rect">
            <a:avLst/>
          </a:prstGeom>
        </p:spPr>
      </p:pic>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F26C313-B024-BBC5-E0CB-B7127CC9DDA9}"/>
              </a:ext>
            </a:extLst>
          </p:cNvPr>
          <p:cNvSpPr>
            <a:spLocks noGrp="1"/>
          </p:cNvSpPr>
          <p:nvPr>
            <p:ph idx="1"/>
          </p:nvPr>
        </p:nvSpPr>
        <p:spPr>
          <a:xfrm>
            <a:off x="593124" y="566649"/>
            <a:ext cx="7886700" cy="917575"/>
          </a:xfrm>
        </p:spPr>
        <p:txBody>
          <a:bodyPr>
            <a:normAutofit fontScale="85000" lnSpcReduction="20000"/>
          </a:bodyPr>
          <a:lstStyle/>
          <a:p>
            <a:r>
              <a:rPr lang="en-US" dirty="0"/>
              <a:t>DFDs that detail physical systems differ from system flowcharts which depict details of physical computing equipment.</a:t>
            </a:r>
          </a:p>
          <a:p>
            <a:endParaRPr lang="en-MY" dirty="0"/>
          </a:p>
        </p:txBody>
      </p:sp>
      <p:sp>
        <p:nvSpPr>
          <p:cNvPr id="5" name="Date Placeholder 4">
            <a:extLst>
              <a:ext uri="{FF2B5EF4-FFF2-40B4-BE49-F238E27FC236}">
                <a16:creationId xmlns:a16="http://schemas.microsoft.com/office/drawing/2014/main" id="{0D9ED192-F85E-045B-97BE-0049BD193552}"/>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8812004-EAFE-2EFF-4945-1F36C9F343E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586932B-A1C9-7367-67F8-83FCE6080636}"/>
              </a:ext>
            </a:extLst>
          </p:cNvPr>
          <p:cNvSpPr>
            <a:spLocks noGrp="1"/>
          </p:cNvSpPr>
          <p:nvPr>
            <p:ph type="sldNum" sz="quarter" idx="12"/>
          </p:nvPr>
        </p:nvSpPr>
        <p:spPr/>
        <p:txBody>
          <a:bodyPr/>
          <a:lstStyle/>
          <a:p>
            <a:pPr>
              <a:defRPr/>
            </a:pPr>
            <a:fld id="{1B52D003-7EA6-4D11-8869-570A404E122D}" type="slidenum">
              <a:rPr lang="en-US" smtClean="0"/>
              <a:pPr>
                <a:defRPr/>
              </a:pPr>
              <a:t>9</a:t>
            </a:fld>
            <a:endParaRPr lang="en-US"/>
          </a:p>
        </p:txBody>
      </p:sp>
      <p:graphicFrame>
        <p:nvGraphicFramePr>
          <p:cNvPr id="10" name="Table 9">
            <a:extLst>
              <a:ext uri="{FF2B5EF4-FFF2-40B4-BE49-F238E27FC236}">
                <a16:creationId xmlns:a16="http://schemas.microsoft.com/office/drawing/2014/main" id="{A2779773-4403-83AA-5CDF-DDF0B522A548}"/>
              </a:ext>
            </a:extLst>
          </p:cNvPr>
          <p:cNvGraphicFramePr>
            <a:graphicFrameLocks noGrp="1"/>
          </p:cNvGraphicFramePr>
          <p:nvPr>
            <p:extLst>
              <p:ext uri="{D42A27DB-BD31-4B8C-83A1-F6EECF244321}">
                <p14:modId xmlns:p14="http://schemas.microsoft.com/office/powerpoint/2010/main" val="4064082544"/>
              </p:ext>
            </p:extLst>
          </p:nvPr>
        </p:nvGraphicFramePr>
        <p:xfrm>
          <a:off x="514920" y="2084240"/>
          <a:ext cx="7886700" cy="3989654"/>
        </p:xfrm>
        <a:graphic>
          <a:graphicData uri="http://schemas.openxmlformats.org/drawingml/2006/table">
            <a:tbl>
              <a:tblPr/>
              <a:tblGrid>
                <a:gridCol w="2628900">
                  <a:extLst>
                    <a:ext uri="{9D8B030D-6E8A-4147-A177-3AD203B41FA5}">
                      <a16:colId xmlns:a16="http://schemas.microsoft.com/office/drawing/2014/main" val="3266591040"/>
                    </a:ext>
                  </a:extLst>
                </a:gridCol>
                <a:gridCol w="2628900">
                  <a:extLst>
                    <a:ext uri="{9D8B030D-6E8A-4147-A177-3AD203B41FA5}">
                      <a16:colId xmlns:a16="http://schemas.microsoft.com/office/drawing/2014/main" val="3715478233"/>
                    </a:ext>
                  </a:extLst>
                </a:gridCol>
                <a:gridCol w="2628900">
                  <a:extLst>
                    <a:ext uri="{9D8B030D-6E8A-4147-A177-3AD203B41FA5}">
                      <a16:colId xmlns:a16="http://schemas.microsoft.com/office/drawing/2014/main" val="1997418078"/>
                    </a:ext>
                  </a:extLst>
                </a:gridCol>
              </a:tblGrid>
              <a:tr h="268171">
                <a:tc>
                  <a:txBody>
                    <a:bodyPr/>
                    <a:lstStyle/>
                    <a:p>
                      <a:r>
                        <a:rPr lang="en-MY" sz="1700" b="1" dirty="0"/>
                        <a:t>Aspect</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MY" sz="1700" b="1" dirty="0"/>
                        <a:t>DFD</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MY" sz="1700" b="1" dirty="0"/>
                        <a:t>Flowchart</a:t>
                      </a:r>
                    </a:p>
                  </a:txBody>
                  <a:tcPr marL="88803" marR="88803" marT="44401" marB="44401"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256211"/>
                  </a:ext>
                </a:extLst>
              </a:tr>
              <a:tr h="553003">
                <a:tc>
                  <a:txBody>
                    <a:bodyPr/>
                    <a:lstStyle/>
                    <a:p>
                      <a:r>
                        <a:rPr lang="en-MY" sz="1700" dirty="0"/>
                        <a:t>Focus</a:t>
                      </a:r>
                    </a:p>
                  </a:txBody>
                  <a:tcPr marL="88803" marR="88803" marT="44401" marB="44401"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MY" sz="1700" dirty="0"/>
                        <a:t>Flow of </a:t>
                      </a:r>
                      <a:r>
                        <a:rPr lang="en-MY" sz="1700" b="1" dirty="0"/>
                        <a:t>data</a:t>
                      </a:r>
                      <a:endParaRPr lang="en-MY" sz="1700" dirty="0"/>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1700"/>
                        <a:t>Flow of </a:t>
                      </a:r>
                      <a:r>
                        <a:rPr lang="en-US" sz="1700" b="1"/>
                        <a:t>control/process steps</a:t>
                      </a:r>
                      <a:endParaRPr lang="en-US" sz="1700"/>
                    </a:p>
                  </a:txBody>
                  <a:tcPr marL="88803" marR="88803" marT="44401" marB="44401"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6984563"/>
                  </a:ext>
                </a:extLst>
              </a:tr>
              <a:tr h="467887">
                <a:tc>
                  <a:txBody>
                    <a:bodyPr/>
                    <a:lstStyle/>
                    <a:p>
                      <a:r>
                        <a:rPr lang="en-MY" sz="1700" dirty="0"/>
                        <a:t>Shows</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dirty="0"/>
                        <a:t>Where data goes, how it is processed</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a:t>Order of operations, decision-making, loops</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688948268"/>
                  </a:ext>
                </a:extLst>
              </a:tr>
              <a:tr h="467887">
                <a:tc>
                  <a:txBody>
                    <a:bodyPr/>
                    <a:lstStyle/>
                    <a:p>
                      <a:r>
                        <a:rPr lang="en-MY" sz="1700" dirty="0"/>
                        <a:t>Symbols</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MY" sz="1700" dirty="0"/>
                        <a:t>Circles, arrows, rectangles (for data)</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a:t>Ovals, rectangles, diamonds (for decisions)</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826321681"/>
                  </a:ext>
                </a:extLst>
              </a:tr>
              <a:tr h="467887">
                <a:tc>
                  <a:txBody>
                    <a:bodyPr/>
                    <a:lstStyle/>
                    <a:p>
                      <a:r>
                        <a:rPr lang="en-MY" sz="1700" dirty="0"/>
                        <a:t>Used for</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dirty="0"/>
                        <a:t>System analysis and requirement modeling</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a:t>Detailed process flow and algorithm design</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452552523"/>
                  </a:ext>
                </a:extLst>
              </a:tr>
              <a:tr h="588150">
                <a:tc>
                  <a:txBody>
                    <a:bodyPr/>
                    <a:lstStyle/>
                    <a:p>
                      <a:r>
                        <a:rPr lang="en-MY" sz="1700" dirty="0"/>
                        <a:t>Loops and Conditions</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MY" sz="1700" dirty="0"/>
                        <a:t>Not emphasized</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a:t>Clearly shown (e.g., Yes/No in decision diamonds)</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140164498"/>
                  </a:ext>
                </a:extLst>
              </a:tr>
              <a:tr h="467887">
                <a:tc>
                  <a:txBody>
                    <a:bodyPr/>
                    <a:lstStyle/>
                    <a:p>
                      <a:r>
                        <a:rPr lang="en-MY" sz="1700" dirty="0"/>
                        <a:t>Examples</a:t>
                      </a:r>
                    </a:p>
                  </a:txBody>
                  <a:tcPr marL="88803" marR="88803" marT="44401" marB="44401"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US" sz="1700" dirty="0"/>
                        <a:t>Customer order system data flow</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r>
                        <a:rPr lang="en-MY" sz="1700" dirty="0"/>
                        <a:t>Login system process flow</a:t>
                      </a:r>
                    </a:p>
                  </a:txBody>
                  <a:tcPr marL="88803" marR="88803" marT="44401" marB="44401"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004612119"/>
                  </a:ext>
                </a:extLst>
              </a:tr>
            </a:tbl>
          </a:graphicData>
        </a:graphic>
      </p:graphicFrame>
    </p:spTree>
    <p:extLst>
      <p:ext uri="{BB962C8B-B14F-4D97-AF65-F5344CB8AC3E}">
        <p14:creationId xmlns:p14="http://schemas.microsoft.com/office/powerpoint/2010/main" val="2439903844"/>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Developing</a:t>
            </a:r>
            <a:r>
              <a:rPr sz="3762" spc="-235" dirty="0"/>
              <a:t> </a:t>
            </a:r>
            <a:r>
              <a:rPr sz="3762" spc="-17" dirty="0"/>
              <a:t>DFDs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10</a:t>
            </a:fld>
            <a:endParaRPr spc="-21" dirty="0"/>
          </a:p>
        </p:txBody>
      </p:sp>
      <p:sp>
        <p:nvSpPr>
          <p:cNvPr id="3" name="object 3"/>
          <p:cNvSpPr txBox="1"/>
          <p:nvPr/>
        </p:nvSpPr>
        <p:spPr>
          <a:xfrm>
            <a:off x="1120261" y="2209788"/>
            <a:ext cx="6731483" cy="2556464"/>
          </a:xfrm>
          <a:prstGeom prst="rect">
            <a:avLst/>
          </a:prstGeom>
        </p:spPr>
        <p:txBody>
          <a:bodyPr vert="horz" wrap="square" lIns="0" tIns="9774" rIns="0" bIns="0" rtlCol="0">
            <a:spAutoFit/>
          </a:bodyPr>
          <a:lstStyle/>
          <a:p>
            <a:pPr marL="305160" marR="522355" indent="-294843">
              <a:spcBef>
                <a:spcPts val="77"/>
              </a:spcBef>
              <a:buClr>
                <a:srgbClr val="3399FF"/>
              </a:buClr>
              <a:buSzPct val="75000"/>
              <a:buFont typeface="Segoe UI Symbol"/>
              <a:buChar char="■"/>
              <a:tabLst>
                <a:tab pos="305160" algn="l"/>
              </a:tabLst>
            </a:pPr>
            <a:r>
              <a:rPr sz="2736" b="1" dirty="0">
                <a:latin typeface="Arial"/>
                <a:cs typeface="Arial"/>
              </a:rPr>
              <a:t>Context</a:t>
            </a:r>
            <a:r>
              <a:rPr sz="2736" b="1" spc="-81" dirty="0">
                <a:latin typeface="Arial"/>
                <a:cs typeface="Arial"/>
              </a:rPr>
              <a:t> </a:t>
            </a:r>
            <a:r>
              <a:rPr sz="2736" b="1" dirty="0">
                <a:latin typeface="Arial"/>
                <a:cs typeface="Arial"/>
              </a:rPr>
              <a:t>diagram</a:t>
            </a:r>
            <a:r>
              <a:rPr sz="2736" b="1" spc="-26" dirty="0">
                <a:latin typeface="Arial"/>
                <a:cs typeface="Arial"/>
              </a:rPr>
              <a:t> </a:t>
            </a:r>
            <a:r>
              <a:rPr sz="2736" dirty="0">
                <a:latin typeface="Arial"/>
                <a:cs typeface="Arial"/>
              </a:rPr>
              <a:t>is</a:t>
            </a:r>
            <a:r>
              <a:rPr sz="2736" spc="-81" dirty="0">
                <a:latin typeface="Arial"/>
                <a:cs typeface="Arial"/>
              </a:rPr>
              <a:t> </a:t>
            </a:r>
            <a:r>
              <a:rPr sz="2736" dirty="0">
                <a:latin typeface="Arial"/>
                <a:cs typeface="Arial"/>
              </a:rPr>
              <a:t>an</a:t>
            </a:r>
            <a:r>
              <a:rPr sz="2736" spc="-77" dirty="0">
                <a:latin typeface="Arial"/>
                <a:cs typeface="Arial"/>
              </a:rPr>
              <a:t> </a:t>
            </a:r>
            <a:r>
              <a:rPr sz="2736" dirty="0">
                <a:latin typeface="Arial"/>
                <a:cs typeface="Arial"/>
              </a:rPr>
              <a:t>overview</a:t>
            </a:r>
            <a:r>
              <a:rPr sz="2736" spc="-77" dirty="0">
                <a:latin typeface="Arial"/>
                <a:cs typeface="Arial"/>
              </a:rPr>
              <a:t> </a:t>
            </a:r>
            <a:r>
              <a:rPr sz="2736" dirty="0">
                <a:latin typeface="Arial"/>
                <a:cs typeface="Arial"/>
              </a:rPr>
              <a:t>of</a:t>
            </a:r>
            <a:r>
              <a:rPr sz="2736" spc="-77" dirty="0">
                <a:latin typeface="Arial"/>
                <a:cs typeface="Arial"/>
              </a:rPr>
              <a:t> </a:t>
            </a:r>
            <a:r>
              <a:rPr sz="2736" spc="-21" dirty="0">
                <a:latin typeface="Arial"/>
                <a:cs typeface="Arial"/>
              </a:rPr>
              <a:t>an </a:t>
            </a:r>
            <a:r>
              <a:rPr sz="2736" spc="-9" dirty="0">
                <a:latin typeface="Arial"/>
                <a:cs typeface="Arial"/>
              </a:rPr>
              <a:t>organizational</a:t>
            </a:r>
            <a:r>
              <a:rPr sz="2736" spc="-124" dirty="0">
                <a:latin typeface="Arial"/>
                <a:cs typeface="Arial"/>
              </a:rPr>
              <a:t> </a:t>
            </a:r>
            <a:r>
              <a:rPr sz="2736" dirty="0">
                <a:latin typeface="Arial"/>
                <a:cs typeface="Arial"/>
              </a:rPr>
              <a:t>system</a:t>
            </a:r>
            <a:r>
              <a:rPr sz="2736" spc="-68" dirty="0">
                <a:latin typeface="Arial"/>
                <a:cs typeface="Arial"/>
              </a:rPr>
              <a:t> </a:t>
            </a:r>
            <a:r>
              <a:rPr sz="2736" dirty="0">
                <a:latin typeface="Arial"/>
                <a:cs typeface="Arial"/>
              </a:rPr>
              <a:t>that</a:t>
            </a:r>
            <a:r>
              <a:rPr sz="2736" spc="-68" dirty="0">
                <a:latin typeface="Arial"/>
                <a:cs typeface="Arial"/>
              </a:rPr>
              <a:t> </a:t>
            </a:r>
            <a:r>
              <a:rPr sz="2736" spc="-9" dirty="0">
                <a:latin typeface="Arial"/>
                <a:cs typeface="Arial"/>
              </a:rPr>
              <a:t>shows:</a:t>
            </a:r>
            <a:endParaRPr sz="2736" dirty="0">
              <a:latin typeface="Arial"/>
              <a:cs typeface="Arial"/>
            </a:endParaRPr>
          </a:p>
          <a:p>
            <a:pPr marL="645613" lvl="1" indent="-243802">
              <a:spcBef>
                <a:spcPts val="569"/>
              </a:spcBef>
              <a:buClr>
                <a:srgbClr val="CC0066"/>
              </a:buClr>
              <a:buSzPct val="78571"/>
              <a:buFont typeface="Segoe UI Symbol"/>
              <a:buChar char="□"/>
              <a:tabLst>
                <a:tab pos="645613" algn="l"/>
              </a:tabLst>
            </a:pPr>
            <a:r>
              <a:rPr sz="2394" dirty="0">
                <a:latin typeface="Arial"/>
                <a:cs typeface="Arial"/>
              </a:rPr>
              <a:t>the</a:t>
            </a:r>
            <a:r>
              <a:rPr sz="2394" spc="-30" dirty="0">
                <a:latin typeface="Arial"/>
                <a:cs typeface="Arial"/>
              </a:rPr>
              <a:t> </a:t>
            </a:r>
            <a:r>
              <a:rPr sz="2394" dirty="0">
                <a:latin typeface="Arial"/>
                <a:cs typeface="Arial"/>
              </a:rPr>
              <a:t>system</a:t>
            </a:r>
            <a:r>
              <a:rPr sz="2394" spc="-26" dirty="0">
                <a:latin typeface="Arial"/>
                <a:cs typeface="Arial"/>
              </a:rPr>
              <a:t> </a:t>
            </a:r>
            <a:r>
              <a:rPr sz="2394" spc="-9" dirty="0">
                <a:latin typeface="Arial"/>
                <a:cs typeface="Arial"/>
              </a:rPr>
              <a:t>boundaries.</a:t>
            </a:r>
            <a:endParaRPr sz="2394" dirty="0">
              <a:latin typeface="Arial"/>
              <a:cs typeface="Arial"/>
            </a:endParaRPr>
          </a:p>
          <a:p>
            <a:pPr marL="645613" lvl="1" indent="-243802">
              <a:spcBef>
                <a:spcPts val="573"/>
              </a:spcBef>
              <a:buClr>
                <a:srgbClr val="CC0066"/>
              </a:buClr>
              <a:buSzPct val="78571"/>
              <a:buFont typeface="Segoe UI Symbol"/>
              <a:buChar char="□"/>
              <a:tabLst>
                <a:tab pos="645613" algn="l"/>
              </a:tabLst>
            </a:pPr>
            <a:r>
              <a:rPr sz="2394" dirty="0">
                <a:latin typeface="Arial"/>
                <a:cs typeface="Arial"/>
              </a:rPr>
              <a:t>external</a:t>
            </a:r>
            <a:r>
              <a:rPr sz="2394" spc="-34" dirty="0">
                <a:latin typeface="Arial"/>
                <a:cs typeface="Arial"/>
              </a:rPr>
              <a:t> </a:t>
            </a:r>
            <a:r>
              <a:rPr sz="2394" dirty="0">
                <a:latin typeface="Arial"/>
                <a:cs typeface="Arial"/>
              </a:rPr>
              <a:t>entities</a:t>
            </a:r>
            <a:r>
              <a:rPr sz="2394" spc="-30" dirty="0">
                <a:latin typeface="Arial"/>
                <a:cs typeface="Arial"/>
              </a:rPr>
              <a:t> </a:t>
            </a:r>
            <a:r>
              <a:rPr sz="2394" dirty="0">
                <a:latin typeface="Arial"/>
                <a:cs typeface="Arial"/>
              </a:rPr>
              <a:t>that</a:t>
            </a:r>
            <a:r>
              <a:rPr sz="2394" spc="-30" dirty="0">
                <a:latin typeface="Arial"/>
                <a:cs typeface="Arial"/>
              </a:rPr>
              <a:t> </a:t>
            </a:r>
            <a:r>
              <a:rPr sz="2394" dirty="0">
                <a:latin typeface="Arial"/>
                <a:cs typeface="Arial"/>
              </a:rPr>
              <a:t>interact</a:t>
            </a:r>
            <a:r>
              <a:rPr sz="2394" spc="-34" dirty="0">
                <a:latin typeface="Arial"/>
                <a:cs typeface="Arial"/>
              </a:rPr>
              <a:t> </a:t>
            </a:r>
            <a:r>
              <a:rPr sz="2394" dirty="0">
                <a:latin typeface="Arial"/>
                <a:cs typeface="Arial"/>
              </a:rPr>
              <a:t>with</a:t>
            </a:r>
            <a:r>
              <a:rPr sz="2394" spc="-30" dirty="0">
                <a:latin typeface="Arial"/>
                <a:cs typeface="Arial"/>
              </a:rPr>
              <a:t> </a:t>
            </a:r>
            <a:r>
              <a:rPr sz="2394" dirty="0">
                <a:latin typeface="Arial"/>
                <a:cs typeface="Arial"/>
              </a:rPr>
              <a:t>the</a:t>
            </a:r>
            <a:r>
              <a:rPr sz="2394" spc="4" dirty="0">
                <a:latin typeface="Arial"/>
                <a:cs typeface="Arial"/>
              </a:rPr>
              <a:t> </a:t>
            </a:r>
            <a:r>
              <a:rPr sz="2394" spc="-9" dirty="0">
                <a:latin typeface="Arial"/>
                <a:cs typeface="Arial"/>
              </a:rPr>
              <a:t>system.</a:t>
            </a:r>
            <a:endParaRPr sz="2394" dirty="0">
              <a:latin typeface="Arial"/>
              <a:cs typeface="Arial"/>
            </a:endParaRPr>
          </a:p>
          <a:p>
            <a:pPr marL="645070" marR="152580" lvl="1" indent="-243802">
              <a:spcBef>
                <a:spcPts val="577"/>
              </a:spcBef>
              <a:buClr>
                <a:srgbClr val="CC0066"/>
              </a:buClr>
              <a:buSzPct val="78571"/>
              <a:buFont typeface="Segoe UI Symbol"/>
              <a:buChar char="□"/>
              <a:tabLst>
                <a:tab pos="646699" algn="l"/>
              </a:tabLst>
            </a:pPr>
            <a:r>
              <a:rPr sz="2394" dirty="0">
                <a:latin typeface="Arial"/>
                <a:cs typeface="Arial"/>
              </a:rPr>
              <a:t>major</a:t>
            </a:r>
            <a:r>
              <a:rPr sz="2394" spc="-43" dirty="0">
                <a:latin typeface="Arial"/>
                <a:cs typeface="Arial"/>
              </a:rPr>
              <a:t> </a:t>
            </a:r>
            <a:r>
              <a:rPr sz="2394" dirty="0">
                <a:latin typeface="Arial"/>
                <a:cs typeface="Arial"/>
              </a:rPr>
              <a:t>information</a:t>
            </a:r>
            <a:r>
              <a:rPr sz="2394" spc="-38" dirty="0">
                <a:latin typeface="Arial"/>
                <a:cs typeface="Arial"/>
              </a:rPr>
              <a:t> </a:t>
            </a:r>
            <a:r>
              <a:rPr sz="2394" dirty="0">
                <a:latin typeface="Arial"/>
                <a:cs typeface="Arial"/>
              </a:rPr>
              <a:t>flows</a:t>
            </a:r>
            <a:r>
              <a:rPr sz="2394" spc="-43" dirty="0">
                <a:latin typeface="Arial"/>
                <a:cs typeface="Arial"/>
              </a:rPr>
              <a:t> </a:t>
            </a:r>
            <a:r>
              <a:rPr sz="2394" dirty="0">
                <a:latin typeface="Arial"/>
                <a:cs typeface="Arial"/>
              </a:rPr>
              <a:t>between</a:t>
            </a:r>
            <a:r>
              <a:rPr sz="2394" spc="-38" dirty="0">
                <a:latin typeface="Arial"/>
                <a:cs typeface="Arial"/>
              </a:rPr>
              <a:t> </a:t>
            </a:r>
            <a:r>
              <a:rPr sz="2394" dirty="0">
                <a:latin typeface="Arial"/>
                <a:cs typeface="Arial"/>
              </a:rPr>
              <a:t>the</a:t>
            </a:r>
            <a:r>
              <a:rPr sz="2394" spc="-43" dirty="0">
                <a:latin typeface="Arial"/>
                <a:cs typeface="Arial"/>
              </a:rPr>
              <a:t> </a:t>
            </a:r>
            <a:r>
              <a:rPr sz="2394" spc="-9" dirty="0">
                <a:latin typeface="Arial"/>
                <a:cs typeface="Arial"/>
              </a:rPr>
              <a:t>entities 	</a:t>
            </a:r>
            <a:r>
              <a:rPr sz="2394" dirty="0">
                <a:latin typeface="Arial"/>
                <a:cs typeface="Arial"/>
              </a:rPr>
              <a:t>and</a:t>
            </a:r>
            <a:r>
              <a:rPr sz="2394" spc="-30" dirty="0">
                <a:latin typeface="Arial"/>
                <a:cs typeface="Arial"/>
              </a:rPr>
              <a:t> </a:t>
            </a:r>
            <a:r>
              <a:rPr sz="2394" dirty="0">
                <a:latin typeface="Arial"/>
                <a:cs typeface="Arial"/>
              </a:rPr>
              <a:t>the</a:t>
            </a:r>
            <a:r>
              <a:rPr sz="2394" spc="-64" dirty="0">
                <a:latin typeface="Arial"/>
                <a:cs typeface="Arial"/>
              </a:rPr>
              <a:t> </a:t>
            </a:r>
            <a:r>
              <a:rPr sz="2394" spc="-9" dirty="0">
                <a:latin typeface="Arial"/>
                <a:cs typeface="Arial"/>
              </a:rPr>
              <a:t>system.</a:t>
            </a:r>
            <a:endParaRPr sz="2394" dirty="0">
              <a:latin typeface="Arial"/>
              <a:cs typeface="Arial"/>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A0F064-EF43-3039-C0F8-C7FAADA9FB73}"/>
              </a:ext>
            </a:extLst>
          </p:cNvPr>
          <p:cNvSpPr>
            <a:spLocks noGrp="1"/>
          </p:cNvSpPr>
          <p:nvPr>
            <p:ph type="title"/>
          </p:nvPr>
        </p:nvSpPr>
        <p:spPr/>
        <p:txBody>
          <a:bodyPr/>
          <a:lstStyle/>
          <a:p>
            <a:r>
              <a:rPr lang="en-MY" dirty="0"/>
              <a:t>Developing DFDs: An example</a:t>
            </a:r>
          </a:p>
        </p:txBody>
      </p:sp>
      <p:sp>
        <p:nvSpPr>
          <p:cNvPr id="9" name="Content Placeholder 8">
            <a:extLst>
              <a:ext uri="{FF2B5EF4-FFF2-40B4-BE49-F238E27FC236}">
                <a16:creationId xmlns:a16="http://schemas.microsoft.com/office/drawing/2014/main" id="{55186C36-0B55-0442-0334-96D664D1BDA2}"/>
              </a:ext>
            </a:extLst>
          </p:cNvPr>
          <p:cNvSpPr>
            <a:spLocks noGrp="1"/>
          </p:cNvSpPr>
          <p:nvPr>
            <p:ph idx="1"/>
          </p:nvPr>
        </p:nvSpPr>
        <p:spPr/>
        <p:txBody>
          <a:bodyPr>
            <a:normAutofit lnSpcReduction="10000"/>
          </a:bodyPr>
          <a:lstStyle/>
          <a:p>
            <a:r>
              <a:rPr lang="en-US" dirty="0"/>
              <a:t>Consider Hoosier Burger, a fictional restaurant in Bloomington, Indiana, owned by Bob and Thelma </a:t>
            </a:r>
            <a:r>
              <a:rPr lang="en-US" dirty="0" err="1"/>
              <a:t>Mellankamp</a:t>
            </a:r>
            <a:r>
              <a:rPr lang="en-US" dirty="0"/>
              <a:t>.</a:t>
            </a:r>
          </a:p>
          <a:p>
            <a:r>
              <a:rPr lang="en-US" dirty="0"/>
              <a:t>Some are convinced that its hamburgers are the best in Bloomington, maybe even in southern Indiana. Many people, especially Indiana University students and faculty, frequently eat at Hoosier Burger. The restaurant uses an information system that takes customer orders, sends the orders to the kitchen, monitors goods sold and inventory, and generates reports for management.</a:t>
            </a:r>
            <a:endParaRPr lang="en-MY" dirty="0"/>
          </a:p>
        </p:txBody>
      </p:sp>
      <p:sp>
        <p:nvSpPr>
          <p:cNvPr id="4" name="Date Placeholder 3">
            <a:extLst>
              <a:ext uri="{FF2B5EF4-FFF2-40B4-BE49-F238E27FC236}">
                <a16:creationId xmlns:a16="http://schemas.microsoft.com/office/drawing/2014/main" id="{4956F1CB-0674-1C93-6204-848AF2AA8BD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4F75FF4-063A-D1B0-328C-88755D888F9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A7747C0-00AF-85BA-0E4C-24F932A01EFF}"/>
              </a:ext>
            </a:extLst>
          </p:cNvPr>
          <p:cNvSpPr>
            <a:spLocks noGrp="1"/>
          </p:cNvSpPr>
          <p:nvPr>
            <p:ph type="sldNum" sz="quarter" idx="12"/>
          </p:nvPr>
        </p:nvSpPr>
        <p:spPr/>
        <p:txBody>
          <a:bodyPr/>
          <a:lstStyle/>
          <a:p>
            <a:pPr>
              <a:defRPr/>
            </a:pPr>
            <a:fld id="{58EFFD8C-6B70-4156-A8DC-27560EBC3DB0}" type="slidenum">
              <a:rPr lang="en-US" smtClean="0"/>
              <a:pPr>
                <a:defRPr/>
              </a:pPr>
              <a:t>11</a:t>
            </a:fld>
            <a:endParaRPr lang="en-US"/>
          </a:p>
        </p:txBody>
      </p:sp>
    </p:spTree>
    <p:extLst>
      <p:ext uri="{BB962C8B-B14F-4D97-AF65-F5344CB8AC3E}">
        <p14:creationId xmlns:p14="http://schemas.microsoft.com/office/powerpoint/2010/main" val="1448051016"/>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681" y="52695"/>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b="1" dirty="0"/>
              <a:t>Context</a:t>
            </a:r>
            <a:r>
              <a:rPr sz="3762" b="1" spc="-137" dirty="0"/>
              <a:t> </a:t>
            </a:r>
            <a:r>
              <a:rPr sz="3762" b="1" spc="-9" dirty="0"/>
              <a:t>Diagram</a:t>
            </a:r>
            <a:endParaRPr sz="3762" b="1" dirty="0"/>
          </a:p>
        </p:txBody>
      </p:sp>
      <p:sp>
        <p:nvSpPr>
          <p:cNvPr id="4" name="object 4"/>
          <p:cNvSpPr txBox="1"/>
          <p:nvPr/>
        </p:nvSpPr>
        <p:spPr>
          <a:xfrm>
            <a:off x="1837013" y="5715000"/>
            <a:ext cx="5072639" cy="48468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sz="1539" b="1" spc="-30" dirty="0">
                <a:latin typeface="Arial"/>
                <a:cs typeface="Arial"/>
              </a:rPr>
              <a:t> </a:t>
            </a:r>
            <a:r>
              <a:rPr lang="en-MY" sz="1539" b="1" spc="-30" dirty="0">
                <a:latin typeface="Arial"/>
                <a:cs typeface="Arial"/>
              </a:rPr>
              <a:t>3</a:t>
            </a:r>
            <a:endParaRPr sz="1539" dirty="0">
              <a:latin typeface="Arial"/>
              <a:cs typeface="Arial"/>
            </a:endParaRPr>
          </a:p>
          <a:p>
            <a:pPr marL="10860"/>
            <a:r>
              <a:rPr sz="1539" dirty="0">
                <a:latin typeface="Arial"/>
                <a:cs typeface="Arial"/>
              </a:rPr>
              <a:t>Context</a:t>
            </a:r>
            <a:r>
              <a:rPr sz="1539" spc="-13" dirty="0">
                <a:latin typeface="Arial"/>
                <a:cs typeface="Arial"/>
              </a:rPr>
              <a:t> </a:t>
            </a:r>
            <a:r>
              <a:rPr sz="1539" dirty="0">
                <a:latin typeface="Arial"/>
                <a:cs typeface="Arial"/>
              </a:rPr>
              <a:t>diagram</a:t>
            </a:r>
            <a:r>
              <a:rPr sz="1539" spc="-17" dirty="0">
                <a:latin typeface="Arial"/>
                <a:cs typeface="Arial"/>
              </a:rPr>
              <a:t> </a:t>
            </a:r>
            <a:r>
              <a:rPr sz="1539" dirty="0">
                <a:latin typeface="Arial"/>
                <a:cs typeface="Arial"/>
              </a:rPr>
              <a:t>of</a:t>
            </a:r>
            <a:r>
              <a:rPr sz="1539" spc="17" dirty="0">
                <a:latin typeface="Arial"/>
                <a:cs typeface="Arial"/>
              </a:rPr>
              <a:t> </a:t>
            </a:r>
            <a:r>
              <a:rPr sz="1539" dirty="0">
                <a:latin typeface="Arial"/>
                <a:cs typeface="Arial"/>
              </a:rPr>
              <a:t>Hoosier</a:t>
            </a:r>
            <a:r>
              <a:rPr sz="1539" spc="-21" dirty="0">
                <a:latin typeface="Arial"/>
                <a:cs typeface="Arial"/>
              </a:rPr>
              <a:t> </a:t>
            </a:r>
            <a:r>
              <a:rPr sz="1539" dirty="0">
                <a:latin typeface="Arial"/>
                <a:cs typeface="Arial"/>
              </a:rPr>
              <a:t>Burger’s</a:t>
            </a:r>
            <a:r>
              <a:rPr sz="1539" spc="-30" dirty="0">
                <a:latin typeface="Arial"/>
                <a:cs typeface="Arial"/>
              </a:rPr>
              <a:t> </a:t>
            </a:r>
            <a:r>
              <a:rPr sz="1539" dirty="0">
                <a:latin typeface="Arial"/>
                <a:cs typeface="Arial"/>
              </a:rPr>
              <a:t>food-ordering</a:t>
            </a:r>
            <a:r>
              <a:rPr sz="1539" spc="-43" dirty="0">
                <a:latin typeface="Arial"/>
                <a:cs typeface="Arial"/>
              </a:rPr>
              <a:t> </a:t>
            </a:r>
            <a:r>
              <a:rPr sz="1539" spc="-9" dirty="0">
                <a:latin typeface="Arial"/>
                <a:cs typeface="Arial"/>
              </a:rPr>
              <a:t>system</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12</a:t>
            </a:fld>
            <a:endParaRPr spc="-21" dirty="0"/>
          </a:p>
        </p:txBody>
      </p:sp>
      <p:pic>
        <p:nvPicPr>
          <p:cNvPr id="7" name="Picture 6">
            <a:extLst>
              <a:ext uri="{FF2B5EF4-FFF2-40B4-BE49-F238E27FC236}">
                <a16:creationId xmlns:a16="http://schemas.microsoft.com/office/drawing/2014/main" id="{33BA6CF5-E11B-B9CB-4F40-4AEFE3376A70}"/>
              </a:ext>
            </a:extLst>
          </p:cNvPr>
          <p:cNvPicPr>
            <a:picLocks noChangeAspect="1"/>
          </p:cNvPicPr>
          <p:nvPr/>
        </p:nvPicPr>
        <p:blipFill>
          <a:blip r:embed="rId2"/>
          <a:stretch>
            <a:fillRect/>
          </a:stretch>
        </p:blipFill>
        <p:spPr>
          <a:xfrm>
            <a:off x="1343026" y="2387762"/>
            <a:ext cx="6210300" cy="3048000"/>
          </a:xfrm>
          <a:prstGeom prst="rect">
            <a:avLst/>
          </a:prstGeom>
        </p:spPr>
      </p:pic>
      <p:sp>
        <p:nvSpPr>
          <p:cNvPr id="6" name="TextBox 5">
            <a:extLst>
              <a:ext uri="{FF2B5EF4-FFF2-40B4-BE49-F238E27FC236}">
                <a16:creationId xmlns:a16="http://schemas.microsoft.com/office/drawing/2014/main" id="{0F570E0A-63AE-9E93-8D14-EA60C36A2F51}"/>
              </a:ext>
            </a:extLst>
          </p:cNvPr>
          <p:cNvSpPr txBox="1"/>
          <p:nvPr/>
        </p:nvSpPr>
        <p:spPr>
          <a:xfrm>
            <a:off x="2209800" y="1568613"/>
            <a:ext cx="5257800" cy="400110"/>
          </a:xfrm>
          <a:prstGeom prst="rect">
            <a:avLst/>
          </a:prstGeom>
          <a:noFill/>
        </p:spPr>
        <p:txBody>
          <a:bodyPr wrap="square">
            <a:spAutoFit/>
          </a:bodyPr>
          <a:lstStyle/>
          <a:p>
            <a:pPr marL="305160" marR="426246" indent="-294843">
              <a:spcBef>
                <a:spcPts val="663"/>
              </a:spcBef>
              <a:buClr>
                <a:srgbClr val="3399FF"/>
              </a:buClr>
              <a:buSzPct val="75000"/>
              <a:buFont typeface="Segoe UI Symbol"/>
              <a:buChar char="■"/>
              <a:tabLst>
                <a:tab pos="305160" algn="l"/>
              </a:tabLst>
            </a:pPr>
            <a:r>
              <a:rPr lang="en-US" sz="2000" dirty="0">
                <a:solidFill>
                  <a:srgbClr val="0070C0"/>
                </a:solidFill>
                <a:latin typeface="Arabic Typesetting" panose="03020402040406030203" pitchFamily="66" charset="-78"/>
                <a:cs typeface="Arabic Typesetting" panose="03020402040406030203" pitchFamily="66" charset="-78"/>
              </a:rPr>
              <a:t>Note:</a:t>
            </a:r>
            <a:r>
              <a:rPr lang="en-US" sz="2000" spc="-60"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only</a:t>
            </a:r>
            <a:r>
              <a:rPr lang="en-US" sz="2000" spc="-60"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one</a:t>
            </a:r>
            <a:r>
              <a:rPr lang="en-US" sz="2000" spc="-56"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process</a:t>
            </a:r>
            <a:r>
              <a:rPr lang="en-US" sz="2000" spc="-60"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symbol,</a:t>
            </a:r>
            <a:r>
              <a:rPr lang="en-US" sz="2000" spc="-56"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and</a:t>
            </a:r>
            <a:r>
              <a:rPr lang="en-US" sz="2000" spc="-60" dirty="0">
                <a:solidFill>
                  <a:srgbClr val="0070C0"/>
                </a:solidFill>
                <a:latin typeface="Arabic Typesetting" panose="03020402040406030203" pitchFamily="66" charset="-78"/>
                <a:cs typeface="Arabic Typesetting" panose="03020402040406030203" pitchFamily="66" charset="-78"/>
              </a:rPr>
              <a:t> </a:t>
            </a:r>
            <a:r>
              <a:rPr lang="en-US" sz="2000" spc="-21" dirty="0">
                <a:solidFill>
                  <a:srgbClr val="0070C0"/>
                </a:solidFill>
                <a:latin typeface="Arabic Typesetting" panose="03020402040406030203" pitchFamily="66" charset="-78"/>
                <a:cs typeface="Arabic Typesetting" panose="03020402040406030203" pitchFamily="66" charset="-78"/>
              </a:rPr>
              <a:t>no </a:t>
            </a:r>
            <a:r>
              <a:rPr lang="en-US" sz="2000" dirty="0">
                <a:solidFill>
                  <a:srgbClr val="0070C0"/>
                </a:solidFill>
                <a:latin typeface="Arabic Typesetting" panose="03020402040406030203" pitchFamily="66" charset="-78"/>
                <a:cs typeface="Arabic Typesetting" panose="03020402040406030203" pitchFamily="66" charset="-78"/>
              </a:rPr>
              <a:t>data</a:t>
            </a:r>
            <a:r>
              <a:rPr lang="en-US" sz="2000" spc="-51" dirty="0">
                <a:solidFill>
                  <a:srgbClr val="0070C0"/>
                </a:solidFill>
                <a:latin typeface="Arabic Typesetting" panose="03020402040406030203" pitchFamily="66" charset="-78"/>
                <a:cs typeface="Arabic Typesetting" panose="03020402040406030203" pitchFamily="66" charset="-78"/>
              </a:rPr>
              <a:t> </a:t>
            </a:r>
            <a:r>
              <a:rPr lang="en-US" sz="2000" dirty="0">
                <a:solidFill>
                  <a:srgbClr val="0070C0"/>
                </a:solidFill>
                <a:latin typeface="Arabic Typesetting" panose="03020402040406030203" pitchFamily="66" charset="-78"/>
                <a:cs typeface="Arabic Typesetting" panose="03020402040406030203" pitchFamily="66" charset="-78"/>
              </a:rPr>
              <a:t>stores</a:t>
            </a:r>
            <a:r>
              <a:rPr lang="en-US" sz="2000" spc="-47" dirty="0">
                <a:solidFill>
                  <a:srgbClr val="0070C0"/>
                </a:solidFill>
                <a:latin typeface="Arabic Typesetting" panose="03020402040406030203" pitchFamily="66" charset="-78"/>
                <a:cs typeface="Arabic Typesetting" panose="03020402040406030203" pitchFamily="66" charset="-78"/>
              </a:rPr>
              <a:t> </a:t>
            </a:r>
            <a:r>
              <a:rPr lang="en-US" sz="2000" spc="-9" dirty="0">
                <a:solidFill>
                  <a:srgbClr val="0070C0"/>
                </a:solidFill>
                <a:latin typeface="Arabic Typesetting" panose="03020402040406030203" pitchFamily="66" charset="-78"/>
                <a:cs typeface="Arabic Typesetting" panose="03020402040406030203" pitchFamily="66" charset="-78"/>
              </a:rPr>
              <a:t>shown</a:t>
            </a:r>
            <a:endParaRPr lang="en-US" sz="2000" dirty="0">
              <a:solidFill>
                <a:srgbClr val="0070C0"/>
              </a:solidFill>
              <a:latin typeface="Arabic Typesetting" panose="03020402040406030203" pitchFamily="66" charset="-78"/>
              <a:cs typeface="Arabic Typesetting" panose="03020402040406030203" pitchFamily="66" charset="-78"/>
            </a:endParaRPr>
          </a:p>
        </p:txBody>
      </p:sp>
      <p:sp>
        <p:nvSpPr>
          <p:cNvPr id="8" name="TextBox 7">
            <a:extLst>
              <a:ext uri="{FF2B5EF4-FFF2-40B4-BE49-F238E27FC236}">
                <a16:creationId xmlns:a16="http://schemas.microsoft.com/office/drawing/2014/main" id="{317A6304-B57B-E8DD-DF0A-0BDB10F9C6E0}"/>
              </a:ext>
            </a:extLst>
          </p:cNvPr>
          <p:cNvSpPr txBox="1"/>
          <p:nvPr/>
        </p:nvSpPr>
        <p:spPr>
          <a:xfrm>
            <a:off x="1371601" y="1043154"/>
            <a:ext cx="7784130" cy="646331"/>
          </a:xfrm>
          <a:prstGeom prst="rect">
            <a:avLst/>
          </a:prstGeom>
          <a:noFill/>
        </p:spPr>
        <p:txBody>
          <a:bodyPr wrap="square">
            <a:spAutoFit/>
          </a:bodyPr>
          <a:lstStyle/>
          <a:p>
            <a:pPr algn="l"/>
            <a:r>
              <a:rPr lang="en-MY" sz="1800" b="0" i="0" u="none" strike="noStrike" baseline="0" dirty="0">
                <a:latin typeface="NewBaskervilleITCPro-Roman"/>
              </a:rPr>
              <a:t>The highest-level </a:t>
            </a:r>
            <a:r>
              <a:rPr lang="en-US" sz="1800" b="0" i="0" u="none" strike="noStrike" baseline="0" dirty="0">
                <a:latin typeface="NewBaskervilleITCPro-Roman"/>
              </a:rPr>
              <a:t>view of this system, shown in the figure, is called a </a:t>
            </a:r>
            <a:r>
              <a:rPr lang="en-US" sz="1800" b="1" i="0" u="none" strike="noStrike" baseline="0" dirty="0">
                <a:latin typeface="NewBaskervilleITCPro-Bold"/>
              </a:rPr>
              <a:t>context diagram</a:t>
            </a:r>
            <a:r>
              <a:rPr lang="en-US" sz="1800" b="0" i="0" u="none" strike="noStrike" baseline="0" dirty="0">
                <a:latin typeface="NewBaskervilleITCPro-Roman"/>
              </a:rPr>
              <a:t>.</a:t>
            </a:r>
            <a:endParaRPr lang="en-MY" dirty="0"/>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Developing</a:t>
            </a:r>
            <a:r>
              <a:rPr sz="3762" spc="-162" dirty="0"/>
              <a:t> </a:t>
            </a:r>
            <a:r>
              <a:rPr sz="3762" dirty="0"/>
              <a:t>DFDs</a:t>
            </a:r>
            <a:r>
              <a:rPr sz="3762" spc="-115"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13</a:t>
            </a:fld>
            <a:endParaRPr spc="-21" dirty="0"/>
          </a:p>
        </p:txBody>
      </p:sp>
      <p:sp>
        <p:nvSpPr>
          <p:cNvPr id="3" name="object 3"/>
          <p:cNvSpPr txBox="1"/>
          <p:nvPr/>
        </p:nvSpPr>
        <p:spPr>
          <a:xfrm>
            <a:off x="1120261" y="2209788"/>
            <a:ext cx="6862344" cy="2864625"/>
          </a:xfrm>
          <a:prstGeom prst="rect">
            <a:avLst/>
          </a:prstGeom>
        </p:spPr>
        <p:txBody>
          <a:bodyPr vert="horz" wrap="square" lIns="0" tIns="9774" rIns="0" bIns="0" rtlCol="0">
            <a:spAutoFit/>
          </a:bodyPr>
          <a:lstStyle/>
          <a:p>
            <a:pPr marL="305160" marR="243259" indent="-294843">
              <a:spcBef>
                <a:spcPts val="77"/>
              </a:spcBef>
              <a:buClr>
                <a:srgbClr val="3399FF"/>
              </a:buClr>
              <a:buSzPct val="75000"/>
              <a:buFont typeface="Segoe UI Symbol"/>
              <a:buChar char="■"/>
              <a:tabLst>
                <a:tab pos="305160" algn="l"/>
              </a:tabLst>
            </a:pPr>
            <a:r>
              <a:rPr sz="2736" b="1" spc="-26" dirty="0">
                <a:latin typeface="Arial"/>
                <a:cs typeface="Arial"/>
              </a:rPr>
              <a:t>Level-</a:t>
            </a:r>
            <a:r>
              <a:rPr sz="2736" b="1" dirty="0">
                <a:latin typeface="Arial"/>
                <a:cs typeface="Arial"/>
              </a:rPr>
              <a:t>0</a:t>
            </a:r>
            <a:r>
              <a:rPr sz="2736" b="1" spc="-47" dirty="0">
                <a:latin typeface="Arial"/>
                <a:cs typeface="Arial"/>
              </a:rPr>
              <a:t> </a:t>
            </a:r>
            <a:r>
              <a:rPr sz="2736" b="1" dirty="0">
                <a:latin typeface="Arial"/>
                <a:cs typeface="Arial"/>
              </a:rPr>
              <a:t>diagram</a:t>
            </a:r>
            <a:r>
              <a:rPr sz="2736" b="1" spc="34" dirty="0">
                <a:latin typeface="Arial"/>
                <a:cs typeface="Arial"/>
              </a:rPr>
              <a:t> </a:t>
            </a:r>
            <a:r>
              <a:rPr sz="2736" dirty="0">
                <a:latin typeface="Arial"/>
                <a:cs typeface="Arial"/>
              </a:rPr>
              <a:t>is</a:t>
            </a:r>
            <a:r>
              <a:rPr sz="2736" spc="-34" dirty="0">
                <a:latin typeface="Arial"/>
                <a:cs typeface="Arial"/>
              </a:rPr>
              <a:t> </a:t>
            </a:r>
            <a:r>
              <a:rPr sz="2736" dirty="0">
                <a:latin typeface="Arial"/>
                <a:cs typeface="Arial"/>
              </a:rPr>
              <a:t>a</a:t>
            </a:r>
            <a:r>
              <a:rPr sz="2736" spc="-34" dirty="0">
                <a:latin typeface="Arial"/>
                <a:cs typeface="Arial"/>
              </a:rPr>
              <a:t> </a:t>
            </a:r>
            <a:r>
              <a:rPr sz="2736" dirty="0">
                <a:latin typeface="Arial"/>
                <a:cs typeface="Arial"/>
              </a:rPr>
              <a:t>data</a:t>
            </a:r>
            <a:r>
              <a:rPr sz="2736" spc="-38" dirty="0">
                <a:latin typeface="Arial"/>
                <a:cs typeface="Arial"/>
              </a:rPr>
              <a:t> </a:t>
            </a:r>
            <a:r>
              <a:rPr sz="2736" dirty="0">
                <a:latin typeface="Arial"/>
                <a:cs typeface="Arial"/>
              </a:rPr>
              <a:t>flow</a:t>
            </a:r>
            <a:r>
              <a:rPr sz="2736" spc="-34" dirty="0">
                <a:latin typeface="Arial"/>
                <a:cs typeface="Arial"/>
              </a:rPr>
              <a:t> </a:t>
            </a:r>
            <a:r>
              <a:rPr sz="2736" spc="-9" dirty="0">
                <a:latin typeface="Arial"/>
                <a:cs typeface="Arial"/>
              </a:rPr>
              <a:t>diagram </a:t>
            </a:r>
            <a:r>
              <a:rPr sz="2736" dirty="0">
                <a:latin typeface="Arial"/>
                <a:cs typeface="Arial"/>
              </a:rPr>
              <a:t>that</a:t>
            </a:r>
            <a:r>
              <a:rPr sz="2736" spc="-64" dirty="0">
                <a:latin typeface="Arial"/>
                <a:cs typeface="Arial"/>
              </a:rPr>
              <a:t> </a:t>
            </a:r>
            <a:r>
              <a:rPr sz="2736" dirty="0">
                <a:latin typeface="Arial"/>
                <a:cs typeface="Arial"/>
              </a:rPr>
              <a:t>represents</a:t>
            </a:r>
            <a:r>
              <a:rPr sz="2736" spc="-64" dirty="0">
                <a:latin typeface="Arial"/>
                <a:cs typeface="Arial"/>
              </a:rPr>
              <a:t> </a:t>
            </a:r>
            <a:r>
              <a:rPr sz="2736" dirty="0">
                <a:latin typeface="Arial"/>
                <a:cs typeface="Arial"/>
              </a:rPr>
              <a:t>a</a:t>
            </a:r>
            <a:r>
              <a:rPr sz="2736" spc="-64" dirty="0">
                <a:latin typeface="Arial"/>
                <a:cs typeface="Arial"/>
              </a:rPr>
              <a:t> </a:t>
            </a:r>
            <a:r>
              <a:rPr sz="2736" dirty="0">
                <a:latin typeface="Arial"/>
                <a:cs typeface="Arial"/>
              </a:rPr>
              <a:t>system’s</a:t>
            </a:r>
            <a:r>
              <a:rPr sz="2736" spc="-64" dirty="0">
                <a:latin typeface="Arial"/>
                <a:cs typeface="Arial"/>
              </a:rPr>
              <a:t> </a:t>
            </a:r>
            <a:r>
              <a:rPr sz="2736" spc="-9" dirty="0">
                <a:latin typeface="Arial"/>
                <a:cs typeface="Arial"/>
              </a:rPr>
              <a:t>major </a:t>
            </a:r>
            <a:r>
              <a:rPr sz="2736" dirty="0">
                <a:latin typeface="Arial"/>
                <a:cs typeface="Arial"/>
              </a:rPr>
              <a:t>processes,</a:t>
            </a:r>
            <a:r>
              <a:rPr sz="2736" spc="-64" dirty="0">
                <a:latin typeface="Arial"/>
                <a:cs typeface="Arial"/>
              </a:rPr>
              <a:t> </a:t>
            </a:r>
            <a:r>
              <a:rPr sz="2736" dirty="0">
                <a:latin typeface="Arial"/>
                <a:cs typeface="Arial"/>
              </a:rPr>
              <a:t>data</a:t>
            </a:r>
            <a:r>
              <a:rPr sz="2736" spc="-56" dirty="0">
                <a:latin typeface="Arial"/>
                <a:cs typeface="Arial"/>
              </a:rPr>
              <a:t> </a:t>
            </a:r>
            <a:r>
              <a:rPr sz="2736" dirty="0">
                <a:latin typeface="Arial"/>
                <a:cs typeface="Arial"/>
              </a:rPr>
              <a:t>flows,</a:t>
            </a:r>
            <a:r>
              <a:rPr sz="2736" spc="-56" dirty="0">
                <a:latin typeface="Arial"/>
                <a:cs typeface="Arial"/>
              </a:rPr>
              <a:t> </a:t>
            </a:r>
            <a:r>
              <a:rPr sz="2736" dirty="0">
                <a:latin typeface="Arial"/>
                <a:cs typeface="Arial"/>
              </a:rPr>
              <a:t>and</a:t>
            </a:r>
            <a:r>
              <a:rPr sz="2736" spc="-56" dirty="0">
                <a:latin typeface="Arial"/>
                <a:cs typeface="Arial"/>
              </a:rPr>
              <a:t> </a:t>
            </a:r>
            <a:r>
              <a:rPr sz="2736" dirty="0">
                <a:latin typeface="Arial"/>
                <a:cs typeface="Arial"/>
              </a:rPr>
              <a:t>data</a:t>
            </a:r>
            <a:r>
              <a:rPr sz="2736" spc="-56" dirty="0">
                <a:latin typeface="Arial"/>
                <a:cs typeface="Arial"/>
              </a:rPr>
              <a:t> </a:t>
            </a:r>
            <a:r>
              <a:rPr sz="2736" dirty="0">
                <a:latin typeface="Arial"/>
                <a:cs typeface="Arial"/>
              </a:rPr>
              <a:t>stores</a:t>
            </a:r>
            <a:r>
              <a:rPr sz="2736" spc="-9" dirty="0">
                <a:latin typeface="Arial"/>
                <a:cs typeface="Arial"/>
              </a:rPr>
              <a:t> </a:t>
            </a:r>
            <a:r>
              <a:rPr sz="2736" spc="-21" dirty="0">
                <a:latin typeface="Arial"/>
                <a:cs typeface="Arial"/>
              </a:rPr>
              <a:t>at </a:t>
            </a:r>
            <a:r>
              <a:rPr sz="2736" dirty="0">
                <a:latin typeface="Arial"/>
                <a:cs typeface="Arial"/>
              </a:rPr>
              <a:t>a</a:t>
            </a:r>
            <a:r>
              <a:rPr sz="2736" spc="-47" dirty="0">
                <a:latin typeface="Arial"/>
                <a:cs typeface="Arial"/>
              </a:rPr>
              <a:t> </a:t>
            </a:r>
            <a:r>
              <a:rPr sz="2736" dirty="0">
                <a:latin typeface="Arial"/>
                <a:cs typeface="Arial"/>
              </a:rPr>
              <a:t>high</a:t>
            </a:r>
            <a:r>
              <a:rPr sz="2736" spc="-43" dirty="0">
                <a:latin typeface="Arial"/>
                <a:cs typeface="Arial"/>
              </a:rPr>
              <a:t> </a:t>
            </a:r>
            <a:r>
              <a:rPr sz="2736" dirty="0">
                <a:latin typeface="Arial"/>
                <a:cs typeface="Arial"/>
              </a:rPr>
              <a:t>level</a:t>
            </a:r>
            <a:r>
              <a:rPr sz="2736" spc="-47" dirty="0">
                <a:latin typeface="Arial"/>
                <a:cs typeface="Arial"/>
              </a:rPr>
              <a:t> </a:t>
            </a:r>
            <a:r>
              <a:rPr sz="2736" dirty="0">
                <a:latin typeface="Arial"/>
                <a:cs typeface="Arial"/>
              </a:rPr>
              <a:t>of</a:t>
            </a:r>
            <a:r>
              <a:rPr sz="2736" spc="-43" dirty="0">
                <a:latin typeface="Arial"/>
                <a:cs typeface="Arial"/>
              </a:rPr>
              <a:t> </a:t>
            </a:r>
            <a:r>
              <a:rPr sz="2736" spc="-9" dirty="0">
                <a:latin typeface="Arial"/>
                <a:cs typeface="Arial"/>
              </a:rPr>
              <a:t>detail.</a:t>
            </a:r>
            <a:endParaRPr lang="en-MY" sz="2736" spc="-9" dirty="0">
              <a:latin typeface="Arial"/>
              <a:cs typeface="Arial"/>
            </a:endParaRPr>
          </a:p>
          <a:p>
            <a:pPr marL="305160" marR="243259" indent="-294843">
              <a:spcBef>
                <a:spcPts val="77"/>
              </a:spcBef>
              <a:buClr>
                <a:srgbClr val="3399FF"/>
              </a:buClr>
              <a:buSzPct val="75000"/>
              <a:buFont typeface="Segoe UI Symbol"/>
              <a:buChar char="■"/>
              <a:tabLst>
                <a:tab pos="305160" algn="l"/>
              </a:tabLst>
            </a:pPr>
            <a:r>
              <a:rPr sz="2394" dirty="0">
                <a:latin typeface="Arial"/>
                <a:cs typeface="Arial"/>
              </a:rPr>
              <a:t>Processes</a:t>
            </a:r>
            <a:r>
              <a:rPr sz="2394" spc="-64" dirty="0">
                <a:latin typeface="Arial"/>
                <a:cs typeface="Arial"/>
              </a:rPr>
              <a:t> </a:t>
            </a:r>
            <a:r>
              <a:rPr sz="2394" dirty="0">
                <a:latin typeface="Arial"/>
                <a:cs typeface="Arial"/>
              </a:rPr>
              <a:t>are</a:t>
            </a:r>
            <a:r>
              <a:rPr sz="2394" spc="-17" dirty="0">
                <a:latin typeface="Arial"/>
                <a:cs typeface="Arial"/>
              </a:rPr>
              <a:t> </a:t>
            </a:r>
            <a:r>
              <a:rPr sz="2394" dirty="0">
                <a:latin typeface="Arial"/>
                <a:cs typeface="Arial"/>
              </a:rPr>
              <a:t>labeled</a:t>
            </a:r>
            <a:r>
              <a:rPr sz="2394" spc="-17" dirty="0">
                <a:latin typeface="Arial"/>
                <a:cs typeface="Arial"/>
              </a:rPr>
              <a:t> </a:t>
            </a:r>
            <a:r>
              <a:rPr sz="2394" dirty="0">
                <a:latin typeface="Arial"/>
                <a:cs typeface="Arial"/>
              </a:rPr>
              <a:t>1.0,</a:t>
            </a:r>
            <a:r>
              <a:rPr sz="2394" spc="-17" dirty="0">
                <a:latin typeface="Arial"/>
                <a:cs typeface="Arial"/>
              </a:rPr>
              <a:t> </a:t>
            </a:r>
            <a:r>
              <a:rPr sz="2394" dirty="0">
                <a:latin typeface="Arial"/>
                <a:cs typeface="Arial"/>
              </a:rPr>
              <a:t>2.0,</a:t>
            </a:r>
            <a:r>
              <a:rPr sz="2394" spc="-56" dirty="0">
                <a:latin typeface="Arial"/>
                <a:cs typeface="Arial"/>
              </a:rPr>
              <a:t> </a:t>
            </a:r>
            <a:r>
              <a:rPr sz="2394" dirty="0">
                <a:latin typeface="Arial"/>
                <a:cs typeface="Arial"/>
              </a:rPr>
              <a:t>etc.</a:t>
            </a:r>
            <a:r>
              <a:rPr sz="2394" spc="-56" dirty="0">
                <a:latin typeface="Arial"/>
                <a:cs typeface="Arial"/>
              </a:rPr>
              <a:t> </a:t>
            </a:r>
            <a:r>
              <a:rPr sz="2394" dirty="0">
                <a:latin typeface="Arial"/>
                <a:cs typeface="Arial"/>
              </a:rPr>
              <a:t>These</a:t>
            </a:r>
            <a:r>
              <a:rPr sz="2394" spc="-21" dirty="0">
                <a:latin typeface="Arial"/>
                <a:cs typeface="Arial"/>
              </a:rPr>
              <a:t> </a:t>
            </a:r>
            <a:r>
              <a:rPr sz="2394" spc="-17" dirty="0">
                <a:latin typeface="Arial"/>
                <a:cs typeface="Arial"/>
              </a:rPr>
              <a:t>will </a:t>
            </a:r>
            <a:r>
              <a:rPr sz="2394" dirty="0">
                <a:latin typeface="Arial"/>
                <a:cs typeface="Arial"/>
              </a:rPr>
              <a:t>be</a:t>
            </a:r>
            <a:r>
              <a:rPr sz="2394" spc="-47" dirty="0">
                <a:latin typeface="Arial"/>
                <a:cs typeface="Arial"/>
              </a:rPr>
              <a:t> </a:t>
            </a:r>
            <a:r>
              <a:rPr sz="2394" dirty="0">
                <a:latin typeface="Arial"/>
                <a:cs typeface="Arial"/>
              </a:rPr>
              <a:t>decomposed</a:t>
            </a:r>
            <a:r>
              <a:rPr sz="2394" spc="-43" dirty="0">
                <a:latin typeface="Arial"/>
                <a:cs typeface="Arial"/>
              </a:rPr>
              <a:t> </a:t>
            </a:r>
            <a:r>
              <a:rPr sz="2394" dirty="0">
                <a:latin typeface="Arial"/>
                <a:cs typeface="Arial"/>
              </a:rPr>
              <a:t>into</a:t>
            </a:r>
            <a:r>
              <a:rPr sz="2394" spc="-47" dirty="0">
                <a:latin typeface="Arial"/>
                <a:cs typeface="Arial"/>
              </a:rPr>
              <a:t> </a:t>
            </a:r>
            <a:r>
              <a:rPr sz="2394" dirty="0">
                <a:latin typeface="Arial"/>
                <a:cs typeface="Arial"/>
              </a:rPr>
              <a:t>more</a:t>
            </a:r>
            <a:r>
              <a:rPr sz="2394" spc="-43" dirty="0">
                <a:latin typeface="Arial"/>
                <a:cs typeface="Arial"/>
              </a:rPr>
              <a:t> </a:t>
            </a:r>
            <a:r>
              <a:rPr sz="2394" dirty="0">
                <a:latin typeface="Arial"/>
                <a:cs typeface="Arial"/>
              </a:rPr>
              <a:t>primitive</a:t>
            </a:r>
            <a:r>
              <a:rPr sz="2394" spc="-47" dirty="0">
                <a:latin typeface="Arial"/>
                <a:cs typeface="Arial"/>
              </a:rPr>
              <a:t> </a:t>
            </a:r>
            <a:r>
              <a:rPr sz="2394" spc="-9" dirty="0">
                <a:latin typeface="Arial"/>
                <a:cs typeface="Arial"/>
              </a:rPr>
              <a:t>(lower- </a:t>
            </a:r>
            <a:r>
              <a:rPr sz="2394" dirty="0">
                <a:latin typeface="Arial"/>
                <a:cs typeface="Arial"/>
              </a:rPr>
              <a:t>level)</a:t>
            </a:r>
            <a:r>
              <a:rPr sz="2394" spc="-68" dirty="0">
                <a:latin typeface="Arial"/>
                <a:cs typeface="Arial"/>
              </a:rPr>
              <a:t> </a:t>
            </a:r>
            <a:r>
              <a:rPr sz="2394" spc="-9" dirty="0">
                <a:latin typeface="Arial"/>
                <a:cs typeface="Arial"/>
              </a:rPr>
              <a:t>DFDs.</a:t>
            </a:r>
            <a:endParaRPr sz="2394" dirty="0">
              <a:latin typeface="Arial"/>
              <a:cs typeface="Arial"/>
            </a:endParaRP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F3AADC-9F60-B045-E1E9-463F0D9DAE8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7E79AB5-E4DD-15A1-51BA-790EAC68DE3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98EC45B-DA50-E80E-36A4-84A4DA2B7919}"/>
              </a:ext>
            </a:extLst>
          </p:cNvPr>
          <p:cNvSpPr>
            <a:spLocks noGrp="1"/>
          </p:cNvSpPr>
          <p:nvPr>
            <p:ph type="sldNum" sz="quarter" idx="12"/>
          </p:nvPr>
        </p:nvSpPr>
        <p:spPr/>
        <p:txBody>
          <a:bodyPr/>
          <a:lstStyle/>
          <a:p>
            <a:pPr>
              <a:defRPr/>
            </a:pPr>
            <a:fld id="{58EFFD8C-6B70-4156-A8DC-27560EBC3DB0}" type="slidenum">
              <a:rPr lang="en-US" smtClean="0"/>
              <a:pPr>
                <a:defRPr/>
              </a:pPr>
              <a:t>14</a:t>
            </a:fld>
            <a:endParaRPr lang="en-US"/>
          </a:p>
        </p:txBody>
      </p:sp>
      <p:sp>
        <p:nvSpPr>
          <p:cNvPr id="8" name="TextBox 7">
            <a:extLst>
              <a:ext uri="{FF2B5EF4-FFF2-40B4-BE49-F238E27FC236}">
                <a16:creationId xmlns:a16="http://schemas.microsoft.com/office/drawing/2014/main" id="{504FAB83-6398-7662-A3EF-FBB59446A3E1}"/>
              </a:ext>
            </a:extLst>
          </p:cNvPr>
          <p:cNvSpPr txBox="1"/>
          <p:nvPr/>
        </p:nvSpPr>
        <p:spPr>
          <a:xfrm>
            <a:off x="657482" y="3455773"/>
            <a:ext cx="8077200" cy="2862322"/>
          </a:xfrm>
          <a:prstGeom prst="rect">
            <a:avLst/>
          </a:prstGeom>
          <a:noFill/>
        </p:spPr>
        <p:txBody>
          <a:bodyPr wrap="square">
            <a:spAutoFit/>
          </a:bodyPr>
          <a:lstStyle/>
          <a:p>
            <a:r>
              <a:rPr lang="en-MY" sz="1800" b="0" i="0" u="none" strike="noStrike" baseline="0" dirty="0">
                <a:latin typeface="NewBaskervilleITCPro-Roman"/>
              </a:rPr>
              <a:t>4 separate processes.</a:t>
            </a:r>
          </a:p>
          <a:p>
            <a:endParaRPr lang="en-MY" dirty="0">
              <a:latin typeface="NewBaskervilleITCPro-Roman"/>
            </a:endParaRPr>
          </a:p>
          <a:p>
            <a:pPr algn="l"/>
            <a:r>
              <a:rPr lang="en-US" sz="1800" b="0" i="0" u="none" strike="noStrike" baseline="0" dirty="0">
                <a:latin typeface="NewBaskervilleITCPro-Roman"/>
              </a:rPr>
              <a:t>The </a:t>
            </a:r>
            <a:r>
              <a:rPr lang="en-US" sz="1800" b="1" i="0" u="none" strike="noStrike" baseline="0" dirty="0">
                <a:latin typeface="NewBaskervilleITCPro-Roman"/>
              </a:rPr>
              <a:t>main processes represent the major functions of the system</a:t>
            </a:r>
            <a:r>
              <a:rPr lang="en-US" sz="1800" b="0" i="0" u="none" strike="noStrike" baseline="0" dirty="0">
                <a:latin typeface="NewBaskervilleITCPro-Roman"/>
              </a:rPr>
              <a:t>,</a:t>
            </a:r>
          </a:p>
          <a:p>
            <a:pPr algn="l"/>
            <a:r>
              <a:rPr lang="en-US" sz="1800" b="0" i="0" u="none" strike="noStrike" baseline="0" dirty="0">
                <a:latin typeface="NewBaskervilleITCPro-Roman"/>
              </a:rPr>
              <a:t>and these major functions correspond to actions such as the following:</a:t>
            </a:r>
          </a:p>
          <a:p>
            <a:pPr algn="l"/>
            <a:r>
              <a:rPr lang="en-US" sz="1800" b="0" i="0" u="none" strike="noStrike" baseline="0" dirty="0">
                <a:latin typeface="NewBaskervilleITCPro-Roman"/>
              </a:rPr>
              <a:t>1. Capturing data from different sources (e.g., Process 1.0)</a:t>
            </a:r>
          </a:p>
          <a:p>
            <a:pPr algn="l"/>
            <a:r>
              <a:rPr lang="en-US" sz="1800" b="0" i="0" u="none" strike="noStrike" baseline="0" dirty="0">
                <a:latin typeface="NewBaskervilleITCPro-Roman"/>
              </a:rPr>
              <a:t>2. Maintaining data stores (e.g., Processes 2.0 and 3.0)</a:t>
            </a:r>
          </a:p>
          <a:p>
            <a:pPr algn="l"/>
            <a:r>
              <a:rPr lang="en-US" sz="1800" b="0" i="0" u="none" strike="noStrike" baseline="0" dirty="0">
                <a:latin typeface="NewBaskervilleITCPro-Roman"/>
              </a:rPr>
              <a:t>3. Producing and distributing data to different sinks (e.g., Process 4.0)</a:t>
            </a:r>
          </a:p>
          <a:p>
            <a:pPr algn="l"/>
            <a:r>
              <a:rPr lang="en-US" sz="1800" b="0" i="0" u="none" strike="noStrike" baseline="0" dirty="0">
                <a:latin typeface="NewBaskervilleITCPro-Roman"/>
              </a:rPr>
              <a:t>4. High-level descriptions of data transformation operations (e.g., Process 1.0.)</a:t>
            </a:r>
          </a:p>
          <a:p>
            <a:pPr algn="l"/>
            <a:r>
              <a:rPr lang="en-US" sz="1800" b="0" i="0" u="none" strike="noStrike" baseline="0" dirty="0">
                <a:latin typeface="NewBaskervilleITCPro-Roman"/>
              </a:rPr>
              <a:t>These major functions often correspond to the activities on the main system</a:t>
            </a:r>
          </a:p>
          <a:p>
            <a:pPr algn="l"/>
            <a:r>
              <a:rPr lang="en-MY" sz="1800" b="0" i="0" u="none" strike="noStrike" baseline="0" dirty="0">
                <a:latin typeface="NewBaskervilleITCPro-Roman"/>
              </a:rPr>
              <a:t>menu.</a:t>
            </a:r>
            <a:endParaRPr lang="en-MY" b="1" dirty="0"/>
          </a:p>
        </p:txBody>
      </p:sp>
      <p:pic>
        <p:nvPicPr>
          <p:cNvPr id="9" name="Picture 8">
            <a:extLst>
              <a:ext uri="{FF2B5EF4-FFF2-40B4-BE49-F238E27FC236}">
                <a16:creationId xmlns:a16="http://schemas.microsoft.com/office/drawing/2014/main" id="{5BEDCA0F-5A18-10B9-90CF-34AE4CE0BE6B}"/>
              </a:ext>
            </a:extLst>
          </p:cNvPr>
          <p:cNvPicPr>
            <a:picLocks noChangeAspect="1"/>
          </p:cNvPicPr>
          <p:nvPr/>
        </p:nvPicPr>
        <p:blipFill>
          <a:blip r:embed="rId2"/>
          <a:stretch>
            <a:fillRect/>
          </a:stretch>
        </p:blipFill>
        <p:spPr>
          <a:xfrm>
            <a:off x="1276350" y="407773"/>
            <a:ext cx="6210300" cy="3048000"/>
          </a:xfrm>
          <a:prstGeom prst="rect">
            <a:avLst/>
          </a:prstGeom>
        </p:spPr>
      </p:pic>
      <p:sp>
        <p:nvSpPr>
          <p:cNvPr id="10" name="Arrow: Down 9">
            <a:extLst>
              <a:ext uri="{FF2B5EF4-FFF2-40B4-BE49-F238E27FC236}">
                <a16:creationId xmlns:a16="http://schemas.microsoft.com/office/drawing/2014/main" id="{9A35EDF6-167A-20F9-EC42-20C53BBF0E44}"/>
              </a:ext>
            </a:extLst>
          </p:cNvPr>
          <p:cNvSpPr/>
          <p:nvPr/>
        </p:nvSpPr>
        <p:spPr>
          <a:xfrm rot="2307606">
            <a:off x="2914078" y="1945420"/>
            <a:ext cx="628650" cy="1676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a16="http://schemas.microsoft.com/office/drawing/2014/main" id="{57D9D4B6-3E06-03C1-9729-65E431B1696B}"/>
              </a:ext>
            </a:extLst>
          </p:cNvPr>
          <p:cNvSpPr txBox="1"/>
          <p:nvPr/>
        </p:nvSpPr>
        <p:spPr>
          <a:xfrm>
            <a:off x="5943599" y="2414288"/>
            <a:ext cx="2571751" cy="369332"/>
          </a:xfrm>
          <a:prstGeom prst="rect">
            <a:avLst/>
          </a:prstGeom>
          <a:noFill/>
        </p:spPr>
        <p:txBody>
          <a:bodyPr wrap="square">
            <a:spAutoFit/>
          </a:bodyPr>
          <a:lstStyle/>
          <a:p>
            <a:r>
              <a:rPr lang="en-MY" sz="1800" b="1" dirty="0">
                <a:solidFill>
                  <a:schemeClr val="accent5">
                    <a:lumMod val="75000"/>
                  </a:schemeClr>
                </a:solidFill>
              </a:rPr>
              <a:t>Context</a:t>
            </a:r>
            <a:r>
              <a:rPr lang="en-MY" sz="1800" b="1" spc="-137" dirty="0">
                <a:solidFill>
                  <a:schemeClr val="accent5">
                    <a:lumMod val="75000"/>
                  </a:schemeClr>
                </a:solidFill>
              </a:rPr>
              <a:t> </a:t>
            </a:r>
            <a:r>
              <a:rPr lang="en-MY" sz="1800" b="1" spc="-9" dirty="0">
                <a:solidFill>
                  <a:schemeClr val="accent5">
                    <a:lumMod val="75000"/>
                  </a:schemeClr>
                </a:solidFill>
              </a:rPr>
              <a:t>Diagram</a:t>
            </a:r>
            <a:endParaRPr lang="en-MY" dirty="0">
              <a:solidFill>
                <a:schemeClr val="accent5">
                  <a:lumMod val="75000"/>
                </a:schemeClr>
              </a:solidFill>
            </a:endParaRPr>
          </a:p>
        </p:txBody>
      </p:sp>
    </p:spTree>
    <p:extLst>
      <p:ext uri="{BB962C8B-B14F-4D97-AF65-F5344CB8AC3E}">
        <p14:creationId xmlns:p14="http://schemas.microsoft.com/office/powerpoint/2010/main" val="412493246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object 2"/>
          <p:cNvSpPr txBox="1">
            <a:spLocks noGrp="1"/>
          </p:cNvSpPr>
          <p:nvPr>
            <p:ph type="title"/>
          </p:nvPr>
        </p:nvSpPr>
        <p:spPr>
          <a:xfrm>
            <a:off x="5205463" y="209177"/>
            <a:ext cx="3590669" cy="1195294"/>
          </a:xfrm>
          <a:prstGeom prst="rect">
            <a:avLst/>
          </a:prstGeom>
        </p:spPr>
        <p:txBody>
          <a:bodyPr vert="horz" lIns="91440" tIns="45720" rIns="91440" bIns="45720" rtlCol="0" anchor="t">
            <a:normAutofit/>
          </a:bodyPr>
          <a:lstStyle/>
          <a:p>
            <a:pPr marL="10860"/>
            <a:r>
              <a:rPr lang="en-US" sz="3500" kern="1200" spc="-17" dirty="0">
                <a:solidFill>
                  <a:srgbClr val="080912"/>
                </a:solidFill>
                <a:latin typeface="+mj-lt"/>
                <a:ea typeface="+mj-ea"/>
                <a:cs typeface="+mj-cs"/>
              </a:rPr>
              <a:t>Level-</a:t>
            </a:r>
            <a:r>
              <a:rPr lang="en-US" sz="3500" kern="1200" dirty="0">
                <a:solidFill>
                  <a:srgbClr val="080912"/>
                </a:solidFill>
                <a:latin typeface="+mj-lt"/>
                <a:ea typeface="+mj-ea"/>
                <a:cs typeface="+mj-cs"/>
              </a:rPr>
              <a:t>0</a:t>
            </a:r>
            <a:r>
              <a:rPr lang="en-US" sz="3500" kern="1200" spc="-26" dirty="0">
                <a:solidFill>
                  <a:srgbClr val="080912"/>
                </a:solidFill>
                <a:latin typeface="+mj-lt"/>
                <a:ea typeface="+mj-ea"/>
                <a:cs typeface="+mj-cs"/>
              </a:rPr>
              <a:t> </a:t>
            </a:r>
            <a:r>
              <a:rPr lang="en-US" sz="3500" kern="1200" spc="-9" dirty="0">
                <a:solidFill>
                  <a:srgbClr val="080912"/>
                </a:solidFill>
                <a:latin typeface="+mj-lt"/>
                <a:ea typeface="+mj-ea"/>
                <a:cs typeface="+mj-cs"/>
              </a:rPr>
              <a:t>Diagram</a:t>
            </a:r>
            <a:endParaRPr lang="en-US" sz="3500" kern="1200" dirty="0">
              <a:solidFill>
                <a:srgbClr val="080912"/>
              </a:solidFill>
              <a:latin typeface="+mj-lt"/>
              <a:ea typeface="+mj-ea"/>
              <a:cs typeface="+mj-cs"/>
            </a:endParaRPr>
          </a:p>
        </p:txBody>
      </p:sp>
      <p:sp>
        <p:nvSpPr>
          <p:cNvPr id="4" name="object 4"/>
          <p:cNvSpPr txBox="1"/>
          <p:nvPr/>
        </p:nvSpPr>
        <p:spPr>
          <a:xfrm>
            <a:off x="357393" y="209177"/>
            <a:ext cx="2189804" cy="1494117"/>
          </a:xfrm>
          <a:prstGeom prst="rect">
            <a:avLst/>
          </a:prstGeom>
        </p:spPr>
        <p:txBody>
          <a:bodyPr vert="horz" lIns="91440" tIns="45720" rIns="91440" bIns="45720" rtlCol="0" anchor="b">
            <a:normAutofit/>
          </a:bodyPr>
          <a:lstStyle/>
          <a:p>
            <a:pPr>
              <a:lnSpc>
                <a:spcPct val="90000"/>
              </a:lnSpc>
              <a:spcBef>
                <a:spcPts val="1000"/>
              </a:spcBef>
            </a:pPr>
            <a:r>
              <a:rPr lang="en-US" sz="1700" b="1" kern="1200" dirty="0">
                <a:solidFill>
                  <a:srgbClr val="FFFFFF"/>
                </a:solidFill>
                <a:latin typeface="+mn-lt"/>
                <a:ea typeface="+mn-ea"/>
                <a:cs typeface="+mn-cs"/>
              </a:rPr>
              <a:t>FIGURE</a:t>
            </a:r>
            <a:r>
              <a:rPr lang="en-US" sz="1700" b="1" kern="1200" spc="-30" dirty="0">
                <a:solidFill>
                  <a:srgbClr val="FFFFFF"/>
                </a:solidFill>
                <a:latin typeface="+mn-lt"/>
                <a:ea typeface="+mn-ea"/>
                <a:cs typeface="+mn-cs"/>
              </a:rPr>
              <a:t> </a:t>
            </a:r>
            <a:r>
              <a:rPr lang="en-US" sz="1700" b="1" spc="-43" dirty="0">
                <a:solidFill>
                  <a:srgbClr val="FFFFFF"/>
                </a:solidFill>
                <a:latin typeface="+mn-lt"/>
                <a:cs typeface="+mn-cs"/>
              </a:rPr>
              <a:t>4</a:t>
            </a:r>
            <a:endParaRPr lang="en-US" sz="1700" kern="1200" dirty="0">
              <a:solidFill>
                <a:srgbClr val="FFFFFF"/>
              </a:solidFill>
              <a:latin typeface="+mn-lt"/>
              <a:ea typeface="+mn-ea"/>
              <a:cs typeface="+mn-cs"/>
            </a:endParaRPr>
          </a:p>
          <a:p>
            <a:pPr marR="4344">
              <a:lnSpc>
                <a:spcPct val="90000"/>
              </a:lnSpc>
              <a:spcBef>
                <a:spcPts val="1000"/>
              </a:spcBef>
            </a:pPr>
            <a:r>
              <a:rPr lang="en-US" sz="1700" kern="1200" dirty="0">
                <a:solidFill>
                  <a:srgbClr val="FFFFFF"/>
                </a:solidFill>
                <a:latin typeface="+mn-lt"/>
                <a:ea typeface="+mn-ea"/>
                <a:cs typeface="+mn-cs"/>
              </a:rPr>
              <a:t>Level-0</a:t>
            </a:r>
            <a:r>
              <a:rPr lang="en-US" sz="1700" kern="1200" spc="-9" dirty="0">
                <a:solidFill>
                  <a:srgbClr val="FFFFFF"/>
                </a:solidFill>
                <a:latin typeface="+mn-lt"/>
                <a:ea typeface="+mn-ea"/>
                <a:cs typeface="+mn-cs"/>
              </a:rPr>
              <a:t> </a:t>
            </a:r>
            <a:r>
              <a:rPr lang="en-US" sz="1700" kern="1200" dirty="0">
                <a:solidFill>
                  <a:srgbClr val="FFFFFF"/>
                </a:solidFill>
                <a:latin typeface="+mn-lt"/>
                <a:ea typeface="+mn-ea"/>
                <a:cs typeface="+mn-cs"/>
              </a:rPr>
              <a:t>DFD</a:t>
            </a:r>
            <a:r>
              <a:rPr lang="en-US" sz="1700" kern="1200" spc="-9" dirty="0">
                <a:solidFill>
                  <a:srgbClr val="FFFFFF"/>
                </a:solidFill>
                <a:latin typeface="+mn-lt"/>
                <a:ea typeface="+mn-ea"/>
                <a:cs typeface="+mn-cs"/>
              </a:rPr>
              <a:t> </a:t>
            </a:r>
            <a:r>
              <a:rPr lang="en-US" sz="1700" kern="1200" dirty="0">
                <a:solidFill>
                  <a:srgbClr val="FFFFFF"/>
                </a:solidFill>
                <a:latin typeface="+mn-lt"/>
                <a:ea typeface="+mn-ea"/>
                <a:cs typeface="+mn-cs"/>
              </a:rPr>
              <a:t>of</a:t>
            </a:r>
            <a:r>
              <a:rPr lang="en-US" sz="1700" kern="1200" spc="-9" dirty="0">
                <a:solidFill>
                  <a:srgbClr val="FFFFFF"/>
                </a:solidFill>
                <a:latin typeface="+mn-lt"/>
                <a:ea typeface="+mn-ea"/>
                <a:cs typeface="+mn-cs"/>
              </a:rPr>
              <a:t> </a:t>
            </a:r>
            <a:r>
              <a:rPr lang="en-US" sz="1700" kern="1200" dirty="0">
                <a:solidFill>
                  <a:srgbClr val="FFFFFF"/>
                </a:solidFill>
                <a:latin typeface="+mn-lt"/>
                <a:ea typeface="+mn-ea"/>
                <a:cs typeface="+mn-cs"/>
              </a:rPr>
              <a:t>Hoosier</a:t>
            </a:r>
            <a:r>
              <a:rPr lang="en-US" sz="1700" kern="1200" spc="-34" dirty="0">
                <a:solidFill>
                  <a:srgbClr val="FFFFFF"/>
                </a:solidFill>
                <a:latin typeface="+mn-lt"/>
                <a:ea typeface="+mn-ea"/>
                <a:cs typeface="+mn-cs"/>
              </a:rPr>
              <a:t> </a:t>
            </a:r>
            <a:r>
              <a:rPr lang="en-US" sz="1700" kern="1200" spc="-9" dirty="0">
                <a:solidFill>
                  <a:srgbClr val="FFFFFF"/>
                </a:solidFill>
                <a:latin typeface="+mn-lt"/>
                <a:ea typeface="+mn-ea"/>
                <a:cs typeface="+mn-cs"/>
              </a:rPr>
              <a:t>Burger’s food-</a:t>
            </a:r>
            <a:r>
              <a:rPr lang="en-US" sz="1700" kern="1200" dirty="0">
                <a:solidFill>
                  <a:srgbClr val="FFFFFF"/>
                </a:solidFill>
                <a:latin typeface="+mn-lt"/>
                <a:ea typeface="+mn-ea"/>
                <a:cs typeface="+mn-cs"/>
              </a:rPr>
              <a:t>ordering</a:t>
            </a:r>
            <a:r>
              <a:rPr lang="en-US" sz="1700" kern="1200" spc="-26" dirty="0">
                <a:solidFill>
                  <a:srgbClr val="FFFFFF"/>
                </a:solidFill>
                <a:latin typeface="+mn-lt"/>
                <a:ea typeface="+mn-ea"/>
                <a:cs typeface="+mn-cs"/>
              </a:rPr>
              <a:t> </a:t>
            </a:r>
            <a:r>
              <a:rPr lang="en-US" sz="1700" kern="1200" spc="-9" dirty="0">
                <a:solidFill>
                  <a:srgbClr val="FFFFFF"/>
                </a:solidFill>
                <a:latin typeface="+mn-lt"/>
                <a:ea typeface="+mn-ea"/>
                <a:cs typeface="+mn-cs"/>
              </a:rPr>
              <a:t>system</a:t>
            </a:r>
            <a:endParaRPr lang="en-US" sz="1700" kern="1200" dirty="0">
              <a:solidFill>
                <a:srgbClr val="FFFFFF"/>
              </a:solidFill>
              <a:latin typeface="+mn-lt"/>
              <a:ea typeface="+mn-ea"/>
              <a:cs typeface="+mn-cs"/>
            </a:endParaRPr>
          </a:p>
        </p:txBody>
      </p:sp>
      <p:pic>
        <p:nvPicPr>
          <p:cNvPr id="7" name="Picture 6">
            <a:extLst>
              <a:ext uri="{FF2B5EF4-FFF2-40B4-BE49-F238E27FC236}">
                <a16:creationId xmlns:a16="http://schemas.microsoft.com/office/drawing/2014/main" id="{AC5BE703-7DC3-C90E-D868-25F51475B721}"/>
              </a:ext>
            </a:extLst>
          </p:cNvPr>
          <p:cNvPicPr>
            <a:picLocks noChangeAspect="1"/>
          </p:cNvPicPr>
          <p:nvPr/>
        </p:nvPicPr>
        <p:blipFill>
          <a:blip r:embed="rId2"/>
          <a:stretch>
            <a:fillRect/>
          </a:stretch>
        </p:blipFill>
        <p:spPr>
          <a:xfrm>
            <a:off x="3376821" y="829103"/>
            <a:ext cx="5419311" cy="5199794"/>
          </a:xfrm>
          <a:prstGeom prst="rect">
            <a:avLst/>
          </a:prstGeom>
        </p:spPr>
      </p:pic>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15</a:t>
            </a:fld>
            <a:endParaRPr spc="-21" dirty="0"/>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25274"/>
            <a:ext cx="6743971" cy="898350"/>
          </a:xfrm>
          <a:prstGeom prst="rect">
            <a:avLst/>
          </a:prstGeom>
        </p:spPr>
        <p:txBody>
          <a:bodyPr vert="horz" wrap="square" lIns="0" tIns="368454" rIns="0" bIns="0" rtlCol="0" anchor="ctr">
            <a:spAutoFit/>
          </a:bodyPr>
          <a:lstStyle/>
          <a:p>
            <a:pPr marL="10860">
              <a:lnSpc>
                <a:spcPct val="100000"/>
              </a:lnSpc>
              <a:spcBef>
                <a:spcPts val="90"/>
              </a:spcBef>
            </a:pPr>
            <a:r>
              <a:rPr sz="3420" dirty="0"/>
              <a:t>Data</a:t>
            </a:r>
            <a:r>
              <a:rPr sz="3420" spc="-26" dirty="0"/>
              <a:t> </a:t>
            </a:r>
            <a:r>
              <a:rPr sz="3420" dirty="0"/>
              <a:t>Flow</a:t>
            </a:r>
            <a:r>
              <a:rPr sz="3420" spc="-86" dirty="0"/>
              <a:t> </a:t>
            </a:r>
            <a:r>
              <a:rPr sz="3420" dirty="0"/>
              <a:t>Diagramming</a:t>
            </a:r>
            <a:r>
              <a:rPr sz="3420" spc="-21" dirty="0"/>
              <a:t> </a:t>
            </a:r>
            <a:r>
              <a:rPr sz="3420" spc="-9" dirty="0"/>
              <a:t>Rules</a:t>
            </a:r>
            <a:endParaRPr sz="3420" dirty="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16</a:t>
            </a:fld>
            <a:endParaRPr spc="-21" dirty="0"/>
          </a:p>
        </p:txBody>
      </p:sp>
      <p:sp>
        <p:nvSpPr>
          <p:cNvPr id="3" name="object 3"/>
          <p:cNvSpPr txBox="1">
            <a:spLocks noGrp="1"/>
          </p:cNvSpPr>
          <p:nvPr>
            <p:ph type="body" idx="1"/>
          </p:nvPr>
        </p:nvSpPr>
        <p:spPr>
          <a:xfrm>
            <a:off x="537563" y="1756582"/>
            <a:ext cx="6743971" cy="2857259"/>
          </a:xfrm>
          <a:prstGeom prst="rect">
            <a:avLst/>
          </a:prstGeom>
        </p:spPr>
        <p:txBody>
          <a:bodyPr vert="horz" wrap="square" lIns="0" tIns="90680" rIns="0" bIns="0" rtlCol="0">
            <a:spAutoFit/>
          </a:bodyPr>
          <a:lstStyle/>
          <a:p>
            <a:pPr marL="305160" indent="-294300">
              <a:lnSpc>
                <a:spcPct val="100000"/>
              </a:lnSpc>
              <a:spcBef>
                <a:spcPts val="714"/>
              </a:spcBef>
              <a:buClr>
                <a:srgbClr val="3399FF"/>
              </a:buClr>
              <a:buSzPct val="75000"/>
              <a:buFont typeface="Segoe UI Symbol"/>
              <a:buChar char="■"/>
              <a:tabLst>
                <a:tab pos="305160" algn="l"/>
              </a:tabLst>
            </a:pPr>
            <a:r>
              <a:rPr dirty="0"/>
              <a:t>There</a:t>
            </a:r>
            <a:r>
              <a:rPr spc="-47" dirty="0"/>
              <a:t> </a:t>
            </a:r>
            <a:r>
              <a:rPr dirty="0"/>
              <a:t>are</a:t>
            </a:r>
            <a:r>
              <a:rPr spc="-90" dirty="0"/>
              <a:t> </a:t>
            </a:r>
            <a:r>
              <a:rPr dirty="0"/>
              <a:t>two</a:t>
            </a:r>
            <a:r>
              <a:rPr spc="-47" dirty="0"/>
              <a:t> </a:t>
            </a:r>
            <a:r>
              <a:rPr dirty="0"/>
              <a:t>DFD</a:t>
            </a:r>
            <a:r>
              <a:rPr spc="-47" dirty="0"/>
              <a:t> </a:t>
            </a:r>
            <a:r>
              <a:rPr dirty="0"/>
              <a:t>guidelines</a:t>
            </a:r>
            <a:r>
              <a:rPr spc="-90" dirty="0"/>
              <a:t> </a:t>
            </a:r>
            <a:r>
              <a:rPr dirty="0"/>
              <a:t>that</a:t>
            </a:r>
            <a:r>
              <a:rPr spc="-47" dirty="0"/>
              <a:t> </a:t>
            </a:r>
            <a:r>
              <a:rPr spc="-9" dirty="0"/>
              <a:t>apply:</a:t>
            </a:r>
          </a:p>
          <a:p>
            <a:pPr marL="645070" marR="4344" lvl="1" indent="-243802">
              <a:lnSpc>
                <a:spcPct val="100000"/>
              </a:lnSpc>
              <a:spcBef>
                <a:spcPts val="569"/>
              </a:spcBef>
              <a:buClr>
                <a:srgbClr val="CC0066"/>
              </a:buClr>
              <a:buSzPct val="78571"/>
              <a:buFont typeface="Segoe UI Symbol"/>
              <a:buChar char="□"/>
              <a:tabLst>
                <a:tab pos="646699" algn="l"/>
              </a:tabLst>
            </a:pPr>
            <a:r>
              <a:rPr sz="2394" i="1" dirty="0">
                <a:latin typeface="Arial"/>
                <a:cs typeface="Arial"/>
              </a:rPr>
              <a:t>The</a:t>
            </a:r>
            <a:r>
              <a:rPr sz="2394" i="1" spc="-26" dirty="0">
                <a:latin typeface="Arial"/>
                <a:cs typeface="Arial"/>
              </a:rPr>
              <a:t> </a:t>
            </a:r>
            <a:r>
              <a:rPr sz="2394" i="1" dirty="0">
                <a:latin typeface="Arial"/>
                <a:cs typeface="Arial"/>
              </a:rPr>
              <a:t>inputs</a:t>
            </a:r>
            <a:r>
              <a:rPr sz="2394" i="1" spc="-26" dirty="0">
                <a:latin typeface="Arial"/>
                <a:cs typeface="Arial"/>
              </a:rPr>
              <a:t> </a:t>
            </a:r>
            <a:r>
              <a:rPr sz="2394" i="1" dirty="0">
                <a:latin typeface="Arial"/>
                <a:cs typeface="Arial"/>
              </a:rPr>
              <a:t>to</a:t>
            </a:r>
            <a:r>
              <a:rPr sz="2394" i="1" spc="-21" dirty="0">
                <a:latin typeface="Arial"/>
                <a:cs typeface="Arial"/>
              </a:rPr>
              <a:t> </a:t>
            </a:r>
            <a:r>
              <a:rPr sz="2394" i="1" dirty="0">
                <a:latin typeface="Arial"/>
                <a:cs typeface="Arial"/>
              </a:rPr>
              <a:t>a</a:t>
            </a:r>
            <a:r>
              <a:rPr sz="2394" i="1" spc="-26" dirty="0">
                <a:latin typeface="Arial"/>
                <a:cs typeface="Arial"/>
              </a:rPr>
              <a:t> </a:t>
            </a:r>
            <a:r>
              <a:rPr sz="2394" i="1" dirty="0">
                <a:latin typeface="Arial"/>
                <a:cs typeface="Arial"/>
              </a:rPr>
              <a:t>process</a:t>
            </a:r>
            <a:r>
              <a:rPr sz="2394" i="1" spc="-21" dirty="0">
                <a:latin typeface="Arial"/>
                <a:cs typeface="Arial"/>
              </a:rPr>
              <a:t> </a:t>
            </a:r>
            <a:r>
              <a:rPr sz="2394" i="1" dirty="0">
                <a:latin typeface="Arial"/>
                <a:cs typeface="Arial"/>
              </a:rPr>
              <a:t>are</a:t>
            </a:r>
            <a:r>
              <a:rPr sz="2394" i="1" spc="-21" dirty="0">
                <a:latin typeface="Arial"/>
                <a:cs typeface="Arial"/>
              </a:rPr>
              <a:t> </a:t>
            </a:r>
            <a:r>
              <a:rPr sz="2394" i="1" dirty="0">
                <a:latin typeface="Arial"/>
                <a:cs typeface="Arial"/>
              </a:rPr>
              <a:t>different</a:t>
            </a:r>
            <a:r>
              <a:rPr sz="2394" i="1" spc="-21" dirty="0">
                <a:latin typeface="Arial"/>
                <a:cs typeface="Arial"/>
              </a:rPr>
              <a:t> </a:t>
            </a:r>
            <a:r>
              <a:rPr sz="2394" i="1" dirty="0">
                <a:latin typeface="Arial"/>
                <a:cs typeface="Arial"/>
              </a:rPr>
              <a:t>from</a:t>
            </a:r>
            <a:r>
              <a:rPr sz="2394" i="1" spc="-68" dirty="0">
                <a:latin typeface="Arial"/>
                <a:cs typeface="Arial"/>
              </a:rPr>
              <a:t> </a:t>
            </a:r>
            <a:r>
              <a:rPr sz="2394" i="1" spc="-21" dirty="0">
                <a:latin typeface="Arial"/>
                <a:cs typeface="Arial"/>
              </a:rPr>
              <a:t>the 	</a:t>
            </a:r>
            <a:r>
              <a:rPr sz="2394" i="1" dirty="0">
                <a:latin typeface="Arial"/>
                <a:cs typeface="Arial"/>
              </a:rPr>
              <a:t>outputs of</a:t>
            </a:r>
            <a:r>
              <a:rPr sz="2394" i="1" spc="-47" dirty="0">
                <a:latin typeface="Arial"/>
                <a:cs typeface="Arial"/>
              </a:rPr>
              <a:t> </a:t>
            </a:r>
            <a:r>
              <a:rPr sz="2394" i="1" dirty="0">
                <a:latin typeface="Arial"/>
                <a:cs typeface="Arial"/>
              </a:rPr>
              <a:t>that </a:t>
            </a:r>
            <a:r>
              <a:rPr sz="2394" i="1" spc="-9" dirty="0">
                <a:latin typeface="Arial"/>
                <a:cs typeface="Arial"/>
              </a:rPr>
              <a:t>process.</a:t>
            </a:r>
            <a:endParaRPr sz="2394">
              <a:latin typeface="Arial"/>
              <a:cs typeface="Arial"/>
            </a:endParaRPr>
          </a:p>
          <a:p>
            <a:pPr marL="987696" marR="524527" lvl="2" indent="-195476">
              <a:lnSpc>
                <a:spcPct val="100000"/>
              </a:lnSpc>
              <a:spcBef>
                <a:spcPts val="509"/>
              </a:spcBef>
              <a:buClr>
                <a:srgbClr val="3399FF"/>
              </a:buClr>
              <a:buSzPct val="64583"/>
              <a:buFont typeface="Segoe UI Symbol"/>
              <a:buChar char="■"/>
              <a:tabLst>
                <a:tab pos="987696" algn="l"/>
              </a:tabLst>
            </a:pPr>
            <a:r>
              <a:rPr sz="2052" dirty="0">
                <a:latin typeface="Arial"/>
                <a:cs typeface="Arial"/>
              </a:rPr>
              <a:t>Processes</a:t>
            </a:r>
            <a:r>
              <a:rPr sz="2052" spc="-60" dirty="0">
                <a:latin typeface="Arial"/>
                <a:cs typeface="Arial"/>
              </a:rPr>
              <a:t> </a:t>
            </a:r>
            <a:r>
              <a:rPr sz="2052" dirty="0">
                <a:latin typeface="Arial"/>
                <a:cs typeface="Arial"/>
              </a:rPr>
              <a:t>purpose</a:t>
            </a:r>
            <a:r>
              <a:rPr sz="2052" spc="-60" dirty="0">
                <a:latin typeface="Arial"/>
                <a:cs typeface="Arial"/>
              </a:rPr>
              <a:t> </a:t>
            </a:r>
            <a:r>
              <a:rPr sz="2052" dirty="0">
                <a:latin typeface="Arial"/>
                <a:cs typeface="Arial"/>
              </a:rPr>
              <a:t>is</a:t>
            </a:r>
            <a:r>
              <a:rPr sz="2052" spc="-60" dirty="0">
                <a:latin typeface="Arial"/>
                <a:cs typeface="Arial"/>
              </a:rPr>
              <a:t> </a:t>
            </a:r>
            <a:r>
              <a:rPr sz="2052" dirty="0">
                <a:latin typeface="Arial"/>
                <a:cs typeface="Arial"/>
              </a:rPr>
              <a:t>to</a:t>
            </a:r>
            <a:r>
              <a:rPr sz="2052" spc="-60" dirty="0">
                <a:latin typeface="Arial"/>
                <a:cs typeface="Arial"/>
              </a:rPr>
              <a:t> </a:t>
            </a:r>
            <a:r>
              <a:rPr sz="2052" dirty="0">
                <a:latin typeface="Arial"/>
                <a:cs typeface="Arial"/>
              </a:rPr>
              <a:t>transform</a:t>
            </a:r>
            <a:r>
              <a:rPr sz="2052" spc="-81" dirty="0">
                <a:latin typeface="Arial"/>
                <a:cs typeface="Arial"/>
              </a:rPr>
              <a:t> </a:t>
            </a:r>
            <a:r>
              <a:rPr sz="2052" dirty="0">
                <a:latin typeface="Arial"/>
                <a:cs typeface="Arial"/>
              </a:rPr>
              <a:t>inputs</a:t>
            </a:r>
            <a:r>
              <a:rPr sz="2052" spc="-60" dirty="0">
                <a:latin typeface="Arial"/>
                <a:cs typeface="Arial"/>
              </a:rPr>
              <a:t> </a:t>
            </a:r>
            <a:r>
              <a:rPr sz="2052" spc="-17" dirty="0">
                <a:latin typeface="Arial"/>
                <a:cs typeface="Arial"/>
              </a:rPr>
              <a:t>into </a:t>
            </a:r>
            <a:r>
              <a:rPr sz="2052" spc="-9" dirty="0">
                <a:latin typeface="Arial"/>
                <a:cs typeface="Arial"/>
              </a:rPr>
              <a:t>outputs.</a:t>
            </a:r>
            <a:endParaRPr sz="2052">
              <a:latin typeface="Arial"/>
              <a:cs typeface="Arial"/>
            </a:endParaRPr>
          </a:p>
          <a:p>
            <a:pPr marL="645613" lvl="1" indent="-243802">
              <a:lnSpc>
                <a:spcPct val="100000"/>
              </a:lnSpc>
              <a:spcBef>
                <a:spcPts val="560"/>
              </a:spcBef>
              <a:buClr>
                <a:srgbClr val="CC0066"/>
              </a:buClr>
              <a:buSzPct val="78571"/>
              <a:buFont typeface="Segoe UI Symbol"/>
              <a:buChar char="□"/>
              <a:tabLst>
                <a:tab pos="645613" algn="l"/>
              </a:tabLst>
            </a:pPr>
            <a:r>
              <a:rPr sz="2394" i="1" dirty="0">
                <a:latin typeface="Arial"/>
                <a:cs typeface="Arial"/>
              </a:rPr>
              <a:t>Objects</a:t>
            </a:r>
            <a:r>
              <a:rPr sz="2394" i="1" spc="-73" dirty="0">
                <a:latin typeface="Arial"/>
                <a:cs typeface="Arial"/>
              </a:rPr>
              <a:t> </a:t>
            </a:r>
            <a:r>
              <a:rPr sz="2394" i="1" dirty="0">
                <a:latin typeface="Arial"/>
                <a:cs typeface="Arial"/>
              </a:rPr>
              <a:t>on</a:t>
            </a:r>
            <a:r>
              <a:rPr sz="2394" i="1" spc="-26" dirty="0">
                <a:latin typeface="Arial"/>
                <a:cs typeface="Arial"/>
              </a:rPr>
              <a:t> </a:t>
            </a:r>
            <a:r>
              <a:rPr sz="2394" i="1" dirty="0">
                <a:latin typeface="Arial"/>
                <a:cs typeface="Arial"/>
              </a:rPr>
              <a:t>a</a:t>
            </a:r>
            <a:r>
              <a:rPr sz="2394" i="1" spc="-26" dirty="0">
                <a:latin typeface="Arial"/>
                <a:cs typeface="Arial"/>
              </a:rPr>
              <a:t> </a:t>
            </a:r>
            <a:r>
              <a:rPr sz="2394" i="1" dirty="0">
                <a:latin typeface="Arial"/>
                <a:cs typeface="Arial"/>
              </a:rPr>
              <a:t>DFD</a:t>
            </a:r>
            <a:r>
              <a:rPr sz="2394" i="1" spc="-73" dirty="0">
                <a:latin typeface="Arial"/>
                <a:cs typeface="Arial"/>
              </a:rPr>
              <a:t> </a:t>
            </a:r>
            <a:r>
              <a:rPr sz="2394" i="1" dirty="0">
                <a:latin typeface="Arial"/>
                <a:cs typeface="Arial"/>
              </a:rPr>
              <a:t>have</a:t>
            </a:r>
            <a:r>
              <a:rPr sz="2394" i="1" spc="-26" dirty="0">
                <a:latin typeface="Arial"/>
                <a:cs typeface="Arial"/>
              </a:rPr>
              <a:t> </a:t>
            </a:r>
            <a:r>
              <a:rPr sz="2394" i="1" dirty="0">
                <a:latin typeface="Arial"/>
                <a:cs typeface="Arial"/>
              </a:rPr>
              <a:t>unique</a:t>
            </a:r>
            <a:r>
              <a:rPr sz="2394" i="1" spc="-26" dirty="0">
                <a:latin typeface="Arial"/>
                <a:cs typeface="Arial"/>
              </a:rPr>
              <a:t> </a:t>
            </a:r>
            <a:r>
              <a:rPr sz="2394" i="1" spc="-9" dirty="0">
                <a:latin typeface="Arial"/>
                <a:cs typeface="Arial"/>
              </a:rPr>
              <a:t>names.</a:t>
            </a:r>
            <a:endParaRPr sz="2394">
              <a:latin typeface="Arial"/>
              <a:cs typeface="Arial"/>
            </a:endParaRPr>
          </a:p>
          <a:p>
            <a:pPr marL="987696" lvl="2" indent="-194933">
              <a:lnSpc>
                <a:spcPct val="100000"/>
              </a:lnSpc>
              <a:spcBef>
                <a:spcPts val="505"/>
              </a:spcBef>
              <a:buClr>
                <a:srgbClr val="3399FF"/>
              </a:buClr>
              <a:buSzPct val="64583"/>
              <a:buFont typeface="Segoe UI Symbol"/>
              <a:buChar char="■"/>
              <a:tabLst>
                <a:tab pos="987696" algn="l"/>
              </a:tabLst>
            </a:pPr>
            <a:r>
              <a:rPr sz="2052" dirty="0">
                <a:latin typeface="Arial"/>
                <a:cs typeface="Arial"/>
              </a:rPr>
              <a:t>Every</a:t>
            </a:r>
            <a:r>
              <a:rPr sz="2052" spc="-90" dirty="0">
                <a:latin typeface="Arial"/>
                <a:cs typeface="Arial"/>
              </a:rPr>
              <a:t> </a:t>
            </a:r>
            <a:r>
              <a:rPr sz="2052" dirty="0">
                <a:latin typeface="Arial"/>
                <a:cs typeface="Arial"/>
              </a:rPr>
              <a:t>process</a:t>
            </a:r>
            <a:r>
              <a:rPr sz="2052" spc="-47" dirty="0">
                <a:latin typeface="Arial"/>
                <a:cs typeface="Arial"/>
              </a:rPr>
              <a:t> </a:t>
            </a:r>
            <a:r>
              <a:rPr sz="2052" dirty="0">
                <a:latin typeface="Arial"/>
                <a:cs typeface="Arial"/>
              </a:rPr>
              <a:t>has</a:t>
            </a:r>
            <a:r>
              <a:rPr sz="2052" spc="-51" dirty="0">
                <a:latin typeface="Arial"/>
                <a:cs typeface="Arial"/>
              </a:rPr>
              <a:t> </a:t>
            </a:r>
            <a:r>
              <a:rPr sz="2052" dirty="0">
                <a:latin typeface="Arial"/>
                <a:cs typeface="Arial"/>
              </a:rPr>
              <a:t>a</a:t>
            </a:r>
            <a:r>
              <a:rPr sz="2052" spc="-21" dirty="0">
                <a:latin typeface="Arial"/>
                <a:cs typeface="Arial"/>
              </a:rPr>
              <a:t> </a:t>
            </a:r>
            <a:r>
              <a:rPr sz="2052" dirty="0">
                <a:latin typeface="Arial"/>
                <a:cs typeface="Arial"/>
              </a:rPr>
              <a:t>unique</a:t>
            </a:r>
            <a:r>
              <a:rPr sz="2052" spc="-47" dirty="0">
                <a:latin typeface="Arial"/>
                <a:cs typeface="Arial"/>
              </a:rPr>
              <a:t> </a:t>
            </a:r>
            <a:r>
              <a:rPr sz="2052" spc="-9" dirty="0">
                <a:latin typeface="Arial"/>
                <a:cs typeface="Arial"/>
              </a:rPr>
              <a:t>name.</a:t>
            </a:r>
            <a:endParaRPr sz="2052">
              <a:latin typeface="Arial"/>
              <a:cs typeface="Arial"/>
            </a:endParaRP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35107" y="691969"/>
            <a:ext cx="6298459" cy="1064110"/>
          </a:xfrm>
          <a:prstGeom prst="rect">
            <a:avLst/>
          </a:prstGeom>
        </p:spPr>
        <p:txBody>
          <a:bodyPr vert="horz" wrap="square" lIns="0" tIns="11403" rIns="0" bIns="0" rtlCol="0" anchor="ctr">
            <a:spAutoFit/>
          </a:bodyPr>
          <a:lstStyle/>
          <a:p>
            <a:pPr marL="10860">
              <a:lnSpc>
                <a:spcPct val="100000"/>
              </a:lnSpc>
              <a:spcBef>
                <a:spcPts val="90"/>
              </a:spcBef>
            </a:pPr>
            <a:r>
              <a:rPr sz="3420" dirty="0"/>
              <a:t>Data</a:t>
            </a:r>
            <a:r>
              <a:rPr sz="3420" spc="-21" dirty="0"/>
              <a:t> </a:t>
            </a:r>
            <a:r>
              <a:rPr sz="3420" dirty="0"/>
              <a:t>Flow</a:t>
            </a:r>
            <a:r>
              <a:rPr sz="3420" spc="-77" dirty="0"/>
              <a:t> </a:t>
            </a:r>
            <a:r>
              <a:rPr sz="3420" dirty="0"/>
              <a:t>Diagramming</a:t>
            </a:r>
            <a:r>
              <a:rPr sz="3420" spc="-17" dirty="0"/>
              <a:t> </a:t>
            </a:r>
            <a:r>
              <a:rPr sz="3420" dirty="0"/>
              <a:t>Rules</a:t>
            </a:r>
            <a:r>
              <a:rPr sz="3420" spc="-17" dirty="0"/>
              <a:t> </a:t>
            </a:r>
            <a:r>
              <a:rPr sz="3420" spc="-9" dirty="0"/>
              <a:t>(Cont.)</a:t>
            </a:r>
            <a:endParaRPr sz="3420"/>
          </a:p>
        </p:txBody>
      </p:sp>
      <p:sp>
        <p:nvSpPr>
          <p:cNvPr id="3" name="object 3"/>
          <p:cNvSpPr txBox="1"/>
          <p:nvPr/>
        </p:nvSpPr>
        <p:spPr>
          <a:xfrm>
            <a:off x="1641535" y="1756264"/>
            <a:ext cx="4895081" cy="247826"/>
          </a:xfrm>
          <a:prstGeom prst="rect">
            <a:avLst/>
          </a:prstGeom>
        </p:spPr>
        <p:txBody>
          <a:bodyPr vert="horz" wrap="square" lIns="0" tIns="10860" rIns="0" bIns="0" rtlCol="0">
            <a:spAutoFit/>
          </a:bodyPr>
          <a:lstStyle/>
          <a:p>
            <a:pPr marL="10860">
              <a:spcBef>
                <a:spcPts val="86"/>
              </a:spcBef>
            </a:pPr>
            <a:r>
              <a:rPr sz="1539" b="1" spc="-26" dirty="0">
                <a:latin typeface="Arial"/>
                <a:cs typeface="Arial"/>
              </a:rPr>
              <a:t>TABLE</a:t>
            </a:r>
            <a:r>
              <a:rPr sz="1539" b="1" spc="-21" dirty="0">
                <a:latin typeface="Arial"/>
                <a:cs typeface="Arial"/>
              </a:rPr>
              <a:t> </a:t>
            </a:r>
            <a:r>
              <a:rPr lang="en-MY" sz="1539" b="1" dirty="0">
                <a:latin typeface="Arial"/>
                <a:cs typeface="Arial"/>
              </a:rPr>
              <a:t>1 </a:t>
            </a:r>
            <a:r>
              <a:rPr sz="1539" b="1" dirty="0">
                <a:latin typeface="Arial"/>
                <a:cs typeface="Arial"/>
              </a:rPr>
              <a:t>Rules</a:t>
            </a:r>
            <a:r>
              <a:rPr sz="1539" b="1" spc="-17" dirty="0">
                <a:latin typeface="Arial"/>
                <a:cs typeface="Arial"/>
              </a:rPr>
              <a:t> </a:t>
            </a:r>
            <a:r>
              <a:rPr sz="1539" b="1" dirty="0">
                <a:latin typeface="Arial"/>
                <a:cs typeface="Arial"/>
              </a:rPr>
              <a:t>Governing</a:t>
            </a:r>
            <a:r>
              <a:rPr sz="1539" b="1" spc="-17" dirty="0">
                <a:latin typeface="Arial"/>
                <a:cs typeface="Arial"/>
              </a:rPr>
              <a:t> </a:t>
            </a:r>
            <a:r>
              <a:rPr sz="1539" b="1" dirty="0">
                <a:latin typeface="Arial"/>
                <a:cs typeface="Arial"/>
              </a:rPr>
              <a:t>Data</a:t>
            </a:r>
            <a:r>
              <a:rPr sz="1539" b="1" spc="-17" dirty="0">
                <a:latin typeface="Arial"/>
                <a:cs typeface="Arial"/>
              </a:rPr>
              <a:t> </a:t>
            </a:r>
            <a:r>
              <a:rPr sz="1539" b="1" dirty="0">
                <a:latin typeface="Arial"/>
                <a:cs typeface="Arial"/>
              </a:rPr>
              <a:t>Flow</a:t>
            </a:r>
            <a:r>
              <a:rPr sz="1539" b="1" spc="-43" dirty="0">
                <a:latin typeface="Arial"/>
                <a:cs typeface="Arial"/>
              </a:rPr>
              <a:t> </a:t>
            </a:r>
            <a:r>
              <a:rPr sz="1539" b="1" spc="-9" dirty="0">
                <a:latin typeface="Arial"/>
                <a:cs typeface="Arial"/>
              </a:rPr>
              <a:t>Diagramming</a:t>
            </a:r>
            <a:endParaRPr sz="1539" dirty="0">
              <a:latin typeface="Arial"/>
              <a:cs typeface="Arial"/>
            </a:endParaRPr>
          </a:p>
        </p:txBody>
      </p:sp>
      <p:pic>
        <p:nvPicPr>
          <p:cNvPr id="11" name="Picture 10">
            <a:extLst>
              <a:ext uri="{FF2B5EF4-FFF2-40B4-BE49-F238E27FC236}">
                <a16:creationId xmlns:a16="http://schemas.microsoft.com/office/drawing/2014/main" id="{04F77903-F043-6F49-7061-538130E2F7C5}"/>
              </a:ext>
            </a:extLst>
          </p:cNvPr>
          <p:cNvPicPr>
            <a:picLocks noChangeAspect="1"/>
          </p:cNvPicPr>
          <p:nvPr/>
        </p:nvPicPr>
        <p:blipFill>
          <a:blip r:embed="rId2"/>
          <a:stretch>
            <a:fillRect/>
          </a:stretch>
        </p:blipFill>
        <p:spPr>
          <a:xfrm>
            <a:off x="266852" y="2186080"/>
            <a:ext cx="7846790" cy="3376308"/>
          </a:xfrm>
          <a:prstGeom prst="rect">
            <a:avLst/>
          </a:prstGeom>
        </p:spPr>
      </p:pic>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81000" y="304800"/>
            <a:ext cx="7646893" cy="537812"/>
          </a:xfrm>
          <a:prstGeom prst="rect">
            <a:avLst/>
          </a:prstGeom>
        </p:spPr>
        <p:txBody>
          <a:bodyPr vert="horz" wrap="square" lIns="0" tIns="11403" rIns="0" bIns="0" rtlCol="0" anchor="ctr">
            <a:spAutoFit/>
          </a:bodyPr>
          <a:lstStyle/>
          <a:p>
            <a:pPr marL="10860">
              <a:lnSpc>
                <a:spcPct val="100000"/>
              </a:lnSpc>
              <a:spcBef>
                <a:spcPts val="90"/>
              </a:spcBef>
            </a:pPr>
            <a:r>
              <a:rPr sz="3420" dirty="0"/>
              <a:t>Data</a:t>
            </a:r>
            <a:r>
              <a:rPr sz="3420" spc="-21" dirty="0"/>
              <a:t> </a:t>
            </a:r>
            <a:r>
              <a:rPr sz="3420" dirty="0"/>
              <a:t>Flow</a:t>
            </a:r>
            <a:r>
              <a:rPr sz="3420" spc="-77" dirty="0"/>
              <a:t> </a:t>
            </a:r>
            <a:r>
              <a:rPr sz="3420" dirty="0"/>
              <a:t>Diagramming</a:t>
            </a:r>
            <a:r>
              <a:rPr sz="3420" spc="-17" dirty="0"/>
              <a:t> </a:t>
            </a:r>
            <a:r>
              <a:rPr sz="3420" dirty="0"/>
              <a:t>Rules</a:t>
            </a:r>
            <a:r>
              <a:rPr sz="3420" spc="-17" dirty="0"/>
              <a:t> </a:t>
            </a:r>
            <a:r>
              <a:rPr sz="3420" spc="-9" dirty="0"/>
              <a:t>(Cont.)</a:t>
            </a:r>
            <a:endParaRPr sz="3420"/>
          </a:p>
        </p:txBody>
      </p:sp>
      <p:sp>
        <p:nvSpPr>
          <p:cNvPr id="3" name="object 3"/>
          <p:cNvSpPr txBox="1"/>
          <p:nvPr/>
        </p:nvSpPr>
        <p:spPr>
          <a:xfrm>
            <a:off x="1641535" y="1766668"/>
            <a:ext cx="5542871" cy="247826"/>
          </a:xfrm>
          <a:prstGeom prst="rect">
            <a:avLst/>
          </a:prstGeom>
        </p:spPr>
        <p:txBody>
          <a:bodyPr vert="horz" wrap="square" lIns="0" tIns="10860" rIns="0" bIns="0" rtlCol="0">
            <a:spAutoFit/>
          </a:bodyPr>
          <a:lstStyle/>
          <a:p>
            <a:pPr marL="10860">
              <a:spcBef>
                <a:spcPts val="86"/>
              </a:spcBef>
            </a:pPr>
            <a:r>
              <a:rPr sz="1539" b="1" spc="-26" dirty="0">
                <a:latin typeface="Arial"/>
                <a:cs typeface="Arial"/>
              </a:rPr>
              <a:t>TABLE</a:t>
            </a:r>
            <a:r>
              <a:rPr sz="1539" b="1" spc="-21" dirty="0">
                <a:latin typeface="Arial"/>
                <a:cs typeface="Arial"/>
              </a:rPr>
              <a:t> </a:t>
            </a:r>
            <a:r>
              <a:rPr lang="en-MY" sz="1539" b="1" spc="-21" dirty="0">
                <a:latin typeface="Arial"/>
                <a:cs typeface="Arial"/>
              </a:rPr>
              <a:t>1 </a:t>
            </a:r>
            <a:r>
              <a:rPr sz="1539" b="1" dirty="0">
                <a:latin typeface="Arial"/>
                <a:cs typeface="Arial"/>
              </a:rPr>
              <a:t>Rules</a:t>
            </a:r>
            <a:r>
              <a:rPr sz="1539" b="1" spc="-21" dirty="0">
                <a:latin typeface="Arial"/>
                <a:cs typeface="Arial"/>
              </a:rPr>
              <a:t> </a:t>
            </a:r>
            <a:r>
              <a:rPr sz="1539" b="1" dirty="0">
                <a:latin typeface="Arial"/>
                <a:cs typeface="Arial"/>
              </a:rPr>
              <a:t>Governing</a:t>
            </a:r>
            <a:r>
              <a:rPr sz="1539" b="1" spc="-17" dirty="0">
                <a:latin typeface="Arial"/>
                <a:cs typeface="Arial"/>
              </a:rPr>
              <a:t> </a:t>
            </a:r>
            <a:r>
              <a:rPr sz="1539" b="1" dirty="0">
                <a:latin typeface="Arial"/>
                <a:cs typeface="Arial"/>
              </a:rPr>
              <a:t>Data</a:t>
            </a:r>
            <a:r>
              <a:rPr sz="1539" b="1" spc="-17" dirty="0">
                <a:latin typeface="Arial"/>
                <a:cs typeface="Arial"/>
              </a:rPr>
              <a:t> </a:t>
            </a:r>
            <a:r>
              <a:rPr sz="1539" b="1" dirty="0">
                <a:latin typeface="Arial"/>
                <a:cs typeface="Arial"/>
              </a:rPr>
              <a:t>Flow</a:t>
            </a:r>
            <a:r>
              <a:rPr sz="1539" b="1" spc="-47" dirty="0">
                <a:latin typeface="Arial"/>
                <a:cs typeface="Arial"/>
              </a:rPr>
              <a:t> </a:t>
            </a:r>
            <a:r>
              <a:rPr sz="1539" b="1" dirty="0">
                <a:latin typeface="Arial"/>
                <a:cs typeface="Arial"/>
              </a:rPr>
              <a:t>Diagramming</a:t>
            </a:r>
            <a:r>
              <a:rPr sz="1539" b="1" spc="-47" dirty="0">
                <a:latin typeface="Arial"/>
                <a:cs typeface="Arial"/>
              </a:rPr>
              <a:t> </a:t>
            </a:r>
            <a:r>
              <a:rPr sz="1539" b="1" spc="-9" dirty="0">
                <a:latin typeface="Arial"/>
                <a:cs typeface="Arial"/>
              </a:rPr>
              <a:t>(cont.)</a:t>
            </a:r>
            <a:endParaRPr sz="1539" dirty="0">
              <a:latin typeface="Arial"/>
              <a:cs typeface="Arial"/>
            </a:endParaRPr>
          </a:p>
        </p:txBody>
      </p:sp>
      <p:sp>
        <p:nvSpPr>
          <p:cNvPr id="5" name="object 5"/>
          <p:cNvSpPr txBox="1">
            <a:spLocks noGrp="1"/>
          </p:cNvSpPr>
          <p:nvPr>
            <p:ph type="sldNum" sz="quarter" idx="7"/>
          </p:nvPr>
        </p:nvSpPr>
        <p:spPr>
          <a:xfrm>
            <a:off x="5522237" y="5695954"/>
            <a:ext cx="1759297" cy="181989"/>
          </a:xfrm>
          <a:prstGeom prst="rect">
            <a:avLst/>
          </a:prstGeom>
        </p:spPr>
        <p:txBody>
          <a:bodyPr vert="horz" wrap="square" lIns="0" tIns="23892" rIns="0" bIns="0" rtlCol="0" anchor="ctr">
            <a:spAutoFit/>
          </a:bodyPr>
          <a:lstStyle/>
          <a:p>
            <a:pPr marL="10860">
              <a:spcBef>
                <a:spcPts val="188"/>
              </a:spcBef>
            </a:pPr>
            <a:endParaRPr spc="-21" dirty="0"/>
          </a:p>
        </p:txBody>
      </p:sp>
      <p:pic>
        <p:nvPicPr>
          <p:cNvPr id="9" name="Picture 8">
            <a:extLst>
              <a:ext uri="{FF2B5EF4-FFF2-40B4-BE49-F238E27FC236}">
                <a16:creationId xmlns:a16="http://schemas.microsoft.com/office/drawing/2014/main" id="{6D921268-548E-E54B-1F21-F85A3147E942}"/>
              </a:ext>
            </a:extLst>
          </p:cNvPr>
          <p:cNvPicPr>
            <a:picLocks noChangeAspect="1"/>
          </p:cNvPicPr>
          <p:nvPr/>
        </p:nvPicPr>
        <p:blipFill>
          <a:blip r:embed="rId2"/>
          <a:stretch>
            <a:fillRect/>
          </a:stretch>
        </p:blipFill>
        <p:spPr>
          <a:xfrm>
            <a:off x="457200" y="1219200"/>
            <a:ext cx="7646893" cy="4758971"/>
          </a:xfrm>
          <a:prstGeom prst="rect">
            <a:avLst/>
          </a:prstGeom>
        </p:spPr>
      </p:pic>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Decomposition</a:t>
            </a:r>
            <a:r>
              <a:rPr sz="3762" spc="-115" dirty="0"/>
              <a:t> </a:t>
            </a:r>
            <a:r>
              <a:rPr sz="3762" dirty="0"/>
              <a:t>of</a:t>
            </a:r>
            <a:r>
              <a:rPr sz="3762" spc="-167" dirty="0"/>
              <a:t> </a:t>
            </a:r>
            <a:r>
              <a:rPr sz="3762" spc="-17" dirty="0"/>
              <a:t>DFDs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19</a:t>
            </a:fld>
            <a:endParaRPr spc="-21" dirty="0"/>
          </a:p>
        </p:txBody>
      </p:sp>
      <p:sp>
        <p:nvSpPr>
          <p:cNvPr id="3" name="object 3"/>
          <p:cNvSpPr txBox="1"/>
          <p:nvPr/>
        </p:nvSpPr>
        <p:spPr>
          <a:xfrm>
            <a:off x="1120261" y="2209788"/>
            <a:ext cx="6773836" cy="3268967"/>
          </a:xfrm>
          <a:prstGeom prst="rect">
            <a:avLst/>
          </a:prstGeom>
        </p:spPr>
        <p:txBody>
          <a:bodyPr vert="horz" wrap="square" lIns="0" tIns="9774" rIns="0" bIns="0" rtlCol="0">
            <a:spAutoFit/>
          </a:bodyPr>
          <a:lstStyle/>
          <a:p>
            <a:pPr marL="305160" marR="4344" indent="-294843">
              <a:spcBef>
                <a:spcPts val="77"/>
              </a:spcBef>
              <a:buClr>
                <a:srgbClr val="3399FF"/>
              </a:buClr>
              <a:buSzPct val="75000"/>
              <a:buFont typeface="Segoe UI Symbol"/>
              <a:buChar char="■"/>
              <a:tabLst>
                <a:tab pos="305160" algn="l"/>
              </a:tabLst>
            </a:pPr>
            <a:r>
              <a:rPr sz="2736" b="1" dirty="0">
                <a:latin typeface="Arial"/>
                <a:cs typeface="Arial"/>
              </a:rPr>
              <a:t>Functional</a:t>
            </a:r>
            <a:r>
              <a:rPr sz="2736" b="1" spc="-103" dirty="0">
                <a:latin typeface="Arial"/>
                <a:cs typeface="Arial"/>
              </a:rPr>
              <a:t> </a:t>
            </a:r>
            <a:r>
              <a:rPr sz="2736" b="1" dirty="0">
                <a:latin typeface="Arial"/>
                <a:cs typeface="Arial"/>
              </a:rPr>
              <a:t>decomposition</a:t>
            </a:r>
            <a:r>
              <a:rPr sz="2736" b="1" spc="-30" dirty="0">
                <a:latin typeface="Arial"/>
                <a:cs typeface="Arial"/>
              </a:rPr>
              <a:t> </a:t>
            </a:r>
            <a:r>
              <a:rPr sz="2736" dirty="0">
                <a:latin typeface="Arial"/>
                <a:cs typeface="Arial"/>
              </a:rPr>
              <a:t>is</a:t>
            </a:r>
            <a:r>
              <a:rPr sz="2736" spc="-60" dirty="0">
                <a:latin typeface="Arial"/>
                <a:cs typeface="Arial"/>
              </a:rPr>
              <a:t> </a:t>
            </a:r>
            <a:r>
              <a:rPr sz="2736" dirty="0">
                <a:latin typeface="Arial"/>
                <a:cs typeface="Arial"/>
              </a:rPr>
              <a:t>an</a:t>
            </a:r>
            <a:r>
              <a:rPr sz="2736" spc="-60" dirty="0">
                <a:latin typeface="Arial"/>
                <a:cs typeface="Arial"/>
              </a:rPr>
              <a:t> </a:t>
            </a:r>
            <a:r>
              <a:rPr sz="2736" spc="-9" dirty="0">
                <a:latin typeface="Arial"/>
                <a:cs typeface="Arial"/>
              </a:rPr>
              <a:t>iterative </a:t>
            </a:r>
            <a:r>
              <a:rPr sz="2736" dirty="0">
                <a:latin typeface="Arial"/>
                <a:cs typeface="Arial"/>
              </a:rPr>
              <a:t>process</a:t>
            </a:r>
            <a:r>
              <a:rPr sz="2736" spc="-73" dirty="0">
                <a:latin typeface="Arial"/>
                <a:cs typeface="Arial"/>
              </a:rPr>
              <a:t> </a:t>
            </a:r>
            <a:r>
              <a:rPr sz="2736" dirty="0">
                <a:latin typeface="Arial"/>
                <a:cs typeface="Arial"/>
              </a:rPr>
              <a:t>of</a:t>
            </a:r>
            <a:r>
              <a:rPr sz="2736" spc="-73" dirty="0">
                <a:latin typeface="Arial"/>
                <a:cs typeface="Arial"/>
              </a:rPr>
              <a:t> </a:t>
            </a:r>
            <a:r>
              <a:rPr sz="2736" dirty="0">
                <a:latin typeface="Arial"/>
                <a:cs typeface="Arial"/>
              </a:rPr>
              <a:t>breaking</a:t>
            </a:r>
            <a:r>
              <a:rPr sz="2736" spc="-73" dirty="0">
                <a:latin typeface="Arial"/>
                <a:cs typeface="Arial"/>
              </a:rPr>
              <a:t> </a:t>
            </a:r>
            <a:r>
              <a:rPr sz="2736" dirty="0">
                <a:latin typeface="Arial"/>
                <a:cs typeface="Arial"/>
              </a:rPr>
              <a:t>a</a:t>
            </a:r>
            <a:r>
              <a:rPr sz="2736" spc="-73" dirty="0">
                <a:latin typeface="Arial"/>
                <a:cs typeface="Arial"/>
              </a:rPr>
              <a:t> </a:t>
            </a:r>
            <a:r>
              <a:rPr sz="2736" dirty="0">
                <a:latin typeface="Arial"/>
                <a:cs typeface="Arial"/>
              </a:rPr>
              <a:t>system</a:t>
            </a:r>
            <a:r>
              <a:rPr sz="2736" spc="-73" dirty="0">
                <a:latin typeface="Arial"/>
                <a:cs typeface="Arial"/>
              </a:rPr>
              <a:t> </a:t>
            </a:r>
            <a:r>
              <a:rPr sz="2736" spc="-9" dirty="0">
                <a:latin typeface="Arial"/>
                <a:cs typeface="Arial"/>
              </a:rPr>
              <a:t>description </a:t>
            </a:r>
            <a:r>
              <a:rPr sz="2736" dirty="0">
                <a:latin typeface="Arial"/>
                <a:cs typeface="Arial"/>
              </a:rPr>
              <a:t>down</a:t>
            </a:r>
            <a:r>
              <a:rPr sz="2736" spc="-56" dirty="0">
                <a:latin typeface="Arial"/>
                <a:cs typeface="Arial"/>
              </a:rPr>
              <a:t> </a:t>
            </a:r>
            <a:r>
              <a:rPr sz="2736" dirty="0">
                <a:latin typeface="Arial"/>
                <a:cs typeface="Arial"/>
              </a:rPr>
              <a:t>into</a:t>
            </a:r>
            <a:r>
              <a:rPr sz="2736" spc="-56" dirty="0">
                <a:latin typeface="Arial"/>
                <a:cs typeface="Arial"/>
              </a:rPr>
              <a:t> </a:t>
            </a:r>
            <a:r>
              <a:rPr sz="2736" dirty="0">
                <a:latin typeface="Arial"/>
                <a:cs typeface="Arial"/>
              </a:rPr>
              <a:t>finer</a:t>
            </a:r>
            <a:r>
              <a:rPr sz="2736" spc="-56" dirty="0">
                <a:latin typeface="Arial"/>
                <a:cs typeface="Arial"/>
              </a:rPr>
              <a:t> </a:t>
            </a:r>
            <a:r>
              <a:rPr sz="2736" dirty="0">
                <a:latin typeface="Arial"/>
                <a:cs typeface="Arial"/>
              </a:rPr>
              <a:t>and</a:t>
            </a:r>
            <a:r>
              <a:rPr sz="2736" spc="-51" dirty="0">
                <a:latin typeface="Arial"/>
                <a:cs typeface="Arial"/>
              </a:rPr>
              <a:t> </a:t>
            </a:r>
            <a:r>
              <a:rPr sz="2736" dirty="0">
                <a:latin typeface="Arial"/>
                <a:cs typeface="Arial"/>
              </a:rPr>
              <a:t>finer</a:t>
            </a:r>
            <a:r>
              <a:rPr sz="2736" spc="-56" dirty="0">
                <a:latin typeface="Arial"/>
                <a:cs typeface="Arial"/>
              </a:rPr>
              <a:t> </a:t>
            </a:r>
            <a:r>
              <a:rPr sz="2736" spc="-9" dirty="0">
                <a:latin typeface="Arial"/>
                <a:cs typeface="Arial"/>
              </a:rPr>
              <a:t>detail.</a:t>
            </a:r>
            <a:endParaRPr sz="2736">
              <a:latin typeface="Arial"/>
              <a:cs typeface="Arial"/>
            </a:endParaRPr>
          </a:p>
          <a:p>
            <a:pPr marL="645070" marR="74932" lvl="1" indent="-243802" algn="just">
              <a:spcBef>
                <a:spcPts val="569"/>
              </a:spcBef>
              <a:buClr>
                <a:srgbClr val="CC0066"/>
              </a:buClr>
              <a:buSzPct val="78571"/>
              <a:buFont typeface="Segoe UI Symbol"/>
              <a:buChar char="□"/>
              <a:tabLst>
                <a:tab pos="646699" algn="l"/>
              </a:tabLst>
            </a:pPr>
            <a:r>
              <a:rPr sz="2394" dirty="0">
                <a:latin typeface="Arial"/>
                <a:cs typeface="Arial"/>
              </a:rPr>
              <a:t>Creates</a:t>
            </a:r>
            <a:r>
              <a:rPr sz="2394" spc="-21" dirty="0">
                <a:latin typeface="Arial"/>
                <a:cs typeface="Arial"/>
              </a:rPr>
              <a:t> </a:t>
            </a:r>
            <a:r>
              <a:rPr sz="2394" dirty="0">
                <a:latin typeface="Arial"/>
                <a:cs typeface="Arial"/>
              </a:rPr>
              <a:t>a</a:t>
            </a:r>
            <a:r>
              <a:rPr sz="2394" spc="-56" dirty="0">
                <a:latin typeface="Arial"/>
                <a:cs typeface="Arial"/>
              </a:rPr>
              <a:t> </a:t>
            </a:r>
            <a:r>
              <a:rPr sz="2394" dirty="0">
                <a:latin typeface="Arial"/>
                <a:cs typeface="Arial"/>
              </a:rPr>
              <a:t>set</a:t>
            </a:r>
            <a:r>
              <a:rPr sz="2394" spc="-21" dirty="0">
                <a:latin typeface="Arial"/>
                <a:cs typeface="Arial"/>
              </a:rPr>
              <a:t> </a:t>
            </a:r>
            <a:r>
              <a:rPr sz="2394" dirty="0">
                <a:latin typeface="Arial"/>
                <a:cs typeface="Arial"/>
              </a:rPr>
              <a:t>of</a:t>
            </a:r>
            <a:r>
              <a:rPr sz="2394" spc="-21" dirty="0">
                <a:latin typeface="Arial"/>
                <a:cs typeface="Arial"/>
              </a:rPr>
              <a:t> </a:t>
            </a:r>
            <a:r>
              <a:rPr sz="2394" dirty="0">
                <a:latin typeface="Arial"/>
                <a:cs typeface="Arial"/>
              </a:rPr>
              <a:t>charts</a:t>
            </a:r>
            <a:r>
              <a:rPr sz="2394" spc="-21" dirty="0">
                <a:latin typeface="Arial"/>
                <a:cs typeface="Arial"/>
              </a:rPr>
              <a:t> </a:t>
            </a:r>
            <a:r>
              <a:rPr sz="2394" dirty="0">
                <a:latin typeface="Arial"/>
                <a:cs typeface="Arial"/>
              </a:rPr>
              <a:t>in</a:t>
            </a:r>
            <a:r>
              <a:rPr sz="2394" spc="-21" dirty="0">
                <a:latin typeface="Arial"/>
                <a:cs typeface="Arial"/>
              </a:rPr>
              <a:t> </a:t>
            </a:r>
            <a:r>
              <a:rPr sz="2394" dirty="0">
                <a:latin typeface="Arial"/>
                <a:cs typeface="Arial"/>
              </a:rPr>
              <a:t>which</a:t>
            </a:r>
            <a:r>
              <a:rPr sz="2394" spc="21" dirty="0">
                <a:latin typeface="Arial"/>
                <a:cs typeface="Arial"/>
              </a:rPr>
              <a:t> </a:t>
            </a:r>
            <a:r>
              <a:rPr sz="2394" dirty="0">
                <a:latin typeface="Arial"/>
                <a:cs typeface="Arial"/>
              </a:rPr>
              <a:t>one</a:t>
            </a:r>
            <a:r>
              <a:rPr sz="2394" spc="-21" dirty="0">
                <a:latin typeface="Arial"/>
                <a:cs typeface="Arial"/>
              </a:rPr>
              <a:t> </a:t>
            </a:r>
            <a:r>
              <a:rPr sz="2394" spc="-9" dirty="0">
                <a:latin typeface="Arial"/>
                <a:cs typeface="Arial"/>
              </a:rPr>
              <a:t>process 	</a:t>
            </a:r>
            <a:r>
              <a:rPr sz="2394" dirty="0">
                <a:latin typeface="Arial"/>
                <a:cs typeface="Arial"/>
              </a:rPr>
              <a:t>on</a:t>
            </a:r>
            <a:r>
              <a:rPr sz="2394" spc="-38" dirty="0">
                <a:latin typeface="Arial"/>
                <a:cs typeface="Arial"/>
              </a:rPr>
              <a:t> </a:t>
            </a:r>
            <a:r>
              <a:rPr sz="2394" dirty="0">
                <a:latin typeface="Arial"/>
                <a:cs typeface="Arial"/>
              </a:rPr>
              <a:t>a</a:t>
            </a:r>
            <a:r>
              <a:rPr sz="2394" spc="-73" dirty="0">
                <a:latin typeface="Arial"/>
                <a:cs typeface="Arial"/>
              </a:rPr>
              <a:t> </a:t>
            </a:r>
            <a:r>
              <a:rPr sz="2394" dirty="0">
                <a:latin typeface="Arial"/>
                <a:cs typeface="Arial"/>
              </a:rPr>
              <a:t>given</a:t>
            </a:r>
            <a:r>
              <a:rPr sz="2394" spc="-38" dirty="0">
                <a:latin typeface="Arial"/>
                <a:cs typeface="Arial"/>
              </a:rPr>
              <a:t> </a:t>
            </a:r>
            <a:r>
              <a:rPr sz="2394" dirty="0">
                <a:latin typeface="Arial"/>
                <a:cs typeface="Arial"/>
              </a:rPr>
              <a:t>chart</a:t>
            </a:r>
            <a:r>
              <a:rPr sz="2394" spc="-38" dirty="0">
                <a:latin typeface="Arial"/>
                <a:cs typeface="Arial"/>
              </a:rPr>
              <a:t> </a:t>
            </a:r>
            <a:r>
              <a:rPr sz="2394" dirty="0">
                <a:latin typeface="Arial"/>
                <a:cs typeface="Arial"/>
              </a:rPr>
              <a:t>is</a:t>
            </a:r>
            <a:r>
              <a:rPr sz="2394" spc="-38" dirty="0">
                <a:latin typeface="Arial"/>
                <a:cs typeface="Arial"/>
              </a:rPr>
              <a:t> </a:t>
            </a:r>
            <a:r>
              <a:rPr sz="2394" dirty="0">
                <a:latin typeface="Arial"/>
                <a:cs typeface="Arial"/>
              </a:rPr>
              <a:t>explained</a:t>
            </a:r>
            <a:r>
              <a:rPr sz="2394" spc="-38" dirty="0">
                <a:latin typeface="Arial"/>
                <a:cs typeface="Arial"/>
              </a:rPr>
              <a:t> </a:t>
            </a:r>
            <a:r>
              <a:rPr sz="2394" dirty="0">
                <a:latin typeface="Arial"/>
                <a:cs typeface="Arial"/>
              </a:rPr>
              <a:t>in greater</a:t>
            </a:r>
            <a:r>
              <a:rPr sz="2394" spc="-38" dirty="0">
                <a:latin typeface="Arial"/>
                <a:cs typeface="Arial"/>
              </a:rPr>
              <a:t> </a:t>
            </a:r>
            <a:r>
              <a:rPr sz="2394" spc="-9" dirty="0">
                <a:latin typeface="Arial"/>
                <a:cs typeface="Arial"/>
              </a:rPr>
              <a:t>detail 	</a:t>
            </a:r>
            <a:r>
              <a:rPr sz="2394" dirty="0">
                <a:latin typeface="Arial"/>
                <a:cs typeface="Arial"/>
              </a:rPr>
              <a:t>on</a:t>
            </a:r>
            <a:r>
              <a:rPr sz="2394" spc="-60" dirty="0">
                <a:latin typeface="Arial"/>
                <a:cs typeface="Arial"/>
              </a:rPr>
              <a:t> </a:t>
            </a:r>
            <a:r>
              <a:rPr sz="2394" dirty="0">
                <a:latin typeface="Arial"/>
                <a:cs typeface="Arial"/>
              </a:rPr>
              <a:t>another</a:t>
            </a:r>
            <a:r>
              <a:rPr sz="2394" spc="-56" dirty="0">
                <a:latin typeface="Arial"/>
                <a:cs typeface="Arial"/>
              </a:rPr>
              <a:t> </a:t>
            </a:r>
            <a:r>
              <a:rPr sz="2394" spc="-9" dirty="0">
                <a:latin typeface="Arial"/>
                <a:cs typeface="Arial"/>
              </a:rPr>
              <a:t>chart.</a:t>
            </a:r>
            <a:endParaRPr sz="2394">
              <a:latin typeface="Arial"/>
              <a:cs typeface="Arial"/>
            </a:endParaRPr>
          </a:p>
          <a:p>
            <a:pPr marL="645070" marR="294300" lvl="1" indent="-243802" algn="just">
              <a:spcBef>
                <a:spcPts val="573"/>
              </a:spcBef>
              <a:buClr>
                <a:srgbClr val="CC0066"/>
              </a:buClr>
              <a:buSzPct val="78571"/>
              <a:buFont typeface="Segoe UI Symbol"/>
              <a:buChar char="□"/>
              <a:tabLst>
                <a:tab pos="646699" algn="l"/>
              </a:tabLst>
            </a:pPr>
            <a:r>
              <a:rPr sz="2394" dirty="0">
                <a:latin typeface="Arial"/>
                <a:cs typeface="Arial"/>
              </a:rPr>
              <a:t>Continues</a:t>
            </a:r>
            <a:r>
              <a:rPr sz="2394" spc="-26" dirty="0">
                <a:latin typeface="Arial"/>
                <a:cs typeface="Arial"/>
              </a:rPr>
              <a:t> </a:t>
            </a:r>
            <a:r>
              <a:rPr sz="2394" dirty="0">
                <a:latin typeface="Arial"/>
                <a:cs typeface="Arial"/>
              </a:rPr>
              <a:t>until</a:t>
            </a:r>
            <a:r>
              <a:rPr sz="2394" spc="-21" dirty="0">
                <a:latin typeface="Arial"/>
                <a:cs typeface="Arial"/>
              </a:rPr>
              <a:t> </a:t>
            </a:r>
            <a:r>
              <a:rPr sz="2394" dirty="0">
                <a:latin typeface="Arial"/>
                <a:cs typeface="Arial"/>
              </a:rPr>
              <a:t>no</a:t>
            </a:r>
            <a:r>
              <a:rPr sz="2394" spc="-21" dirty="0">
                <a:latin typeface="Arial"/>
                <a:cs typeface="Arial"/>
              </a:rPr>
              <a:t> </a:t>
            </a:r>
            <a:r>
              <a:rPr sz="2394" dirty="0">
                <a:latin typeface="Arial"/>
                <a:cs typeface="Arial"/>
              </a:rPr>
              <a:t>subprocess</a:t>
            </a:r>
            <a:r>
              <a:rPr sz="2394" spc="-21" dirty="0">
                <a:latin typeface="Arial"/>
                <a:cs typeface="Arial"/>
              </a:rPr>
              <a:t> </a:t>
            </a:r>
            <a:r>
              <a:rPr sz="2394" dirty="0">
                <a:latin typeface="Arial"/>
                <a:cs typeface="Arial"/>
              </a:rPr>
              <a:t>can</a:t>
            </a:r>
            <a:r>
              <a:rPr sz="2394" spc="-21" dirty="0">
                <a:latin typeface="Arial"/>
                <a:cs typeface="Arial"/>
              </a:rPr>
              <a:t> </a:t>
            </a:r>
            <a:r>
              <a:rPr sz="2394" spc="-9" dirty="0">
                <a:latin typeface="Arial"/>
                <a:cs typeface="Arial"/>
              </a:rPr>
              <a:t>logically 	</a:t>
            </a:r>
            <a:r>
              <a:rPr sz="2394" dirty="0">
                <a:latin typeface="Arial"/>
                <a:cs typeface="Arial"/>
              </a:rPr>
              <a:t>be</a:t>
            </a:r>
            <a:r>
              <a:rPr sz="2394" spc="-51" dirty="0">
                <a:latin typeface="Arial"/>
                <a:cs typeface="Arial"/>
              </a:rPr>
              <a:t> </a:t>
            </a:r>
            <a:r>
              <a:rPr sz="2394" dirty="0">
                <a:latin typeface="Arial"/>
                <a:cs typeface="Arial"/>
              </a:rPr>
              <a:t>broken</a:t>
            </a:r>
            <a:r>
              <a:rPr sz="2394" spc="-51" dirty="0">
                <a:latin typeface="Arial"/>
                <a:cs typeface="Arial"/>
              </a:rPr>
              <a:t> </a:t>
            </a:r>
            <a:r>
              <a:rPr sz="2394" dirty="0">
                <a:latin typeface="Arial"/>
                <a:cs typeface="Arial"/>
              </a:rPr>
              <a:t>down</a:t>
            </a:r>
            <a:r>
              <a:rPr sz="2394" spc="-47" dirty="0">
                <a:latin typeface="Arial"/>
                <a:cs typeface="Arial"/>
              </a:rPr>
              <a:t> </a:t>
            </a:r>
            <a:r>
              <a:rPr sz="2394" dirty="0">
                <a:latin typeface="Arial"/>
                <a:cs typeface="Arial"/>
              </a:rPr>
              <a:t>any</a:t>
            </a:r>
            <a:r>
              <a:rPr sz="2394" spc="-94" dirty="0">
                <a:latin typeface="Arial"/>
                <a:cs typeface="Arial"/>
              </a:rPr>
              <a:t> </a:t>
            </a:r>
            <a:r>
              <a:rPr sz="2394" spc="-9" dirty="0">
                <a:latin typeface="Arial"/>
                <a:cs typeface="Arial"/>
              </a:rPr>
              <a:t>further.</a:t>
            </a:r>
            <a:endParaRPr sz="2394">
              <a:latin typeface="Arial"/>
              <a:cs typeface="Arial"/>
            </a:endParaRP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Decomposition</a:t>
            </a:r>
            <a:r>
              <a:rPr sz="3762" spc="-94" dirty="0"/>
              <a:t> </a:t>
            </a:r>
            <a:r>
              <a:rPr sz="3762" dirty="0"/>
              <a:t>of</a:t>
            </a:r>
            <a:r>
              <a:rPr sz="3762" spc="-145" dirty="0"/>
              <a:t> </a:t>
            </a:r>
            <a:r>
              <a:rPr sz="3762" dirty="0"/>
              <a:t>DFDs</a:t>
            </a:r>
            <a:r>
              <a:rPr sz="3762" spc="-145"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20</a:t>
            </a:fld>
            <a:endParaRPr spc="-21" dirty="0"/>
          </a:p>
        </p:txBody>
      </p:sp>
      <p:sp>
        <p:nvSpPr>
          <p:cNvPr id="3" name="object 3"/>
          <p:cNvSpPr txBox="1"/>
          <p:nvPr/>
        </p:nvSpPr>
        <p:spPr>
          <a:xfrm>
            <a:off x="1120261" y="2060203"/>
            <a:ext cx="6873747" cy="2801016"/>
          </a:xfrm>
          <a:prstGeom prst="rect">
            <a:avLst/>
          </a:prstGeom>
        </p:spPr>
        <p:txBody>
          <a:bodyPr vert="horz" wrap="square" lIns="0" tIns="94481" rIns="0" bIns="0" rtlCol="0">
            <a:spAutoFit/>
          </a:bodyPr>
          <a:lstStyle/>
          <a:p>
            <a:pPr marL="305160" indent="-294300">
              <a:spcBef>
                <a:spcPts val="744"/>
              </a:spcBef>
              <a:buClr>
                <a:srgbClr val="3399FF"/>
              </a:buClr>
              <a:buSzPct val="75000"/>
              <a:buFont typeface="Segoe UI Symbol"/>
              <a:buChar char="■"/>
              <a:tabLst>
                <a:tab pos="305160" algn="l"/>
              </a:tabLst>
            </a:pPr>
            <a:r>
              <a:rPr sz="2736" i="1" dirty="0">
                <a:latin typeface="Arial"/>
                <a:cs typeface="Arial"/>
              </a:rPr>
              <a:t>Primitive</a:t>
            </a:r>
            <a:r>
              <a:rPr sz="2736" i="1" spc="-51" dirty="0">
                <a:latin typeface="Arial"/>
                <a:cs typeface="Arial"/>
              </a:rPr>
              <a:t> </a:t>
            </a:r>
            <a:r>
              <a:rPr sz="2736" i="1" dirty="0">
                <a:latin typeface="Arial"/>
                <a:cs typeface="Arial"/>
              </a:rPr>
              <a:t>DFD</a:t>
            </a:r>
            <a:r>
              <a:rPr sz="2736" i="1" spc="-26" dirty="0">
                <a:latin typeface="Arial"/>
                <a:cs typeface="Arial"/>
              </a:rPr>
              <a:t> </a:t>
            </a:r>
            <a:r>
              <a:rPr sz="2736" dirty="0">
                <a:latin typeface="Arial"/>
                <a:cs typeface="Arial"/>
              </a:rPr>
              <a:t>is</a:t>
            </a:r>
            <a:r>
              <a:rPr sz="2736" spc="-47" dirty="0">
                <a:latin typeface="Arial"/>
                <a:cs typeface="Arial"/>
              </a:rPr>
              <a:t> </a:t>
            </a:r>
            <a:r>
              <a:rPr sz="2736" dirty="0">
                <a:latin typeface="Arial"/>
                <a:cs typeface="Arial"/>
              </a:rPr>
              <a:t>the</a:t>
            </a:r>
            <a:r>
              <a:rPr sz="2736" spc="-51" dirty="0">
                <a:latin typeface="Arial"/>
                <a:cs typeface="Arial"/>
              </a:rPr>
              <a:t> </a:t>
            </a:r>
            <a:r>
              <a:rPr sz="2736" dirty="0">
                <a:latin typeface="Arial"/>
                <a:cs typeface="Arial"/>
              </a:rPr>
              <a:t>lowest</a:t>
            </a:r>
            <a:r>
              <a:rPr sz="2736" spc="-47" dirty="0">
                <a:latin typeface="Arial"/>
                <a:cs typeface="Arial"/>
              </a:rPr>
              <a:t> </a:t>
            </a:r>
            <a:r>
              <a:rPr sz="2736" dirty="0">
                <a:latin typeface="Arial"/>
                <a:cs typeface="Arial"/>
              </a:rPr>
              <a:t>level</a:t>
            </a:r>
            <a:r>
              <a:rPr sz="2736" spc="-47" dirty="0">
                <a:latin typeface="Arial"/>
                <a:cs typeface="Arial"/>
              </a:rPr>
              <a:t> </a:t>
            </a:r>
            <a:r>
              <a:rPr sz="2736" dirty="0">
                <a:latin typeface="Arial"/>
                <a:cs typeface="Arial"/>
              </a:rPr>
              <a:t>of</a:t>
            </a:r>
            <a:r>
              <a:rPr sz="2736" spc="-47" dirty="0">
                <a:latin typeface="Arial"/>
                <a:cs typeface="Arial"/>
              </a:rPr>
              <a:t> </a:t>
            </a:r>
            <a:r>
              <a:rPr sz="2736" dirty="0">
                <a:latin typeface="Arial"/>
                <a:cs typeface="Arial"/>
              </a:rPr>
              <a:t>a</a:t>
            </a:r>
            <a:r>
              <a:rPr sz="2736" spc="-47" dirty="0">
                <a:latin typeface="Arial"/>
                <a:cs typeface="Arial"/>
              </a:rPr>
              <a:t> </a:t>
            </a:r>
            <a:r>
              <a:rPr sz="2736" spc="-17" dirty="0">
                <a:latin typeface="Arial"/>
                <a:cs typeface="Arial"/>
              </a:rPr>
              <a:t>DFD.</a:t>
            </a:r>
            <a:endParaRPr sz="2736">
              <a:latin typeface="Arial"/>
              <a:cs typeface="Arial"/>
            </a:endParaRPr>
          </a:p>
          <a:p>
            <a:pPr marL="305160" marR="1259733" indent="-294843">
              <a:spcBef>
                <a:spcPts val="654"/>
              </a:spcBef>
              <a:buClr>
                <a:srgbClr val="3399FF"/>
              </a:buClr>
              <a:buSzPct val="75000"/>
              <a:buFont typeface="Segoe UI Symbol"/>
              <a:buChar char="■"/>
              <a:tabLst>
                <a:tab pos="305160" algn="l"/>
              </a:tabLst>
            </a:pPr>
            <a:r>
              <a:rPr sz="2736" b="1" spc="-26" dirty="0">
                <a:latin typeface="Arial"/>
                <a:cs typeface="Arial"/>
              </a:rPr>
              <a:t>Level-</a:t>
            </a:r>
            <a:r>
              <a:rPr sz="2736" b="1" dirty="0">
                <a:latin typeface="Arial"/>
                <a:cs typeface="Arial"/>
              </a:rPr>
              <a:t>1</a:t>
            </a:r>
            <a:r>
              <a:rPr sz="2736" b="1" spc="-73" dirty="0">
                <a:latin typeface="Arial"/>
                <a:cs typeface="Arial"/>
              </a:rPr>
              <a:t> </a:t>
            </a:r>
            <a:r>
              <a:rPr sz="2736" b="1" dirty="0">
                <a:latin typeface="Arial"/>
                <a:cs typeface="Arial"/>
              </a:rPr>
              <a:t>diagram</a:t>
            </a:r>
            <a:r>
              <a:rPr sz="2736" b="1" spc="9" dirty="0">
                <a:latin typeface="Arial"/>
                <a:cs typeface="Arial"/>
              </a:rPr>
              <a:t> </a:t>
            </a:r>
            <a:r>
              <a:rPr sz="2736" dirty="0">
                <a:latin typeface="Arial"/>
                <a:cs typeface="Arial"/>
              </a:rPr>
              <a:t>results</a:t>
            </a:r>
            <a:r>
              <a:rPr sz="2736" spc="-21" dirty="0">
                <a:latin typeface="Arial"/>
                <a:cs typeface="Arial"/>
              </a:rPr>
              <a:t> </a:t>
            </a:r>
            <a:r>
              <a:rPr sz="2736" spc="-17" dirty="0">
                <a:latin typeface="Arial"/>
                <a:cs typeface="Arial"/>
              </a:rPr>
              <a:t>from </a:t>
            </a:r>
            <a:r>
              <a:rPr sz="2736" spc="-9" dirty="0">
                <a:latin typeface="Arial"/>
                <a:cs typeface="Arial"/>
              </a:rPr>
              <a:t>decomposition</a:t>
            </a:r>
            <a:r>
              <a:rPr sz="2736" spc="-90" dirty="0">
                <a:latin typeface="Arial"/>
                <a:cs typeface="Arial"/>
              </a:rPr>
              <a:t> </a:t>
            </a:r>
            <a:r>
              <a:rPr sz="2736" dirty="0">
                <a:latin typeface="Arial"/>
                <a:cs typeface="Arial"/>
              </a:rPr>
              <a:t>of</a:t>
            </a:r>
            <a:r>
              <a:rPr sz="2736" spc="-30" dirty="0">
                <a:latin typeface="Arial"/>
                <a:cs typeface="Arial"/>
              </a:rPr>
              <a:t> </a:t>
            </a:r>
            <a:r>
              <a:rPr sz="2736" spc="-17" dirty="0">
                <a:latin typeface="Arial"/>
                <a:cs typeface="Arial"/>
              </a:rPr>
              <a:t>Level-</a:t>
            </a:r>
            <a:r>
              <a:rPr sz="2736" dirty="0">
                <a:latin typeface="Arial"/>
                <a:cs typeface="Arial"/>
              </a:rPr>
              <a:t>0</a:t>
            </a:r>
            <a:r>
              <a:rPr sz="2736" spc="-34" dirty="0">
                <a:latin typeface="Arial"/>
                <a:cs typeface="Arial"/>
              </a:rPr>
              <a:t> </a:t>
            </a:r>
            <a:r>
              <a:rPr sz="2736" spc="-9" dirty="0">
                <a:latin typeface="Arial"/>
                <a:cs typeface="Arial"/>
              </a:rPr>
              <a:t>diagram.</a:t>
            </a:r>
            <a:endParaRPr sz="2736">
              <a:latin typeface="Arial"/>
              <a:cs typeface="Arial"/>
            </a:endParaRPr>
          </a:p>
          <a:p>
            <a:pPr marL="305160" marR="4344" indent="-294843" algn="just">
              <a:spcBef>
                <a:spcPts val="658"/>
              </a:spcBef>
              <a:buClr>
                <a:srgbClr val="3399FF"/>
              </a:buClr>
              <a:buSzPct val="75000"/>
              <a:buFont typeface="Segoe UI Symbol"/>
              <a:buChar char="■"/>
              <a:tabLst>
                <a:tab pos="305160" algn="l"/>
              </a:tabLst>
            </a:pPr>
            <a:r>
              <a:rPr sz="2736" b="1" spc="-26" dirty="0">
                <a:latin typeface="Arial"/>
                <a:cs typeface="Arial"/>
              </a:rPr>
              <a:t>Level-</a:t>
            </a:r>
            <a:r>
              <a:rPr sz="2736" b="1" dirty="0">
                <a:latin typeface="Arial"/>
                <a:cs typeface="Arial"/>
              </a:rPr>
              <a:t>n</a:t>
            </a:r>
            <a:r>
              <a:rPr sz="2736" b="1" spc="-47" dirty="0">
                <a:latin typeface="Arial"/>
                <a:cs typeface="Arial"/>
              </a:rPr>
              <a:t> </a:t>
            </a:r>
            <a:r>
              <a:rPr sz="2736" b="1" dirty="0">
                <a:latin typeface="Arial"/>
                <a:cs typeface="Arial"/>
              </a:rPr>
              <a:t>diagram</a:t>
            </a:r>
            <a:r>
              <a:rPr sz="2736" b="1" spc="-26" dirty="0">
                <a:latin typeface="Arial"/>
                <a:cs typeface="Arial"/>
              </a:rPr>
              <a:t> </a:t>
            </a:r>
            <a:r>
              <a:rPr sz="2736" dirty="0">
                <a:latin typeface="Arial"/>
                <a:cs typeface="Arial"/>
              </a:rPr>
              <a:t>is</a:t>
            </a:r>
            <a:r>
              <a:rPr sz="2736" spc="-34" dirty="0">
                <a:latin typeface="Arial"/>
                <a:cs typeface="Arial"/>
              </a:rPr>
              <a:t> </a:t>
            </a:r>
            <a:r>
              <a:rPr sz="2736" dirty="0">
                <a:latin typeface="Arial"/>
                <a:cs typeface="Arial"/>
              </a:rPr>
              <a:t>a</a:t>
            </a:r>
            <a:r>
              <a:rPr sz="2736" spc="-38" dirty="0">
                <a:latin typeface="Arial"/>
                <a:cs typeface="Arial"/>
              </a:rPr>
              <a:t> </a:t>
            </a:r>
            <a:r>
              <a:rPr sz="2736" dirty="0">
                <a:latin typeface="Arial"/>
                <a:cs typeface="Arial"/>
              </a:rPr>
              <a:t>DFD</a:t>
            </a:r>
            <a:r>
              <a:rPr sz="2736" spc="-38" dirty="0">
                <a:latin typeface="Arial"/>
                <a:cs typeface="Arial"/>
              </a:rPr>
              <a:t> </a:t>
            </a:r>
            <a:r>
              <a:rPr sz="2736" dirty="0">
                <a:latin typeface="Arial"/>
                <a:cs typeface="Arial"/>
              </a:rPr>
              <a:t>diagram</a:t>
            </a:r>
            <a:r>
              <a:rPr sz="2736" spc="-34" dirty="0">
                <a:latin typeface="Arial"/>
                <a:cs typeface="Arial"/>
              </a:rPr>
              <a:t> </a:t>
            </a:r>
            <a:r>
              <a:rPr sz="2736" dirty="0">
                <a:latin typeface="Arial"/>
                <a:cs typeface="Arial"/>
              </a:rPr>
              <a:t>that</a:t>
            </a:r>
            <a:r>
              <a:rPr sz="2736" spc="-38" dirty="0">
                <a:latin typeface="Arial"/>
                <a:cs typeface="Arial"/>
              </a:rPr>
              <a:t> </a:t>
            </a:r>
            <a:r>
              <a:rPr sz="2736" spc="-21" dirty="0">
                <a:latin typeface="Arial"/>
                <a:cs typeface="Arial"/>
              </a:rPr>
              <a:t>is </a:t>
            </a:r>
            <a:r>
              <a:rPr sz="2736" dirty="0">
                <a:latin typeface="Arial"/>
                <a:cs typeface="Arial"/>
              </a:rPr>
              <a:t>the</a:t>
            </a:r>
            <a:r>
              <a:rPr sz="2736" spc="-81" dirty="0">
                <a:latin typeface="Arial"/>
                <a:cs typeface="Arial"/>
              </a:rPr>
              <a:t> </a:t>
            </a:r>
            <a:r>
              <a:rPr sz="2736" dirty="0">
                <a:latin typeface="Arial"/>
                <a:cs typeface="Arial"/>
              </a:rPr>
              <a:t>result</a:t>
            </a:r>
            <a:r>
              <a:rPr sz="2736" spc="-73" dirty="0">
                <a:latin typeface="Arial"/>
                <a:cs typeface="Arial"/>
              </a:rPr>
              <a:t> </a:t>
            </a:r>
            <a:r>
              <a:rPr sz="2736" dirty="0">
                <a:latin typeface="Arial"/>
                <a:cs typeface="Arial"/>
              </a:rPr>
              <a:t>of</a:t>
            </a:r>
            <a:r>
              <a:rPr sz="2736" spc="-90" dirty="0">
                <a:latin typeface="Arial"/>
                <a:cs typeface="Arial"/>
              </a:rPr>
              <a:t> </a:t>
            </a:r>
            <a:r>
              <a:rPr sz="2736" b="1" i="1" dirty="0">
                <a:latin typeface="Arial"/>
                <a:cs typeface="Arial"/>
              </a:rPr>
              <a:t>n</a:t>
            </a:r>
            <a:r>
              <a:rPr sz="2736" b="1" i="1" spc="-56" dirty="0">
                <a:latin typeface="Arial"/>
                <a:cs typeface="Arial"/>
              </a:rPr>
              <a:t> </a:t>
            </a:r>
            <a:r>
              <a:rPr sz="2736" dirty="0">
                <a:latin typeface="Arial"/>
                <a:cs typeface="Arial"/>
              </a:rPr>
              <a:t>nested</a:t>
            </a:r>
            <a:r>
              <a:rPr sz="2736" spc="-73" dirty="0">
                <a:latin typeface="Arial"/>
                <a:cs typeface="Arial"/>
              </a:rPr>
              <a:t> </a:t>
            </a:r>
            <a:r>
              <a:rPr sz="2736" dirty="0">
                <a:latin typeface="Arial"/>
                <a:cs typeface="Arial"/>
              </a:rPr>
              <a:t>decompositions</a:t>
            </a:r>
            <a:r>
              <a:rPr sz="2736" spc="-73" dirty="0">
                <a:latin typeface="Arial"/>
                <a:cs typeface="Arial"/>
              </a:rPr>
              <a:t> </a:t>
            </a:r>
            <a:r>
              <a:rPr sz="2736" spc="-17" dirty="0">
                <a:latin typeface="Arial"/>
                <a:cs typeface="Arial"/>
              </a:rPr>
              <a:t>from </a:t>
            </a:r>
            <a:r>
              <a:rPr sz="2736" dirty="0">
                <a:latin typeface="Arial"/>
                <a:cs typeface="Arial"/>
              </a:rPr>
              <a:t>a</a:t>
            </a:r>
            <a:r>
              <a:rPr sz="2736" spc="-21" dirty="0">
                <a:latin typeface="Arial"/>
                <a:cs typeface="Arial"/>
              </a:rPr>
              <a:t> </a:t>
            </a:r>
            <a:r>
              <a:rPr sz="2736" dirty="0">
                <a:latin typeface="Arial"/>
                <a:cs typeface="Arial"/>
              </a:rPr>
              <a:t>process</a:t>
            </a:r>
            <a:r>
              <a:rPr sz="2736" spc="-21" dirty="0">
                <a:latin typeface="Arial"/>
                <a:cs typeface="Arial"/>
              </a:rPr>
              <a:t> </a:t>
            </a:r>
            <a:r>
              <a:rPr sz="2736" dirty="0">
                <a:latin typeface="Arial"/>
                <a:cs typeface="Arial"/>
              </a:rPr>
              <a:t>on</a:t>
            </a:r>
            <a:r>
              <a:rPr sz="2736" spc="-17" dirty="0">
                <a:latin typeface="Arial"/>
                <a:cs typeface="Arial"/>
              </a:rPr>
              <a:t> </a:t>
            </a:r>
            <a:r>
              <a:rPr sz="2736" dirty="0">
                <a:latin typeface="Arial"/>
                <a:cs typeface="Arial"/>
              </a:rPr>
              <a:t>a</a:t>
            </a:r>
            <a:r>
              <a:rPr sz="2736" spc="-21" dirty="0">
                <a:latin typeface="Arial"/>
                <a:cs typeface="Arial"/>
              </a:rPr>
              <a:t> </a:t>
            </a:r>
            <a:r>
              <a:rPr sz="2736" spc="-17" dirty="0">
                <a:latin typeface="Arial"/>
                <a:cs typeface="Arial"/>
              </a:rPr>
              <a:t>level-</a:t>
            </a:r>
            <a:r>
              <a:rPr sz="2736" dirty="0">
                <a:latin typeface="Arial"/>
                <a:cs typeface="Arial"/>
              </a:rPr>
              <a:t>0</a:t>
            </a:r>
            <a:r>
              <a:rPr sz="2736" spc="-21" dirty="0">
                <a:latin typeface="Arial"/>
                <a:cs typeface="Arial"/>
              </a:rPr>
              <a:t> </a:t>
            </a:r>
            <a:r>
              <a:rPr sz="2736" spc="-9" dirty="0">
                <a:latin typeface="Arial"/>
                <a:cs typeface="Arial"/>
              </a:rPr>
              <a:t>diagram.</a:t>
            </a:r>
            <a:endParaRPr sz="2736">
              <a:latin typeface="Arial"/>
              <a:cs typeface="Arial"/>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20301" y="1047576"/>
            <a:ext cx="2698675" cy="588810"/>
          </a:xfrm>
          <a:prstGeom prst="rect">
            <a:avLst/>
          </a:prstGeom>
        </p:spPr>
        <p:txBody>
          <a:bodyPr vert="horz" wrap="square" lIns="0" tIns="9774" rIns="0" bIns="0" rtlCol="0" anchor="ctr">
            <a:spAutoFit/>
          </a:bodyPr>
          <a:lstStyle/>
          <a:p>
            <a:pPr marL="10860">
              <a:lnSpc>
                <a:spcPct val="100000"/>
              </a:lnSpc>
              <a:spcBef>
                <a:spcPts val="77"/>
              </a:spcBef>
            </a:pPr>
            <a:r>
              <a:rPr sz="3762" spc="-17" dirty="0"/>
              <a:t>Level-</a:t>
            </a:r>
            <a:r>
              <a:rPr sz="3762" dirty="0"/>
              <a:t>1</a:t>
            </a:r>
            <a:r>
              <a:rPr sz="3762" spc="-26" dirty="0"/>
              <a:t> </a:t>
            </a:r>
            <a:r>
              <a:rPr sz="3762" spc="-21" dirty="0"/>
              <a:t>DFD</a:t>
            </a:r>
            <a:endParaRPr sz="3762"/>
          </a:p>
        </p:txBody>
      </p:sp>
      <p:sp>
        <p:nvSpPr>
          <p:cNvPr id="8" name="object 8"/>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21</a:t>
            </a:fld>
            <a:endParaRPr spc="-21" dirty="0"/>
          </a:p>
        </p:txBody>
      </p:sp>
      <p:sp>
        <p:nvSpPr>
          <p:cNvPr id="4" name="object 4"/>
          <p:cNvSpPr txBox="1"/>
          <p:nvPr/>
        </p:nvSpPr>
        <p:spPr>
          <a:xfrm>
            <a:off x="7050545" y="2943950"/>
            <a:ext cx="1724545" cy="1195265"/>
          </a:xfrm>
          <a:prstGeom prst="rect">
            <a:avLst/>
          </a:prstGeom>
        </p:spPr>
        <p:txBody>
          <a:bodyPr vert="horz" wrap="square" lIns="0" tIns="10860" rIns="0" bIns="0" rtlCol="0">
            <a:spAutoFit/>
          </a:bodyPr>
          <a:lstStyle/>
          <a:p>
            <a:pPr marL="10860" marR="4344">
              <a:spcBef>
                <a:spcPts val="86"/>
              </a:spcBef>
            </a:pPr>
            <a:r>
              <a:rPr sz="1539" dirty="0">
                <a:latin typeface="Arial"/>
                <a:cs typeface="Arial"/>
              </a:rPr>
              <a:t>Level-1</a:t>
            </a:r>
            <a:r>
              <a:rPr sz="1539" spc="-17" dirty="0">
                <a:latin typeface="Arial"/>
                <a:cs typeface="Arial"/>
              </a:rPr>
              <a:t> </a:t>
            </a:r>
            <a:r>
              <a:rPr sz="1539" dirty="0">
                <a:latin typeface="Arial"/>
                <a:cs typeface="Arial"/>
              </a:rPr>
              <a:t>DFD</a:t>
            </a:r>
            <a:r>
              <a:rPr sz="1539" spc="-17" dirty="0">
                <a:latin typeface="Arial"/>
                <a:cs typeface="Arial"/>
              </a:rPr>
              <a:t> </a:t>
            </a:r>
            <a:r>
              <a:rPr sz="1539" spc="-9" dirty="0">
                <a:latin typeface="Arial"/>
                <a:cs typeface="Arial"/>
              </a:rPr>
              <a:t>shows </a:t>
            </a:r>
            <a:r>
              <a:rPr sz="1539" dirty="0">
                <a:latin typeface="Arial"/>
                <a:cs typeface="Arial"/>
              </a:rPr>
              <a:t>the</a:t>
            </a:r>
            <a:r>
              <a:rPr sz="1539" spc="-30" dirty="0">
                <a:latin typeface="Arial"/>
                <a:cs typeface="Arial"/>
              </a:rPr>
              <a:t> </a:t>
            </a:r>
            <a:r>
              <a:rPr sz="1539" dirty="0">
                <a:latin typeface="Arial"/>
                <a:cs typeface="Arial"/>
              </a:rPr>
              <a:t>sub-</a:t>
            </a:r>
            <a:r>
              <a:rPr sz="1539" spc="-9" dirty="0">
                <a:latin typeface="Arial"/>
                <a:cs typeface="Arial"/>
              </a:rPr>
              <a:t>processes </a:t>
            </a:r>
            <a:r>
              <a:rPr sz="1539" dirty="0">
                <a:latin typeface="Arial"/>
                <a:cs typeface="Arial"/>
              </a:rPr>
              <a:t>of</a:t>
            </a:r>
            <a:r>
              <a:rPr sz="1539" spc="-38" dirty="0">
                <a:latin typeface="Arial"/>
                <a:cs typeface="Arial"/>
              </a:rPr>
              <a:t> </a:t>
            </a:r>
            <a:r>
              <a:rPr sz="1539" dirty="0">
                <a:latin typeface="Arial"/>
                <a:cs typeface="Arial"/>
              </a:rPr>
              <a:t>one</a:t>
            </a:r>
            <a:r>
              <a:rPr sz="1539" spc="-4" dirty="0">
                <a:latin typeface="Arial"/>
                <a:cs typeface="Arial"/>
              </a:rPr>
              <a:t> </a:t>
            </a:r>
            <a:r>
              <a:rPr sz="1539" dirty="0">
                <a:latin typeface="Arial"/>
                <a:cs typeface="Arial"/>
              </a:rPr>
              <a:t>of </a:t>
            </a:r>
            <a:r>
              <a:rPr sz="1539" spc="-21" dirty="0">
                <a:latin typeface="Arial"/>
                <a:cs typeface="Arial"/>
              </a:rPr>
              <a:t>the </a:t>
            </a:r>
            <a:r>
              <a:rPr sz="1539" dirty="0">
                <a:latin typeface="Arial"/>
                <a:cs typeface="Arial"/>
              </a:rPr>
              <a:t>processes</a:t>
            </a:r>
            <a:r>
              <a:rPr sz="1539" spc="-56" dirty="0">
                <a:latin typeface="Arial"/>
                <a:cs typeface="Arial"/>
              </a:rPr>
              <a:t> </a:t>
            </a:r>
            <a:r>
              <a:rPr sz="1539" dirty="0">
                <a:latin typeface="Arial"/>
                <a:cs typeface="Arial"/>
              </a:rPr>
              <a:t>in</a:t>
            </a:r>
            <a:r>
              <a:rPr sz="1539" spc="17" dirty="0">
                <a:latin typeface="Arial"/>
                <a:cs typeface="Arial"/>
              </a:rPr>
              <a:t> </a:t>
            </a:r>
            <a:r>
              <a:rPr sz="1539" spc="-21" dirty="0">
                <a:latin typeface="Arial"/>
                <a:cs typeface="Arial"/>
              </a:rPr>
              <a:t>the </a:t>
            </a:r>
            <a:r>
              <a:rPr sz="1539" dirty="0">
                <a:latin typeface="Arial"/>
                <a:cs typeface="Arial"/>
              </a:rPr>
              <a:t>Level-0 </a:t>
            </a:r>
            <a:r>
              <a:rPr sz="1539" spc="-17" dirty="0">
                <a:latin typeface="Arial"/>
                <a:cs typeface="Arial"/>
              </a:rPr>
              <a:t>DFD.</a:t>
            </a:r>
            <a:endParaRPr sz="1539" dirty="0">
              <a:latin typeface="Arial"/>
              <a:cs typeface="Arial"/>
            </a:endParaRPr>
          </a:p>
        </p:txBody>
      </p:sp>
      <p:sp>
        <p:nvSpPr>
          <p:cNvPr id="5" name="object 5"/>
          <p:cNvSpPr txBox="1"/>
          <p:nvPr/>
        </p:nvSpPr>
        <p:spPr>
          <a:xfrm>
            <a:off x="5943600" y="5562600"/>
            <a:ext cx="1849977" cy="484685"/>
          </a:xfrm>
          <a:prstGeom prst="rect">
            <a:avLst/>
          </a:prstGeom>
        </p:spPr>
        <p:txBody>
          <a:bodyPr vert="horz" wrap="square" lIns="0" tIns="10860" rIns="0" bIns="0" rtlCol="0">
            <a:spAutoFit/>
          </a:bodyPr>
          <a:lstStyle/>
          <a:p>
            <a:pPr marL="10860" marR="4344">
              <a:spcBef>
                <a:spcPts val="86"/>
              </a:spcBef>
            </a:pPr>
            <a:r>
              <a:rPr sz="1539" dirty="0">
                <a:latin typeface="Arial"/>
                <a:cs typeface="Arial"/>
              </a:rPr>
              <a:t>This is a Level-</a:t>
            </a:r>
            <a:r>
              <a:rPr sz="1539" spc="-43" dirty="0">
                <a:latin typeface="Arial"/>
                <a:cs typeface="Arial"/>
              </a:rPr>
              <a:t>1 </a:t>
            </a:r>
            <a:r>
              <a:rPr sz="1539" dirty="0">
                <a:latin typeface="Arial"/>
                <a:cs typeface="Arial"/>
              </a:rPr>
              <a:t>DFD</a:t>
            </a:r>
            <a:r>
              <a:rPr sz="1539" spc="-17" dirty="0">
                <a:latin typeface="Arial"/>
                <a:cs typeface="Arial"/>
              </a:rPr>
              <a:t> </a:t>
            </a:r>
            <a:r>
              <a:rPr sz="1539" dirty="0">
                <a:latin typeface="Arial"/>
                <a:cs typeface="Arial"/>
              </a:rPr>
              <a:t>for</a:t>
            </a:r>
            <a:r>
              <a:rPr sz="1539" spc="-17" dirty="0">
                <a:latin typeface="Arial"/>
                <a:cs typeface="Arial"/>
              </a:rPr>
              <a:t> </a:t>
            </a:r>
            <a:r>
              <a:rPr sz="1539" dirty="0">
                <a:latin typeface="Arial"/>
                <a:cs typeface="Arial"/>
              </a:rPr>
              <a:t>Process</a:t>
            </a:r>
            <a:r>
              <a:rPr sz="1539" spc="-17" dirty="0">
                <a:latin typeface="Arial"/>
                <a:cs typeface="Arial"/>
              </a:rPr>
              <a:t> 4.0.</a:t>
            </a:r>
            <a:endParaRPr sz="1539" dirty="0">
              <a:latin typeface="Arial"/>
              <a:cs typeface="Arial"/>
            </a:endParaRPr>
          </a:p>
        </p:txBody>
      </p:sp>
      <p:sp>
        <p:nvSpPr>
          <p:cNvPr id="6" name="object 6"/>
          <p:cNvSpPr txBox="1"/>
          <p:nvPr/>
        </p:nvSpPr>
        <p:spPr>
          <a:xfrm>
            <a:off x="761111" y="5308446"/>
            <a:ext cx="3417053" cy="1062465"/>
          </a:xfrm>
          <a:prstGeom prst="rect">
            <a:avLst/>
          </a:prstGeom>
        </p:spPr>
        <p:txBody>
          <a:bodyPr vert="horz" wrap="square" lIns="0" tIns="9774" rIns="0" bIns="0" rtlCol="0">
            <a:spAutoFit/>
          </a:bodyPr>
          <a:lstStyle/>
          <a:p>
            <a:pPr marL="10860" marR="4344">
              <a:spcBef>
                <a:spcPts val="77"/>
              </a:spcBef>
            </a:pPr>
            <a:r>
              <a:rPr sz="1710" dirty="0">
                <a:latin typeface="Arial"/>
                <a:cs typeface="Arial"/>
              </a:rPr>
              <a:t>Processes</a:t>
            </a:r>
            <a:r>
              <a:rPr sz="1710" spc="-51" dirty="0">
                <a:latin typeface="Arial"/>
                <a:cs typeface="Arial"/>
              </a:rPr>
              <a:t> </a:t>
            </a:r>
            <a:r>
              <a:rPr sz="1710" dirty="0">
                <a:latin typeface="Arial"/>
                <a:cs typeface="Arial"/>
              </a:rPr>
              <a:t>are</a:t>
            </a:r>
            <a:r>
              <a:rPr sz="1710" spc="-77" dirty="0">
                <a:latin typeface="Arial"/>
                <a:cs typeface="Arial"/>
              </a:rPr>
              <a:t> </a:t>
            </a:r>
            <a:r>
              <a:rPr sz="1710" dirty="0">
                <a:latin typeface="Arial"/>
                <a:cs typeface="Arial"/>
              </a:rPr>
              <a:t>labeled</a:t>
            </a:r>
            <a:r>
              <a:rPr sz="1710" spc="-21" dirty="0">
                <a:latin typeface="Arial"/>
                <a:cs typeface="Arial"/>
              </a:rPr>
              <a:t> </a:t>
            </a:r>
            <a:r>
              <a:rPr sz="1710" dirty="0">
                <a:latin typeface="Arial"/>
                <a:cs typeface="Arial"/>
              </a:rPr>
              <a:t>4.1,</a:t>
            </a:r>
            <a:r>
              <a:rPr sz="1710" spc="-51" dirty="0">
                <a:latin typeface="Arial"/>
                <a:cs typeface="Arial"/>
              </a:rPr>
              <a:t> </a:t>
            </a:r>
            <a:r>
              <a:rPr sz="1710" dirty="0">
                <a:latin typeface="Arial"/>
                <a:cs typeface="Arial"/>
              </a:rPr>
              <a:t>4.2,</a:t>
            </a:r>
            <a:r>
              <a:rPr sz="1710" spc="-47" dirty="0">
                <a:latin typeface="Arial"/>
                <a:cs typeface="Arial"/>
              </a:rPr>
              <a:t> </a:t>
            </a:r>
            <a:r>
              <a:rPr sz="1710" spc="-17" dirty="0">
                <a:latin typeface="Arial"/>
                <a:cs typeface="Arial"/>
              </a:rPr>
              <a:t>etc. </a:t>
            </a:r>
            <a:r>
              <a:rPr sz="1710" dirty="0">
                <a:latin typeface="Arial"/>
                <a:cs typeface="Arial"/>
              </a:rPr>
              <a:t>These</a:t>
            </a:r>
            <a:r>
              <a:rPr sz="1710" spc="-56" dirty="0">
                <a:latin typeface="Arial"/>
                <a:cs typeface="Arial"/>
              </a:rPr>
              <a:t> </a:t>
            </a:r>
            <a:r>
              <a:rPr sz="1710" dirty="0">
                <a:latin typeface="Arial"/>
                <a:cs typeface="Arial"/>
              </a:rPr>
              <a:t>can</a:t>
            </a:r>
            <a:r>
              <a:rPr sz="1710" spc="-30" dirty="0">
                <a:latin typeface="Arial"/>
                <a:cs typeface="Arial"/>
              </a:rPr>
              <a:t> </a:t>
            </a:r>
            <a:r>
              <a:rPr sz="1710" dirty="0">
                <a:latin typeface="Arial"/>
                <a:cs typeface="Arial"/>
              </a:rPr>
              <a:t>be</a:t>
            </a:r>
            <a:r>
              <a:rPr sz="1710" spc="-30" dirty="0">
                <a:latin typeface="Arial"/>
                <a:cs typeface="Arial"/>
              </a:rPr>
              <a:t> </a:t>
            </a:r>
            <a:r>
              <a:rPr sz="1710" dirty="0">
                <a:latin typeface="Arial"/>
                <a:cs typeface="Arial"/>
              </a:rPr>
              <a:t>further</a:t>
            </a:r>
            <a:r>
              <a:rPr sz="1710" spc="-30" dirty="0">
                <a:latin typeface="Arial"/>
                <a:cs typeface="Arial"/>
              </a:rPr>
              <a:t> </a:t>
            </a:r>
            <a:r>
              <a:rPr sz="1710" spc="-9" dirty="0">
                <a:latin typeface="Arial"/>
                <a:cs typeface="Arial"/>
              </a:rPr>
              <a:t>decomposed </a:t>
            </a:r>
            <a:r>
              <a:rPr sz="1710" dirty="0">
                <a:latin typeface="Arial"/>
                <a:cs typeface="Arial"/>
              </a:rPr>
              <a:t>in</a:t>
            </a:r>
            <a:r>
              <a:rPr sz="1710" spc="-21" dirty="0">
                <a:latin typeface="Arial"/>
                <a:cs typeface="Arial"/>
              </a:rPr>
              <a:t> </a:t>
            </a:r>
            <a:r>
              <a:rPr sz="1710" dirty="0">
                <a:latin typeface="Arial"/>
                <a:cs typeface="Arial"/>
              </a:rPr>
              <a:t>more</a:t>
            </a:r>
            <a:r>
              <a:rPr sz="1710" spc="-56" dirty="0">
                <a:latin typeface="Arial"/>
                <a:cs typeface="Arial"/>
              </a:rPr>
              <a:t> </a:t>
            </a:r>
            <a:r>
              <a:rPr sz="1710" dirty="0">
                <a:latin typeface="Arial"/>
                <a:cs typeface="Arial"/>
              </a:rPr>
              <a:t>primitive</a:t>
            </a:r>
            <a:r>
              <a:rPr sz="1710" spc="9" dirty="0">
                <a:latin typeface="Arial"/>
                <a:cs typeface="Arial"/>
              </a:rPr>
              <a:t> </a:t>
            </a:r>
            <a:r>
              <a:rPr sz="1710" spc="-21" dirty="0">
                <a:latin typeface="Arial"/>
                <a:cs typeface="Arial"/>
              </a:rPr>
              <a:t>(lower-</a:t>
            </a:r>
            <a:r>
              <a:rPr sz="1710" spc="-9" dirty="0">
                <a:latin typeface="Arial"/>
                <a:cs typeface="Arial"/>
              </a:rPr>
              <a:t>level)</a:t>
            </a:r>
            <a:r>
              <a:rPr sz="1710" spc="428" dirty="0">
                <a:latin typeface="Arial"/>
                <a:cs typeface="Arial"/>
              </a:rPr>
              <a:t> </a:t>
            </a:r>
            <a:r>
              <a:rPr sz="1710" dirty="0">
                <a:latin typeface="Arial"/>
                <a:cs typeface="Arial"/>
              </a:rPr>
              <a:t>DFDs</a:t>
            </a:r>
            <a:r>
              <a:rPr sz="1710" spc="-34" dirty="0">
                <a:latin typeface="Arial"/>
                <a:cs typeface="Arial"/>
              </a:rPr>
              <a:t> </a:t>
            </a:r>
            <a:r>
              <a:rPr sz="1710" dirty="0">
                <a:latin typeface="Arial"/>
                <a:cs typeface="Arial"/>
              </a:rPr>
              <a:t>if</a:t>
            </a:r>
            <a:r>
              <a:rPr sz="1710" spc="-30" dirty="0">
                <a:latin typeface="Arial"/>
                <a:cs typeface="Arial"/>
              </a:rPr>
              <a:t> </a:t>
            </a:r>
            <a:r>
              <a:rPr sz="1710" spc="-9" dirty="0">
                <a:latin typeface="Arial"/>
                <a:cs typeface="Arial"/>
              </a:rPr>
              <a:t>necessary.</a:t>
            </a:r>
            <a:endParaRPr sz="1710" dirty="0">
              <a:latin typeface="Arial"/>
              <a:cs typeface="Arial"/>
            </a:endParaRPr>
          </a:p>
        </p:txBody>
      </p:sp>
      <p:sp>
        <p:nvSpPr>
          <p:cNvPr id="7" name="object 7"/>
          <p:cNvSpPr txBox="1"/>
          <p:nvPr/>
        </p:nvSpPr>
        <p:spPr>
          <a:xfrm>
            <a:off x="4572000" y="708362"/>
            <a:ext cx="3842218" cy="95840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lang="en-MY" sz="1539" b="1" dirty="0">
                <a:latin typeface="Arial"/>
                <a:cs typeface="Arial"/>
              </a:rPr>
              <a:t> 5</a:t>
            </a:r>
            <a:endParaRPr sz="1539" dirty="0">
              <a:latin typeface="Arial"/>
              <a:cs typeface="Arial"/>
            </a:endParaRPr>
          </a:p>
          <a:p>
            <a:pPr marL="10860" marR="4344"/>
            <a:r>
              <a:rPr sz="1539" dirty="0">
                <a:latin typeface="Arial"/>
                <a:cs typeface="Arial"/>
              </a:rPr>
              <a:t>Level-1</a:t>
            </a:r>
            <a:r>
              <a:rPr sz="1539" spc="-21" dirty="0">
                <a:latin typeface="Arial"/>
                <a:cs typeface="Arial"/>
              </a:rPr>
              <a:t> </a:t>
            </a:r>
            <a:r>
              <a:rPr sz="1539" dirty="0">
                <a:latin typeface="Arial"/>
                <a:cs typeface="Arial"/>
              </a:rPr>
              <a:t>diagram</a:t>
            </a:r>
            <a:r>
              <a:rPr sz="1539" spc="-34" dirty="0">
                <a:latin typeface="Arial"/>
                <a:cs typeface="Arial"/>
              </a:rPr>
              <a:t> </a:t>
            </a:r>
            <a:r>
              <a:rPr sz="1539" dirty="0">
                <a:latin typeface="Arial"/>
                <a:cs typeface="Arial"/>
              </a:rPr>
              <a:t>showing</a:t>
            </a:r>
            <a:r>
              <a:rPr sz="1539" spc="-9" dirty="0">
                <a:latin typeface="Arial"/>
                <a:cs typeface="Arial"/>
              </a:rPr>
              <a:t> </a:t>
            </a:r>
            <a:r>
              <a:rPr sz="1539" dirty="0">
                <a:latin typeface="Arial"/>
                <a:cs typeface="Arial"/>
              </a:rPr>
              <a:t>the</a:t>
            </a:r>
            <a:r>
              <a:rPr sz="1539" spc="-9" dirty="0">
                <a:latin typeface="Arial"/>
                <a:cs typeface="Arial"/>
              </a:rPr>
              <a:t> decomposition </a:t>
            </a:r>
            <a:r>
              <a:rPr sz="1539" dirty="0">
                <a:latin typeface="Arial"/>
                <a:cs typeface="Arial"/>
              </a:rPr>
              <a:t>of</a:t>
            </a:r>
            <a:r>
              <a:rPr sz="1539" spc="-34" dirty="0">
                <a:latin typeface="Arial"/>
                <a:cs typeface="Arial"/>
              </a:rPr>
              <a:t> </a:t>
            </a:r>
            <a:r>
              <a:rPr sz="1539" dirty="0">
                <a:latin typeface="Arial"/>
                <a:cs typeface="Arial"/>
              </a:rPr>
              <a:t>Process 4.0</a:t>
            </a:r>
            <a:r>
              <a:rPr sz="1539" spc="-26" dirty="0">
                <a:latin typeface="Arial"/>
                <a:cs typeface="Arial"/>
              </a:rPr>
              <a:t> </a:t>
            </a:r>
            <a:r>
              <a:rPr sz="1539" dirty="0">
                <a:latin typeface="Arial"/>
                <a:cs typeface="Arial"/>
              </a:rPr>
              <a:t>from the level-0 diagram</a:t>
            </a:r>
            <a:r>
              <a:rPr sz="1539" spc="-21" dirty="0">
                <a:latin typeface="Arial"/>
                <a:cs typeface="Arial"/>
              </a:rPr>
              <a:t> for </a:t>
            </a:r>
            <a:r>
              <a:rPr sz="1539" dirty="0">
                <a:latin typeface="Arial"/>
                <a:cs typeface="Arial"/>
              </a:rPr>
              <a:t>Hoosier</a:t>
            </a:r>
            <a:r>
              <a:rPr sz="1539" spc="-21" dirty="0">
                <a:latin typeface="Arial"/>
                <a:cs typeface="Arial"/>
              </a:rPr>
              <a:t> </a:t>
            </a:r>
            <a:r>
              <a:rPr sz="1539" dirty="0">
                <a:latin typeface="Arial"/>
                <a:cs typeface="Arial"/>
              </a:rPr>
              <a:t>Burger’s</a:t>
            </a:r>
            <a:r>
              <a:rPr sz="1539" spc="-17" dirty="0">
                <a:latin typeface="Arial"/>
                <a:cs typeface="Arial"/>
              </a:rPr>
              <a:t> </a:t>
            </a:r>
            <a:r>
              <a:rPr sz="1539" dirty="0">
                <a:latin typeface="Arial"/>
                <a:cs typeface="Arial"/>
              </a:rPr>
              <a:t>food-ordering</a:t>
            </a:r>
            <a:r>
              <a:rPr sz="1539" spc="-30" dirty="0">
                <a:latin typeface="Arial"/>
                <a:cs typeface="Arial"/>
              </a:rPr>
              <a:t> </a:t>
            </a:r>
            <a:r>
              <a:rPr sz="1539" spc="-9" dirty="0">
                <a:latin typeface="Arial"/>
                <a:cs typeface="Arial"/>
              </a:rPr>
              <a:t>system</a:t>
            </a:r>
            <a:endParaRPr sz="1539" dirty="0">
              <a:latin typeface="Arial"/>
              <a:cs typeface="Arial"/>
            </a:endParaRPr>
          </a:p>
        </p:txBody>
      </p:sp>
      <p:pic>
        <p:nvPicPr>
          <p:cNvPr id="10" name="Picture 9">
            <a:extLst>
              <a:ext uri="{FF2B5EF4-FFF2-40B4-BE49-F238E27FC236}">
                <a16:creationId xmlns:a16="http://schemas.microsoft.com/office/drawing/2014/main" id="{D404CF48-8F86-2D6A-EA2D-554D6A0E28C0}"/>
              </a:ext>
            </a:extLst>
          </p:cNvPr>
          <p:cNvPicPr>
            <a:picLocks noChangeAspect="1"/>
          </p:cNvPicPr>
          <p:nvPr/>
        </p:nvPicPr>
        <p:blipFill>
          <a:blip r:embed="rId2"/>
          <a:stretch>
            <a:fillRect/>
          </a:stretch>
        </p:blipFill>
        <p:spPr>
          <a:xfrm>
            <a:off x="381000" y="1765171"/>
            <a:ext cx="6400800" cy="3552825"/>
          </a:xfrm>
          <a:prstGeom prst="rect">
            <a:avLst/>
          </a:prstGeom>
        </p:spPr>
      </p:pic>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spc="-21" dirty="0"/>
              <a:t>Level-</a:t>
            </a:r>
            <a:r>
              <a:rPr sz="3762" i="1" dirty="0">
                <a:latin typeface="Arial"/>
                <a:cs typeface="Arial"/>
              </a:rPr>
              <a:t>n</a:t>
            </a:r>
            <a:r>
              <a:rPr sz="3762" i="1" spc="17" dirty="0">
                <a:latin typeface="Arial"/>
                <a:cs typeface="Arial"/>
              </a:rPr>
              <a:t> </a:t>
            </a:r>
            <a:r>
              <a:rPr sz="3762" spc="-21" dirty="0"/>
              <a:t>DFD</a:t>
            </a:r>
            <a:endParaRPr sz="3762">
              <a:latin typeface="Arial"/>
              <a:cs typeface="Arial"/>
            </a:endParaRPr>
          </a:p>
        </p:txBody>
      </p:sp>
      <p:sp>
        <p:nvSpPr>
          <p:cNvPr id="3" name="object 3"/>
          <p:cNvSpPr txBox="1"/>
          <p:nvPr/>
        </p:nvSpPr>
        <p:spPr>
          <a:xfrm>
            <a:off x="6629400" y="2130989"/>
            <a:ext cx="1725631" cy="1195265"/>
          </a:xfrm>
          <a:prstGeom prst="rect">
            <a:avLst/>
          </a:prstGeom>
        </p:spPr>
        <p:txBody>
          <a:bodyPr vert="horz" wrap="square" lIns="0" tIns="10860" rIns="0" bIns="0" rtlCol="0">
            <a:spAutoFit/>
          </a:bodyPr>
          <a:lstStyle/>
          <a:p>
            <a:pPr marL="10860" marR="4344">
              <a:spcBef>
                <a:spcPts val="86"/>
              </a:spcBef>
            </a:pPr>
            <a:r>
              <a:rPr sz="1539" dirty="0">
                <a:latin typeface="Arial"/>
                <a:cs typeface="Arial"/>
              </a:rPr>
              <a:t>Level-</a:t>
            </a:r>
            <a:r>
              <a:rPr sz="1539" i="1" dirty="0">
                <a:latin typeface="Arial"/>
                <a:cs typeface="Arial"/>
              </a:rPr>
              <a:t>n</a:t>
            </a:r>
            <a:r>
              <a:rPr sz="1539" i="1" spc="-47" dirty="0">
                <a:latin typeface="Arial"/>
                <a:cs typeface="Arial"/>
              </a:rPr>
              <a:t> </a:t>
            </a:r>
            <a:r>
              <a:rPr sz="1539" dirty="0">
                <a:latin typeface="Arial"/>
                <a:cs typeface="Arial"/>
              </a:rPr>
              <a:t>DFD</a:t>
            </a:r>
            <a:r>
              <a:rPr sz="1539" spc="-9" dirty="0">
                <a:latin typeface="Arial"/>
                <a:cs typeface="Arial"/>
              </a:rPr>
              <a:t> shows </a:t>
            </a:r>
            <a:r>
              <a:rPr sz="1539" dirty="0">
                <a:latin typeface="Arial"/>
                <a:cs typeface="Arial"/>
              </a:rPr>
              <a:t>the</a:t>
            </a:r>
            <a:r>
              <a:rPr sz="1539" spc="-30" dirty="0">
                <a:latin typeface="Arial"/>
                <a:cs typeface="Arial"/>
              </a:rPr>
              <a:t> </a:t>
            </a:r>
            <a:r>
              <a:rPr sz="1539" dirty="0">
                <a:latin typeface="Arial"/>
                <a:cs typeface="Arial"/>
              </a:rPr>
              <a:t>sub-</a:t>
            </a:r>
            <a:r>
              <a:rPr sz="1539" spc="-9" dirty="0">
                <a:latin typeface="Arial"/>
                <a:cs typeface="Arial"/>
              </a:rPr>
              <a:t>processes </a:t>
            </a:r>
            <a:r>
              <a:rPr sz="1539" dirty="0">
                <a:latin typeface="Arial"/>
                <a:cs typeface="Arial"/>
              </a:rPr>
              <a:t>of</a:t>
            </a:r>
            <a:r>
              <a:rPr sz="1539" spc="-38" dirty="0">
                <a:latin typeface="Arial"/>
                <a:cs typeface="Arial"/>
              </a:rPr>
              <a:t> </a:t>
            </a:r>
            <a:r>
              <a:rPr sz="1539" dirty="0">
                <a:latin typeface="Arial"/>
                <a:cs typeface="Arial"/>
              </a:rPr>
              <a:t>one</a:t>
            </a:r>
            <a:r>
              <a:rPr sz="1539" spc="-4" dirty="0">
                <a:latin typeface="Arial"/>
                <a:cs typeface="Arial"/>
              </a:rPr>
              <a:t> </a:t>
            </a:r>
            <a:r>
              <a:rPr sz="1539" dirty="0">
                <a:latin typeface="Arial"/>
                <a:cs typeface="Arial"/>
              </a:rPr>
              <a:t>of </a:t>
            </a:r>
            <a:r>
              <a:rPr sz="1539" spc="-21" dirty="0">
                <a:latin typeface="Arial"/>
                <a:cs typeface="Arial"/>
              </a:rPr>
              <a:t>the </a:t>
            </a:r>
            <a:r>
              <a:rPr sz="1539" dirty="0">
                <a:latin typeface="Arial"/>
                <a:cs typeface="Arial"/>
              </a:rPr>
              <a:t>processes</a:t>
            </a:r>
            <a:r>
              <a:rPr sz="1539" spc="-56" dirty="0">
                <a:latin typeface="Arial"/>
                <a:cs typeface="Arial"/>
              </a:rPr>
              <a:t> </a:t>
            </a:r>
            <a:r>
              <a:rPr sz="1539" dirty="0">
                <a:latin typeface="Arial"/>
                <a:cs typeface="Arial"/>
              </a:rPr>
              <a:t>in</a:t>
            </a:r>
            <a:r>
              <a:rPr sz="1539" spc="17" dirty="0">
                <a:latin typeface="Arial"/>
                <a:cs typeface="Arial"/>
              </a:rPr>
              <a:t> </a:t>
            </a:r>
            <a:r>
              <a:rPr sz="1539" spc="-21" dirty="0">
                <a:latin typeface="Arial"/>
                <a:cs typeface="Arial"/>
              </a:rPr>
              <a:t>the </a:t>
            </a:r>
            <a:r>
              <a:rPr sz="1539" dirty="0">
                <a:latin typeface="Arial"/>
                <a:cs typeface="Arial"/>
              </a:rPr>
              <a:t>Level</a:t>
            </a:r>
            <a:r>
              <a:rPr sz="1539" spc="-34" dirty="0">
                <a:latin typeface="Arial"/>
                <a:cs typeface="Arial"/>
              </a:rPr>
              <a:t> </a:t>
            </a:r>
            <a:r>
              <a:rPr sz="1539" i="1" dirty="0">
                <a:latin typeface="Arial"/>
                <a:cs typeface="Arial"/>
              </a:rPr>
              <a:t>n-1</a:t>
            </a:r>
            <a:r>
              <a:rPr sz="1539" i="1" spc="-17" dirty="0">
                <a:latin typeface="Arial"/>
                <a:cs typeface="Arial"/>
              </a:rPr>
              <a:t> </a:t>
            </a:r>
            <a:r>
              <a:rPr sz="1539" spc="-17" dirty="0">
                <a:latin typeface="Arial"/>
                <a:cs typeface="Arial"/>
              </a:rPr>
              <a:t>DFD.</a:t>
            </a:r>
            <a:endParaRPr sz="1539" dirty="0">
              <a:latin typeface="Arial"/>
              <a:cs typeface="Arial"/>
            </a:endParaRPr>
          </a:p>
        </p:txBody>
      </p:sp>
      <p:sp>
        <p:nvSpPr>
          <p:cNvPr id="4" name="object 4"/>
          <p:cNvSpPr txBox="1"/>
          <p:nvPr/>
        </p:nvSpPr>
        <p:spPr>
          <a:xfrm>
            <a:off x="1118384" y="5029200"/>
            <a:ext cx="6907231" cy="1401731"/>
          </a:xfrm>
          <a:prstGeom prst="rect">
            <a:avLst/>
          </a:prstGeom>
        </p:spPr>
        <p:txBody>
          <a:bodyPr vert="horz" wrap="square" lIns="0" tIns="10860" rIns="0" bIns="0" rtlCol="0">
            <a:spAutoFit/>
          </a:bodyPr>
          <a:lstStyle/>
          <a:p>
            <a:pPr marL="5288708" marR="4344" algn="just">
              <a:spcBef>
                <a:spcPts val="86"/>
              </a:spcBef>
            </a:pPr>
            <a:r>
              <a:rPr sz="1539" dirty="0">
                <a:latin typeface="Arial"/>
                <a:cs typeface="Arial"/>
              </a:rPr>
              <a:t>This is a Level-</a:t>
            </a:r>
            <a:r>
              <a:rPr sz="1539" spc="-43" dirty="0">
                <a:latin typeface="Arial"/>
                <a:cs typeface="Arial"/>
              </a:rPr>
              <a:t>2 </a:t>
            </a:r>
            <a:r>
              <a:rPr sz="1539" dirty="0">
                <a:latin typeface="Arial"/>
                <a:cs typeface="Arial"/>
              </a:rPr>
              <a:t>DFD</a:t>
            </a:r>
            <a:r>
              <a:rPr sz="1539" spc="-17" dirty="0">
                <a:latin typeface="Arial"/>
                <a:cs typeface="Arial"/>
              </a:rPr>
              <a:t> </a:t>
            </a:r>
            <a:r>
              <a:rPr sz="1539" dirty="0">
                <a:latin typeface="Arial"/>
                <a:cs typeface="Arial"/>
              </a:rPr>
              <a:t>for</a:t>
            </a:r>
            <a:r>
              <a:rPr sz="1539" spc="-47" dirty="0">
                <a:latin typeface="Arial"/>
                <a:cs typeface="Arial"/>
              </a:rPr>
              <a:t> </a:t>
            </a:r>
            <a:r>
              <a:rPr sz="1539" spc="-9" dirty="0">
                <a:latin typeface="Arial"/>
                <a:cs typeface="Arial"/>
              </a:rPr>
              <a:t>Process </a:t>
            </a:r>
            <a:r>
              <a:rPr sz="1539" spc="-17" dirty="0">
                <a:latin typeface="Arial"/>
                <a:cs typeface="Arial"/>
              </a:rPr>
              <a:t>4.3.</a:t>
            </a:r>
            <a:endParaRPr sz="1539" dirty="0">
              <a:latin typeface="Arial"/>
              <a:cs typeface="Arial"/>
            </a:endParaRPr>
          </a:p>
          <a:p>
            <a:pPr marL="10860" marR="1379191">
              <a:spcBef>
                <a:spcPts val="1201"/>
              </a:spcBef>
            </a:pPr>
            <a:r>
              <a:rPr sz="1710" dirty="0">
                <a:latin typeface="Arial"/>
                <a:cs typeface="Arial"/>
              </a:rPr>
              <a:t>Processes</a:t>
            </a:r>
            <a:r>
              <a:rPr sz="1710" spc="-38" dirty="0">
                <a:latin typeface="Arial"/>
                <a:cs typeface="Arial"/>
              </a:rPr>
              <a:t> </a:t>
            </a:r>
            <a:r>
              <a:rPr sz="1710" dirty="0">
                <a:latin typeface="Arial"/>
                <a:cs typeface="Arial"/>
              </a:rPr>
              <a:t>are</a:t>
            </a:r>
            <a:r>
              <a:rPr sz="1710" spc="-64" dirty="0">
                <a:latin typeface="Arial"/>
                <a:cs typeface="Arial"/>
              </a:rPr>
              <a:t> </a:t>
            </a:r>
            <a:r>
              <a:rPr sz="1710" dirty="0">
                <a:latin typeface="Arial"/>
                <a:cs typeface="Arial"/>
              </a:rPr>
              <a:t>labeled</a:t>
            </a:r>
            <a:r>
              <a:rPr sz="1710" spc="-9" dirty="0">
                <a:latin typeface="Arial"/>
                <a:cs typeface="Arial"/>
              </a:rPr>
              <a:t> </a:t>
            </a:r>
            <a:r>
              <a:rPr sz="1710" dirty="0">
                <a:latin typeface="Arial"/>
                <a:cs typeface="Arial"/>
              </a:rPr>
              <a:t>4.3.1,</a:t>
            </a:r>
            <a:r>
              <a:rPr sz="1710" spc="-38" dirty="0">
                <a:latin typeface="Arial"/>
                <a:cs typeface="Arial"/>
              </a:rPr>
              <a:t> </a:t>
            </a:r>
            <a:r>
              <a:rPr sz="1710" dirty="0">
                <a:latin typeface="Arial"/>
                <a:cs typeface="Arial"/>
              </a:rPr>
              <a:t>4.3.2,</a:t>
            </a:r>
            <a:r>
              <a:rPr sz="1710" spc="-34" dirty="0">
                <a:latin typeface="Arial"/>
                <a:cs typeface="Arial"/>
              </a:rPr>
              <a:t> </a:t>
            </a:r>
            <a:r>
              <a:rPr sz="1710" dirty="0">
                <a:latin typeface="Arial"/>
                <a:cs typeface="Arial"/>
              </a:rPr>
              <a:t>etc.</a:t>
            </a:r>
            <a:r>
              <a:rPr sz="1710" spc="-38" dirty="0">
                <a:latin typeface="Arial"/>
                <a:cs typeface="Arial"/>
              </a:rPr>
              <a:t> </a:t>
            </a:r>
            <a:r>
              <a:rPr sz="1710" dirty="0">
                <a:latin typeface="Arial"/>
                <a:cs typeface="Arial"/>
              </a:rPr>
              <a:t>If</a:t>
            </a:r>
            <a:r>
              <a:rPr sz="1710" spc="-68" dirty="0">
                <a:latin typeface="Arial"/>
                <a:cs typeface="Arial"/>
              </a:rPr>
              <a:t> </a:t>
            </a:r>
            <a:r>
              <a:rPr sz="1710" dirty="0">
                <a:latin typeface="Arial"/>
                <a:cs typeface="Arial"/>
              </a:rPr>
              <a:t>this</a:t>
            </a:r>
            <a:r>
              <a:rPr sz="1710" spc="-34" dirty="0">
                <a:latin typeface="Arial"/>
                <a:cs typeface="Arial"/>
              </a:rPr>
              <a:t> </a:t>
            </a:r>
            <a:r>
              <a:rPr sz="1710" dirty="0">
                <a:latin typeface="Arial"/>
                <a:cs typeface="Arial"/>
              </a:rPr>
              <a:t>is</a:t>
            </a:r>
            <a:r>
              <a:rPr sz="1710" spc="-13" dirty="0">
                <a:latin typeface="Arial"/>
                <a:cs typeface="Arial"/>
              </a:rPr>
              <a:t> </a:t>
            </a:r>
            <a:r>
              <a:rPr sz="1710" spc="-21" dirty="0">
                <a:latin typeface="Arial"/>
                <a:cs typeface="Arial"/>
              </a:rPr>
              <a:t>the </a:t>
            </a:r>
            <a:r>
              <a:rPr sz="1710" dirty="0">
                <a:latin typeface="Arial"/>
                <a:cs typeface="Arial"/>
              </a:rPr>
              <a:t>lowest</a:t>
            </a:r>
            <a:r>
              <a:rPr sz="1710" spc="-34" dirty="0">
                <a:latin typeface="Arial"/>
                <a:cs typeface="Arial"/>
              </a:rPr>
              <a:t> </a:t>
            </a:r>
            <a:r>
              <a:rPr sz="1710" dirty="0">
                <a:latin typeface="Arial"/>
                <a:cs typeface="Arial"/>
              </a:rPr>
              <a:t>level</a:t>
            </a:r>
            <a:r>
              <a:rPr sz="1710" spc="-9" dirty="0">
                <a:latin typeface="Arial"/>
                <a:cs typeface="Arial"/>
              </a:rPr>
              <a:t> </a:t>
            </a:r>
            <a:r>
              <a:rPr sz="1710" dirty="0">
                <a:latin typeface="Arial"/>
                <a:cs typeface="Arial"/>
              </a:rPr>
              <a:t>of</a:t>
            </a:r>
            <a:r>
              <a:rPr sz="1710" spc="-56" dirty="0">
                <a:latin typeface="Arial"/>
                <a:cs typeface="Arial"/>
              </a:rPr>
              <a:t> </a:t>
            </a:r>
            <a:r>
              <a:rPr sz="1710" dirty="0">
                <a:latin typeface="Arial"/>
                <a:cs typeface="Arial"/>
              </a:rPr>
              <a:t>the</a:t>
            </a:r>
            <a:r>
              <a:rPr sz="1710" spc="-60" dirty="0">
                <a:latin typeface="Arial"/>
                <a:cs typeface="Arial"/>
              </a:rPr>
              <a:t> </a:t>
            </a:r>
            <a:r>
              <a:rPr sz="1710" spc="-9" dirty="0">
                <a:latin typeface="Arial"/>
                <a:cs typeface="Arial"/>
              </a:rPr>
              <a:t>hierarchy, </a:t>
            </a:r>
            <a:r>
              <a:rPr sz="1710" dirty="0">
                <a:latin typeface="Arial"/>
                <a:cs typeface="Arial"/>
              </a:rPr>
              <a:t>it</a:t>
            </a:r>
            <a:r>
              <a:rPr sz="1710" spc="-60" dirty="0">
                <a:latin typeface="Arial"/>
                <a:cs typeface="Arial"/>
              </a:rPr>
              <a:t> </a:t>
            </a:r>
            <a:r>
              <a:rPr sz="1710" dirty="0">
                <a:latin typeface="Arial"/>
                <a:cs typeface="Arial"/>
              </a:rPr>
              <a:t>is</a:t>
            </a:r>
            <a:r>
              <a:rPr sz="1710" spc="-60" dirty="0">
                <a:latin typeface="Arial"/>
                <a:cs typeface="Arial"/>
              </a:rPr>
              <a:t> </a:t>
            </a:r>
            <a:r>
              <a:rPr sz="1710" dirty="0">
                <a:latin typeface="Arial"/>
                <a:cs typeface="Arial"/>
              </a:rPr>
              <a:t>called</a:t>
            </a:r>
            <a:r>
              <a:rPr sz="1710" spc="-21" dirty="0">
                <a:latin typeface="Arial"/>
                <a:cs typeface="Arial"/>
              </a:rPr>
              <a:t> </a:t>
            </a:r>
            <a:r>
              <a:rPr sz="1710" dirty="0">
                <a:latin typeface="Arial"/>
                <a:cs typeface="Arial"/>
              </a:rPr>
              <a:t>a</a:t>
            </a:r>
            <a:r>
              <a:rPr sz="1710" spc="-47" dirty="0">
                <a:latin typeface="Arial"/>
                <a:cs typeface="Arial"/>
              </a:rPr>
              <a:t> </a:t>
            </a:r>
            <a:r>
              <a:rPr sz="1710" i="1" dirty="0">
                <a:latin typeface="Arial"/>
                <a:cs typeface="Arial"/>
              </a:rPr>
              <a:t>primitive</a:t>
            </a:r>
            <a:r>
              <a:rPr sz="1710" i="1" spc="-21" dirty="0">
                <a:latin typeface="Arial"/>
                <a:cs typeface="Arial"/>
              </a:rPr>
              <a:t> </a:t>
            </a:r>
            <a:r>
              <a:rPr sz="1710" i="1" spc="-17" dirty="0">
                <a:latin typeface="Arial"/>
                <a:cs typeface="Arial"/>
              </a:rPr>
              <a:t>DFD.</a:t>
            </a:r>
            <a:endParaRPr sz="1710" dirty="0">
              <a:latin typeface="Arial"/>
              <a:cs typeface="Arial"/>
            </a:endParaRPr>
          </a:p>
        </p:txBody>
      </p:sp>
      <p:sp>
        <p:nvSpPr>
          <p:cNvPr id="6" name="object 6"/>
          <p:cNvSpPr txBox="1"/>
          <p:nvPr/>
        </p:nvSpPr>
        <p:spPr>
          <a:xfrm>
            <a:off x="1576441" y="2097681"/>
            <a:ext cx="4255435" cy="95840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sz="1539" b="1" spc="-30" dirty="0">
                <a:latin typeface="Arial"/>
                <a:cs typeface="Arial"/>
              </a:rPr>
              <a:t> </a:t>
            </a:r>
            <a:r>
              <a:rPr lang="en-MY" sz="1539" b="1" dirty="0">
                <a:latin typeface="Arial"/>
                <a:cs typeface="Arial"/>
              </a:rPr>
              <a:t>6</a:t>
            </a:r>
            <a:endParaRPr sz="1539" dirty="0">
              <a:latin typeface="Arial"/>
              <a:cs typeface="Arial"/>
            </a:endParaRPr>
          </a:p>
          <a:p>
            <a:pPr marL="10860" marR="4344"/>
            <a:r>
              <a:rPr sz="1539" dirty="0">
                <a:latin typeface="Arial"/>
                <a:cs typeface="Arial"/>
              </a:rPr>
              <a:t>Level-2</a:t>
            </a:r>
            <a:r>
              <a:rPr sz="1539" spc="-4" dirty="0">
                <a:latin typeface="Arial"/>
                <a:cs typeface="Arial"/>
              </a:rPr>
              <a:t> </a:t>
            </a:r>
            <a:r>
              <a:rPr sz="1539" dirty="0">
                <a:latin typeface="Arial"/>
                <a:cs typeface="Arial"/>
              </a:rPr>
              <a:t>diagram</a:t>
            </a:r>
            <a:r>
              <a:rPr sz="1539" spc="-34" dirty="0">
                <a:latin typeface="Arial"/>
                <a:cs typeface="Arial"/>
              </a:rPr>
              <a:t> </a:t>
            </a:r>
            <a:r>
              <a:rPr sz="1539" dirty="0">
                <a:latin typeface="Arial"/>
                <a:cs typeface="Arial"/>
              </a:rPr>
              <a:t>showing</a:t>
            </a:r>
            <a:r>
              <a:rPr sz="1539" spc="-4" dirty="0">
                <a:latin typeface="Arial"/>
                <a:cs typeface="Arial"/>
              </a:rPr>
              <a:t> </a:t>
            </a:r>
            <a:r>
              <a:rPr sz="1539" dirty="0">
                <a:latin typeface="Arial"/>
                <a:cs typeface="Arial"/>
              </a:rPr>
              <a:t>the</a:t>
            </a:r>
            <a:r>
              <a:rPr sz="1539" spc="-4" dirty="0">
                <a:latin typeface="Arial"/>
                <a:cs typeface="Arial"/>
              </a:rPr>
              <a:t> </a:t>
            </a:r>
            <a:r>
              <a:rPr sz="1539" dirty="0">
                <a:latin typeface="Arial"/>
                <a:cs typeface="Arial"/>
              </a:rPr>
              <a:t>decomposition</a:t>
            </a:r>
            <a:r>
              <a:rPr sz="1539" spc="-97" dirty="0">
                <a:latin typeface="Arial"/>
                <a:cs typeface="Arial"/>
              </a:rPr>
              <a:t> </a:t>
            </a:r>
            <a:r>
              <a:rPr sz="1539" spc="-21" dirty="0">
                <a:latin typeface="Arial"/>
                <a:cs typeface="Arial"/>
              </a:rPr>
              <a:t>of </a:t>
            </a:r>
            <a:r>
              <a:rPr sz="1539" dirty="0">
                <a:latin typeface="Arial"/>
                <a:cs typeface="Arial"/>
              </a:rPr>
              <a:t>Process</a:t>
            </a:r>
            <a:r>
              <a:rPr sz="1539" spc="-47" dirty="0">
                <a:latin typeface="Arial"/>
                <a:cs typeface="Arial"/>
              </a:rPr>
              <a:t> </a:t>
            </a:r>
            <a:r>
              <a:rPr sz="1539" dirty="0">
                <a:latin typeface="Arial"/>
                <a:cs typeface="Arial"/>
              </a:rPr>
              <a:t>4.3 from the level-1 diagram</a:t>
            </a:r>
            <a:r>
              <a:rPr sz="1539" spc="-13" dirty="0">
                <a:latin typeface="Arial"/>
                <a:cs typeface="Arial"/>
              </a:rPr>
              <a:t> </a:t>
            </a:r>
            <a:r>
              <a:rPr sz="1539" dirty="0">
                <a:latin typeface="Arial"/>
                <a:cs typeface="Arial"/>
              </a:rPr>
              <a:t>for </a:t>
            </a:r>
            <a:r>
              <a:rPr sz="1539" spc="-9" dirty="0">
                <a:latin typeface="Arial"/>
                <a:cs typeface="Arial"/>
              </a:rPr>
              <a:t>Process</a:t>
            </a:r>
            <a:endParaRPr sz="1539" dirty="0">
              <a:latin typeface="Arial"/>
              <a:cs typeface="Arial"/>
            </a:endParaRPr>
          </a:p>
          <a:p>
            <a:pPr marL="10860"/>
            <a:r>
              <a:rPr sz="1539" dirty="0">
                <a:latin typeface="Arial"/>
                <a:cs typeface="Arial"/>
              </a:rPr>
              <a:t>4.0</a:t>
            </a:r>
            <a:r>
              <a:rPr sz="1539" spc="-13" dirty="0">
                <a:latin typeface="Arial"/>
                <a:cs typeface="Arial"/>
              </a:rPr>
              <a:t> </a:t>
            </a:r>
            <a:r>
              <a:rPr sz="1539" dirty="0">
                <a:latin typeface="Arial"/>
                <a:cs typeface="Arial"/>
              </a:rPr>
              <a:t>for</a:t>
            </a:r>
            <a:r>
              <a:rPr sz="1539" spc="21" dirty="0">
                <a:latin typeface="Arial"/>
                <a:cs typeface="Arial"/>
              </a:rPr>
              <a:t> </a:t>
            </a:r>
            <a:r>
              <a:rPr sz="1539" dirty="0">
                <a:latin typeface="Arial"/>
                <a:cs typeface="Arial"/>
              </a:rPr>
              <a:t>Hoosier</a:t>
            </a:r>
            <a:r>
              <a:rPr sz="1539" spc="21" dirty="0">
                <a:latin typeface="Arial"/>
                <a:cs typeface="Arial"/>
              </a:rPr>
              <a:t> </a:t>
            </a:r>
            <a:r>
              <a:rPr sz="1539" dirty="0">
                <a:latin typeface="Arial"/>
                <a:cs typeface="Arial"/>
              </a:rPr>
              <a:t>Burger’s</a:t>
            </a:r>
            <a:r>
              <a:rPr sz="1539" spc="-47" dirty="0">
                <a:latin typeface="Arial"/>
                <a:cs typeface="Arial"/>
              </a:rPr>
              <a:t> </a:t>
            </a:r>
            <a:r>
              <a:rPr sz="1539" dirty="0">
                <a:latin typeface="Arial"/>
                <a:cs typeface="Arial"/>
              </a:rPr>
              <a:t>food-ordering</a:t>
            </a:r>
            <a:r>
              <a:rPr sz="1539" spc="-38" dirty="0">
                <a:latin typeface="Arial"/>
                <a:cs typeface="Arial"/>
              </a:rPr>
              <a:t> </a:t>
            </a:r>
            <a:r>
              <a:rPr sz="1539" spc="-9" dirty="0">
                <a:latin typeface="Arial"/>
                <a:cs typeface="Arial"/>
              </a:rPr>
              <a:t>system</a:t>
            </a:r>
            <a:endParaRPr sz="1539" dirty="0">
              <a:latin typeface="Arial"/>
              <a:cs typeface="Arial"/>
            </a:endParaRPr>
          </a:p>
        </p:txBody>
      </p:sp>
      <p:sp>
        <p:nvSpPr>
          <p:cNvPr id="7" name="object 7"/>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22</a:t>
            </a:fld>
            <a:endParaRPr spc="-21" dirty="0"/>
          </a:p>
        </p:txBody>
      </p:sp>
      <p:pic>
        <p:nvPicPr>
          <p:cNvPr id="9" name="Picture 8">
            <a:extLst>
              <a:ext uri="{FF2B5EF4-FFF2-40B4-BE49-F238E27FC236}">
                <a16:creationId xmlns:a16="http://schemas.microsoft.com/office/drawing/2014/main" id="{193FB133-1E94-B554-1850-F572DB4B845B}"/>
              </a:ext>
            </a:extLst>
          </p:cNvPr>
          <p:cNvPicPr>
            <a:picLocks noChangeAspect="1"/>
          </p:cNvPicPr>
          <p:nvPr/>
        </p:nvPicPr>
        <p:blipFill>
          <a:blip r:embed="rId2"/>
          <a:stretch>
            <a:fillRect/>
          </a:stretch>
        </p:blipFill>
        <p:spPr>
          <a:xfrm>
            <a:off x="995034" y="3409170"/>
            <a:ext cx="6286500" cy="1419225"/>
          </a:xfrm>
          <a:prstGeom prst="rect">
            <a:avLst/>
          </a:prstGeom>
        </p:spPr>
      </p:pic>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Balancing</a:t>
            </a:r>
            <a:r>
              <a:rPr sz="3762" spc="-205" dirty="0"/>
              <a:t> </a:t>
            </a:r>
            <a:r>
              <a:rPr sz="3762" spc="-17" dirty="0"/>
              <a:t>DFDs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23</a:t>
            </a:fld>
            <a:endParaRPr spc="-21" dirty="0"/>
          </a:p>
        </p:txBody>
      </p:sp>
      <p:sp>
        <p:nvSpPr>
          <p:cNvPr id="3" name="object 3"/>
          <p:cNvSpPr txBox="1"/>
          <p:nvPr/>
        </p:nvSpPr>
        <p:spPr>
          <a:xfrm>
            <a:off x="1120337" y="2160172"/>
            <a:ext cx="6829221" cy="3116268"/>
          </a:xfrm>
          <a:prstGeom prst="rect">
            <a:avLst/>
          </a:prstGeom>
        </p:spPr>
        <p:txBody>
          <a:bodyPr vert="horz" wrap="square" lIns="0" tIns="63530" rIns="0" bIns="0" rtlCol="0">
            <a:spAutoFit/>
          </a:bodyPr>
          <a:lstStyle/>
          <a:p>
            <a:pPr marL="304074" marR="4344" indent="-293757">
              <a:lnSpc>
                <a:spcPts val="3326"/>
              </a:lnSpc>
              <a:spcBef>
                <a:spcPts val="500"/>
              </a:spcBef>
              <a:buClr>
                <a:srgbClr val="3399FF"/>
              </a:buClr>
              <a:buSzPct val="75000"/>
              <a:buFont typeface="Segoe UI Symbol"/>
              <a:buChar char="■"/>
              <a:tabLst>
                <a:tab pos="305160" algn="l"/>
              </a:tabLst>
            </a:pPr>
            <a:r>
              <a:rPr sz="3078" b="1" dirty="0">
                <a:latin typeface="Arial"/>
                <a:cs typeface="Arial"/>
              </a:rPr>
              <a:t>Conservation</a:t>
            </a:r>
            <a:r>
              <a:rPr sz="3078" b="1" spc="-38" dirty="0">
                <a:latin typeface="Arial"/>
                <a:cs typeface="Arial"/>
              </a:rPr>
              <a:t> </a:t>
            </a:r>
            <a:r>
              <a:rPr sz="3078" b="1" dirty="0">
                <a:latin typeface="Arial"/>
                <a:cs typeface="Arial"/>
              </a:rPr>
              <a:t>Principle</a:t>
            </a:r>
            <a:r>
              <a:rPr sz="3078" dirty="0">
                <a:latin typeface="Arial"/>
                <a:cs typeface="Arial"/>
              </a:rPr>
              <a:t>:</a:t>
            </a:r>
            <a:r>
              <a:rPr sz="3078" spc="-97" dirty="0">
                <a:latin typeface="Arial"/>
                <a:cs typeface="Arial"/>
              </a:rPr>
              <a:t> </a:t>
            </a:r>
            <a:r>
              <a:rPr sz="3078" spc="-9" dirty="0">
                <a:latin typeface="Arial"/>
                <a:cs typeface="Arial"/>
              </a:rPr>
              <a:t>conserve 	</a:t>
            </a:r>
            <a:r>
              <a:rPr sz="3078" dirty="0">
                <a:latin typeface="Arial"/>
                <a:cs typeface="Arial"/>
              </a:rPr>
              <a:t>inputs</a:t>
            </a:r>
            <a:r>
              <a:rPr sz="3078" spc="-13" dirty="0">
                <a:latin typeface="Arial"/>
                <a:cs typeface="Arial"/>
              </a:rPr>
              <a:t> </a:t>
            </a:r>
            <a:r>
              <a:rPr sz="3078" dirty="0">
                <a:latin typeface="Arial"/>
                <a:cs typeface="Arial"/>
              </a:rPr>
              <a:t>and</a:t>
            </a:r>
            <a:r>
              <a:rPr sz="3078" spc="-9" dirty="0">
                <a:latin typeface="Arial"/>
                <a:cs typeface="Arial"/>
              </a:rPr>
              <a:t> </a:t>
            </a:r>
            <a:r>
              <a:rPr sz="3078" dirty="0">
                <a:latin typeface="Arial"/>
                <a:cs typeface="Arial"/>
              </a:rPr>
              <a:t>outputs</a:t>
            </a:r>
            <a:r>
              <a:rPr sz="3078" spc="-13" dirty="0">
                <a:latin typeface="Arial"/>
                <a:cs typeface="Arial"/>
              </a:rPr>
              <a:t> </a:t>
            </a:r>
            <a:r>
              <a:rPr sz="3078" dirty="0">
                <a:latin typeface="Arial"/>
                <a:cs typeface="Arial"/>
              </a:rPr>
              <a:t>to</a:t>
            </a:r>
            <a:r>
              <a:rPr sz="3078" spc="-9" dirty="0">
                <a:latin typeface="Arial"/>
                <a:cs typeface="Arial"/>
              </a:rPr>
              <a:t> </a:t>
            </a:r>
            <a:r>
              <a:rPr sz="3078" dirty="0">
                <a:latin typeface="Arial"/>
                <a:cs typeface="Arial"/>
              </a:rPr>
              <a:t>a</a:t>
            </a:r>
            <a:r>
              <a:rPr sz="3078" spc="-13" dirty="0">
                <a:latin typeface="Arial"/>
                <a:cs typeface="Arial"/>
              </a:rPr>
              <a:t> </a:t>
            </a:r>
            <a:r>
              <a:rPr sz="3078" dirty="0">
                <a:latin typeface="Arial"/>
                <a:cs typeface="Arial"/>
              </a:rPr>
              <a:t>process</a:t>
            </a:r>
            <a:r>
              <a:rPr sz="3078" spc="-9" dirty="0">
                <a:latin typeface="Arial"/>
                <a:cs typeface="Arial"/>
              </a:rPr>
              <a:t> </a:t>
            </a:r>
            <a:r>
              <a:rPr sz="3078" dirty="0">
                <a:latin typeface="Arial"/>
                <a:cs typeface="Arial"/>
              </a:rPr>
              <a:t>at</a:t>
            </a:r>
            <a:r>
              <a:rPr sz="3078" spc="-9" dirty="0">
                <a:latin typeface="Arial"/>
                <a:cs typeface="Arial"/>
              </a:rPr>
              <a:t> </a:t>
            </a:r>
            <a:r>
              <a:rPr sz="3078" spc="-21" dirty="0">
                <a:latin typeface="Arial"/>
                <a:cs typeface="Arial"/>
              </a:rPr>
              <a:t>the 	</a:t>
            </a:r>
            <a:r>
              <a:rPr sz="3078" dirty="0">
                <a:latin typeface="Arial"/>
                <a:cs typeface="Arial"/>
              </a:rPr>
              <a:t>next</a:t>
            </a:r>
            <a:r>
              <a:rPr sz="3078" spc="-21" dirty="0">
                <a:latin typeface="Arial"/>
                <a:cs typeface="Arial"/>
              </a:rPr>
              <a:t> </a:t>
            </a:r>
            <a:r>
              <a:rPr sz="3078" dirty="0">
                <a:latin typeface="Arial"/>
                <a:cs typeface="Arial"/>
              </a:rPr>
              <a:t>level</a:t>
            </a:r>
            <a:r>
              <a:rPr sz="3078" spc="-21" dirty="0">
                <a:latin typeface="Arial"/>
                <a:cs typeface="Arial"/>
              </a:rPr>
              <a:t> </a:t>
            </a:r>
            <a:r>
              <a:rPr sz="3078" dirty="0">
                <a:latin typeface="Arial"/>
                <a:cs typeface="Arial"/>
              </a:rPr>
              <a:t>of</a:t>
            </a:r>
            <a:r>
              <a:rPr sz="3078" spc="-21" dirty="0">
                <a:latin typeface="Arial"/>
                <a:cs typeface="Arial"/>
              </a:rPr>
              <a:t> </a:t>
            </a:r>
            <a:r>
              <a:rPr sz="3078" spc="-9" dirty="0">
                <a:latin typeface="Arial"/>
                <a:cs typeface="Arial"/>
              </a:rPr>
              <a:t>decomposition</a:t>
            </a:r>
            <a:endParaRPr sz="3078">
              <a:latin typeface="Arial"/>
              <a:cs typeface="Arial"/>
            </a:endParaRPr>
          </a:p>
          <a:p>
            <a:pPr marL="304074" marR="526699" indent="-293757">
              <a:lnSpc>
                <a:spcPts val="3326"/>
              </a:lnSpc>
              <a:spcBef>
                <a:spcPts val="735"/>
              </a:spcBef>
              <a:buClr>
                <a:srgbClr val="3399FF"/>
              </a:buClr>
              <a:buSzPct val="75000"/>
              <a:buFont typeface="Segoe UI Symbol"/>
              <a:buChar char="■"/>
              <a:tabLst>
                <a:tab pos="305160" algn="l"/>
              </a:tabLst>
            </a:pPr>
            <a:r>
              <a:rPr sz="3078" b="1" dirty="0">
                <a:latin typeface="Arial"/>
                <a:cs typeface="Arial"/>
              </a:rPr>
              <a:t>Balancing:</a:t>
            </a:r>
            <a:r>
              <a:rPr sz="3078" b="1" spc="-47" dirty="0">
                <a:latin typeface="Arial"/>
                <a:cs typeface="Arial"/>
              </a:rPr>
              <a:t> </a:t>
            </a:r>
            <a:r>
              <a:rPr sz="3078" dirty="0">
                <a:latin typeface="Arial"/>
                <a:cs typeface="Arial"/>
              </a:rPr>
              <a:t>conservation</a:t>
            </a:r>
            <a:r>
              <a:rPr sz="3078" spc="-9" dirty="0">
                <a:latin typeface="Arial"/>
                <a:cs typeface="Arial"/>
              </a:rPr>
              <a:t> </a:t>
            </a:r>
            <a:r>
              <a:rPr sz="3078" dirty="0">
                <a:latin typeface="Arial"/>
                <a:cs typeface="Arial"/>
              </a:rPr>
              <a:t>of</a:t>
            </a:r>
            <a:r>
              <a:rPr sz="3078" spc="-13" dirty="0">
                <a:latin typeface="Arial"/>
                <a:cs typeface="Arial"/>
              </a:rPr>
              <a:t> </a:t>
            </a:r>
            <a:r>
              <a:rPr sz="3078" spc="-9" dirty="0">
                <a:latin typeface="Arial"/>
                <a:cs typeface="Arial"/>
              </a:rPr>
              <a:t>inputs 	</a:t>
            </a:r>
            <a:r>
              <a:rPr sz="3078" dirty="0">
                <a:latin typeface="Arial"/>
                <a:cs typeface="Arial"/>
              </a:rPr>
              <a:t>and</a:t>
            </a:r>
            <a:r>
              <a:rPr sz="3078" spc="-21" dirty="0">
                <a:latin typeface="Arial"/>
                <a:cs typeface="Arial"/>
              </a:rPr>
              <a:t> </a:t>
            </a:r>
            <a:r>
              <a:rPr sz="3078" dirty="0">
                <a:latin typeface="Arial"/>
                <a:cs typeface="Arial"/>
              </a:rPr>
              <a:t>outputs</a:t>
            </a:r>
            <a:r>
              <a:rPr sz="3078" spc="-21" dirty="0">
                <a:latin typeface="Arial"/>
                <a:cs typeface="Arial"/>
              </a:rPr>
              <a:t> </a:t>
            </a:r>
            <a:r>
              <a:rPr sz="3078" dirty="0">
                <a:latin typeface="Arial"/>
                <a:cs typeface="Arial"/>
              </a:rPr>
              <a:t>to</a:t>
            </a:r>
            <a:r>
              <a:rPr sz="3078" spc="-17" dirty="0">
                <a:latin typeface="Arial"/>
                <a:cs typeface="Arial"/>
              </a:rPr>
              <a:t> </a:t>
            </a:r>
            <a:r>
              <a:rPr sz="3078" dirty="0">
                <a:latin typeface="Arial"/>
                <a:cs typeface="Arial"/>
              </a:rPr>
              <a:t>a</a:t>
            </a:r>
            <a:r>
              <a:rPr sz="3078" spc="-21" dirty="0">
                <a:latin typeface="Arial"/>
                <a:cs typeface="Arial"/>
              </a:rPr>
              <a:t> </a:t>
            </a:r>
            <a:r>
              <a:rPr sz="3078" dirty="0">
                <a:latin typeface="Arial"/>
                <a:cs typeface="Arial"/>
              </a:rPr>
              <a:t>data</a:t>
            </a:r>
            <a:r>
              <a:rPr sz="3078" spc="-17" dirty="0">
                <a:latin typeface="Arial"/>
                <a:cs typeface="Arial"/>
              </a:rPr>
              <a:t> </a:t>
            </a:r>
            <a:r>
              <a:rPr sz="3078" dirty="0">
                <a:latin typeface="Arial"/>
                <a:cs typeface="Arial"/>
              </a:rPr>
              <a:t>flow</a:t>
            </a:r>
            <a:r>
              <a:rPr sz="3078" spc="-26" dirty="0">
                <a:latin typeface="Arial"/>
                <a:cs typeface="Arial"/>
              </a:rPr>
              <a:t> </a:t>
            </a:r>
            <a:r>
              <a:rPr sz="3078" spc="-9" dirty="0">
                <a:latin typeface="Arial"/>
                <a:cs typeface="Arial"/>
              </a:rPr>
              <a:t>diagram 	</a:t>
            </a:r>
            <a:r>
              <a:rPr sz="3078" dirty="0">
                <a:latin typeface="Arial"/>
                <a:cs typeface="Arial"/>
              </a:rPr>
              <a:t>process</a:t>
            </a:r>
            <a:r>
              <a:rPr sz="3078" spc="-47" dirty="0">
                <a:latin typeface="Arial"/>
                <a:cs typeface="Arial"/>
              </a:rPr>
              <a:t> </a:t>
            </a:r>
            <a:r>
              <a:rPr sz="3078" dirty="0">
                <a:latin typeface="Arial"/>
                <a:cs typeface="Arial"/>
              </a:rPr>
              <a:t>when</a:t>
            </a:r>
            <a:r>
              <a:rPr sz="3078" spc="26" dirty="0">
                <a:latin typeface="Arial"/>
                <a:cs typeface="Arial"/>
              </a:rPr>
              <a:t> </a:t>
            </a:r>
            <a:r>
              <a:rPr sz="3078" dirty="0">
                <a:latin typeface="Arial"/>
                <a:cs typeface="Arial"/>
              </a:rPr>
              <a:t>that</a:t>
            </a:r>
            <a:r>
              <a:rPr sz="3078" spc="-47" dirty="0">
                <a:latin typeface="Arial"/>
                <a:cs typeface="Arial"/>
              </a:rPr>
              <a:t> </a:t>
            </a:r>
            <a:r>
              <a:rPr sz="3078" dirty="0">
                <a:latin typeface="Arial"/>
                <a:cs typeface="Arial"/>
              </a:rPr>
              <a:t>process</a:t>
            </a:r>
            <a:r>
              <a:rPr sz="3078" spc="-43" dirty="0">
                <a:latin typeface="Arial"/>
                <a:cs typeface="Arial"/>
              </a:rPr>
              <a:t> </a:t>
            </a:r>
            <a:r>
              <a:rPr sz="3078" spc="-21" dirty="0">
                <a:latin typeface="Arial"/>
                <a:cs typeface="Arial"/>
              </a:rPr>
              <a:t>is 	</a:t>
            </a:r>
            <a:r>
              <a:rPr sz="3078" dirty="0">
                <a:latin typeface="Arial"/>
                <a:cs typeface="Arial"/>
              </a:rPr>
              <a:t>decomposed</a:t>
            </a:r>
            <a:r>
              <a:rPr sz="3078" spc="-51" dirty="0">
                <a:latin typeface="Arial"/>
                <a:cs typeface="Arial"/>
              </a:rPr>
              <a:t> </a:t>
            </a:r>
            <a:r>
              <a:rPr sz="3078" dirty="0">
                <a:latin typeface="Arial"/>
                <a:cs typeface="Arial"/>
              </a:rPr>
              <a:t>to</a:t>
            </a:r>
            <a:r>
              <a:rPr sz="3078" spc="-43" dirty="0">
                <a:latin typeface="Arial"/>
                <a:cs typeface="Arial"/>
              </a:rPr>
              <a:t> </a:t>
            </a:r>
            <a:r>
              <a:rPr sz="3078" dirty="0">
                <a:latin typeface="Arial"/>
                <a:cs typeface="Arial"/>
              </a:rPr>
              <a:t>a</a:t>
            </a:r>
            <a:r>
              <a:rPr sz="3078" spc="-43" dirty="0">
                <a:latin typeface="Arial"/>
                <a:cs typeface="Arial"/>
              </a:rPr>
              <a:t> </a:t>
            </a:r>
            <a:r>
              <a:rPr sz="3078" dirty="0">
                <a:latin typeface="Arial"/>
                <a:cs typeface="Arial"/>
              </a:rPr>
              <a:t>lower</a:t>
            </a:r>
            <a:r>
              <a:rPr sz="3078" spc="56" dirty="0">
                <a:latin typeface="Arial"/>
                <a:cs typeface="Arial"/>
              </a:rPr>
              <a:t> </a:t>
            </a:r>
            <a:r>
              <a:rPr sz="3078" spc="-9" dirty="0">
                <a:latin typeface="Arial"/>
                <a:cs typeface="Arial"/>
              </a:rPr>
              <a:t>level</a:t>
            </a:r>
            <a:endParaRPr sz="3078">
              <a:latin typeface="Arial"/>
              <a:cs typeface="Arial"/>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Balancing</a:t>
            </a:r>
            <a:r>
              <a:rPr sz="3762" spc="-154" dirty="0"/>
              <a:t> </a:t>
            </a:r>
            <a:r>
              <a:rPr sz="3762" dirty="0"/>
              <a:t>DFDs</a:t>
            </a:r>
            <a:r>
              <a:rPr sz="3762" spc="-154"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24</a:t>
            </a:fld>
            <a:endParaRPr spc="-21" dirty="0"/>
          </a:p>
        </p:txBody>
      </p:sp>
      <p:sp>
        <p:nvSpPr>
          <p:cNvPr id="3" name="object 3"/>
          <p:cNvSpPr txBox="1"/>
          <p:nvPr/>
        </p:nvSpPr>
        <p:spPr>
          <a:xfrm>
            <a:off x="1120336" y="2110048"/>
            <a:ext cx="6713564" cy="3010101"/>
          </a:xfrm>
          <a:prstGeom prst="rect">
            <a:avLst/>
          </a:prstGeom>
        </p:spPr>
        <p:txBody>
          <a:bodyPr vert="horz" wrap="square" lIns="0" tIns="60815" rIns="0" bIns="0" rtlCol="0">
            <a:spAutoFit/>
          </a:bodyPr>
          <a:lstStyle/>
          <a:p>
            <a:pPr marL="304617" indent="-293757">
              <a:spcBef>
                <a:spcPts val="479"/>
              </a:spcBef>
              <a:buClr>
                <a:srgbClr val="3399FF"/>
              </a:buClr>
              <a:buSzPct val="75000"/>
              <a:buFont typeface="Segoe UI Symbol"/>
              <a:buChar char="■"/>
              <a:tabLst>
                <a:tab pos="304617" algn="l"/>
              </a:tabLst>
            </a:pPr>
            <a:r>
              <a:rPr sz="3078" dirty="0">
                <a:latin typeface="Arial"/>
                <a:cs typeface="Arial"/>
              </a:rPr>
              <a:t>Balanced</a:t>
            </a:r>
            <a:r>
              <a:rPr sz="3078" spc="-103" dirty="0">
                <a:latin typeface="Arial"/>
                <a:cs typeface="Arial"/>
              </a:rPr>
              <a:t> </a:t>
            </a:r>
            <a:r>
              <a:rPr sz="3078" spc="-9" dirty="0">
                <a:latin typeface="Arial"/>
                <a:cs typeface="Arial"/>
              </a:rPr>
              <a:t>means:</a:t>
            </a:r>
            <a:endParaRPr sz="3078">
              <a:latin typeface="Arial"/>
              <a:cs typeface="Arial"/>
            </a:endParaRPr>
          </a:p>
          <a:p>
            <a:pPr marL="646699" marR="215566" indent="-245431">
              <a:lnSpc>
                <a:spcPts val="2959"/>
              </a:lnSpc>
              <a:spcBef>
                <a:spcPts val="714"/>
              </a:spcBef>
            </a:pPr>
            <a:r>
              <a:rPr sz="2181" dirty="0">
                <a:solidFill>
                  <a:srgbClr val="CC0066"/>
                </a:solidFill>
                <a:latin typeface="Segoe UI Symbol"/>
                <a:cs typeface="Segoe UI Symbol"/>
              </a:rPr>
              <a:t>□</a:t>
            </a:r>
            <a:r>
              <a:rPr sz="2736" dirty="0">
                <a:latin typeface="Arial"/>
                <a:cs typeface="Arial"/>
              </a:rPr>
              <a:t>Number</a:t>
            </a:r>
            <a:r>
              <a:rPr sz="2736" spc="-56" dirty="0">
                <a:latin typeface="Arial"/>
                <a:cs typeface="Arial"/>
              </a:rPr>
              <a:t> </a:t>
            </a:r>
            <a:r>
              <a:rPr sz="2736" dirty="0">
                <a:latin typeface="Arial"/>
                <a:cs typeface="Arial"/>
              </a:rPr>
              <a:t>of</a:t>
            </a:r>
            <a:r>
              <a:rPr sz="2736" spc="-51" dirty="0">
                <a:latin typeface="Arial"/>
                <a:cs typeface="Arial"/>
              </a:rPr>
              <a:t> </a:t>
            </a:r>
            <a:r>
              <a:rPr sz="2736" dirty="0">
                <a:latin typeface="Arial"/>
                <a:cs typeface="Arial"/>
              </a:rPr>
              <a:t>inputs</a:t>
            </a:r>
            <a:r>
              <a:rPr sz="2736" spc="-56" dirty="0">
                <a:latin typeface="Arial"/>
                <a:cs typeface="Arial"/>
              </a:rPr>
              <a:t> </a:t>
            </a:r>
            <a:r>
              <a:rPr sz="2736" dirty="0">
                <a:latin typeface="Arial"/>
                <a:cs typeface="Arial"/>
              </a:rPr>
              <a:t>to</a:t>
            </a:r>
            <a:r>
              <a:rPr sz="2736" spc="-51" dirty="0">
                <a:latin typeface="Arial"/>
                <a:cs typeface="Arial"/>
              </a:rPr>
              <a:t> </a:t>
            </a:r>
            <a:r>
              <a:rPr sz="2736" dirty="0">
                <a:latin typeface="Arial"/>
                <a:cs typeface="Arial"/>
              </a:rPr>
              <a:t>lower</a:t>
            </a:r>
            <a:r>
              <a:rPr sz="2736" spc="-51" dirty="0">
                <a:latin typeface="Arial"/>
                <a:cs typeface="Arial"/>
              </a:rPr>
              <a:t> </a:t>
            </a:r>
            <a:r>
              <a:rPr sz="2736" dirty="0">
                <a:latin typeface="Arial"/>
                <a:cs typeface="Arial"/>
              </a:rPr>
              <a:t>level</a:t>
            </a:r>
            <a:r>
              <a:rPr sz="2736" spc="-56" dirty="0">
                <a:latin typeface="Arial"/>
                <a:cs typeface="Arial"/>
              </a:rPr>
              <a:t> </a:t>
            </a:r>
            <a:r>
              <a:rPr sz="2736" spc="-21" dirty="0">
                <a:latin typeface="Arial"/>
                <a:cs typeface="Arial"/>
              </a:rPr>
              <a:t>DFD </a:t>
            </a:r>
            <a:r>
              <a:rPr sz="2736" dirty="0">
                <a:latin typeface="Arial"/>
                <a:cs typeface="Arial"/>
              </a:rPr>
              <a:t>equals</a:t>
            </a:r>
            <a:r>
              <a:rPr sz="2736" spc="-64" dirty="0">
                <a:latin typeface="Arial"/>
                <a:cs typeface="Arial"/>
              </a:rPr>
              <a:t> </a:t>
            </a:r>
            <a:r>
              <a:rPr sz="2736" dirty="0">
                <a:latin typeface="Arial"/>
                <a:cs typeface="Arial"/>
              </a:rPr>
              <a:t>number</a:t>
            </a:r>
            <a:r>
              <a:rPr sz="2736" spc="-64" dirty="0">
                <a:latin typeface="Arial"/>
                <a:cs typeface="Arial"/>
              </a:rPr>
              <a:t> </a:t>
            </a:r>
            <a:r>
              <a:rPr sz="2736" dirty="0">
                <a:latin typeface="Arial"/>
                <a:cs typeface="Arial"/>
              </a:rPr>
              <a:t>of</a:t>
            </a:r>
            <a:r>
              <a:rPr sz="2736" spc="-64" dirty="0">
                <a:latin typeface="Arial"/>
                <a:cs typeface="Arial"/>
              </a:rPr>
              <a:t> </a:t>
            </a:r>
            <a:r>
              <a:rPr sz="2736" dirty="0">
                <a:latin typeface="Arial"/>
                <a:cs typeface="Arial"/>
              </a:rPr>
              <a:t>inputs</a:t>
            </a:r>
            <a:r>
              <a:rPr sz="2736" spc="-64" dirty="0">
                <a:latin typeface="Arial"/>
                <a:cs typeface="Arial"/>
              </a:rPr>
              <a:t> </a:t>
            </a:r>
            <a:r>
              <a:rPr sz="2736" dirty="0">
                <a:latin typeface="Arial"/>
                <a:cs typeface="Arial"/>
              </a:rPr>
              <a:t>to</a:t>
            </a:r>
            <a:r>
              <a:rPr sz="2736" spc="-64" dirty="0">
                <a:latin typeface="Arial"/>
                <a:cs typeface="Arial"/>
              </a:rPr>
              <a:t> </a:t>
            </a:r>
            <a:r>
              <a:rPr sz="2736" spc="-9" dirty="0">
                <a:latin typeface="Arial"/>
                <a:cs typeface="Arial"/>
              </a:rPr>
              <a:t>associated </a:t>
            </a:r>
            <a:r>
              <a:rPr sz="2736" dirty="0">
                <a:latin typeface="Arial"/>
                <a:cs typeface="Arial"/>
              </a:rPr>
              <a:t>process</a:t>
            </a:r>
            <a:r>
              <a:rPr sz="2736" spc="-60" dirty="0">
                <a:latin typeface="Arial"/>
                <a:cs typeface="Arial"/>
              </a:rPr>
              <a:t> </a:t>
            </a:r>
            <a:r>
              <a:rPr sz="2736" dirty="0">
                <a:latin typeface="Arial"/>
                <a:cs typeface="Arial"/>
              </a:rPr>
              <a:t>of</a:t>
            </a:r>
            <a:r>
              <a:rPr sz="2736" spc="-56" dirty="0">
                <a:latin typeface="Arial"/>
                <a:cs typeface="Arial"/>
              </a:rPr>
              <a:t> </a:t>
            </a:r>
            <a:r>
              <a:rPr sz="2736" spc="-21" dirty="0">
                <a:latin typeface="Arial"/>
                <a:cs typeface="Arial"/>
              </a:rPr>
              <a:t>higher-</a:t>
            </a:r>
            <a:r>
              <a:rPr sz="2736" dirty="0">
                <a:latin typeface="Arial"/>
                <a:cs typeface="Arial"/>
              </a:rPr>
              <a:t>level</a:t>
            </a:r>
            <a:r>
              <a:rPr sz="2736" spc="-56" dirty="0">
                <a:latin typeface="Arial"/>
                <a:cs typeface="Arial"/>
              </a:rPr>
              <a:t> </a:t>
            </a:r>
            <a:r>
              <a:rPr sz="2736" spc="-21" dirty="0">
                <a:latin typeface="Arial"/>
                <a:cs typeface="Arial"/>
              </a:rPr>
              <a:t>DFD</a:t>
            </a:r>
            <a:endParaRPr sz="2736">
              <a:latin typeface="Arial"/>
              <a:cs typeface="Arial"/>
            </a:endParaRPr>
          </a:p>
          <a:p>
            <a:pPr marL="646699" marR="4344" indent="-245431">
              <a:lnSpc>
                <a:spcPts val="2959"/>
              </a:lnSpc>
              <a:spcBef>
                <a:spcPts val="646"/>
              </a:spcBef>
            </a:pPr>
            <a:r>
              <a:rPr sz="2181" dirty="0">
                <a:solidFill>
                  <a:srgbClr val="CC0066"/>
                </a:solidFill>
                <a:latin typeface="Segoe UI Symbol"/>
                <a:cs typeface="Segoe UI Symbol"/>
              </a:rPr>
              <a:t>□</a:t>
            </a:r>
            <a:r>
              <a:rPr sz="2736" dirty="0">
                <a:latin typeface="Arial"/>
                <a:cs typeface="Arial"/>
              </a:rPr>
              <a:t>Number</a:t>
            </a:r>
            <a:r>
              <a:rPr sz="2736" spc="-60" dirty="0">
                <a:latin typeface="Arial"/>
                <a:cs typeface="Arial"/>
              </a:rPr>
              <a:t> </a:t>
            </a:r>
            <a:r>
              <a:rPr sz="2736" dirty="0">
                <a:latin typeface="Arial"/>
                <a:cs typeface="Arial"/>
              </a:rPr>
              <a:t>of</a:t>
            </a:r>
            <a:r>
              <a:rPr sz="2736" spc="-56" dirty="0">
                <a:latin typeface="Arial"/>
                <a:cs typeface="Arial"/>
              </a:rPr>
              <a:t> </a:t>
            </a:r>
            <a:r>
              <a:rPr sz="2736" dirty="0">
                <a:latin typeface="Arial"/>
                <a:cs typeface="Arial"/>
              </a:rPr>
              <a:t>outputs</a:t>
            </a:r>
            <a:r>
              <a:rPr sz="2736" spc="-56" dirty="0">
                <a:latin typeface="Arial"/>
                <a:cs typeface="Arial"/>
              </a:rPr>
              <a:t> </a:t>
            </a:r>
            <a:r>
              <a:rPr sz="2736" dirty="0">
                <a:latin typeface="Arial"/>
                <a:cs typeface="Arial"/>
              </a:rPr>
              <a:t>to</a:t>
            </a:r>
            <a:r>
              <a:rPr sz="2736" spc="-56" dirty="0">
                <a:latin typeface="Arial"/>
                <a:cs typeface="Arial"/>
              </a:rPr>
              <a:t> </a:t>
            </a:r>
            <a:r>
              <a:rPr sz="2736" dirty="0">
                <a:latin typeface="Arial"/>
                <a:cs typeface="Arial"/>
              </a:rPr>
              <a:t>lower</a:t>
            </a:r>
            <a:r>
              <a:rPr sz="2736" spc="-56" dirty="0">
                <a:latin typeface="Arial"/>
                <a:cs typeface="Arial"/>
              </a:rPr>
              <a:t> </a:t>
            </a:r>
            <a:r>
              <a:rPr sz="2736" dirty="0">
                <a:latin typeface="Arial"/>
                <a:cs typeface="Arial"/>
              </a:rPr>
              <a:t>level</a:t>
            </a:r>
            <a:r>
              <a:rPr sz="2736" spc="-56" dirty="0">
                <a:latin typeface="Arial"/>
                <a:cs typeface="Arial"/>
              </a:rPr>
              <a:t> </a:t>
            </a:r>
            <a:r>
              <a:rPr sz="2736" spc="-21" dirty="0">
                <a:latin typeface="Arial"/>
                <a:cs typeface="Arial"/>
              </a:rPr>
              <a:t>DFD </a:t>
            </a:r>
            <a:r>
              <a:rPr sz="2736" dirty="0">
                <a:latin typeface="Arial"/>
                <a:cs typeface="Arial"/>
              </a:rPr>
              <a:t>equals</a:t>
            </a:r>
            <a:r>
              <a:rPr sz="2736" spc="-68" dirty="0">
                <a:latin typeface="Arial"/>
                <a:cs typeface="Arial"/>
              </a:rPr>
              <a:t> </a:t>
            </a:r>
            <a:r>
              <a:rPr sz="2736" dirty="0">
                <a:latin typeface="Arial"/>
                <a:cs typeface="Arial"/>
              </a:rPr>
              <a:t>number</a:t>
            </a:r>
            <a:r>
              <a:rPr sz="2736" spc="-68" dirty="0">
                <a:latin typeface="Arial"/>
                <a:cs typeface="Arial"/>
              </a:rPr>
              <a:t> </a:t>
            </a:r>
            <a:r>
              <a:rPr sz="2736" dirty="0">
                <a:latin typeface="Arial"/>
                <a:cs typeface="Arial"/>
              </a:rPr>
              <a:t>of</a:t>
            </a:r>
            <a:r>
              <a:rPr sz="2736" spc="-64" dirty="0">
                <a:latin typeface="Arial"/>
                <a:cs typeface="Arial"/>
              </a:rPr>
              <a:t> </a:t>
            </a:r>
            <a:r>
              <a:rPr sz="2736" dirty="0">
                <a:latin typeface="Arial"/>
                <a:cs typeface="Arial"/>
              </a:rPr>
              <a:t>outputs</a:t>
            </a:r>
            <a:r>
              <a:rPr sz="2736" spc="-68" dirty="0">
                <a:latin typeface="Arial"/>
                <a:cs typeface="Arial"/>
              </a:rPr>
              <a:t> </a:t>
            </a:r>
            <a:r>
              <a:rPr sz="2736" dirty="0">
                <a:latin typeface="Arial"/>
                <a:cs typeface="Arial"/>
              </a:rPr>
              <a:t>to</a:t>
            </a:r>
            <a:r>
              <a:rPr sz="2736" spc="-68" dirty="0">
                <a:latin typeface="Arial"/>
                <a:cs typeface="Arial"/>
              </a:rPr>
              <a:t> </a:t>
            </a:r>
            <a:r>
              <a:rPr sz="2736" spc="-9" dirty="0">
                <a:latin typeface="Arial"/>
                <a:cs typeface="Arial"/>
              </a:rPr>
              <a:t>associated </a:t>
            </a:r>
            <a:r>
              <a:rPr sz="2736" dirty="0">
                <a:latin typeface="Arial"/>
                <a:cs typeface="Arial"/>
              </a:rPr>
              <a:t>process</a:t>
            </a:r>
            <a:r>
              <a:rPr sz="2736" spc="-60" dirty="0">
                <a:latin typeface="Arial"/>
                <a:cs typeface="Arial"/>
              </a:rPr>
              <a:t> </a:t>
            </a:r>
            <a:r>
              <a:rPr sz="2736" dirty="0">
                <a:latin typeface="Arial"/>
                <a:cs typeface="Arial"/>
              </a:rPr>
              <a:t>of</a:t>
            </a:r>
            <a:r>
              <a:rPr sz="2736" spc="-56" dirty="0">
                <a:latin typeface="Arial"/>
                <a:cs typeface="Arial"/>
              </a:rPr>
              <a:t> </a:t>
            </a:r>
            <a:r>
              <a:rPr sz="2736" spc="-21" dirty="0">
                <a:latin typeface="Arial"/>
                <a:cs typeface="Arial"/>
              </a:rPr>
              <a:t>higher-</a:t>
            </a:r>
            <a:r>
              <a:rPr sz="2736" dirty="0">
                <a:latin typeface="Arial"/>
                <a:cs typeface="Arial"/>
              </a:rPr>
              <a:t>level</a:t>
            </a:r>
            <a:r>
              <a:rPr sz="2736" spc="-56" dirty="0">
                <a:latin typeface="Arial"/>
                <a:cs typeface="Arial"/>
              </a:rPr>
              <a:t> </a:t>
            </a:r>
            <a:r>
              <a:rPr sz="2736" spc="-21" dirty="0">
                <a:latin typeface="Arial"/>
                <a:cs typeface="Arial"/>
              </a:rPr>
              <a:t>DFD</a:t>
            </a:r>
            <a:endParaRPr sz="2736">
              <a:latin typeface="Arial"/>
              <a:cs typeface="Arial"/>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468180"/>
            <a:ext cx="5065038" cy="588810"/>
          </a:xfrm>
          <a:prstGeom prst="rect">
            <a:avLst/>
          </a:prstGeom>
        </p:spPr>
        <p:txBody>
          <a:bodyPr vert="horz" wrap="square" lIns="0" tIns="9774" rIns="0" bIns="0" rtlCol="0" anchor="ctr">
            <a:spAutoFit/>
          </a:bodyPr>
          <a:lstStyle/>
          <a:p>
            <a:pPr marL="10860">
              <a:lnSpc>
                <a:spcPct val="100000"/>
              </a:lnSpc>
              <a:spcBef>
                <a:spcPts val="77"/>
              </a:spcBef>
            </a:pPr>
            <a:r>
              <a:rPr sz="3762" dirty="0"/>
              <a:t>Balancing</a:t>
            </a:r>
            <a:r>
              <a:rPr sz="3762" spc="-154" dirty="0"/>
              <a:t> </a:t>
            </a:r>
            <a:r>
              <a:rPr sz="3762" dirty="0"/>
              <a:t>DFDs</a:t>
            </a:r>
            <a:r>
              <a:rPr sz="3762" spc="-154" dirty="0"/>
              <a:t> </a:t>
            </a:r>
            <a:r>
              <a:rPr sz="3762" spc="-9" dirty="0"/>
              <a:t>(Cont.)</a:t>
            </a:r>
            <a:endParaRPr sz="3762"/>
          </a:p>
        </p:txBody>
      </p:sp>
      <p:sp>
        <p:nvSpPr>
          <p:cNvPr id="9" name="object 9"/>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25</a:t>
            </a:fld>
            <a:endParaRPr spc="-21" dirty="0"/>
          </a:p>
        </p:txBody>
      </p:sp>
      <p:sp>
        <p:nvSpPr>
          <p:cNvPr id="4" name="object 4"/>
          <p:cNvSpPr txBox="1"/>
          <p:nvPr/>
        </p:nvSpPr>
        <p:spPr>
          <a:xfrm>
            <a:off x="7233340" y="2464594"/>
            <a:ext cx="1423727" cy="2142703"/>
          </a:xfrm>
          <a:prstGeom prst="rect">
            <a:avLst/>
          </a:prstGeom>
        </p:spPr>
        <p:txBody>
          <a:bodyPr vert="horz" wrap="square" lIns="0" tIns="10860" rIns="0" bIns="0" rtlCol="0">
            <a:spAutoFit/>
          </a:bodyPr>
          <a:lstStyle/>
          <a:p>
            <a:pPr marL="10860" marR="4344">
              <a:spcBef>
                <a:spcPts val="86"/>
              </a:spcBef>
            </a:pPr>
            <a:r>
              <a:rPr sz="1539" dirty="0">
                <a:latin typeface="Arial"/>
                <a:cs typeface="Arial"/>
              </a:rPr>
              <a:t>This </a:t>
            </a:r>
            <a:r>
              <a:rPr sz="1539" spc="-21" dirty="0">
                <a:latin typeface="Arial"/>
                <a:cs typeface="Arial"/>
              </a:rPr>
              <a:t>is </a:t>
            </a:r>
            <a:r>
              <a:rPr sz="1539" spc="-9" dirty="0">
                <a:latin typeface="Arial"/>
                <a:cs typeface="Arial"/>
              </a:rPr>
              <a:t>unbalanced </a:t>
            </a:r>
            <a:r>
              <a:rPr sz="1539" dirty="0">
                <a:latin typeface="Arial"/>
                <a:cs typeface="Arial"/>
              </a:rPr>
              <a:t>because</a:t>
            </a:r>
            <a:r>
              <a:rPr sz="1539" spc="-47" dirty="0">
                <a:latin typeface="Arial"/>
                <a:cs typeface="Arial"/>
              </a:rPr>
              <a:t> </a:t>
            </a:r>
            <a:r>
              <a:rPr sz="1539" spc="-21" dirty="0">
                <a:latin typeface="Arial"/>
                <a:cs typeface="Arial"/>
              </a:rPr>
              <a:t>the </a:t>
            </a:r>
            <a:r>
              <a:rPr sz="1539" dirty="0">
                <a:latin typeface="Arial"/>
                <a:cs typeface="Arial"/>
              </a:rPr>
              <a:t>process</a:t>
            </a:r>
            <a:r>
              <a:rPr sz="1539" spc="-56" dirty="0">
                <a:latin typeface="Arial"/>
                <a:cs typeface="Arial"/>
              </a:rPr>
              <a:t> </a:t>
            </a:r>
            <a:r>
              <a:rPr sz="1539" dirty="0">
                <a:latin typeface="Arial"/>
                <a:cs typeface="Arial"/>
              </a:rPr>
              <a:t>of</a:t>
            </a:r>
            <a:r>
              <a:rPr sz="1539" spc="13" dirty="0">
                <a:latin typeface="Arial"/>
                <a:cs typeface="Arial"/>
              </a:rPr>
              <a:t> </a:t>
            </a:r>
            <a:r>
              <a:rPr sz="1539" spc="-21" dirty="0">
                <a:latin typeface="Arial"/>
                <a:cs typeface="Arial"/>
              </a:rPr>
              <a:t>the </a:t>
            </a:r>
            <a:r>
              <a:rPr sz="1539" dirty="0">
                <a:latin typeface="Arial"/>
                <a:cs typeface="Arial"/>
              </a:rPr>
              <a:t>context</a:t>
            </a:r>
            <a:r>
              <a:rPr sz="1539" spc="-34" dirty="0">
                <a:latin typeface="Arial"/>
                <a:cs typeface="Arial"/>
              </a:rPr>
              <a:t> </a:t>
            </a:r>
            <a:r>
              <a:rPr sz="1539" spc="-9" dirty="0">
                <a:latin typeface="Arial"/>
                <a:cs typeface="Arial"/>
              </a:rPr>
              <a:t>diagram </a:t>
            </a:r>
            <a:r>
              <a:rPr sz="1539" dirty="0">
                <a:latin typeface="Arial"/>
                <a:cs typeface="Arial"/>
              </a:rPr>
              <a:t>has</a:t>
            </a:r>
            <a:r>
              <a:rPr sz="1539" spc="-13" dirty="0">
                <a:latin typeface="Arial"/>
                <a:cs typeface="Arial"/>
              </a:rPr>
              <a:t> </a:t>
            </a:r>
            <a:r>
              <a:rPr sz="1539" dirty="0">
                <a:latin typeface="Arial"/>
                <a:cs typeface="Arial"/>
              </a:rPr>
              <a:t>only</a:t>
            </a:r>
            <a:r>
              <a:rPr sz="1539" spc="-21" dirty="0">
                <a:latin typeface="Arial"/>
                <a:cs typeface="Arial"/>
              </a:rPr>
              <a:t> one </a:t>
            </a:r>
            <a:r>
              <a:rPr sz="1539" dirty="0">
                <a:latin typeface="Arial"/>
                <a:cs typeface="Arial"/>
              </a:rPr>
              <a:t>input</a:t>
            </a:r>
            <a:r>
              <a:rPr sz="1539" spc="-47" dirty="0">
                <a:latin typeface="Arial"/>
                <a:cs typeface="Arial"/>
              </a:rPr>
              <a:t> </a:t>
            </a:r>
            <a:r>
              <a:rPr sz="1539" dirty="0">
                <a:latin typeface="Arial"/>
                <a:cs typeface="Arial"/>
              </a:rPr>
              <a:t>but</a:t>
            </a:r>
            <a:r>
              <a:rPr sz="1539" spc="9" dirty="0">
                <a:latin typeface="Arial"/>
                <a:cs typeface="Arial"/>
              </a:rPr>
              <a:t> </a:t>
            </a:r>
            <a:r>
              <a:rPr sz="1539" spc="-21" dirty="0">
                <a:latin typeface="Arial"/>
                <a:cs typeface="Arial"/>
              </a:rPr>
              <a:t>the </a:t>
            </a:r>
            <a:r>
              <a:rPr sz="1539" dirty="0">
                <a:latin typeface="Arial"/>
                <a:cs typeface="Arial"/>
              </a:rPr>
              <a:t>Level-0 </a:t>
            </a:r>
            <a:r>
              <a:rPr sz="1539" spc="-9" dirty="0">
                <a:latin typeface="Arial"/>
                <a:cs typeface="Arial"/>
              </a:rPr>
              <a:t>diagram </a:t>
            </a:r>
            <a:r>
              <a:rPr sz="1539" dirty="0">
                <a:latin typeface="Arial"/>
                <a:cs typeface="Arial"/>
              </a:rPr>
              <a:t>has</a:t>
            </a:r>
            <a:r>
              <a:rPr sz="1539" spc="-21" dirty="0">
                <a:latin typeface="Arial"/>
                <a:cs typeface="Arial"/>
              </a:rPr>
              <a:t> </a:t>
            </a:r>
            <a:r>
              <a:rPr sz="1539" dirty="0">
                <a:latin typeface="Arial"/>
                <a:cs typeface="Arial"/>
              </a:rPr>
              <a:t>two</a:t>
            </a:r>
            <a:r>
              <a:rPr sz="1539" spc="-4" dirty="0">
                <a:latin typeface="Arial"/>
                <a:cs typeface="Arial"/>
              </a:rPr>
              <a:t> </a:t>
            </a:r>
            <a:r>
              <a:rPr sz="1539" spc="-9" dirty="0">
                <a:latin typeface="Arial"/>
                <a:cs typeface="Arial"/>
              </a:rPr>
              <a:t>inputs.</a:t>
            </a:r>
            <a:endParaRPr sz="1539" dirty="0">
              <a:latin typeface="Arial"/>
              <a:cs typeface="Arial"/>
            </a:endParaRPr>
          </a:p>
        </p:txBody>
      </p:sp>
      <p:sp>
        <p:nvSpPr>
          <p:cNvPr id="5" name="object 5"/>
          <p:cNvSpPr txBox="1"/>
          <p:nvPr/>
        </p:nvSpPr>
        <p:spPr>
          <a:xfrm>
            <a:off x="1023526" y="2144866"/>
            <a:ext cx="728696" cy="583135"/>
          </a:xfrm>
          <a:prstGeom prst="rect">
            <a:avLst/>
          </a:prstGeom>
        </p:spPr>
        <p:txBody>
          <a:bodyPr vert="horz" wrap="square" lIns="0" tIns="57557" rIns="0" bIns="0" rtlCol="0">
            <a:spAutoFit/>
          </a:bodyPr>
          <a:lstStyle/>
          <a:p>
            <a:pPr marL="10860">
              <a:spcBef>
                <a:spcPts val="453"/>
              </a:spcBef>
            </a:pPr>
            <a:r>
              <a:rPr sz="1539" dirty="0">
                <a:latin typeface="Arial"/>
                <a:cs typeface="Arial"/>
              </a:rPr>
              <a:t>1 </a:t>
            </a:r>
            <a:r>
              <a:rPr sz="1539" spc="-9" dirty="0">
                <a:latin typeface="Arial"/>
                <a:cs typeface="Arial"/>
              </a:rPr>
              <a:t>input</a:t>
            </a:r>
            <a:endParaRPr sz="1539" dirty="0">
              <a:latin typeface="Arial"/>
              <a:cs typeface="Arial"/>
            </a:endParaRPr>
          </a:p>
          <a:p>
            <a:pPr marL="10860">
              <a:spcBef>
                <a:spcPts val="368"/>
              </a:spcBef>
            </a:pPr>
            <a:r>
              <a:rPr sz="1539" dirty="0">
                <a:latin typeface="Arial"/>
                <a:cs typeface="Arial"/>
              </a:rPr>
              <a:t>1 </a:t>
            </a:r>
            <a:r>
              <a:rPr sz="1539" spc="-9" dirty="0">
                <a:latin typeface="Arial"/>
                <a:cs typeface="Arial"/>
              </a:rPr>
              <a:t>output</a:t>
            </a:r>
            <a:endParaRPr sz="1539" dirty="0">
              <a:latin typeface="Arial"/>
              <a:cs typeface="Arial"/>
            </a:endParaRPr>
          </a:p>
        </p:txBody>
      </p:sp>
      <p:sp>
        <p:nvSpPr>
          <p:cNvPr id="6" name="object 6"/>
          <p:cNvSpPr txBox="1"/>
          <p:nvPr/>
        </p:nvSpPr>
        <p:spPr>
          <a:xfrm>
            <a:off x="1023526" y="4191000"/>
            <a:ext cx="728696" cy="583135"/>
          </a:xfrm>
          <a:prstGeom prst="rect">
            <a:avLst/>
          </a:prstGeom>
        </p:spPr>
        <p:txBody>
          <a:bodyPr vert="horz" wrap="square" lIns="0" tIns="57557" rIns="0" bIns="0" rtlCol="0">
            <a:spAutoFit/>
          </a:bodyPr>
          <a:lstStyle/>
          <a:p>
            <a:pPr marL="10860">
              <a:spcBef>
                <a:spcPts val="453"/>
              </a:spcBef>
            </a:pPr>
            <a:r>
              <a:rPr sz="1539" dirty="0">
                <a:latin typeface="Arial"/>
                <a:cs typeface="Arial"/>
              </a:rPr>
              <a:t>2 </a:t>
            </a:r>
            <a:r>
              <a:rPr sz="1539" spc="-9" dirty="0">
                <a:latin typeface="Arial"/>
                <a:cs typeface="Arial"/>
              </a:rPr>
              <a:t>inputs</a:t>
            </a:r>
            <a:endParaRPr sz="1539" dirty="0">
              <a:latin typeface="Arial"/>
              <a:cs typeface="Arial"/>
            </a:endParaRPr>
          </a:p>
          <a:p>
            <a:pPr marL="10860">
              <a:spcBef>
                <a:spcPts val="371"/>
              </a:spcBef>
            </a:pPr>
            <a:r>
              <a:rPr sz="1539" dirty="0">
                <a:latin typeface="Arial"/>
                <a:cs typeface="Arial"/>
              </a:rPr>
              <a:t>1 </a:t>
            </a:r>
            <a:r>
              <a:rPr sz="1539" spc="-9" dirty="0">
                <a:latin typeface="Arial"/>
                <a:cs typeface="Arial"/>
              </a:rPr>
              <a:t>output</a:t>
            </a:r>
            <a:endParaRPr sz="1539" dirty="0">
              <a:latin typeface="Arial"/>
              <a:cs typeface="Arial"/>
            </a:endParaRPr>
          </a:p>
        </p:txBody>
      </p:sp>
      <p:sp>
        <p:nvSpPr>
          <p:cNvPr id="7" name="object 7"/>
          <p:cNvSpPr txBox="1"/>
          <p:nvPr/>
        </p:nvSpPr>
        <p:spPr>
          <a:xfrm>
            <a:off x="902906" y="1071572"/>
            <a:ext cx="4846754" cy="625045"/>
          </a:xfrm>
          <a:prstGeom prst="rect">
            <a:avLst/>
          </a:prstGeom>
        </p:spPr>
        <p:txBody>
          <a:bodyPr vert="horz" wrap="square" lIns="0" tIns="10860" rIns="0" bIns="0" rtlCol="0">
            <a:spAutoFit/>
          </a:bodyPr>
          <a:lstStyle/>
          <a:p>
            <a:pPr marL="10860">
              <a:spcBef>
                <a:spcPts val="86"/>
              </a:spcBef>
              <a:tabLst>
                <a:tab pos="1300457" algn="l"/>
              </a:tabLst>
            </a:pPr>
            <a:r>
              <a:rPr sz="1539" b="1" dirty="0">
                <a:latin typeface="Arial"/>
                <a:cs typeface="Arial"/>
              </a:rPr>
              <a:t>FIGURE</a:t>
            </a:r>
            <a:r>
              <a:rPr sz="1539" b="1" spc="-30" dirty="0">
                <a:latin typeface="Arial"/>
                <a:cs typeface="Arial"/>
              </a:rPr>
              <a:t> </a:t>
            </a:r>
            <a:r>
              <a:rPr sz="1539" b="1" dirty="0">
                <a:latin typeface="Arial"/>
                <a:cs typeface="Arial"/>
              </a:rPr>
              <a:t>7	</a:t>
            </a:r>
            <a:r>
              <a:rPr sz="1539" dirty="0">
                <a:latin typeface="Arial"/>
                <a:cs typeface="Arial"/>
              </a:rPr>
              <a:t>An</a:t>
            </a:r>
            <a:r>
              <a:rPr sz="1539" spc="-4" dirty="0">
                <a:latin typeface="Arial"/>
                <a:cs typeface="Arial"/>
              </a:rPr>
              <a:t> </a:t>
            </a:r>
            <a:r>
              <a:rPr sz="1539" dirty="0">
                <a:latin typeface="Arial"/>
                <a:cs typeface="Arial"/>
              </a:rPr>
              <a:t>unbalanced</a:t>
            </a:r>
            <a:r>
              <a:rPr sz="1539" spc="-56" dirty="0">
                <a:latin typeface="Arial"/>
                <a:cs typeface="Arial"/>
              </a:rPr>
              <a:t> </a:t>
            </a:r>
            <a:r>
              <a:rPr sz="1539" dirty="0">
                <a:latin typeface="Arial"/>
                <a:cs typeface="Arial"/>
              </a:rPr>
              <a:t>set of</a:t>
            </a:r>
            <a:r>
              <a:rPr sz="1539" spc="-4" dirty="0">
                <a:latin typeface="Arial"/>
                <a:cs typeface="Arial"/>
              </a:rPr>
              <a:t> </a:t>
            </a:r>
            <a:r>
              <a:rPr sz="1539" dirty="0">
                <a:latin typeface="Arial"/>
                <a:cs typeface="Arial"/>
              </a:rPr>
              <a:t>data flow </a:t>
            </a:r>
            <a:r>
              <a:rPr sz="1539" spc="-9" dirty="0">
                <a:latin typeface="Arial"/>
                <a:cs typeface="Arial"/>
              </a:rPr>
              <a:t>diagrams</a:t>
            </a:r>
            <a:endParaRPr sz="1539" dirty="0">
              <a:latin typeface="Arial"/>
              <a:cs typeface="Arial"/>
            </a:endParaRPr>
          </a:p>
          <a:p>
            <a:pPr marL="519097">
              <a:spcBef>
                <a:spcPts val="1321"/>
              </a:spcBef>
            </a:pPr>
            <a:r>
              <a:rPr sz="1368" i="1" dirty="0">
                <a:latin typeface="Arial"/>
                <a:cs typeface="Arial"/>
              </a:rPr>
              <a:t>(a)</a:t>
            </a:r>
            <a:r>
              <a:rPr sz="1368" i="1" spc="-21" dirty="0">
                <a:latin typeface="Arial"/>
                <a:cs typeface="Arial"/>
              </a:rPr>
              <a:t> </a:t>
            </a:r>
            <a:r>
              <a:rPr sz="1368" i="1" dirty="0">
                <a:latin typeface="Arial"/>
                <a:cs typeface="Arial"/>
              </a:rPr>
              <a:t>Context</a:t>
            </a:r>
            <a:r>
              <a:rPr sz="1368" i="1" spc="-34" dirty="0">
                <a:latin typeface="Arial"/>
                <a:cs typeface="Arial"/>
              </a:rPr>
              <a:t> </a:t>
            </a:r>
            <a:r>
              <a:rPr sz="1368" i="1" spc="-9" dirty="0">
                <a:latin typeface="Arial"/>
                <a:cs typeface="Arial"/>
              </a:rPr>
              <a:t>diagram</a:t>
            </a:r>
            <a:endParaRPr sz="1368" dirty="0">
              <a:latin typeface="Arial"/>
              <a:cs typeface="Arial"/>
            </a:endParaRPr>
          </a:p>
        </p:txBody>
      </p:sp>
      <p:sp>
        <p:nvSpPr>
          <p:cNvPr id="8" name="object 8"/>
          <p:cNvSpPr txBox="1"/>
          <p:nvPr/>
        </p:nvSpPr>
        <p:spPr>
          <a:xfrm>
            <a:off x="2358360" y="3450429"/>
            <a:ext cx="1530154" cy="222021"/>
          </a:xfrm>
          <a:prstGeom prst="rect">
            <a:avLst/>
          </a:prstGeom>
        </p:spPr>
        <p:txBody>
          <a:bodyPr vert="horz" wrap="square" lIns="0" tIns="11403" rIns="0" bIns="0" rtlCol="0">
            <a:spAutoFit/>
          </a:bodyPr>
          <a:lstStyle/>
          <a:p>
            <a:pPr marL="10860">
              <a:spcBef>
                <a:spcPts val="90"/>
              </a:spcBef>
            </a:pPr>
            <a:r>
              <a:rPr sz="1368" i="1" dirty="0">
                <a:latin typeface="Arial"/>
                <a:cs typeface="Arial"/>
              </a:rPr>
              <a:t>(b)</a:t>
            </a:r>
            <a:r>
              <a:rPr sz="1368" i="1" spc="13" dirty="0">
                <a:latin typeface="Arial"/>
                <a:cs typeface="Arial"/>
              </a:rPr>
              <a:t> </a:t>
            </a:r>
            <a:r>
              <a:rPr sz="1368" i="1" spc="-9" dirty="0">
                <a:latin typeface="Arial"/>
                <a:cs typeface="Arial"/>
              </a:rPr>
              <a:t>Level-</a:t>
            </a:r>
            <a:r>
              <a:rPr sz="1368" i="1" dirty="0">
                <a:latin typeface="Arial"/>
                <a:cs typeface="Arial"/>
              </a:rPr>
              <a:t>0</a:t>
            </a:r>
            <a:r>
              <a:rPr sz="1368" i="1" spc="13" dirty="0">
                <a:latin typeface="Arial"/>
                <a:cs typeface="Arial"/>
              </a:rPr>
              <a:t> </a:t>
            </a:r>
            <a:r>
              <a:rPr sz="1368" i="1" spc="-9" dirty="0">
                <a:latin typeface="Arial"/>
                <a:cs typeface="Arial"/>
              </a:rPr>
              <a:t>diagram</a:t>
            </a:r>
            <a:endParaRPr sz="1368">
              <a:latin typeface="Arial"/>
              <a:cs typeface="Arial"/>
            </a:endParaRPr>
          </a:p>
        </p:txBody>
      </p:sp>
      <p:pic>
        <p:nvPicPr>
          <p:cNvPr id="11" name="Picture 10">
            <a:extLst>
              <a:ext uri="{FF2B5EF4-FFF2-40B4-BE49-F238E27FC236}">
                <a16:creationId xmlns:a16="http://schemas.microsoft.com/office/drawing/2014/main" id="{7FE5C3C3-F4C7-55E5-F6C0-413D0B3EC67D}"/>
              </a:ext>
            </a:extLst>
          </p:cNvPr>
          <p:cNvPicPr>
            <a:picLocks noChangeAspect="1"/>
          </p:cNvPicPr>
          <p:nvPr/>
        </p:nvPicPr>
        <p:blipFill>
          <a:blip r:embed="rId2"/>
          <a:stretch>
            <a:fillRect/>
          </a:stretch>
        </p:blipFill>
        <p:spPr>
          <a:xfrm>
            <a:off x="2076450" y="1711199"/>
            <a:ext cx="4991100" cy="4248150"/>
          </a:xfrm>
          <a:prstGeom prst="rect">
            <a:avLst/>
          </a:prstGeom>
        </p:spPr>
      </p:pic>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Balancing</a:t>
            </a:r>
            <a:r>
              <a:rPr sz="3762" spc="-154" dirty="0"/>
              <a:t> </a:t>
            </a:r>
            <a:r>
              <a:rPr sz="3762" dirty="0"/>
              <a:t>DFDs</a:t>
            </a:r>
            <a:r>
              <a:rPr sz="3762" spc="-154"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26</a:t>
            </a:fld>
            <a:endParaRPr spc="-21" dirty="0"/>
          </a:p>
        </p:txBody>
      </p:sp>
      <p:sp>
        <p:nvSpPr>
          <p:cNvPr id="3" name="object 3"/>
          <p:cNvSpPr txBox="1"/>
          <p:nvPr/>
        </p:nvSpPr>
        <p:spPr>
          <a:xfrm>
            <a:off x="1120261" y="2160172"/>
            <a:ext cx="6545236" cy="2911265"/>
          </a:xfrm>
          <a:prstGeom prst="rect">
            <a:avLst/>
          </a:prstGeom>
        </p:spPr>
        <p:txBody>
          <a:bodyPr vert="horz" wrap="square" lIns="0" tIns="56471" rIns="0" bIns="0" rtlCol="0">
            <a:spAutoFit/>
          </a:bodyPr>
          <a:lstStyle/>
          <a:p>
            <a:pPr marL="304074" marR="274209" indent="-293757">
              <a:lnSpc>
                <a:spcPct val="90200"/>
              </a:lnSpc>
              <a:spcBef>
                <a:spcPts val="445"/>
              </a:spcBef>
              <a:buClr>
                <a:srgbClr val="3399FF"/>
              </a:buClr>
              <a:buSzPct val="75000"/>
              <a:buFont typeface="Segoe UI Symbol"/>
              <a:buChar char="■"/>
              <a:tabLst>
                <a:tab pos="305160" algn="l"/>
              </a:tabLst>
            </a:pPr>
            <a:r>
              <a:rPr sz="3078" b="1" dirty="0">
                <a:latin typeface="Arial"/>
                <a:cs typeface="Arial"/>
              </a:rPr>
              <a:t>Data</a:t>
            </a:r>
            <a:r>
              <a:rPr sz="3078" b="1" spc="-56" dirty="0">
                <a:latin typeface="Arial"/>
                <a:cs typeface="Arial"/>
              </a:rPr>
              <a:t> </a:t>
            </a:r>
            <a:r>
              <a:rPr sz="3078" b="1" dirty="0">
                <a:latin typeface="Arial"/>
                <a:cs typeface="Arial"/>
              </a:rPr>
              <a:t>flow</a:t>
            </a:r>
            <a:r>
              <a:rPr sz="3078" b="1" spc="-94" dirty="0">
                <a:latin typeface="Arial"/>
                <a:cs typeface="Arial"/>
              </a:rPr>
              <a:t> </a:t>
            </a:r>
            <a:r>
              <a:rPr sz="3078" b="1" dirty="0">
                <a:latin typeface="Arial"/>
                <a:cs typeface="Arial"/>
              </a:rPr>
              <a:t>splitting</a:t>
            </a:r>
            <a:r>
              <a:rPr sz="3078" b="1" spc="-47" dirty="0">
                <a:latin typeface="Arial"/>
                <a:cs typeface="Arial"/>
              </a:rPr>
              <a:t> </a:t>
            </a:r>
            <a:r>
              <a:rPr sz="3078" dirty="0">
                <a:latin typeface="Arial"/>
                <a:cs typeface="Arial"/>
              </a:rPr>
              <a:t>is</a:t>
            </a:r>
            <a:r>
              <a:rPr sz="3078" spc="-51" dirty="0">
                <a:latin typeface="Arial"/>
                <a:cs typeface="Arial"/>
              </a:rPr>
              <a:t> </a:t>
            </a:r>
            <a:r>
              <a:rPr sz="3078" dirty="0">
                <a:latin typeface="Arial"/>
                <a:cs typeface="Arial"/>
              </a:rPr>
              <a:t>when</a:t>
            </a:r>
            <a:r>
              <a:rPr sz="3078" spc="9" dirty="0">
                <a:latin typeface="Arial"/>
                <a:cs typeface="Arial"/>
              </a:rPr>
              <a:t> </a:t>
            </a:r>
            <a:r>
              <a:rPr sz="3078" spc="-43" dirty="0">
                <a:latin typeface="Arial"/>
                <a:cs typeface="Arial"/>
              </a:rPr>
              <a:t>a 	</a:t>
            </a:r>
            <a:r>
              <a:rPr sz="2736" dirty="0">
                <a:latin typeface="Arial"/>
                <a:cs typeface="Arial"/>
              </a:rPr>
              <a:t>composite</a:t>
            </a:r>
            <a:r>
              <a:rPr sz="2736" spc="-103" dirty="0">
                <a:latin typeface="Arial"/>
                <a:cs typeface="Arial"/>
              </a:rPr>
              <a:t> </a:t>
            </a:r>
            <a:r>
              <a:rPr sz="2736" dirty="0">
                <a:latin typeface="Arial"/>
                <a:cs typeface="Arial"/>
              </a:rPr>
              <a:t>data</a:t>
            </a:r>
            <a:r>
              <a:rPr sz="2736" spc="-47" dirty="0">
                <a:latin typeface="Arial"/>
                <a:cs typeface="Arial"/>
              </a:rPr>
              <a:t> </a:t>
            </a:r>
            <a:r>
              <a:rPr sz="2736" dirty="0">
                <a:latin typeface="Arial"/>
                <a:cs typeface="Arial"/>
              </a:rPr>
              <a:t>flow</a:t>
            </a:r>
            <a:r>
              <a:rPr sz="2736" spc="-47" dirty="0">
                <a:latin typeface="Arial"/>
                <a:cs typeface="Arial"/>
              </a:rPr>
              <a:t> </a:t>
            </a:r>
            <a:r>
              <a:rPr sz="2736" dirty="0">
                <a:latin typeface="Arial"/>
                <a:cs typeface="Arial"/>
              </a:rPr>
              <a:t>at</a:t>
            </a:r>
            <a:r>
              <a:rPr sz="2736" spc="-9" dirty="0">
                <a:latin typeface="Arial"/>
                <a:cs typeface="Arial"/>
              </a:rPr>
              <a:t> </a:t>
            </a:r>
            <a:r>
              <a:rPr sz="2736" dirty="0">
                <a:latin typeface="Arial"/>
                <a:cs typeface="Arial"/>
              </a:rPr>
              <a:t>a</a:t>
            </a:r>
            <a:r>
              <a:rPr sz="2736" spc="-86" dirty="0">
                <a:latin typeface="Arial"/>
                <a:cs typeface="Arial"/>
              </a:rPr>
              <a:t> </a:t>
            </a:r>
            <a:r>
              <a:rPr sz="2736" dirty="0">
                <a:latin typeface="Arial"/>
                <a:cs typeface="Arial"/>
              </a:rPr>
              <a:t>higher</a:t>
            </a:r>
            <a:r>
              <a:rPr sz="2736" spc="-47" dirty="0">
                <a:latin typeface="Arial"/>
                <a:cs typeface="Arial"/>
              </a:rPr>
              <a:t> </a:t>
            </a:r>
            <a:r>
              <a:rPr sz="2736" dirty="0">
                <a:latin typeface="Arial"/>
                <a:cs typeface="Arial"/>
              </a:rPr>
              <a:t>level</a:t>
            </a:r>
            <a:r>
              <a:rPr sz="2736" spc="-47" dirty="0">
                <a:latin typeface="Arial"/>
                <a:cs typeface="Arial"/>
              </a:rPr>
              <a:t> </a:t>
            </a:r>
            <a:r>
              <a:rPr sz="2736" spc="-21" dirty="0">
                <a:latin typeface="Arial"/>
                <a:cs typeface="Arial"/>
              </a:rPr>
              <a:t>is 	</a:t>
            </a:r>
            <a:r>
              <a:rPr sz="2736" dirty="0">
                <a:latin typeface="Arial"/>
                <a:cs typeface="Arial"/>
              </a:rPr>
              <a:t>split</a:t>
            </a:r>
            <a:r>
              <a:rPr sz="2736" spc="-47" dirty="0">
                <a:latin typeface="Arial"/>
                <a:cs typeface="Arial"/>
              </a:rPr>
              <a:t> </a:t>
            </a:r>
            <a:r>
              <a:rPr sz="2736" dirty="0">
                <a:latin typeface="Arial"/>
                <a:cs typeface="Arial"/>
              </a:rPr>
              <a:t>and</a:t>
            </a:r>
            <a:r>
              <a:rPr sz="2736" spc="-47" dirty="0">
                <a:latin typeface="Arial"/>
                <a:cs typeface="Arial"/>
              </a:rPr>
              <a:t> </a:t>
            </a:r>
            <a:r>
              <a:rPr sz="2736" dirty="0">
                <a:latin typeface="Arial"/>
                <a:cs typeface="Arial"/>
              </a:rPr>
              <a:t>different</a:t>
            </a:r>
            <a:r>
              <a:rPr sz="2736" spc="-43" dirty="0">
                <a:latin typeface="Arial"/>
                <a:cs typeface="Arial"/>
              </a:rPr>
              <a:t> </a:t>
            </a:r>
            <a:r>
              <a:rPr sz="2736" dirty="0">
                <a:latin typeface="Arial"/>
                <a:cs typeface="Arial"/>
              </a:rPr>
              <a:t>parts</a:t>
            </a:r>
            <a:r>
              <a:rPr sz="2736" spc="-47" dirty="0">
                <a:latin typeface="Arial"/>
                <a:cs typeface="Arial"/>
              </a:rPr>
              <a:t> </a:t>
            </a:r>
            <a:r>
              <a:rPr sz="2736" dirty="0">
                <a:latin typeface="Arial"/>
                <a:cs typeface="Arial"/>
              </a:rPr>
              <a:t>go</a:t>
            </a:r>
            <a:r>
              <a:rPr sz="2736" spc="-47" dirty="0">
                <a:latin typeface="Arial"/>
                <a:cs typeface="Arial"/>
              </a:rPr>
              <a:t> </a:t>
            </a:r>
            <a:r>
              <a:rPr sz="2736" dirty="0">
                <a:latin typeface="Arial"/>
                <a:cs typeface="Arial"/>
              </a:rPr>
              <a:t>to</a:t>
            </a:r>
            <a:r>
              <a:rPr sz="2736" spc="-43" dirty="0">
                <a:latin typeface="Arial"/>
                <a:cs typeface="Arial"/>
              </a:rPr>
              <a:t> </a:t>
            </a:r>
            <a:r>
              <a:rPr sz="2736" spc="-9" dirty="0">
                <a:latin typeface="Arial"/>
                <a:cs typeface="Arial"/>
              </a:rPr>
              <a:t>different 	</a:t>
            </a:r>
            <a:r>
              <a:rPr sz="2736" dirty="0">
                <a:latin typeface="Arial"/>
                <a:cs typeface="Arial"/>
              </a:rPr>
              <a:t>processes</a:t>
            </a:r>
            <a:r>
              <a:rPr sz="2736" spc="-64" dirty="0">
                <a:latin typeface="Arial"/>
                <a:cs typeface="Arial"/>
              </a:rPr>
              <a:t> </a:t>
            </a:r>
            <a:r>
              <a:rPr sz="2736" dirty="0">
                <a:latin typeface="Arial"/>
                <a:cs typeface="Arial"/>
              </a:rPr>
              <a:t>in</a:t>
            </a:r>
            <a:r>
              <a:rPr sz="2736" spc="-64" dirty="0">
                <a:latin typeface="Arial"/>
                <a:cs typeface="Arial"/>
              </a:rPr>
              <a:t> </a:t>
            </a:r>
            <a:r>
              <a:rPr sz="2736" dirty="0">
                <a:latin typeface="Arial"/>
                <a:cs typeface="Arial"/>
              </a:rPr>
              <a:t>the</a:t>
            </a:r>
            <a:r>
              <a:rPr sz="2736" spc="-64" dirty="0">
                <a:latin typeface="Arial"/>
                <a:cs typeface="Arial"/>
              </a:rPr>
              <a:t> </a:t>
            </a:r>
            <a:r>
              <a:rPr sz="2736" dirty="0">
                <a:latin typeface="Arial"/>
                <a:cs typeface="Arial"/>
              </a:rPr>
              <a:t>lower</a:t>
            </a:r>
            <a:r>
              <a:rPr sz="2736" spc="-64" dirty="0">
                <a:latin typeface="Arial"/>
                <a:cs typeface="Arial"/>
              </a:rPr>
              <a:t> </a:t>
            </a:r>
            <a:r>
              <a:rPr sz="2736" dirty="0">
                <a:latin typeface="Arial"/>
                <a:cs typeface="Arial"/>
              </a:rPr>
              <a:t>level</a:t>
            </a:r>
            <a:r>
              <a:rPr sz="2736" spc="-64" dirty="0">
                <a:latin typeface="Arial"/>
                <a:cs typeface="Arial"/>
              </a:rPr>
              <a:t> </a:t>
            </a:r>
            <a:r>
              <a:rPr sz="2736" spc="-17" dirty="0">
                <a:latin typeface="Arial"/>
                <a:cs typeface="Arial"/>
              </a:rPr>
              <a:t>DFD.</a:t>
            </a:r>
            <a:endParaRPr sz="2736">
              <a:latin typeface="Arial"/>
              <a:cs typeface="Arial"/>
            </a:endParaRPr>
          </a:p>
          <a:p>
            <a:pPr marL="305160" marR="4344" indent="-294843">
              <a:lnSpc>
                <a:spcPts val="2959"/>
              </a:lnSpc>
              <a:spcBef>
                <a:spcPts val="701"/>
              </a:spcBef>
              <a:buClr>
                <a:srgbClr val="3399FF"/>
              </a:buClr>
              <a:buSzPct val="75000"/>
              <a:buFont typeface="Segoe UI Symbol"/>
              <a:buChar char="■"/>
              <a:tabLst>
                <a:tab pos="305160" algn="l"/>
              </a:tabLst>
            </a:pPr>
            <a:r>
              <a:rPr sz="2736" dirty="0">
                <a:latin typeface="Arial"/>
                <a:cs typeface="Arial"/>
              </a:rPr>
              <a:t>The</a:t>
            </a:r>
            <a:r>
              <a:rPr sz="2736" spc="-81" dirty="0">
                <a:latin typeface="Arial"/>
                <a:cs typeface="Arial"/>
              </a:rPr>
              <a:t> </a:t>
            </a:r>
            <a:r>
              <a:rPr sz="2736" dirty="0">
                <a:latin typeface="Arial"/>
                <a:cs typeface="Arial"/>
              </a:rPr>
              <a:t>DFD</a:t>
            </a:r>
            <a:r>
              <a:rPr sz="2736" spc="-81" dirty="0">
                <a:latin typeface="Arial"/>
                <a:cs typeface="Arial"/>
              </a:rPr>
              <a:t> </a:t>
            </a:r>
            <a:r>
              <a:rPr sz="2736" dirty="0">
                <a:latin typeface="Arial"/>
                <a:cs typeface="Arial"/>
              </a:rPr>
              <a:t>remains</a:t>
            </a:r>
            <a:r>
              <a:rPr sz="2736" spc="-38" dirty="0">
                <a:latin typeface="Arial"/>
                <a:cs typeface="Arial"/>
              </a:rPr>
              <a:t> </a:t>
            </a:r>
            <a:r>
              <a:rPr sz="2736" dirty="0">
                <a:latin typeface="Arial"/>
                <a:cs typeface="Arial"/>
              </a:rPr>
              <a:t>balanced</a:t>
            </a:r>
            <a:r>
              <a:rPr sz="2736" spc="-81" dirty="0">
                <a:latin typeface="Arial"/>
                <a:cs typeface="Arial"/>
              </a:rPr>
              <a:t> </a:t>
            </a:r>
            <a:r>
              <a:rPr sz="2736" dirty="0">
                <a:latin typeface="Arial"/>
                <a:cs typeface="Arial"/>
              </a:rPr>
              <a:t>because</a:t>
            </a:r>
            <a:r>
              <a:rPr sz="2736" spc="-77" dirty="0">
                <a:latin typeface="Arial"/>
                <a:cs typeface="Arial"/>
              </a:rPr>
              <a:t> </a:t>
            </a:r>
            <a:r>
              <a:rPr sz="2736" spc="-21" dirty="0">
                <a:latin typeface="Arial"/>
                <a:cs typeface="Arial"/>
              </a:rPr>
              <a:t>the </a:t>
            </a:r>
            <a:r>
              <a:rPr sz="2736" dirty="0">
                <a:latin typeface="Arial"/>
                <a:cs typeface="Arial"/>
              </a:rPr>
              <a:t>same</a:t>
            </a:r>
            <a:r>
              <a:rPr sz="2736" spc="-51" dirty="0">
                <a:latin typeface="Arial"/>
                <a:cs typeface="Arial"/>
              </a:rPr>
              <a:t> </a:t>
            </a:r>
            <a:r>
              <a:rPr sz="2736" dirty="0">
                <a:latin typeface="Arial"/>
                <a:cs typeface="Arial"/>
              </a:rPr>
              <a:t>data</a:t>
            </a:r>
            <a:r>
              <a:rPr sz="2736" spc="-47" dirty="0">
                <a:latin typeface="Arial"/>
                <a:cs typeface="Arial"/>
              </a:rPr>
              <a:t> </a:t>
            </a:r>
            <a:r>
              <a:rPr sz="2736" dirty="0">
                <a:latin typeface="Arial"/>
                <a:cs typeface="Arial"/>
              </a:rPr>
              <a:t>is</a:t>
            </a:r>
            <a:r>
              <a:rPr sz="2736" spc="-47" dirty="0">
                <a:latin typeface="Arial"/>
                <a:cs typeface="Arial"/>
              </a:rPr>
              <a:t> </a:t>
            </a:r>
            <a:r>
              <a:rPr sz="2736" dirty="0">
                <a:latin typeface="Arial"/>
                <a:cs typeface="Arial"/>
              </a:rPr>
              <a:t>involved,</a:t>
            </a:r>
            <a:r>
              <a:rPr sz="2736" spc="-90" dirty="0">
                <a:latin typeface="Arial"/>
                <a:cs typeface="Arial"/>
              </a:rPr>
              <a:t> </a:t>
            </a:r>
            <a:r>
              <a:rPr sz="2736" dirty="0">
                <a:latin typeface="Arial"/>
                <a:cs typeface="Arial"/>
              </a:rPr>
              <a:t>but</a:t>
            </a:r>
            <a:r>
              <a:rPr sz="2736" spc="-47" dirty="0">
                <a:latin typeface="Arial"/>
                <a:cs typeface="Arial"/>
              </a:rPr>
              <a:t> </a:t>
            </a:r>
            <a:r>
              <a:rPr sz="2736" dirty="0">
                <a:latin typeface="Arial"/>
                <a:cs typeface="Arial"/>
              </a:rPr>
              <a:t>split</a:t>
            </a:r>
            <a:r>
              <a:rPr sz="2736" spc="-47" dirty="0">
                <a:latin typeface="Arial"/>
                <a:cs typeface="Arial"/>
              </a:rPr>
              <a:t> </a:t>
            </a:r>
            <a:r>
              <a:rPr sz="2736" dirty="0">
                <a:latin typeface="Arial"/>
                <a:cs typeface="Arial"/>
              </a:rPr>
              <a:t>into</a:t>
            </a:r>
            <a:r>
              <a:rPr sz="2736" spc="-9" dirty="0">
                <a:latin typeface="Arial"/>
                <a:cs typeface="Arial"/>
              </a:rPr>
              <a:t> </a:t>
            </a:r>
            <a:r>
              <a:rPr sz="2736" spc="-21" dirty="0">
                <a:latin typeface="Arial"/>
                <a:cs typeface="Arial"/>
              </a:rPr>
              <a:t>two </a:t>
            </a:r>
            <a:r>
              <a:rPr sz="2736" spc="-9" dirty="0">
                <a:latin typeface="Arial"/>
                <a:cs typeface="Arial"/>
              </a:rPr>
              <a:t>parts.</a:t>
            </a:r>
            <a:endParaRPr sz="2736">
              <a:latin typeface="Arial"/>
              <a:cs typeface="Arial"/>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0301" y="969323"/>
            <a:ext cx="5065038" cy="588810"/>
          </a:xfrm>
          <a:prstGeom prst="rect">
            <a:avLst/>
          </a:prstGeom>
        </p:spPr>
        <p:txBody>
          <a:bodyPr vert="horz" wrap="square" lIns="0" tIns="9774" rIns="0" bIns="0" rtlCol="0" anchor="ctr">
            <a:spAutoFit/>
          </a:bodyPr>
          <a:lstStyle/>
          <a:p>
            <a:pPr marL="10860">
              <a:lnSpc>
                <a:spcPct val="100000"/>
              </a:lnSpc>
              <a:spcBef>
                <a:spcPts val="77"/>
              </a:spcBef>
            </a:pPr>
            <a:r>
              <a:rPr sz="3762" dirty="0"/>
              <a:t>Balancing</a:t>
            </a:r>
            <a:r>
              <a:rPr sz="3762" spc="-154" dirty="0"/>
              <a:t> </a:t>
            </a:r>
            <a:r>
              <a:rPr sz="3762" dirty="0"/>
              <a:t>DFDs</a:t>
            </a:r>
            <a:r>
              <a:rPr sz="3762" spc="-154" dirty="0"/>
              <a:t> </a:t>
            </a:r>
            <a:r>
              <a:rPr sz="3762" spc="-9" dirty="0"/>
              <a:t>(Cont.)</a:t>
            </a:r>
            <a:endParaRPr sz="3762"/>
          </a:p>
        </p:txBody>
      </p:sp>
      <p:sp>
        <p:nvSpPr>
          <p:cNvPr id="4" name="object 4"/>
          <p:cNvSpPr txBox="1"/>
          <p:nvPr/>
        </p:nvSpPr>
        <p:spPr>
          <a:xfrm>
            <a:off x="4964720" y="1691073"/>
            <a:ext cx="2882205" cy="1233032"/>
          </a:xfrm>
          <a:prstGeom prst="rect">
            <a:avLst/>
          </a:prstGeom>
        </p:spPr>
        <p:txBody>
          <a:bodyPr vert="horz" wrap="square" lIns="0" tIns="10860" rIns="0" bIns="0" rtlCol="0">
            <a:spAutoFit/>
          </a:bodyPr>
          <a:lstStyle/>
          <a:p>
            <a:pPr marL="336110">
              <a:spcBef>
                <a:spcPts val="86"/>
              </a:spcBef>
            </a:pPr>
            <a:r>
              <a:rPr sz="1539" b="1" dirty="0">
                <a:latin typeface="Arial"/>
                <a:cs typeface="Arial"/>
              </a:rPr>
              <a:t>FIGURE</a:t>
            </a:r>
            <a:r>
              <a:rPr lang="en-MY" sz="1539" b="1" dirty="0">
                <a:latin typeface="Arial"/>
                <a:cs typeface="Arial"/>
              </a:rPr>
              <a:t> 8</a:t>
            </a:r>
            <a:endParaRPr sz="1539" dirty="0">
              <a:latin typeface="Arial"/>
              <a:cs typeface="Arial"/>
            </a:endParaRPr>
          </a:p>
          <a:p>
            <a:pPr marL="336110"/>
            <a:r>
              <a:rPr sz="1539" dirty="0">
                <a:latin typeface="Arial"/>
                <a:cs typeface="Arial"/>
              </a:rPr>
              <a:t>Example</a:t>
            </a:r>
            <a:r>
              <a:rPr sz="1539" spc="-9" dirty="0">
                <a:latin typeface="Arial"/>
                <a:cs typeface="Arial"/>
              </a:rPr>
              <a:t> </a:t>
            </a:r>
            <a:r>
              <a:rPr sz="1539" dirty="0">
                <a:latin typeface="Arial"/>
                <a:cs typeface="Arial"/>
              </a:rPr>
              <a:t>of</a:t>
            </a:r>
            <a:r>
              <a:rPr sz="1539" spc="-17" dirty="0">
                <a:latin typeface="Arial"/>
                <a:cs typeface="Arial"/>
              </a:rPr>
              <a:t> </a:t>
            </a:r>
            <a:r>
              <a:rPr sz="1539" dirty="0">
                <a:latin typeface="Arial"/>
                <a:cs typeface="Arial"/>
              </a:rPr>
              <a:t>data</a:t>
            </a:r>
            <a:r>
              <a:rPr sz="1539" spc="-17" dirty="0">
                <a:latin typeface="Arial"/>
                <a:cs typeface="Arial"/>
              </a:rPr>
              <a:t> </a:t>
            </a:r>
            <a:r>
              <a:rPr sz="1539" dirty="0">
                <a:latin typeface="Arial"/>
                <a:cs typeface="Arial"/>
              </a:rPr>
              <a:t>flow</a:t>
            </a:r>
            <a:r>
              <a:rPr sz="1539" spc="-17" dirty="0">
                <a:latin typeface="Arial"/>
                <a:cs typeface="Arial"/>
              </a:rPr>
              <a:t> </a:t>
            </a:r>
            <a:r>
              <a:rPr sz="1539" spc="-9" dirty="0">
                <a:latin typeface="Arial"/>
                <a:cs typeface="Arial"/>
              </a:rPr>
              <a:t>splitting</a:t>
            </a:r>
            <a:endParaRPr sz="1539" dirty="0">
              <a:latin typeface="Arial"/>
              <a:cs typeface="Arial"/>
            </a:endParaRPr>
          </a:p>
          <a:p>
            <a:pPr>
              <a:lnSpc>
                <a:spcPct val="100000"/>
              </a:lnSpc>
            </a:pPr>
            <a:endParaRPr sz="1539" dirty="0">
              <a:latin typeface="Arial"/>
              <a:cs typeface="Arial"/>
            </a:endParaRPr>
          </a:p>
          <a:p>
            <a:pPr>
              <a:spcBef>
                <a:spcPts val="466"/>
              </a:spcBef>
            </a:pPr>
            <a:endParaRPr sz="1539" dirty="0">
              <a:latin typeface="Arial"/>
              <a:cs typeface="Arial"/>
            </a:endParaRPr>
          </a:p>
          <a:p>
            <a:pPr marL="10860"/>
            <a:r>
              <a:rPr sz="1368" i="1" dirty="0">
                <a:latin typeface="Arial"/>
                <a:cs typeface="Arial"/>
              </a:rPr>
              <a:t>(a)</a:t>
            </a:r>
            <a:r>
              <a:rPr sz="1368" i="1" spc="-30" dirty="0">
                <a:latin typeface="Arial"/>
                <a:cs typeface="Arial"/>
              </a:rPr>
              <a:t> </a:t>
            </a:r>
            <a:r>
              <a:rPr sz="1368" i="1" dirty="0">
                <a:latin typeface="Arial"/>
                <a:cs typeface="Arial"/>
              </a:rPr>
              <a:t>Composite</a:t>
            </a:r>
            <a:r>
              <a:rPr sz="1368" i="1" spc="-30" dirty="0">
                <a:latin typeface="Arial"/>
                <a:cs typeface="Arial"/>
              </a:rPr>
              <a:t> </a:t>
            </a:r>
            <a:r>
              <a:rPr sz="1368" i="1" dirty="0">
                <a:latin typeface="Arial"/>
                <a:cs typeface="Arial"/>
              </a:rPr>
              <a:t>data</a:t>
            </a:r>
            <a:r>
              <a:rPr sz="1368" i="1" spc="-30" dirty="0">
                <a:latin typeface="Arial"/>
                <a:cs typeface="Arial"/>
              </a:rPr>
              <a:t> </a:t>
            </a:r>
            <a:r>
              <a:rPr sz="1368" i="1" spc="-17" dirty="0">
                <a:latin typeface="Arial"/>
                <a:cs typeface="Arial"/>
              </a:rPr>
              <a:t>flow</a:t>
            </a:r>
            <a:endParaRPr sz="1368" dirty="0">
              <a:latin typeface="Arial"/>
              <a:cs typeface="Arial"/>
            </a:endParaRPr>
          </a:p>
        </p:txBody>
      </p:sp>
      <p:sp>
        <p:nvSpPr>
          <p:cNvPr id="6" name="object 6"/>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27</a:t>
            </a:fld>
            <a:endParaRPr spc="-21" dirty="0"/>
          </a:p>
        </p:txBody>
      </p:sp>
      <p:sp>
        <p:nvSpPr>
          <p:cNvPr id="5" name="object 5"/>
          <p:cNvSpPr txBox="1"/>
          <p:nvPr/>
        </p:nvSpPr>
        <p:spPr>
          <a:xfrm>
            <a:off x="4964720" y="4101943"/>
            <a:ext cx="2246362" cy="222021"/>
          </a:xfrm>
          <a:prstGeom prst="rect">
            <a:avLst/>
          </a:prstGeom>
        </p:spPr>
        <p:txBody>
          <a:bodyPr vert="horz" wrap="square" lIns="0" tIns="11403" rIns="0" bIns="0" rtlCol="0">
            <a:spAutoFit/>
          </a:bodyPr>
          <a:lstStyle/>
          <a:p>
            <a:pPr marL="10860">
              <a:spcBef>
                <a:spcPts val="90"/>
              </a:spcBef>
            </a:pPr>
            <a:r>
              <a:rPr sz="1368" i="1" dirty="0">
                <a:latin typeface="Arial"/>
                <a:cs typeface="Arial"/>
              </a:rPr>
              <a:t>(b)</a:t>
            </a:r>
            <a:r>
              <a:rPr sz="1368" i="1" spc="4" dirty="0">
                <a:latin typeface="Arial"/>
                <a:cs typeface="Arial"/>
              </a:rPr>
              <a:t> </a:t>
            </a:r>
            <a:r>
              <a:rPr sz="1368" i="1" spc="-9" dirty="0">
                <a:latin typeface="Arial"/>
                <a:cs typeface="Arial"/>
              </a:rPr>
              <a:t>Disaggregated</a:t>
            </a:r>
            <a:r>
              <a:rPr sz="1368" i="1" spc="-30" dirty="0">
                <a:latin typeface="Arial"/>
                <a:cs typeface="Arial"/>
              </a:rPr>
              <a:t> </a:t>
            </a:r>
            <a:r>
              <a:rPr sz="1368" i="1" dirty="0">
                <a:latin typeface="Arial"/>
                <a:cs typeface="Arial"/>
              </a:rPr>
              <a:t>data</a:t>
            </a:r>
            <a:r>
              <a:rPr sz="1368" i="1" spc="9" dirty="0">
                <a:latin typeface="Arial"/>
                <a:cs typeface="Arial"/>
              </a:rPr>
              <a:t> </a:t>
            </a:r>
            <a:r>
              <a:rPr sz="1368" i="1" spc="-17" dirty="0">
                <a:latin typeface="Arial"/>
                <a:cs typeface="Arial"/>
              </a:rPr>
              <a:t>flows</a:t>
            </a:r>
            <a:endParaRPr sz="1368">
              <a:latin typeface="Arial"/>
              <a:cs typeface="Arial"/>
            </a:endParaRPr>
          </a:p>
        </p:txBody>
      </p:sp>
      <p:pic>
        <p:nvPicPr>
          <p:cNvPr id="8" name="Picture 7">
            <a:extLst>
              <a:ext uri="{FF2B5EF4-FFF2-40B4-BE49-F238E27FC236}">
                <a16:creationId xmlns:a16="http://schemas.microsoft.com/office/drawing/2014/main" id="{65CCF991-5A66-3504-3B82-C5B499E78907}"/>
              </a:ext>
            </a:extLst>
          </p:cNvPr>
          <p:cNvPicPr>
            <a:picLocks noChangeAspect="1"/>
          </p:cNvPicPr>
          <p:nvPr/>
        </p:nvPicPr>
        <p:blipFill>
          <a:blip r:embed="rId2"/>
          <a:stretch>
            <a:fillRect/>
          </a:stretch>
        </p:blipFill>
        <p:spPr>
          <a:xfrm>
            <a:off x="1447800" y="1752600"/>
            <a:ext cx="2971800" cy="3933825"/>
          </a:xfrm>
          <a:prstGeom prst="rect">
            <a:avLst/>
          </a:prstGeom>
        </p:spPr>
      </p:pic>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621506" y="494414"/>
            <a:ext cx="7900987" cy="817403"/>
          </a:xfrm>
          <a:prstGeom prst="rect">
            <a:avLst/>
          </a:prstGeom>
        </p:spPr>
        <p:txBody>
          <a:bodyPr vert="horz" lIns="91440" tIns="45720" rIns="91440" bIns="45720" rtlCol="0" anchor="b">
            <a:normAutofit/>
          </a:bodyPr>
          <a:lstStyle/>
          <a:p>
            <a:pPr marL="10860" algn="ctr"/>
            <a:r>
              <a:rPr lang="en-US" sz="3100" kern="1200">
                <a:solidFill>
                  <a:schemeClr val="tx1"/>
                </a:solidFill>
                <a:latin typeface="+mj-lt"/>
                <a:ea typeface="+mj-ea"/>
                <a:cs typeface="+mj-cs"/>
              </a:rPr>
              <a:t>Balancing</a:t>
            </a:r>
            <a:r>
              <a:rPr lang="en-US" sz="3100" kern="1200" spc="-64">
                <a:solidFill>
                  <a:schemeClr val="tx1"/>
                </a:solidFill>
                <a:latin typeface="+mj-lt"/>
                <a:ea typeface="+mj-ea"/>
                <a:cs typeface="+mj-cs"/>
              </a:rPr>
              <a:t> </a:t>
            </a:r>
            <a:r>
              <a:rPr lang="en-US" sz="3100" kern="1200">
                <a:solidFill>
                  <a:schemeClr val="tx1"/>
                </a:solidFill>
                <a:latin typeface="+mj-lt"/>
                <a:ea typeface="+mj-ea"/>
                <a:cs typeface="+mj-cs"/>
              </a:rPr>
              <a:t>DFDs:</a:t>
            </a:r>
            <a:r>
              <a:rPr lang="en-US" sz="3100" kern="1200" spc="-90">
                <a:solidFill>
                  <a:schemeClr val="tx1"/>
                </a:solidFill>
                <a:latin typeface="+mj-lt"/>
                <a:ea typeface="+mj-ea"/>
                <a:cs typeface="+mj-cs"/>
              </a:rPr>
              <a:t> </a:t>
            </a:r>
            <a:r>
              <a:rPr lang="en-US" sz="3100" kern="1200">
                <a:solidFill>
                  <a:schemeClr val="tx1"/>
                </a:solidFill>
                <a:latin typeface="+mj-lt"/>
                <a:ea typeface="+mj-ea"/>
                <a:cs typeface="+mj-cs"/>
              </a:rPr>
              <a:t>More DFD</a:t>
            </a:r>
            <a:r>
              <a:rPr lang="en-US" sz="3100" kern="1200" spc="4">
                <a:solidFill>
                  <a:schemeClr val="tx1"/>
                </a:solidFill>
                <a:latin typeface="+mj-lt"/>
                <a:ea typeface="+mj-ea"/>
                <a:cs typeface="+mj-cs"/>
              </a:rPr>
              <a:t> </a:t>
            </a:r>
            <a:r>
              <a:rPr lang="en-US" sz="3100" kern="1200" spc="-9">
                <a:solidFill>
                  <a:schemeClr val="tx1"/>
                </a:solidFill>
                <a:latin typeface="+mj-lt"/>
                <a:ea typeface="+mj-ea"/>
                <a:cs typeface="+mj-cs"/>
              </a:rPr>
              <a:t>Rules</a:t>
            </a:r>
            <a:endParaRPr lang="en-US" sz="3100" kern="1200">
              <a:solidFill>
                <a:schemeClr val="tx1"/>
              </a:solidFill>
              <a:latin typeface="+mj-lt"/>
              <a:ea typeface="+mj-ea"/>
              <a:cs typeface="+mj-cs"/>
            </a:endParaRPr>
          </a:p>
        </p:txBody>
      </p:sp>
      <p:sp>
        <p:nvSpPr>
          <p:cNvPr id="8" name="TextBox 7">
            <a:extLst>
              <a:ext uri="{FF2B5EF4-FFF2-40B4-BE49-F238E27FC236}">
                <a16:creationId xmlns:a16="http://schemas.microsoft.com/office/drawing/2014/main" id="{D8EAB6A6-0024-7C77-28EB-98FAD26ADE61}"/>
              </a:ext>
            </a:extLst>
          </p:cNvPr>
          <p:cNvSpPr txBox="1"/>
          <p:nvPr/>
        </p:nvSpPr>
        <p:spPr>
          <a:xfrm>
            <a:off x="1411941" y="1311818"/>
            <a:ext cx="6320117" cy="397567"/>
          </a:xfrm>
          <a:prstGeom prst="rect">
            <a:avLst/>
          </a:prstGeom>
        </p:spPr>
        <p:txBody>
          <a:bodyPr vert="horz" lIns="91440" tIns="45720" rIns="91440" bIns="45720" rtlCol="0">
            <a:normAutofit/>
          </a:bodyPr>
          <a:lstStyle/>
          <a:p>
            <a:pPr algn="ctr">
              <a:lnSpc>
                <a:spcPct val="90000"/>
              </a:lnSpc>
              <a:spcBef>
                <a:spcPts val="1000"/>
              </a:spcBef>
            </a:pPr>
            <a:r>
              <a:rPr lang="en-US" sz="1400" b="1" i="0" u="none" strike="noStrike" kern="1200" baseline="0">
                <a:solidFill>
                  <a:schemeClr val="tx1"/>
                </a:solidFill>
                <a:latin typeface="+mn-lt"/>
                <a:ea typeface="+mn-ea"/>
                <a:cs typeface="+mn-cs"/>
              </a:rPr>
              <a:t>Table 2 advanced Rules Governing Data Flow Diagramming</a:t>
            </a:r>
          </a:p>
        </p:txBody>
      </p:sp>
      <p:pic>
        <p:nvPicPr>
          <p:cNvPr id="5" name="Picture 4">
            <a:extLst>
              <a:ext uri="{FF2B5EF4-FFF2-40B4-BE49-F238E27FC236}">
                <a16:creationId xmlns:a16="http://schemas.microsoft.com/office/drawing/2014/main" id="{46FD21D1-C2C0-582E-9428-CD46F23029B4}"/>
              </a:ext>
            </a:extLst>
          </p:cNvPr>
          <p:cNvPicPr>
            <a:picLocks noChangeAspect="1"/>
          </p:cNvPicPr>
          <p:nvPr/>
        </p:nvPicPr>
        <p:blipFill>
          <a:blip r:embed="rId2"/>
          <a:stretch>
            <a:fillRect/>
          </a:stretch>
        </p:blipFill>
        <p:spPr>
          <a:xfrm>
            <a:off x="963400" y="2354239"/>
            <a:ext cx="7217200" cy="3948085"/>
          </a:xfrm>
          <a:prstGeom prst="rect">
            <a:avLst/>
          </a:prstGeom>
        </p:spPr>
      </p:pic>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28</a:t>
            </a:fld>
            <a:endParaRPr spc="-21" dirty="0"/>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Four</a:t>
            </a:r>
            <a:r>
              <a:rPr sz="3762" spc="-94" dirty="0"/>
              <a:t> </a:t>
            </a:r>
            <a:r>
              <a:rPr sz="3762" dirty="0"/>
              <a:t>Different</a:t>
            </a:r>
            <a:r>
              <a:rPr sz="3762" spc="-90" dirty="0"/>
              <a:t> </a:t>
            </a:r>
            <a:r>
              <a:rPr sz="3762" dirty="0"/>
              <a:t>Types</a:t>
            </a:r>
            <a:r>
              <a:rPr sz="3762" spc="-38" dirty="0"/>
              <a:t> </a:t>
            </a:r>
            <a:r>
              <a:rPr sz="3762" dirty="0"/>
              <a:t>of</a:t>
            </a:r>
            <a:r>
              <a:rPr sz="3762" spc="-90" dirty="0"/>
              <a:t> </a:t>
            </a:r>
            <a:r>
              <a:rPr sz="3762" spc="-17" dirty="0"/>
              <a:t>DFDs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29</a:t>
            </a:fld>
            <a:endParaRPr spc="-21" dirty="0"/>
          </a:p>
        </p:txBody>
      </p:sp>
      <p:sp>
        <p:nvSpPr>
          <p:cNvPr id="3" name="object 3"/>
          <p:cNvSpPr txBox="1"/>
          <p:nvPr/>
        </p:nvSpPr>
        <p:spPr>
          <a:xfrm>
            <a:off x="1120263" y="2132317"/>
            <a:ext cx="6858542" cy="3326467"/>
          </a:xfrm>
          <a:prstGeom prst="rect">
            <a:avLst/>
          </a:prstGeom>
        </p:spPr>
        <p:txBody>
          <a:bodyPr vert="horz" wrap="square" lIns="0" tIns="49954" rIns="0" bIns="0" rtlCol="0">
            <a:spAutoFit/>
          </a:bodyPr>
          <a:lstStyle/>
          <a:p>
            <a:pPr marL="305160" indent="-294300">
              <a:spcBef>
                <a:spcPts val="392"/>
              </a:spcBef>
              <a:buClr>
                <a:srgbClr val="3399FF"/>
              </a:buClr>
              <a:buSzPct val="75000"/>
              <a:buFont typeface="Segoe UI Symbol"/>
              <a:buChar char="■"/>
              <a:tabLst>
                <a:tab pos="305160" algn="l"/>
              </a:tabLst>
            </a:pPr>
            <a:r>
              <a:rPr sz="2394" b="1" dirty="0">
                <a:latin typeface="Arial"/>
                <a:cs typeface="Arial"/>
              </a:rPr>
              <a:t>Current</a:t>
            </a:r>
            <a:r>
              <a:rPr sz="2394" b="1" spc="-47" dirty="0">
                <a:latin typeface="Arial"/>
                <a:cs typeface="Arial"/>
              </a:rPr>
              <a:t> </a:t>
            </a:r>
            <a:r>
              <a:rPr sz="2394" b="1" spc="-9" dirty="0">
                <a:latin typeface="Arial"/>
                <a:cs typeface="Arial"/>
              </a:rPr>
              <a:t>Physical</a:t>
            </a:r>
            <a:endParaRPr sz="2394">
              <a:latin typeface="Arial"/>
              <a:cs typeface="Arial"/>
            </a:endParaRPr>
          </a:p>
          <a:p>
            <a:pPr marL="646699" marR="1028963" lvl="1" indent="-245431">
              <a:lnSpc>
                <a:spcPts val="2215"/>
              </a:lnSpc>
              <a:spcBef>
                <a:spcPts val="539"/>
              </a:spcBef>
              <a:buClr>
                <a:srgbClr val="CC0066"/>
              </a:buClr>
              <a:buSzPct val="79166"/>
              <a:buFont typeface="Segoe UI Symbol"/>
              <a:buChar char="□"/>
              <a:tabLst>
                <a:tab pos="646699" algn="l"/>
              </a:tabLst>
            </a:pPr>
            <a:r>
              <a:rPr sz="2052" dirty="0">
                <a:latin typeface="Arial"/>
                <a:cs typeface="Arial"/>
              </a:rPr>
              <a:t>Process</a:t>
            </a:r>
            <a:r>
              <a:rPr sz="2052" spc="-68" dirty="0">
                <a:latin typeface="Arial"/>
                <a:cs typeface="Arial"/>
              </a:rPr>
              <a:t> </a:t>
            </a:r>
            <a:r>
              <a:rPr sz="2052" dirty="0">
                <a:latin typeface="Arial"/>
                <a:cs typeface="Arial"/>
              </a:rPr>
              <a:t>labels</a:t>
            </a:r>
            <a:r>
              <a:rPr sz="2052" spc="-64" dirty="0">
                <a:latin typeface="Arial"/>
                <a:cs typeface="Arial"/>
              </a:rPr>
              <a:t> </a:t>
            </a:r>
            <a:r>
              <a:rPr sz="2052" dirty="0">
                <a:latin typeface="Arial"/>
                <a:cs typeface="Arial"/>
              </a:rPr>
              <a:t>identify</a:t>
            </a:r>
            <a:r>
              <a:rPr sz="2052" spc="-115" dirty="0">
                <a:latin typeface="Arial"/>
                <a:cs typeface="Arial"/>
              </a:rPr>
              <a:t> </a:t>
            </a:r>
            <a:r>
              <a:rPr sz="2052" dirty="0">
                <a:latin typeface="Arial"/>
                <a:cs typeface="Arial"/>
              </a:rPr>
              <a:t>technology</a:t>
            </a:r>
            <a:r>
              <a:rPr sz="2052" spc="-64" dirty="0">
                <a:latin typeface="Arial"/>
                <a:cs typeface="Arial"/>
              </a:rPr>
              <a:t> </a:t>
            </a:r>
            <a:r>
              <a:rPr sz="2052" dirty="0">
                <a:latin typeface="Arial"/>
                <a:cs typeface="Arial"/>
              </a:rPr>
              <a:t>(people</a:t>
            </a:r>
            <a:r>
              <a:rPr sz="2052" spc="-68" dirty="0">
                <a:latin typeface="Arial"/>
                <a:cs typeface="Arial"/>
              </a:rPr>
              <a:t> </a:t>
            </a:r>
            <a:r>
              <a:rPr sz="2052" spc="-21" dirty="0">
                <a:latin typeface="Arial"/>
                <a:cs typeface="Arial"/>
              </a:rPr>
              <a:t>or </a:t>
            </a:r>
            <a:r>
              <a:rPr sz="2052" dirty="0">
                <a:latin typeface="Arial"/>
                <a:cs typeface="Arial"/>
              </a:rPr>
              <a:t>systems)</a:t>
            </a:r>
            <a:r>
              <a:rPr sz="2052" spc="-38" dirty="0">
                <a:latin typeface="Arial"/>
                <a:cs typeface="Arial"/>
              </a:rPr>
              <a:t> </a:t>
            </a:r>
            <a:r>
              <a:rPr sz="2052" dirty="0">
                <a:latin typeface="Arial"/>
                <a:cs typeface="Arial"/>
              </a:rPr>
              <a:t>used</a:t>
            </a:r>
            <a:r>
              <a:rPr sz="2052" spc="-34" dirty="0">
                <a:latin typeface="Arial"/>
                <a:cs typeface="Arial"/>
              </a:rPr>
              <a:t> </a:t>
            </a:r>
            <a:r>
              <a:rPr sz="2052" dirty="0">
                <a:latin typeface="Arial"/>
                <a:cs typeface="Arial"/>
              </a:rPr>
              <a:t>to</a:t>
            </a:r>
            <a:r>
              <a:rPr sz="2052" spc="-68" dirty="0">
                <a:latin typeface="Arial"/>
                <a:cs typeface="Arial"/>
              </a:rPr>
              <a:t> </a:t>
            </a:r>
            <a:r>
              <a:rPr sz="2052" dirty="0">
                <a:latin typeface="Arial"/>
                <a:cs typeface="Arial"/>
              </a:rPr>
              <a:t>process</a:t>
            </a:r>
            <a:r>
              <a:rPr sz="2052" spc="-34" dirty="0">
                <a:latin typeface="Arial"/>
                <a:cs typeface="Arial"/>
              </a:rPr>
              <a:t> </a:t>
            </a:r>
            <a:r>
              <a:rPr sz="2052" dirty="0">
                <a:latin typeface="Arial"/>
                <a:cs typeface="Arial"/>
              </a:rPr>
              <a:t>the</a:t>
            </a:r>
            <a:r>
              <a:rPr sz="2052" spc="-34" dirty="0">
                <a:latin typeface="Arial"/>
                <a:cs typeface="Arial"/>
              </a:rPr>
              <a:t> </a:t>
            </a:r>
            <a:r>
              <a:rPr sz="2052" spc="-9" dirty="0">
                <a:latin typeface="Arial"/>
                <a:cs typeface="Arial"/>
              </a:rPr>
              <a:t>data.</a:t>
            </a:r>
            <a:endParaRPr sz="2052">
              <a:latin typeface="Arial"/>
              <a:cs typeface="Arial"/>
            </a:endParaRPr>
          </a:p>
          <a:p>
            <a:pPr marL="646699" marR="4344" lvl="1" indent="-245431">
              <a:lnSpc>
                <a:spcPts val="2215"/>
              </a:lnSpc>
              <a:spcBef>
                <a:spcPts val="496"/>
              </a:spcBef>
              <a:buClr>
                <a:srgbClr val="CC0066"/>
              </a:buClr>
              <a:buSzPct val="79166"/>
              <a:buFont typeface="Segoe UI Symbol"/>
              <a:buChar char="□"/>
              <a:tabLst>
                <a:tab pos="646699" algn="l"/>
              </a:tabLst>
            </a:pPr>
            <a:r>
              <a:rPr sz="2052" dirty="0">
                <a:latin typeface="Arial"/>
                <a:cs typeface="Arial"/>
              </a:rPr>
              <a:t>Data</a:t>
            </a:r>
            <a:r>
              <a:rPr sz="2052" spc="-43" dirty="0">
                <a:latin typeface="Arial"/>
                <a:cs typeface="Arial"/>
              </a:rPr>
              <a:t> </a:t>
            </a:r>
            <a:r>
              <a:rPr sz="2052" dirty="0">
                <a:latin typeface="Arial"/>
                <a:cs typeface="Arial"/>
              </a:rPr>
              <a:t>flows</a:t>
            </a:r>
            <a:r>
              <a:rPr sz="2052" spc="-43" dirty="0">
                <a:latin typeface="Arial"/>
                <a:cs typeface="Arial"/>
              </a:rPr>
              <a:t> </a:t>
            </a:r>
            <a:r>
              <a:rPr sz="2052" dirty="0">
                <a:latin typeface="Arial"/>
                <a:cs typeface="Arial"/>
              </a:rPr>
              <a:t>and</a:t>
            </a:r>
            <a:r>
              <a:rPr sz="2052" spc="-43" dirty="0">
                <a:latin typeface="Arial"/>
                <a:cs typeface="Arial"/>
              </a:rPr>
              <a:t> </a:t>
            </a:r>
            <a:r>
              <a:rPr sz="2052" dirty="0">
                <a:latin typeface="Arial"/>
                <a:cs typeface="Arial"/>
              </a:rPr>
              <a:t>data</a:t>
            </a:r>
            <a:r>
              <a:rPr sz="2052" spc="-38" dirty="0">
                <a:latin typeface="Arial"/>
                <a:cs typeface="Arial"/>
              </a:rPr>
              <a:t> </a:t>
            </a:r>
            <a:r>
              <a:rPr sz="2052" dirty="0">
                <a:latin typeface="Arial"/>
                <a:cs typeface="Arial"/>
              </a:rPr>
              <a:t>stores</a:t>
            </a:r>
            <a:r>
              <a:rPr sz="2052" spc="-43" dirty="0">
                <a:latin typeface="Arial"/>
                <a:cs typeface="Arial"/>
              </a:rPr>
              <a:t> </a:t>
            </a:r>
            <a:r>
              <a:rPr sz="2052" dirty="0">
                <a:latin typeface="Arial"/>
                <a:cs typeface="Arial"/>
              </a:rPr>
              <a:t>identify</a:t>
            </a:r>
            <a:r>
              <a:rPr sz="2052" spc="-81" dirty="0">
                <a:latin typeface="Arial"/>
                <a:cs typeface="Arial"/>
              </a:rPr>
              <a:t> </a:t>
            </a:r>
            <a:r>
              <a:rPr sz="2052" dirty="0">
                <a:latin typeface="Arial"/>
                <a:cs typeface="Arial"/>
              </a:rPr>
              <a:t>actual</a:t>
            </a:r>
            <a:r>
              <a:rPr sz="2052" spc="-43" dirty="0">
                <a:latin typeface="Arial"/>
                <a:cs typeface="Arial"/>
              </a:rPr>
              <a:t> </a:t>
            </a:r>
            <a:r>
              <a:rPr sz="2052" dirty="0">
                <a:latin typeface="Arial"/>
                <a:cs typeface="Arial"/>
              </a:rPr>
              <a:t>name</a:t>
            </a:r>
            <a:r>
              <a:rPr sz="2052" spc="-43" dirty="0">
                <a:latin typeface="Arial"/>
                <a:cs typeface="Arial"/>
              </a:rPr>
              <a:t> </a:t>
            </a:r>
            <a:r>
              <a:rPr sz="2052" dirty="0">
                <a:latin typeface="Arial"/>
                <a:cs typeface="Arial"/>
              </a:rPr>
              <a:t>of</a:t>
            </a:r>
            <a:r>
              <a:rPr sz="2052" spc="-73" dirty="0">
                <a:latin typeface="Arial"/>
                <a:cs typeface="Arial"/>
              </a:rPr>
              <a:t> </a:t>
            </a:r>
            <a:r>
              <a:rPr sz="2052" spc="-21" dirty="0">
                <a:latin typeface="Arial"/>
                <a:cs typeface="Arial"/>
              </a:rPr>
              <a:t>the </a:t>
            </a:r>
            <a:r>
              <a:rPr sz="2052" dirty="0">
                <a:latin typeface="Arial"/>
                <a:cs typeface="Arial"/>
              </a:rPr>
              <a:t>physical</a:t>
            </a:r>
            <a:r>
              <a:rPr sz="2052" spc="-107" dirty="0">
                <a:latin typeface="Arial"/>
                <a:cs typeface="Arial"/>
              </a:rPr>
              <a:t> </a:t>
            </a:r>
            <a:r>
              <a:rPr sz="2052" spc="-9" dirty="0">
                <a:latin typeface="Arial"/>
                <a:cs typeface="Arial"/>
              </a:rPr>
              <a:t>media.</a:t>
            </a:r>
            <a:endParaRPr sz="2052">
              <a:latin typeface="Arial"/>
              <a:cs typeface="Arial"/>
            </a:endParaRPr>
          </a:p>
          <a:p>
            <a:pPr marL="305160" indent="-294300">
              <a:spcBef>
                <a:spcPts val="244"/>
              </a:spcBef>
              <a:buClr>
                <a:srgbClr val="3399FF"/>
              </a:buClr>
              <a:buSzPct val="75000"/>
              <a:buFont typeface="Segoe UI Symbol"/>
              <a:buChar char="■"/>
              <a:tabLst>
                <a:tab pos="305160" algn="l"/>
              </a:tabLst>
            </a:pPr>
            <a:r>
              <a:rPr sz="2394" b="1" dirty="0">
                <a:latin typeface="Arial"/>
                <a:cs typeface="Arial"/>
              </a:rPr>
              <a:t>Current</a:t>
            </a:r>
            <a:r>
              <a:rPr sz="2394" b="1" spc="-47" dirty="0">
                <a:latin typeface="Arial"/>
                <a:cs typeface="Arial"/>
              </a:rPr>
              <a:t> </a:t>
            </a:r>
            <a:r>
              <a:rPr sz="2394" b="1" spc="-9" dirty="0">
                <a:latin typeface="Arial"/>
                <a:cs typeface="Arial"/>
              </a:rPr>
              <a:t>Logical</a:t>
            </a:r>
            <a:endParaRPr sz="2394">
              <a:latin typeface="Arial"/>
              <a:cs typeface="Arial"/>
            </a:endParaRPr>
          </a:p>
          <a:p>
            <a:pPr marL="646699" marR="135204" lvl="1" indent="-245431">
              <a:lnSpc>
                <a:spcPts val="2215"/>
              </a:lnSpc>
              <a:spcBef>
                <a:spcPts val="539"/>
              </a:spcBef>
              <a:buClr>
                <a:srgbClr val="CC0066"/>
              </a:buClr>
              <a:buSzPct val="79166"/>
              <a:buFont typeface="Segoe UI Symbol"/>
              <a:buChar char="□"/>
              <a:tabLst>
                <a:tab pos="646699" algn="l"/>
              </a:tabLst>
            </a:pPr>
            <a:r>
              <a:rPr sz="2052" dirty="0">
                <a:latin typeface="Arial"/>
                <a:cs typeface="Arial"/>
              </a:rPr>
              <a:t>Physical</a:t>
            </a:r>
            <a:r>
              <a:rPr sz="2052" spc="-51" dirty="0">
                <a:latin typeface="Arial"/>
                <a:cs typeface="Arial"/>
              </a:rPr>
              <a:t> </a:t>
            </a:r>
            <a:r>
              <a:rPr sz="2052" dirty="0">
                <a:latin typeface="Arial"/>
                <a:cs typeface="Arial"/>
              </a:rPr>
              <a:t>aspects</a:t>
            </a:r>
            <a:r>
              <a:rPr sz="2052" spc="-47" dirty="0">
                <a:latin typeface="Arial"/>
                <a:cs typeface="Arial"/>
              </a:rPr>
              <a:t> </a:t>
            </a:r>
            <a:r>
              <a:rPr sz="2052" dirty="0">
                <a:latin typeface="Arial"/>
                <a:cs typeface="Arial"/>
              </a:rPr>
              <a:t>of</a:t>
            </a:r>
            <a:r>
              <a:rPr sz="2052" spc="-51" dirty="0">
                <a:latin typeface="Arial"/>
                <a:cs typeface="Arial"/>
              </a:rPr>
              <a:t> </a:t>
            </a:r>
            <a:r>
              <a:rPr sz="2052" dirty="0">
                <a:latin typeface="Arial"/>
                <a:cs typeface="Arial"/>
              </a:rPr>
              <a:t>system</a:t>
            </a:r>
            <a:r>
              <a:rPr sz="2052" spc="-47" dirty="0">
                <a:latin typeface="Arial"/>
                <a:cs typeface="Arial"/>
              </a:rPr>
              <a:t> </a:t>
            </a:r>
            <a:r>
              <a:rPr sz="2052" dirty="0">
                <a:latin typeface="Arial"/>
                <a:cs typeface="Arial"/>
              </a:rPr>
              <a:t>are</a:t>
            </a:r>
            <a:r>
              <a:rPr sz="2052" spc="-51" dirty="0">
                <a:latin typeface="Arial"/>
                <a:cs typeface="Arial"/>
              </a:rPr>
              <a:t> </a:t>
            </a:r>
            <a:r>
              <a:rPr sz="2052" dirty="0">
                <a:latin typeface="Arial"/>
                <a:cs typeface="Arial"/>
              </a:rPr>
              <a:t>removed</a:t>
            </a:r>
            <a:r>
              <a:rPr sz="2052" spc="-47" dirty="0">
                <a:latin typeface="Arial"/>
                <a:cs typeface="Arial"/>
              </a:rPr>
              <a:t> </a:t>
            </a:r>
            <a:r>
              <a:rPr sz="2052" dirty="0">
                <a:latin typeface="Arial"/>
                <a:cs typeface="Arial"/>
              </a:rPr>
              <a:t>as</a:t>
            </a:r>
            <a:r>
              <a:rPr sz="2052" spc="-51" dirty="0">
                <a:latin typeface="Arial"/>
                <a:cs typeface="Arial"/>
              </a:rPr>
              <a:t> </a:t>
            </a:r>
            <a:r>
              <a:rPr sz="2052" dirty="0">
                <a:latin typeface="Arial"/>
                <a:cs typeface="Arial"/>
              </a:rPr>
              <a:t>much</a:t>
            </a:r>
            <a:r>
              <a:rPr sz="2052" spc="-47" dirty="0">
                <a:latin typeface="Arial"/>
                <a:cs typeface="Arial"/>
              </a:rPr>
              <a:t> </a:t>
            </a:r>
            <a:r>
              <a:rPr sz="2052" spc="-21" dirty="0">
                <a:latin typeface="Arial"/>
                <a:cs typeface="Arial"/>
              </a:rPr>
              <a:t>as </a:t>
            </a:r>
            <a:r>
              <a:rPr sz="2052" spc="-9" dirty="0">
                <a:latin typeface="Arial"/>
                <a:cs typeface="Arial"/>
              </a:rPr>
              <a:t>possible.</a:t>
            </a:r>
            <a:endParaRPr sz="2052">
              <a:latin typeface="Arial"/>
              <a:cs typeface="Arial"/>
            </a:endParaRPr>
          </a:p>
          <a:p>
            <a:pPr marL="646699" marR="17919" lvl="1" indent="-245431">
              <a:lnSpc>
                <a:spcPts val="2215"/>
              </a:lnSpc>
              <a:spcBef>
                <a:spcPts val="496"/>
              </a:spcBef>
              <a:buClr>
                <a:srgbClr val="CC0066"/>
              </a:buClr>
              <a:buSzPct val="79166"/>
              <a:buFont typeface="Segoe UI Symbol"/>
              <a:buChar char="□"/>
              <a:tabLst>
                <a:tab pos="646699" algn="l"/>
              </a:tabLst>
            </a:pPr>
            <a:r>
              <a:rPr sz="2052" dirty="0">
                <a:latin typeface="Arial"/>
                <a:cs typeface="Arial"/>
              </a:rPr>
              <a:t>Current</a:t>
            </a:r>
            <a:r>
              <a:rPr sz="2052" spc="-56" dirty="0">
                <a:latin typeface="Arial"/>
                <a:cs typeface="Arial"/>
              </a:rPr>
              <a:t> </a:t>
            </a:r>
            <a:r>
              <a:rPr sz="2052" dirty="0">
                <a:latin typeface="Arial"/>
                <a:cs typeface="Arial"/>
              </a:rPr>
              <a:t>system</a:t>
            </a:r>
            <a:r>
              <a:rPr sz="2052" spc="-26" dirty="0">
                <a:latin typeface="Arial"/>
                <a:cs typeface="Arial"/>
              </a:rPr>
              <a:t> </a:t>
            </a:r>
            <a:r>
              <a:rPr sz="2052" dirty="0">
                <a:latin typeface="Arial"/>
                <a:cs typeface="Arial"/>
              </a:rPr>
              <a:t>is</a:t>
            </a:r>
            <a:r>
              <a:rPr sz="2052" spc="-56" dirty="0">
                <a:latin typeface="Arial"/>
                <a:cs typeface="Arial"/>
              </a:rPr>
              <a:t> </a:t>
            </a:r>
            <a:r>
              <a:rPr sz="2052" dirty="0">
                <a:latin typeface="Arial"/>
                <a:cs typeface="Arial"/>
              </a:rPr>
              <a:t>reduced</a:t>
            </a:r>
            <a:r>
              <a:rPr sz="2052" spc="-56" dirty="0">
                <a:latin typeface="Arial"/>
                <a:cs typeface="Arial"/>
              </a:rPr>
              <a:t> </a:t>
            </a:r>
            <a:r>
              <a:rPr sz="2052" dirty="0">
                <a:latin typeface="Arial"/>
                <a:cs typeface="Arial"/>
              </a:rPr>
              <a:t>to</a:t>
            </a:r>
            <a:r>
              <a:rPr sz="2052" spc="-51" dirty="0">
                <a:latin typeface="Arial"/>
                <a:cs typeface="Arial"/>
              </a:rPr>
              <a:t> </a:t>
            </a:r>
            <a:r>
              <a:rPr sz="2052" dirty="0">
                <a:latin typeface="Arial"/>
                <a:cs typeface="Arial"/>
              </a:rPr>
              <a:t>data</a:t>
            </a:r>
            <a:r>
              <a:rPr sz="2052" spc="-56" dirty="0">
                <a:latin typeface="Arial"/>
                <a:cs typeface="Arial"/>
              </a:rPr>
              <a:t> </a:t>
            </a:r>
            <a:r>
              <a:rPr sz="2052" dirty="0">
                <a:latin typeface="Arial"/>
                <a:cs typeface="Arial"/>
              </a:rPr>
              <a:t>and</a:t>
            </a:r>
            <a:r>
              <a:rPr sz="2052" spc="-60" dirty="0">
                <a:latin typeface="Arial"/>
                <a:cs typeface="Arial"/>
              </a:rPr>
              <a:t> </a:t>
            </a:r>
            <a:r>
              <a:rPr sz="2052" dirty="0">
                <a:latin typeface="Arial"/>
                <a:cs typeface="Arial"/>
              </a:rPr>
              <a:t>processes</a:t>
            </a:r>
            <a:r>
              <a:rPr sz="2052" spc="-56" dirty="0">
                <a:latin typeface="Arial"/>
                <a:cs typeface="Arial"/>
              </a:rPr>
              <a:t> </a:t>
            </a:r>
            <a:r>
              <a:rPr sz="2052" spc="-17" dirty="0">
                <a:latin typeface="Arial"/>
                <a:cs typeface="Arial"/>
              </a:rPr>
              <a:t>that </a:t>
            </a:r>
            <a:r>
              <a:rPr sz="2052" dirty="0">
                <a:latin typeface="Arial"/>
                <a:cs typeface="Arial"/>
              </a:rPr>
              <a:t>transform</a:t>
            </a:r>
            <a:r>
              <a:rPr sz="2052" spc="-64" dirty="0">
                <a:latin typeface="Arial"/>
                <a:cs typeface="Arial"/>
              </a:rPr>
              <a:t> </a:t>
            </a:r>
            <a:r>
              <a:rPr sz="2052" spc="-9" dirty="0">
                <a:latin typeface="Arial"/>
                <a:cs typeface="Arial"/>
              </a:rPr>
              <a:t>them.</a:t>
            </a:r>
            <a:endParaRPr sz="2052">
              <a:latin typeface="Arial"/>
              <a:cs typeface="Arial"/>
            </a:endParaRP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Four</a:t>
            </a:r>
            <a:r>
              <a:rPr sz="3420" spc="-51" dirty="0"/>
              <a:t> </a:t>
            </a:r>
            <a:r>
              <a:rPr sz="3420" dirty="0"/>
              <a:t>Different Types of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30</a:t>
            </a:fld>
            <a:endParaRPr spc="-21" dirty="0"/>
          </a:p>
        </p:txBody>
      </p:sp>
      <p:sp>
        <p:nvSpPr>
          <p:cNvPr id="3" name="object 3"/>
          <p:cNvSpPr txBox="1"/>
          <p:nvPr/>
        </p:nvSpPr>
        <p:spPr>
          <a:xfrm>
            <a:off x="1120262" y="2128665"/>
            <a:ext cx="6399713" cy="3173307"/>
          </a:xfrm>
          <a:prstGeom prst="rect">
            <a:avLst/>
          </a:prstGeom>
        </p:spPr>
        <p:txBody>
          <a:bodyPr vert="horz" wrap="square" lIns="0" tIns="90680" rIns="0" bIns="0" rtlCol="0">
            <a:spAutoFit/>
          </a:bodyPr>
          <a:lstStyle/>
          <a:p>
            <a:pPr marL="305160" indent="-294300">
              <a:spcBef>
                <a:spcPts val="714"/>
              </a:spcBef>
              <a:buClr>
                <a:srgbClr val="3399FF"/>
              </a:buClr>
              <a:buSzPct val="75000"/>
              <a:buFont typeface="Segoe UI Symbol"/>
              <a:buChar char="■"/>
              <a:tabLst>
                <a:tab pos="305160" algn="l"/>
              </a:tabLst>
            </a:pPr>
            <a:r>
              <a:rPr sz="2736" b="1" dirty="0">
                <a:latin typeface="Arial"/>
                <a:cs typeface="Arial"/>
              </a:rPr>
              <a:t>New</a:t>
            </a:r>
            <a:r>
              <a:rPr sz="2736" b="1" spc="-77" dirty="0">
                <a:latin typeface="Arial"/>
                <a:cs typeface="Arial"/>
              </a:rPr>
              <a:t> </a:t>
            </a:r>
            <a:r>
              <a:rPr sz="2736" b="1" spc="-9" dirty="0">
                <a:latin typeface="Arial"/>
                <a:cs typeface="Arial"/>
              </a:rPr>
              <a:t>Logical</a:t>
            </a:r>
            <a:endParaRPr sz="2736">
              <a:latin typeface="Arial"/>
              <a:cs typeface="Arial"/>
            </a:endParaRPr>
          </a:p>
          <a:p>
            <a:pPr marL="645613" lvl="1" indent="-243802">
              <a:spcBef>
                <a:spcPts val="569"/>
              </a:spcBef>
              <a:buClr>
                <a:srgbClr val="CC0066"/>
              </a:buClr>
              <a:buSzPct val="78571"/>
              <a:buFont typeface="Segoe UI Symbol"/>
              <a:buChar char="□"/>
              <a:tabLst>
                <a:tab pos="645613" algn="l"/>
              </a:tabLst>
            </a:pPr>
            <a:r>
              <a:rPr sz="2394" dirty="0">
                <a:latin typeface="Arial"/>
                <a:cs typeface="Arial"/>
              </a:rPr>
              <a:t>Includes</a:t>
            </a:r>
            <a:r>
              <a:rPr sz="2394" spc="-47" dirty="0">
                <a:latin typeface="Arial"/>
                <a:cs typeface="Arial"/>
              </a:rPr>
              <a:t> </a:t>
            </a:r>
            <a:r>
              <a:rPr sz="2394" spc="-9" dirty="0">
                <a:latin typeface="Arial"/>
                <a:cs typeface="Arial"/>
              </a:rPr>
              <a:t>additional</a:t>
            </a:r>
            <a:r>
              <a:rPr sz="2394" spc="-47" dirty="0">
                <a:latin typeface="Arial"/>
                <a:cs typeface="Arial"/>
              </a:rPr>
              <a:t> </a:t>
            </a:r>
            <a:r>
              <a:rPr sz="2394" spc="-9" dirty="0">
                <a:latin typeface="Arial"/>
                <a:cs typeface="Arial"/>
              </a:rPr>
              <a:t>functions</a:t>
            </a:r>
            <a:endParaRPr sz="2394">
              <a:latin typeface="Arial"/>
              <a:cs typeface="Arial"/>
            </a:endParaRPr>
          </a:p>
          <a:p>
            <a:pPr marL="645613" lvl="1" indent="-243802">
              <a:spcBef>
                <a:spcPts val="577"/>
              </a:spcBef>
              <a:buClr>
                <a:srgbClr val="CC0066"/>
              </a:buClr>
              <a:buSzPct val="78571"/>
              <a:buFont typeface="Segoe UI Symbol"/>
              <a:buChar char="□"/>
              <a:tabLst>
                <a:tab pos="645613" algn="l"/>
              </a:tabLst>
            </a:pPr>
            <a:r>
              <a:rPr sz="2394" dirty="0">
                <a:latin typeface="Arial"/>
                <a:cs typeface="Arial"/>
              </a:rPr>
              <a:t>Obsolete</a:t>
            </a:r>
            <a:r>
              <a:rPr sz="2394" spc="-43" dirty="0">
                <a:latin typeface="Arial"/>
                <a:cs typeface="Arial"/>
              </a:rPr>
              <a:t> </a:t>
            </a:r>
            <a:r>
              <a:rPr sz="2394" dirty="0">
                <a:latin typeface="Arial"/>
                <a:cs typeface="Arial"/>
              </a:rPr>
              <a:t>functions</a:t>
            </a:r>
            <a:r>
              <a:rPr sz="2394" spc="-38" dirty="0">
                <a:latin typeface="Arial"/>
                <a:cs typeface="Arial"/>
              </a:rPr>
              <a:t> </a:t>
            </a:r>
            <a:r>
              <a:rPr sz="2394" dirty="0">
                <a:latin typeface="Arial"/>
                <a:cs typeface="Arial"/>
              </a:rPr>
              <a:t>are</a:t>
            </a:r>
            <a:r>
              <a:rPr sz="2394" spc="-38" dirty="0">
                <a:latin typeface="Arial"/>
                <a:cs typeface="Arial"/>
              </a:rPr>
              <a:t> </a:t>
            </a:r>
            <a:r>
              <a:rPr sz="2394" spc="-9" dirty="0">
                <a:latin typeface="Arial"/>
                <a:cs typeface="Arial"/>
              </a:rPr>
              <a:t>removed.</a:t>
            </a:r>
            <a:endParaRPr sz="2394">
              <a:latin typeface="Arial"/>
              <a:cs typeface="Arial"/>
            </a:endParaRPr>
          </a:p>
          <a:p>
            <a:pPr marL="645613" lvl="1" indent="-243802">
              <a:spcBef>
                <a:spcPts val="573"/>
              </a:spcBef>
              <a:buClr>
                <a:srgbClr val="CC0066"/>
              </a:buClr>
              <a:buSzPct val="78571"/>
              <a:buFont typeface="Segoe UI Symbol"/>
              <a:buChar char="□"/>
              <a:tabLst>
                <a:tab pos="645613" algn="l"/>
              </a:tabLst>
            </a:pPr>
            <a:r>
              <a:rPr sz="2394" dirty="0">
                <a:latin typeface="Arial"/>
                <a:cs typeface="Arial"/>
              </a:rPr>
              <a:t>Inefficient</a:t>
            </a:r>
            <a:r>
              <a:rPr sz="2394" spc="-103" dirty="0">
                <a:latin typeface="Arial"/>
                <a:cs typeface="Arial"/>
              </a:rPr>
              <a:t> </a:t>
            </a:r>
            <a:r>
              <a:rPr sz="2394" dirty="0">
                <a:latin typeface="Arial"/>
                <a:cs typeface="Arial"/>
              </a:rPr>
              <a:t>data</a:t>
            </a:r>
            <a:r>
              <a:rPr sz="2394" spc="-9" dirty="0">
                <a:latin typeface="Arial"/>
                <a:cs typeface="Arial"/>
              </a:rPr>
              <a:t> </a:t>
            </a:r>
            <a:r>
              <a:rPr sz="2394" dirty="0">
                <a:latin typeface="Arial"/>
                <a:cs typeface="Arial"/>
              </a:rPr>
              <a:t>flows</a:t>
            </a:r>
            <a:r>
              <a:rPr sz="2394" spc="-9" dirty="0">
                <a:latin typeface="Arial"/>
                <a:cs typeface="Arial"/>
              </a:rPr>
              <a:t> </a:t>
            </a:r>
            <a:r>
              <a:rPr sz="2394" dirty="0">
                <a:latin typeface="Arial"/>
                <a:cs typeface="Arial"/>
              </a:rPr>
              <a:t>are</a:t>
            </a:r>
            <a:r>
              <a:rPr sz="2394" spc="-13" dirty="0">
                <a:latin typeface="Arial"/>
                <a:cs typeface="Arial"/>
              </a:rPr>
              <a:t> </a:t>
            </a:r>
            <a:r>
              <a:rPr sz="2394" spc="-9" dirty="0">
                <a:latin typeface="Arial"/>
                <a:cs typeface="Arial"/>
              </a:rPr>
              <a:t>reorganized.</a:t>
            </a:r>
            <a:endParaRPr sz="2394">
              <a:latin typeface="Arial"/>
              <a:cs typeface="Arial"/>
            </a:endParaRPr>
          </a:p>
          <a:p>
            <a:pPr marL="305160" indent="-294300">
              <a:spcBef>
                <a:spcPts val="663"/>
              </a:spcBef>
              <a:buClr>
                <a:srgbClr val="3399FF"/>
              </a:buClr>
              <a:buSzPct val="75000"/>
              <a:buFont typeface="Segoe UI Symbol"/>
              <a:buChar char="■"/>
              <a:tabLst>
                <a:tab pos="305160" algn="l"/>
              </a:tabLst>
            </a:pPr>
            <a:r>
              <a:rPr sz="2736" b="1" dirty="0">
                <a:latin typeface="Arial"/>
                <a:cs typeface="Arial"/>
              </a:rPr>
              <a:t>New</a:t>
            </a:r>
            <a:r>
              <a:rPr sz="2736" b="1" spc="-77" dirty="0">
                <a:latin typeface="Arial"/>
                <a:cs typeface="Arial"/>
              </a:rPr>
              <a:t> </a:t>
            </a:r>
            <a:r>
              <a:rPr sz="2736" b="1" spc="-9" dirty="0">
                <a:latin typeface="Arial"/>
                <a:cs typeface="Arial"/>
              </a:rPr>
              <a:t>Physical</a:t>
            </a:r>
            <a:endParaRPr sz="2736">
              <a:latin typeface="Arial"/>
              <a:cs typeface="Arial"/>
            </a:endParaRPr>
          </a:p>
          <a:p>
            <a:pPr marL="645070" marR="4344" lvl="1" indent="-243802">
              <a:spcBef>
                <a:spcPts val="569"/>
              </a:spcBef>
              <a:buClr>
                <a:srgbClr val="CC0066"/>
              </a:buClr>
              <a:buSzPct val="78571"/>
              <a:buFont typeface="Segoe UI Symbol"/>
              <a:buChar char="□"/>
              <a:tabLst>
                <a:tab pos="646699" algn="l"/>
              </a:tabLst>
            </a:pPr>
            <a:r>
              <a:rPr sz="2394" dirty="0">
                <a:latin typeface="Arial"/>
                <a:cs typeface="Arial"/>
              </a:rPr>
              <a:t>Represents</a:t>
            </a:r>
            <a:r>
              <a:rPr sz="2394" spc="-30" dirty="0">
                <a:latin typeface="Arial"/>
                <a:cs typeface="Arial"/>
              </a:rPr>
              <a:t> </a:t>
            </a:r>
            <a:r>
              <a:rPr sz="2394" dirty="0">
                <a:latin typeface="Arial"/>
                <a:cs typeface="Arial"/>
              </a:rPr>
              <a:t>the</a:t>
            </a:r>
            <a:r>
              <a:rPr sz="2394" spc="-30" dirty="0">
                <a:latin typeface="Arial"/>
                <a:cs typeface="Arial"/>
              </a:rPr>
              <a:t> </a:t>
            </a:r>
            <a:r>
              <a:rPr sz="2394" dirty="0">
                <a:latin typeface="Arial"/>
                <a:cs typeface="Arial"/>
              </a:rPr>
              <a:t>physical</a:t>
            </a:r>
            <a:r>
              <a:rPr sz="2394" spc="-26" dirty="0">
                <a:latin typeface="Arial"/>
                <a:cs typeface="Arial"/>
              </a:rPr>
              <a:t> </a:t>
            </a:r>
            <a:r>
              <a:rPr sz="2394" dirty="0">
                <a:latin typeface="Arial"/>
                <a:cs typeface="Arial"/>
              </a:rPr>
              <a:t>implementation</a:t>
            </a:r>
            <a:r>
              <a:rPr sz="2394" spc="-30" dirty="0">
                <a:latin typeface="Arial"/>
                <a:cs typeface="Arial"/>
              </a:rPr>
              <a:t> </a:t>
            </a:r>
            <a:r>
              <a:rPr sz="2394" spc="-21" dirty="0">
                <a:latin typeface="Arial"/>
                <a:cs typeface="Arial"/>
              </a:rPr>
              <a:t>of 	</a:t>
            </a:r>
            <a:r>
              <a:rPr sz="2394" dirty="0">
                <a:latin typeface="Arial"/>
                <a:cs typeface="Arial"/>
              </a:rPr>
              <a:t>the</a:t>
            </a:r>
            <a:r>
              <a:rPr sz="2394" spc="-34" dirty="0">
                <a:latin typeface="Arial"/>
                <a:cs typeface="Arial"/>
              </a:rPr>
              <a:t> </a:t>
            </a:r>
            <a:r>
              <a:rPr sz="2394" dirty="0">
                <a:latin typeface="Arial"/>
                <a:cs typeface="Arial"/>
              </a:rPr>
              <a:t>new</a:t>
            </a:r>
            <a:r>
              <a:rPr sz="2394" spc="-34" dirty="0">
                <a:latin typeface="Arial"/>
                <a:cs typeface="Arial"/>
              </a:rPr>
              <a:t> </a:t>
            </a:r>
            <a:r>
              <a:rPr sz="2394" spc="-9" dirty="0">
                <a:latin typeface="Arial"/>
                <a:cs typeface="Arial"/>
              </a:rPr>
              <a:t>system</a:t>
            </a:r>
            <a:endParaRPr sz="2394">
              <a:latin typeface="Arial"/>
              <a:cs typeface="Arial"/>
            </a:endParaRP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Guidelines</a:t>
            </a:r>
            <a:r>
              <a:rPr sz="3762" spc="-81" dirty="0"/>
              <a:t> </a:t>
            </a:r>
            <a:r>
              <a:rPr sz="3762" dirty="0"/>
              <a:t>for</a:t>
            </a:r>
            <a:r>
              <a:rPr sz="3762" spc="-128" dirty="0"/>
              <a:t> </a:t>
            </a:r>
            <a:r>
              <a:rPr sz="3762" dirty="0"/>
              <a:t>Drawing</a:t>
            </a:r>
            <a:r>
              <a:rPr sz="3762" spc="-133" dirty="0"/>
              <a:t> </a:t>
            </a:r>
            <a:r>
              <a:rPr sz="3762" spc="-17" dirty="0"/>
              <a:t>DFDs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31</a:t>
            </a:fld>
            <a:endParaRPr spc="-21" dirty="0"/>
          </a:p>
        </p:txBody>
      </p:sp>
      <p:sp>
        <p:nvSpPr>
          <p:cNvPr id="3" name="object 3"/>
          <p:cNvSpPr txBox="1">
            <a:spLocks noGrp="1"/>
          </p:cNvSpPr>
          <p:nvPr>
            <p:ph type="body" idx="1"/>
          </p:nvPr>
        </p:nvSpPr>
        <p:spPr>
          <a:xfrm>
            <a:off x="537563" y="1756582"/>
            <a:ext cx="6743971" cy="3514946"/>
          </a:xfrm>
          <a:prstGeom prst="rect">
            <a:avLst/>
          </a:prstGeom>
        </p:spPr>
        <p:txBody>
          <a:bodyPr vert="horz" wrap="square" lIns="0" tIns="49412" rIns="0" bIns="0" rtlCol="0">
            <a:spAutoFit/>
          </a:bodyPr>
          <a:lstStyle/>
          <a:p>
            <a:pPr marL="305160" indent="-294300">
              <a:lnSpc>
                <a:spcPct val="100000"/>
              </a:lnSpc>
              <a:spcBef>
                <a:spcPts val="389"/>
              </a:spcBef>
              <a:buClr>
                <a:srgbClr val="3399FF"/>
              </a:buClr>
              <a:buSzPct val="75000"/>
              <a:buFont typeface="Segoe UI Symbol"/>
              <a:buChar char="■"/>
              <a:tabLst>
                <a:tab pos="305160" algn="l"/>
              </a:tabLst>
            </a:pPr>
            <a:r>
              <a:rPr b="1" spc="-9" dirty="0">
                <a:latin typeface="Arial"/>
                <a:cs typeface="Arial"/>
              </a:rPr>
              <a:t>Completeness</a:t>
            </a:r>
          </a:p>
          <a:p>
            <a:pPr marL="645070" marR="34751" lvl="1" indent="-243802">
              <a:lnSpc>
                <a:spcPts val="2582"/>
              </a:lnSpc>
              <a:spcBef>
                <a:spcPts val="611"/>
              </a:spcBef>
              <a:buClr>
                <a:srgbClr val="CC0066"/>
              </a:buClr>
              <a:buSzPct val="78571"/>
              <a:buFont typeface="Segoe UI Symbol"/>
              <a:buChar char="□"/>
              <a:tabLst>
                <a:tab pos="646699" algn="l"/>
              </a:tabLst>
            </a:pPr>
            <a:r>
              <a:rPr sz="2394" dirty="0">
                <a:latin typeface="Arial"/>
                <a:cs typeface="Arial"/>
              </a:rPr>
              <a:t>DFD</a:t>
            </a:r>
            <a:r>
              <a:rPr sz="2394" spc="-64" dirty="0">
                <a:latin typeface="Arial"/>
                <a:cs typeface="Arial"/>
              </a:rPr>
              <a:t> </a:t>
            </a:r>
            <a:r>
              <a:rPr sz="2394" dirty="0">
                <a:latin typeface="Arial"/>
                <a:cs typeface="Arial"/>
              </a:rPr>
              <a:t>must</a:t>
            </a:r>
            <a:r>
              <a:rPr sz="2394" spc="-26" dirty="0">
                <a:latin typeface="Arial"/>
                <a:cs typeface="Arial"/>
              </a:rPr>
              <a:t> </a:t>
            </a:r>
            <a:r>
              <a:rPr sz="2394" dirty="0">
                <a:latin typeface="Arial"/>
                <a:cs typeface="Arial"/>
              </a:rPr>
              <a:t>include</a:t>
            </a:r>
            <a:r>
              <a:rPr sz="2394" spc="-26" dirty="0">
                <a:latin typeface="Arial"/>
                <a:cs typeface="Arial"/>
              </a:rPr>
              <a:t> </a:t>
            </a:r>
            <a:r>
              <a:rPr sz="2394" dirty="0">
                <a:latin typeface="Arial"/>
                <a:cs typeface="Arial"/>
              </a:rPr>
              <a:t>all</a:t>
            </a:r>
            <a:r>
              <a:rPr sz="2394" spc="-30" dirty="0">
                <a:latin typeface="Arial"/>
                <a:cs typeface="Arial"/>
              </a:rPr>
              <a:t> </a:t>
            </a:r>
            <a:r>
              <a:rPr sz="2394" dirty="0">
                <a:latin typeface="Arial"/>
                <a:cs typeface="Arial"/>
              </a:rPr>
              <a:t>components</a:t>
            </a:r>
            <a:r>
              <a:rPr sz="2394" spc="-26" dirty="0">
                <a:latin typeface="Arial"/>
                <a:cs typeface="Arial"/>
              </a:rPr>
              <a:t> </a:t>
            </a:r>
            <a:r>
              <a:rPr sz="2394" spc="-9" dirty="0">
                <a:latin typeface="Arial"/>
                <a:cs typeface="Arial"/>
              </a:rPr>
              <a:t>necessary 	</a:t>
            </a:r>
            <a:r>
              <a:rPr sz="2394" dirty="0">
                <a:latin typeface="Arial"/>
                <a:cs typeface="Arial"/>
              </a:rPr>
              <a:t>for</a:t>
            </a:r>
            <a:r>
              <a:rPr sz="2394" spc="-9" dirty="0">
                <a:latin typeface="Arial"/>
                <a:cs typeface="Arial"/>
              </a:rPr>
              <a:t> system.</a:t>
            </a:r>
            <a:endParaRPr sz="2394" dirty="0">
              <a:latin typeface="Arial"/>
              <a:cs typeface="Arial"/>
            </a:endParaRPr>
          </a:p>
          <a:p>
            <a:pPr marL="645070" marR="255748" lvl="1" indent="-243802">
              <a:lnSpc>
                <a:spcPts val="2582"/>
              </a:lnSpc>
              <a:spcBef>
                <a:spcPts val="581"/>
              </a:spcBef>
              <a:buClr>
                <a:srgbClr val="CC0066"/>
              </a:buClr>
              <a:buSzPct val="78571"/>
              <a:buFont typeface="Segoe UI Symbol"/>
              <a:buChar char="□"/>
              <a:tabLst>
                <a:tab pos="646699" algn="l"/>
              </a:tabLst>
            </a:pPr>
            <a:r>
              <a:rPr sz="2394" dirty="0">
                <a:latin typeface="Arial"/>
                <a:cs typeface="Arial"/>
              </a:rPr>
              <a:t>Each</a:t>
            </a:r>
            <a:r>
              <a:rPr sz="2394" spc="-56" dirty="0">
                <a:latin typeface="Arial"/>
                <a:cs typeface="Arial"/>
              </a:rPr>
              <a:t> </a:t>
            </a:r>
            <a:r>
              <a:rPr sz="2394" dirty="0">
                <a:latin typeface="Arial"/>
                <a:cs typeface="Arial"/>
              </a:rPr>
              <a:t>component</a:t>
            </a:r>
            <a:r>
              <a:rPr sz="2394" spc="-17" dirty="0">
                <a:latin typeface="Arial"/>
                <a:cs typeface="Arial"/>
              </a:rPr>
              <a:t> </a:t>
            </a:r>
            <a:r>
              <a:rPr sz="2394" dirty="0">
                <a:latin typeface="Arial"/>
                <a:cs typeface="Arial"/>
              </a:rPr>
              <a:t>must</a:t>
            </a:r>
            <a:r>
              <a:rPr sz="2394" spc="-13" dirty="0">
                <a:latin typeface="Arial"/>
                <a:cs typeface="Arial"/>
              </a:rPr>
              <a:t> </a:t>
            </a:r>
            <a:r>
              <a:rPr sz="2394" dirty="0">
                <a:latin typeface="Arial"/>
                <a:cs typeface="Arial"/>
              </a:rPr>
              <a:t>be</a:t>
            </a:r>
            <a:r>
              <a:rPr sz="2394" spc="-13" dirty="0">
                <a:latin typeface="Arial"/>
                <a:cs typeface="Arial"/>
              </a:rPr>
              <a:t> </a:t>
            </a:r>
            <a:r>
              <a:rPr sz="2394" dirty="0">
                <a:latin typeface="Arial"/>
                <a:cs typeface="Arial"/>
              </a:rPr>
              <a:t>fully</a:t>
            </a:r>
            <a:r>
              <a:rPr sz="2394" spc="-56" dirty="0">
                <a:latin typeface="Arial"/>
                <a:cs typeface="Arial"/>
              </a:rPr>
              <a:t> </a:t>
            </a:r>
            <a:r>
              <a:rPr sz="2394" dirty="0">
                <a:latin typeface="Arial"/>
                <a:cs typeface="Arial"/>
              </a:rPr>
              <a:t>described</a:t>
            </a:r>
            <a:r>
              <a:rPr sz="2394" spc="-13" dirty="0">
                <a:latin typeface="Arial"/>
                <a:cs typeface="Arial"/>
              </a:rPr>
              <a:t> </a:t>
            </a:r>
            <a:r>
              <a:rPr sz="2394" spc="-21" dirty="0">
                <a:latin typeface="Arial"/>
                <a:cs typeface="Arial"/>
              </a:rPr>
              <a:t>in 	</a:t>
            </a:r>
            <a:r>
              <a:rPr sz="2394" dirty="0">
                <a:latin typeface="Arial"/>
                <a:cs typeface="Arial"/>
              </a:rPr>
              <a:t>the</a:t>
            </a:r>
            <a:r>
              <a:rPr sz="2394" spc="-17" dirty="0">
                <a:latin typeface="Arial"/>
                <a:cs typeface="Arial"/>
              </a:rPr>
              <a:t> </a:t>
            </a:r>
            <a:r>
              <a:rPr sz="2394" dirty="0">
                <a:latin typeface="Arial"/>
                <a:cs typeface="Arial"/>
              </a:rPr>
              <a:t>project</a:t>
            </a:r>
            <a:r>
              <a:rPr sz="2394" spc="-21" dirty="0">
                <a:latin typeface="Arial"/>
                <a:cs typeface="Arial"/>
              </a:rPr>
              <a:t> </a:t>
            </a:r>
            <a:r>
              <a:rPr sz="2394" dirty="0">
                <a:latin typeface="Arial"/>
                <a:cs typeface="Arial"/>
              </a:rPr>
              <a:t>dictionary</a:t>
            </a:r>
            <a:r>
              <a:rPr sz="2394" spc="-17" dirty="0">
                <a:latin typeface="Arial"/>
                <a:cs typeface="Arial"/>
              </a:rPr>
              <a:t> </a:t>
            </a:r>
            <a:r>
              <a:rPr sz="2394" dirty="0">
                <a:latin typeface="Arial"/>
                <a:cs typeface="Arial"/>
              </a:rPr>
              <a:t>or</a:t>
            </a:r>
            <a:r>
              <a:rPr sz="2394" spc="-17" dirty="0">
                <a:latin typeface="Arial"/>
                <a:cs typeface="Arial"/>
              </a:rPr>
              <a:t> </a:t>
            </a:r>
            <a:r>
              <a:rPr sz="2394" dirty="0">
                <a:latin typeface="Arial"/>
                <a:cs typeface="Arial"/>
              </a:rPr>
              <a:t>CASE</a:t>
            </a:r>
            <a:r>
              <a:rPr sz="2394" spc="-56" dirty="0">
                <a:latin typeface="Arial"/>
                <a:cs typeface="Arial"/>
              </a:rPr>
              <a:t> </a:t>
            </a:r>
            <a:r>
              <a:rPr sz="2394" spc="-9" dirty="0">
                <a:latin typeface="Arial"/>
                <a:cs typeface="Arial"/>
              </a:rPr>
              <a:t>repository.</a:t>
            </a:r>
            <a:endParaRPr sz="2394" dirty="0">
              <a:latin typeface="Arial"/>
              <a:cs typeface="Arial"/>
            </a:endParaRPr>
          </a:p>
          <a:p>
            <a:pPr marL="305160" indent="-294300">
              <a:lnSpc>
                <a:spcPct val="100000"/>
              </a:lnSpc>
              <a:spcBef>
                <a:spcPts val="299"/>
              </a:spcBef>
              <a:buClr>
                <a:srgbClr val="3399FF"/>
              </a:buClr>
              <a:buSzPct val="75000"/>
              <a:buFont typeface="Segoe UI Symbol"/>
              <a:buChar char="■"/>
              <a:tabLst>
                <a:tab pos="305160" algn="l"/>
              </a:tabLst>
            </a:pPr>
            <a:r>
              <a:rPr b="1" spc="-9" dirty="0">
                <a:latin typeface="Arial"/>
                <a:cs typeface="Arial"/>
              </a:rPr>
              <a:t>Consistency</a:t>
            </a:r>
          </a:p>
          <a:p>
            <a:pPr marL="645070" marR="4344" lvl="1" indent="-243802">
              <a:lnSpc>
                <a:spcPts val="2582"/>
              </a:lnSpc>
              <a:spcBef>
                <a:spcPts val="607"/>
              </a:spcBef>
              <a:buClr>
                <a:srgbClr val="CC0066"/>
              </a:buClr>
              <a:buSzPct val="78571"/>
              <a:buFont typeface="Segoe UI Symbol"/>
              <a:buChar char="□"/>
              <a:tabLst>
                <a:tab pos="646699" algn="l"/>
              </a:tabLst>
            </a:pPr>
            <a:r>
              <a:rPr sz="2394" dirty="0">
                <a:latin typeface="Arial"/>
                <a:cs typeface="Arial"/>
              </a:rPr>
              <a:t>The</a:t>
            </a:r>
            <a:r>
              <a:rPr sz="2394" spc="-26" dirty="0">
                <a:latin typeface="Arial"/>
                <a:cs typeface="Arial"/>
              </a:rPr>
              <a:t> </a:t>
            </a:r>
            <a:r>
              <a:rPr sz="2394" dirty="0">
                <a:latin typeface="Arial"/>
                <a:cs typeface="Arial"/>
              </a:rPr>
              <a:t>extent</a:t>
            </a:r>
            <a:r>
              <a:rPr sz="2394" spc="-26" dirty="0">
                <a:latin typeface="Arial"/>
                <a:cs typeface="Arial"/>
              </a:rPr>
              <a:t> </a:t>
            </a:r>
            <a:r>
              <a:rPr sz="2394" dirty="0">
                <a:latin typeface="Arial"/>
                <a:cs typeface="Arial"/>
              </a:rPr>
              <a:t>to</a:t>
            </a:r>
            <a:r>
              <a:rPr sz="2394" spc="-56" dirty="0">
                <a:latin typeface="Arial"/>
                <a:cs typeface="Arial"/>
              </a:rPr>
              <a:t> </a:t>
            </a:r>
            <a:r>
              <a:rPr sz="2394" dirty="0">
                <a:latin typeface="Arial"/>
                <a:cs typeface="Arial"/>
              </a:rPr>
              <a:t>which</a:t>
            </a:r>
            <a:r>
              <a:rPr sz="2394" spc="-26" dirty="0">
                <a:latin typeface="Arial"/>
                <a:cs typeface="Arial"/>
              </a:rPr>
              <a:t> </a:t>
            </a:r>
            <a:r>
              <a:rPr sz="2394" dirty="0">
                <a:latin typeface="Arial"/>
                <a:cs typeface="Arial"/>
              </a:rPr>
              <a:t>information</a:t>
            </a:r>
            <a:r>
              <a:rPr sz="2394" spc="-26" dirty="0">
                <a:latin typeface="Arial"/>
                <a:cs typeface="Arial"/>
              </a:rPr>
              <a:t> </a:t>
            </a:r>
            <a:r>
              <a:rPr sz="2394" dirty="0">
                <a:latin typeface="Arial"/>
                <a:cs typeface="Arial"/>
              </a:rPr>
              <a:t>contained</a:t>
            </a:r>
            <a:r>
              <a:rPr sz="2394" spc="-26" dirty="0">
                <a:latin typeface="Arial"/>
                <a:cs typeface="Arial"/>
              </a:rPr>
              <a:t> </a:t>
            </a:r>
            <a:r>
              <a:rPr sz="2394" spc="-21" dirty="0">
                <a:latin typeface="Arial"/>
                <a:cs typeface="Arial"/>
              </a:rPr>
              <a:t>on 	</a:t>
            </a:r>
            <a:r>
              <a:rPr sz="2394" dirty="0">
                <a:latin typeface="Arial"/>
                <a:cs typeface="Arial"/>
              </a:rPr>
              <a:t>one</a:t>
            </a:r>
            <a:r>
              <a:rPr sz="2394" spc="-17" dirty="0">
                <a:latin typeface="Arial"/>
                <a:cs typeface="Arial"/>
              </a:rPr>
              <a:t> </a:t>
            </a:r>
            <a:r>
              <a:rPr sz="2394" dirty="0">
                <a:latin typeface="Arial"/>
                <a:cs typeface="Arial"/>
              </a:rPr>
              <a:t>level</a:t>
            </a:r>
            <a:r>
              <a:rPr sz="2394" spc="-17" dirty="0">
                <a:latin typeface="Arial"/>
                <a:cs typeface="Arial"/>
              </a:rPr>
              <a:t> </a:t>
            </a:r>
            <a:r>
              <a:rPr sz="2394" dirty="0">
                <a:latin typeface="Arial"/>
                <a:cs typeface="Arial"/>
              </a:rPr>
              <a:t>of</a:t>
            </a:r>
            <a:r>
              <a:rPr sz="2394" spc="-17" dirty="0">
                <a:latin typeface="Arial"/>
                <a:cs typeface="Arial"/>
              </a:rPr>
              <a:t> </a:t>
            </a:r>
            <a:r>
              <a:rPr sz="2394" dirty="0">
                <a:latin typeface="Arial"/>
                <a:cs typeface="Arial"/>
              </a:rPr>
              <a:t>a</a:t>
            </a:r>
            <a:r>
              <a:rPr sz="2394" spc="-17" dirty="0">
                <a:latin typeface="Arial"/>
                <a:cs typeface="Arial"/>
              </a:rPr>
              <a:t> </a:t>
            </a:r>
            <a:r>
              <a:rPr sz="2394" dirty="0">
                <a:latin typeface="Arial"/>
                <a:cs typeface="Arial"/>
              </a:rPr>
              <a:t>set</a:t>
            </a:r>
            <a:r>
              <a:rPr sz="2394" spc="-13" dirty="0">
                <a:latin typeface="Arial"/>
                <a:cs typeface="Arial"/>
              </a:rPr>
              <a:t> </a:t>
            </a:r>
            <a:r>
              <a:rPr sz="2394" dirty="0">
                <a:latin typeface="Arial"/>
                <a:cs typeface="Arial"/>
              </a:rPr>
              <a:t>of</a:t>
            </a:r>
            <a:r>
              <a:rPr sz="2394" spc="-56" dirty="0">
                <a:latin typeface="Arial"/>
                <a:cs typeface="Arial"/>
              </a:rPr>
              <a:t> </a:t>
            </a:r>
            <a:r>
              <a:rPr sz="2394" dirty="0">
                <a:latin typeface="Arial"/>
                <a:cs typeface="Arial"/>
              </a:rPr>
              <a:t>nested</a:t>
            </a:r>
            <a:r>
              <a:rPr sz="2394" spc="-17" dirty="0">
                <a:latin typeface="Arial"/>
                <a:cs typeface="Arial"/>
              </a:rPr>
              <a:t> </a:t>
            </a:r>
            <a:r>
              <a:rPr sz="2394" dirty="0">
                <a:latin typeface="Arial"/>
                <a:cs typeface="Arial"/>
              </a:rPr>
              <a:t>DFDs</a:t>
            </a:r>
            <a:r>
              <a:rPr sz="2394" spc="-17" dirty="0">
                <a:latin typeface="Arial"/>
                <a:cs typeface="Arial"/>
              </a:rPr>
              <a:t> </a:t>
            </a:r>
            <a:r>
              <a:rPr sz="2394" dirty="0">
                <a:latin typeface="Arial"/>
                <a:cs typeface="Arial"/>
              </a:rPr>
              <a:t>is</a:t>
            </a:r>
            <a:r>
              <a:rPr sz="2394" spc="-13" dirty="0">
                <a:latin typeface="Arial"/>
                <a:cs typeface="Arial"/>
              </a:rPr>
              <a:t> </a:t>
            </a:r>
            <a:r>
              <a:rPr sz="2394" spc="-17" dirty="0">
                <a:latin typeface="Arial"/>
                <a:cs typeface="Arial"/>
              </a:rPr>
              <a:t>also 	</a:t>
            </a:r>
            <a:r>
              <a:rPr sz="2394" dirty="0">
                <a:latin typeface="Arial"/>
                <a:cs typeface="Arial"/>
              </a:rPr>
              <a:t>included</a:t>
            </a:r>
            <a:r>
              <a:rPr sz="2394" spc="-51" dirty="0">
                <a:latin typeface="Arial"/>
                <a:cs typeface="Arial"/>
              </a:rPr>
              <a:t> </a:t>
            </a:r>
            <a:r>
              <a:rPr sz="2394" dirty="0">
                <a:latin typeface="Arial"/>
                <a:cs typeface="Arial"/>
              </a:rPr>
              <a:t>on</a:t>
            </a:r>
            <a:r>
              <a:rPr sz="2394" spc="-86" dirty="0">
                <a:latin typeface="Arial"/>
                <a:cs typeface="Arial"/>
              </a:rPr>
              <a:t> </a:t>
            </a:r>
            <a:r>
              <a:rPr sz="2394" dirty="0">
                <a:latin typeface="Arial"/>
                <a:cs typeface="Arial"/>
              </a:rPr>
              <a:t>other</a:t>
            </a:r>
            <a:r>
              <a:rPr sz="2394" spc="-51" dirty="0">
                <a:latin typeface="Arial"/>
                <a:cs typeface="Arial"/>
              </a:rPr>
              <a:t> </a:t>
            </a:r>
            <a:r>
              <a:rPr sz="2394" spc="-9" dirty="0">
                <a:latin typeface="Arial"/>
                <a:cs typeface="Arial"/>
              </a:rPr>
              <a:t>levels</a:t>
            </a:r>
            <a:endParaRPr sz="2394" dirty="0">
              <a:latin typeface="Arial"/>
              <a:cs typeface="Arial"/>
            </a:endParaRP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Guidelines</a:t>
            </a:r>
            <a:r>
              <a:rPr sz="3420" spc="-34" dirty="0"/>
              <a:t> </a:t>
            </a:r>
            <a:r>
              <a:rPr sz="3420" dirty="0"/>
              <a:t>for</a:t>
            </a:r>
            <a:r>
              <a:rPr sz="3420" spc="-30" dirty="0"/>
              <a:t> </a:t>
            </a:r>
            <a:r>
              <a:rPr sz="3420" dirty="0"/>
              <a:t>Drawing</a:t>
            </a:r>
            <a:r>
              <a:rPr sz="3420" spc="-38" dirty="0"/>
              <a:t>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32</a:t>
            </a:fld>
            <a:endParaRPr spc="-21" dirty="0"/>
          </a:p>
        </p:txBody>
      </p:sp>
      <p:sp>
        <p:nvSpPr>
          <p:cNvPr id="3" name="object 3"/>
          <p:cNvSpPr txBox="1"/>
          <p:nvPr/>
        </p:nvSpPr>
        <p:spPr>
          <a:xfrm>
            <a:off x="1120262" y="2128269"/>
            <a:ext cx="6823791" cy="3158310"/>
          </a:xfrm>
          <a:prstGeom prst="rect">
            <a:avLst/>
          </a:prstGeom>
        </p:spPr>
        <p:txBody>
          <a:bodyPr vert="horz" wrap="square" lIns="0" tIns="49412" rIns="0" bIns="0" rtlCol="0">
            <a:spAutoFit/>
          </a:bodyPr>
          <a:lstStyle/>
          <a:p>
            <a:pPr marL="305160" indent="-294300">
              <a:spcBef>
                <a:spcPts val="389"/>
              </a:spcBef>
              <a:buClr>
                <a:srgbClr val="3399FF"/>
              </a:buClr>
              <a:buSzPct val="75000"/>
              <a:buFont typeface="Segoe UI Symbol"/>
              <a:buChar char="■"/>
              <a:tabLst>
                <a:tab pos="305160" algn="l"/>
              </a:tabLst>
            </a:pPr>
            <a:r>
              <a:rPr sz="2736" b="1" spc="-9" dirty="0">
                <a:latin typeface="Arial"/>
                <a:cs typeface="Arial"/>
              </a:rPr>
              <a:t>Timing</a:t>
            </a:r>
            <a:endParaRPr sz="2736">
              <a:latin typeface="Arial"/>
              <a:cs typeface="Arial"/>
            </a:endParaRPr>
          </a:p>
          <a:p>
            <a:pPr marL="645613" lvl="1" indent="-243802">
              <a:spcBef>
                <a:spcPts val="282"/>
              </a:spcBef>
              <a:buClr>
                <a:srgbClr val="CC0066"/>
              </a:buClr>
              <a:buSzPct val="78571"/>
              <a:buFont typeface="Segoe UI Symbol"/>
              <a:buChar char="□"/>
              <a:tabLst>
                <a:tab pos="645613" algn="l"/>
              </a:tabLst>
            </a:pPr>
            <a:r>
              <a:rPr sz="2394" dirty="0">
                <a:latin typeface="Arial"/>
                <a:cs typeface="Arial"/>
              </a:rPr>
              <a:t>Time</a:t>
            </a:r>
            <a:r>
              <a:rPr sz="2394" spc="-30" dirty="0">
                <a:latin typeface="Arial"/>
                <a:cs typeface="Arial"/>
              </a:rPr>
              <a:t> </a:t>
            </a:r>
            <a:r>
              <a:rPr sz="2394" dirty="0">
                <a:latin typeface="Arial"/>
                <a:cs typeface="Arial"/>
              </a:rPr>
              <a:t>is</a:t>
            </a:r>
            <a:r>
              <a:rPr sz="2394" spc="-30" dirty="0">
                <a:latin typeface="Arial"/>
                <a:cs typeface="Arial"/>
              </a:rPr>
              <a:t> </a:t>
            </a:r>
            <a:r>
              <a:rPr sz="2394" dirty="0">
                <a:latin typeface="Arial"/>
                <a:cs typeface="Arial"/>
              </a:rPr>
              <a:t>not</a:t>
            </a:r>
            <a:r>
              <a:rPr sz="2394" spc="-30" dirty="0">
                <a:latin typeface="Arial"/>
                <a:cs typeface="Arial"/>
              </a:rPr>
              <a:t> </a:t>
            </a:r>
            <a:r>
              <a:rPr sz="2394" dirty="0">
                <a:latin typeface="Arial"/>
                <a:cs typeface="Arial"/>
              </a:rPr>
              <a:t>represented</a:t>
            </a:r>
            <a:r>
              <a:rPr sz="2394" spc="-30" dirty="0">
                <a:latin typeface="Arial"/>
                <a:cs typeface="Arial"/>
              </a:rPr>
              <a:t> </a:t>
            </a:r>
            <a:r>
              <a:rPr sz="2394" dirty="0">
                <a:latin typeface="Arial"/>
                <a:cs typeface="Arial"/>
              </a:rPr>
              <a:t>well</a:t>
            </a:r>
            <a:r>
              <a:rPr sz="2394" spc="-30" dirty="0">
                <a:latin typeface="Arial"/>
                <a:cs typeface="Arial"/>
              </a:rPr>
              <a:t> </a:t>
            </a:r>
            <a:r>
              <a:rPr sz="2394" dirty="0">
                <a:latin typeface="Arial"/>
                <a:cs typeface="Arial"/>
              </a:rPr>
              <a:t>on</a:t>
            </a:r>
            <a:r>
              <a:rPr sz="2394" spc="-30" dirty="0">
                <a:latin typeface="Arial"/>
                <a:cs typeface="Arial"/>
              </a:rPr>
              <a:t> </a:t>
            </a:r>
            <a:r>
              <a:rPr sz="2394" spc="-9" dirty="0">
                <a:latin typeface="Arial"/>
                <a:cs typeface="Arial"/>
              </a:rPr>
              <a:t>DFDs.</a:t>
            </a:r>
            <a:endParaRPr sz="2394">
              <a:latin typeface="Arial"/>
              <a:cs typeface="Arial"/>
            </a:endParaRPr>
          </a:p>
          <a:p>
            <a:pPr marL="645613" marR="4344" lvl="1" indent="-244345">
              <a:lnSpc>
                <a:spcPts val="2582"/>
              </a:lnSpc>
              <a:spcBef>
                <a:spcPts val="616"/>
              </a:spcBef>
              <a:buClr>
                <a:srgbClr val="CC0066"/>
              </a:buClr>
              <a:buSzPct val="78571"/>
              <a:buFont typeface="Segoe UI Symbol"/>
              <a:buChar char="□"/>
              <a:tabLst>
                <a:tab pos="646699" algn="l"/>
              </a:tabLst>
            </a:pPr>
            <a:r>
              <a:rPr sz="2394" dirty="0">
                <a:latin typeface="Arial"/>
                <a:cs typeface="Arial"/>
              </a:rPr>
              <a:t>Best</a:t>
            </a:r>
            <a:r>
              <a:rPr sz="2394" spc="-13" dirty="0">
                <a:latin typeface="Arial"/>
                <a:cs typeface="Arial"/>
              </a:rPr>
              <a:t> </a:t>
            </a:r>
            <a:r>
              <a:rPr sz="2394" dirty="0">
                <a:latin typeface="Arial"/>
                <a:cs typeface="Arial"/>
              </a:rPr>
              <a:t>to</a:t>
            </a:r>
            <a:r>
              <a:rPr sz="2394" spc="-56" dirty="0">
                <a:latin typeface="Arial"/>
                <a:cs typeface="Arial"/>
              </a:rPr>
              <a:t> </a:t>
            </a:r>
            <a:r>
              <a:rPr sz="2394" dirty="0">
                <a:latin typeface="Arial"/>
                <a:cs typeface="Arial"/>
              </a:rPr>
              <a:t>draw</a:t>
            </a:r>
            <a:r>
              <a:rPr sz="2394" spc="-51" dirty="0">
                <a:latin typeface="Arial"/>
                <a:cs typeface="Arial"/>
              </a:rPr>
              <a:t> </a:t>
            </a:r>
            <a:r>
              <a:rPr sz="2394" dirty="0">
                <a:latin typeface="Arial"/>
                <a:cs typeface="Arial"/>
              </a:rPr>
              <a:t>DFDs</a:t>
            </a:r>
            <a:r>
              <a:rPr sz="2394" spc="-9" dirty="0">
                <a:latin typeface="Arial"/>
                <a:cs typeface="Arial"/>
              </a:rPr>
              <a:t> </a:t>
            </a:r>
            <a:r>
              <a:rPr sz="2394" dirty="0">
                <a:latin typeface="Arial"/>
                <a:cs typeface="Arial"/>
              </a:rPr>
              <a:t>as</a:t>
            </a:r>
            <a:r>
              <a:rPr sz="2394" spc="-9" dirty="0">
                <a:latin typeface="Arial"/>
                <a:cs typeface="Arial"/>
              </a:rPr>
              <a:t> </a:t>
            </a:r>
            <a:r>
              <a:rPr sz="2394" dirty="0">
                <a:latin typeface="Arial"/>
                <a:cs typeface="Arial"/>
              </a:rPr>
              <a:t>if</a:t>
            </a:r>
            <a:r>
              <a:rPr sz="2394" spc="-17" dirty="0">
                <a:latin typeface="Arial"/>
                <a:cs typeface="Arial"/>
              </a:rPr>
              <a:t> </a:t>
            </a:r>
            <a:r>
              <a:rPr sz="2394" dirty="0">
                <a:latin typeface="Arial"/>
                <a:cs typeface="Arial"/>
              </a:rPr>
              <a:t>the</a:t>
            </a:r>
            <a:r>
              <a:rPr sz="2394" spc="-9" dirty="0">
                <a:latin typeface="Arial"/>
                <a:cs typeface="Arial"/>
              </a:rPr>
              <a:t> </a:t>
            </a:r>
            <a:r>
              <a:rPr sz="2394" dirty="0">
                <a:latin typeface="Arial"/>
                <a:cs typeface="Arial"/>
              </a:rPr>
              <a:t>system</a:t>
            </a:r>
            <a:r>
              <a:rPr sz="2394" spc="-9" dirty="0">
                <a:latin typeface="Arial"/>
                <a:cs typeface="Arial"/>
              </a:rPr>
              <a:t> </a:t>
            </a:r>
            <a:r>
              <a:rPr sz="2394" dirty="0">
                <a:latin typeface="Arial"/>
                <a:cs typeface="Arial"/>
              </a:rPr>
              <a:t>has</a:t>
            </a:r>
            <a:r>
              <a:rPr sz="2394" spc="-9" dirty="0">
                <a:latin typeface="Arial"/>
                <a:cs typeface="Arial"/>
              </a:rPr>
              <a:t> never 	</a:t>
            </a:r>
            <a:r>
              <a:rPr sz="2394" dirty="0">
                <a:latin typeface="Arial"/>
                <a:cs typeface="Arial"/>
              </a:rPr>
              <a:t>started</a:t>
            </a:r>
            <a:r>
              <a:rPr sz="2394" spc="-115" dirty="0">
                <a:latin typeface="Arial"/>
                <a:cs typeface="Arial"/>
              </a:rPr>
              <a:t> </a:t>
            </a:r>
            <a:r>
              <a:rPr sz="2394" dirty="0">
                <a:latin typeface="Arial"/>
                <a:cs typeface="Arial"/>
              </a:rPr>
              <a:t>and</a:t>
            </a:r>
            <a:r>
              <a:rPr sz="2394" spc="-43" dirty="0">
                <a:latin typeface="Arial"/>
                <a:cs typeface="Arial"/>
              </a:rPr>
              <a:t> </a:t>
            </a:r>
            <a:r>
              <a:rPr sz="2394" dirty="0">
                <a:latin typeface="Arial"/>
                <a:cs typeface="Arial"/>
              </a:rPr>
              <a:t>will</a:t>
            </a:r>
            <a:r>
              <a:rPr sz="2394" spc="-9" dirty="0">
                <a:latin typeface="Arial"/>
                <a:cs typeface="Arial"/>
              </a:rPr>
              <a:t> </a:t>
            </a:r>
            <a:r>
              <a:rPr sz="2394" dirty="0">
                <a:latin typeface="Arial"/>
                <a:cs typeface="Arial"/>
              </a:rPr>
              <a:t>never</a:t>
            </a:r>
            <a:r>
              <a:rPr sz="2394" spc="-43" dirty="0">
                <a:latin typeface="Arial"/>
                <a:cs typeface="Arial"/>
              </a:rPr>
              <a:t> </a:t>
            </a:r>
            <a:r>
              <a:rPr sz="2394" spc="-9" dirty="0">
                <a:latin typeface="Arial"/>
                <a:cs typeface="Arial"/>
              </a:rPr>
              <a:t>stop.</a:t>
            </a:r>
            <a:endParaRPr sz="2394">
              <a:latin typeface="Arial"/>
              <a:cs typeface="Arial"/>
            </a:endParaRPr>
          </a:p>
          <a:p>
            <a:pPr marL="305160" indent="-294300">
              <a:spcBef>
                <a:spcPts val="299"/>
              </a:spcBef>
              <a:buClr>
                <a:srgbClr val="3399FF"/>
              </a:buClr>
              <a:buSzPct val="75000"/>
              <a:buFont typeface="Segoe UI Symbol"/>
              <a:buChar char="■"/>
              <a:tabLst>
                <a:tab pos="305160" algn="l"/>
              </a:tabLst>
            </a:pPr>
            <a:r>
              <a:rPr sz="2736" b="1" dirty="0">
                <a:latin typeface="Arial"/>
                <a:cs typeface="Arial"/>
              </a:rPr>
              <a:t>Iterative</a:t>
            </a:r>
            <a:r>
              <a:rPr sz="2736" b="1" spc="-137" dirty="0">
                <a:latin typeface="Arial"/>
                <a:cs typeface="Arial"/>
              </a:rPr>
              <a:t> </a:t>
            </a:r>
            <a:r>
              <a:rPr sz="2736" b="1" spc="-9" dirty="0">
                <a:latin typeface="Arial"/>
                <a:cs typeface="Arial"/>
              </a:rPr>
              <a:t>Development</a:t>
            </a:r>
            <a:endParaRPr sz="2736">
              <a:latin typeface="Arial"/>
              <a:cs typeface="Arial"/>
            </a:endParaRPr>
          </a:p>
          <a:p>
            <a:pPr marL="645613" marR="191674" lvl="1" indent="-244345">
              <a:lnSpc>
                <a:spcPts val="2582"/>
              </a:lnSpc>
              <a:spcBef>
                <a:spcPts val="611"/>
              </a:spcBef>
              <a:buClr>
                <a:srgbClr val="CC0066"/>
              </a:buClr>
              <a:buSzPct val="78571"/>
              <a:buFont typeface="Segoe UI Symbol"/>
              <a:buChar char="□"/>
              <a:tabLst>
                <a:tab pos="646699" algn="l"/>
              </a:tabLst>
            </a:pPr>
            <a:r>
              <a:rPr sz="2394" dirty="0">
                <a:latin typeface="Arial"/>
                <a:cs typeface="Arial"/>
              </a:rPr>
              <a:t>Analyst</a:t>
            </a:r>
            <a:r>
              <a:rPr sz="2394" spc="-68" dirty="0">
                <a:latin typeface="Arial"/>
                <a:cs typeface="Arial"/>
              </a:rPr>
              <a:t> </a:t>
            </a:r>
            <a:r>
              <a:rPr sz="2394" dirty="0">
                <a:latin typeface="Arial"/>
                <a:cs typeface="Arial"/>
              </a:rPr>
              <a:t>should</a:t>
            </a:r>
            <a:r>
              <a:rPr sz="2394" spc="-26" dirty="0">
                <a:latin typeface="Arial"/>
                <a:cs typeface="Arial"/>
              </a:rPr>
              <a:t> </a:t>
            </a:r>
            <a:r>
              <a:rPr sz="2394" dirty="0">
                <a:latin typeface="Arial"/>
                <a:cs typeface="Arial"/>
              </a:rPr>
              <a:t>expect</a:t>
            </a:r>
            <a:r>
              <a:rPr sz="2394" spc="-21" dirty="0">
                <a:latin typeface="Arial"/>
                <a:cs typeface="Arial"/>
              </a:rPr>
              <a:t> </a:t>
            </a:r>
            <a:r>
              <a:rPr sz="2394" dirty="0">
                <a:latin typeface="Arial"/>
                <a:cs typeface="Arial"/>
              </a:rPr>
              <a:t>to</a:t>
            </a:r>
            <a:r>
              <a:rPr sz="2394" spc="-60" dirty="0">
                <a:latin typeface="Arial"/>
                <a:cs typeface="Arial"/>
              </a:rPr>
              <a:t> </a:t>
            </a:r>
            <a:r>
              <a:rPr sz="2394" dirty="0">
                <a:latin typeface="Arial"/>
                <a:cs typeface="Arial"/>
              </a:rPr>
              <a:t>redraw</a:t>
            </a:r>
            <a:r>
              <a:rPr sz="2394" spc="-13" dirty="0">
                <a:latin typeface="Arial"/>
                <a:cs typeface="Arial"/>
              </a:rPr>
              <a:t> </a:t>
            </a:r>
            <a:r>
              <a:rPr sz="2394" spc="-9" dirty="0">
                <a:latin typeface="Arial"/>
                <a:cs typeface="Arial"/>
              </a:rPr>
              <a:t>diagram 	</a:t>
            </a:r>
            <a:r>
              <a:rPr sz="2394" dirty="0">
                <a:latin typeface="Arial"/>
                <a:cs typeface="Arial"/>
              </a:rPr>
              <a:t>several</a:t>
            </a:r>
            <a:r>
              <a:rPr sz="2394" spc="-38" dirty="0">
                <a:latin typeface="Arial"/>
                <a:cs typeface="Arial"/>
              </a:rPr>
              <a:t> </a:t>
            </a:r>
            <a:r>
              <a:rPr sz="2394" dirty="0">
                <a:latin typeface="Arial"/>
                <a:cs typeface="Arial"/>
              </a:rPr>
              <a:t>times</a:t>
            </a:r>
            <a:r>
              <a:rPr sz="2394" spc="-77" dirty="0">
                <a:latin typeface="Arial"/>
                <a:cs typeface="Arial"/>
              </a:rPr>
              <a:t> </a:t>
            </a:r>
            <a:r>
              <a:rPr sz="2394" dirty="0">
                <a:latin typeface="Arial"/>
                <a:cs typeface="Arial"/>
              </a:rPr>
              <a:t>before</a:t>
            </a:r>
            <a:r>
              <a:rPr sz="2394" spc="-34" dirty="0">
                <a:latin typeface="Arial"/>
                <a:cs typeface="Arial"/>
              </a:rPr>
              <a:t> </a:t>
            </a:r>
            <a:r>
              <a:rPr sz="2394" dirty="0">
                <a:latin typeface="Arial"/>
                <a:cs typeface="Arial"/>
              </a:rPr>
              <a:t>reaching</a:t>
            </a:r>
            <a:r>
              <a:rPr sz="2394" spc="-38" dirty="0">
                <a:latin typeface="Arial"/>
                <a:cs typeface="Arial"/>
              </a:rPr>
              <a:t> </a:t>
            </a:r>
            <a:r>
              <a:rPr sz="2394" dirty="0">
                <a:latin typeface="Arial"/>
                <a:cs typeface="Arial"/>
              </a:rPr>
              <a:t>the</a:t>
            </a:r>
            <a:r>
              <a:rPr sz="2394" spc="-34" dirty="0">
                <a:latin typeface="Arial"/>
                <a:cs typeface="Arial"/>
              </a:rPr>
              <a:t> </a:t>
            </a:r>
            <a:r>
              <a:rPr sz="2394" spc="-9" dirty="0">
                <a:latin typeface="Arial"/>
                <a:cs typeface="Arial"/>
              </a:rPr>
              <a:t>closest 	</a:t>
            </a:r>
            <a:r>
              <a:rPr sz="2394" dirty="0">
                <a:latin typeface="Arial"/>
                <a:cs typeface="Arial"/>
              </a:rPr>
              <a:t>approximation</a:t>
            </a:r>
            <a:r>
              <a:rPr sz="2394" spc="-47" dirty="0">
                <a:latin typeface="Arial"/>
                <a:cs typeface="Arial"/>
              </a:rPr>
              <a:t> </a:t>
            </a:r>
            <a:r>
              <a:rPr sz="2394" dirty="0">
                <a:latin typeface="Arial"/>
                <a:cs typeface="Arial"/>
              </a:rPr>
              <a:t>to</a:t>
            </a:r>
            <a:r>
              <a:rPr sz="2394" spc="-47" dirty="0">
                <a:latin typeface="Arial"/>
                <a:cs typeface="Arial"/>
              </a:rPr>
              <a:t> </a:t>
            </a:r>
            <a:r>
              <a:rPr sz="2394" dirty="0">
                <a:latin typeface="Arial"/>
                <a:cs typeface="Arial"/>
              </a:rPr>
              <a:t>the</a:t>
            </a:r>
            <a:r>
              <a:rPr sz="2394" spc="-47" dirty="0">
                <a:latin typeface="Arial"/>
                <a:cs typeface="Arial"/>
              </a:rPr>
              <a:t> </a:t>
            </a:r>
            <a:r>
              <a:rPr sz="2394" dirty="0">
                <a:latin typeface="Arial"/>
                <a:cs typeface="Arial"/>
              </a:rPr>
              <a:t>system</a:t>
            </a:r>
            <a:r>
              <a:rPr sz="2394" spc="-47" dirty="0">
                <a:latin typeface="Arial"/>
                <a:cs typeface="Arial"/>
              </a:rPr>
              <a:t> </a:t>
            </a:r>
            <a:r>
              <a:rPr sz="2394" dirty="0">
                <a:latin typeface="Arial"/>
                <a:cs typeface="Arial"/>
              </a:rPr>
              <a:t>being</a:t>
            </a:r>
            <a:r>
              <a:rPr sz="2394" spc="-43" dirty="0">
                <a:latin typeface="Arial"/>
                <a:cs typeface="Arial"/>
              </a:rPr>
              <a:t> </a:t>
            </a:r>
            <a:r>
              <a:rPr sz="2394" spc="-9" dirty="0">
                <a:latin typeface="Arial"/>
                <a:cs typeface="Arial"/>
              </a:rPr>
              <a:t>modeled.</a:t>
            </a:r>
            <a:endParaRPr sz="2394">
              <a:latin typeface="Arial"/>
              <a:cs typeface="Arial"/>
            </a:endParaRP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Guidelines</a:t>
            </a:r>
            <a:r>
              <a:rPr sz="3420" spc="-34" dirty="0"/>
              <a:t> </a:t>
            </a:r>
            <a:r>
              <a:rPr sz="3420" dirty="0"/>
              <a:t>for</a:t>
            </a:r>
            <a:r>
              <a:rPr sz="3420" spc="-30" dirty="0"/>
              <a:t> </a:t>
            </a:r>
            <a:r>
              <a:rPr sz="3420" dirty="0"/>
              <a:t>Drawing</a:t>
            </a:r>
            <a:r>
              <a:rPr sz="3420" spc="-38" dirty="0"/>
              <a:t>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33</a:t>
            </a:fld>
            <a:endParaRPr spc="-21" dirty="0"/>
          </a:p>
        </p:txBody>
      </p:sp>
      <p:sp>
        <p:nvSpPr>
          <p:cNvPr id="3" name="object 3"/>
          <p:cNvSpPr txBox="1"/>
          <p:nvPr/>
        </p:nvSpPr>
        <p:spPr>
          <a:xfrm>
            <a:off x="1120261" y="2128665"/>
            <a:ext cx="5820884" cy="1771769"/>
          </a:xfrm>
          <a:prstGeom prst="rect">
            <a:avLst/>
          </a:prstGeom>
        </p:spPr>
        <p:txBody>
          <a:bodyPr vert="horz" wrap="square" lIns="0" tIns="90680" rIns="0" bIns="0" rtlCol="0">
            <a:spAutoFit/>
          </a:bodyPr>
          <a:lstStyle/>
          <a:p>
            <a:pPr marL="305160" indent="-294300">
              <a:spcBef>
                <a:spcPts val="714"/>
              </a:spcBef>
              <a:buClr>
                <a:srgbClr val="3399FF"/>
              </a:buClr>
              <a:buSzPct val="75000"/>
              <a:buFont typeface="Segoe UI Symbol"/>
              <a:buChar char="■"/>
              <a:tabLst>
                <a:tab pos="305160" algn="l"/>
              </a:tabLst>
            </a:pPr>
            <a:r>
              <a:rPr sz="2736" b="1" dirty="0">
                <a:latin typeface="Arial"/>
                <a:cs typeface="Arial"/>
              </a:rPr>
              <a:t>Primitive</a:t>
            </a:r>
            <a:r>
              <a:rPr sz="2736" b="1" spc="-145" dirty="0">
                <a:latin typeface="Arial"/>
                <a:cs typeface="Arial"/>
              </a:rPr>
              <a:t> </a:t>
            </a:r>
            <a:r>
              <a:rPr sz="2736" b="1" spc="-17" dirty="0">
                <a:latin typeface="Arial"/>
                <a:cs typeface="Arial"/>
              </a:rPr>
              <a:t>DFDs</a:t>
            </a:r>
            <a:endParaRPr sz="2736">
              <a:latin typeface="Arial"/>
              <a:cs typeface="Arial"/>
            </a:endParaRPr>
          </a:p>
          <a:p>
            <a:pPr marL="646156" lvl="1" indent="-244345">
              <a:spcBef>
                <a:spcPts val="569"/>
              </a:spcBef>
              <a:buClr>
                <a:srgbClr val="CC0066"/>
              </a:buClr>
              <a:buSzPct val="78571"/>
              <a:buFont typeface="Segoe UI Symbol"/>
              <a:buChar char="□"/>
              <a:tabLst>
                <a:tab pos="646156" algn="l"/>
              </a:tabLst>
            </a:pPr>
            <a:r>
              <a:rPr sz="2394" dirty="0">
                <a:latin typeface="Arial"/>
                <a:cs typeface="Arial"/>
              </a:rPr>
              <a:t>Lowest</a:t>
            </a:r>
            <a:r>
              <a:rPr sz="2394" spc="-43" dirty="0">
                <a:latin typeface="Arial"/>
                <a:cs typeface="Arial"/>
              </a:rPr>
              <a:t> </a:t>
            </a:r>
            <a:r>
              <a:rPr sz="2394" dirty="0">
                <a:latin typeface="Arial"/>
                <a:cs typeface="Arial"/>
              </a:rPr>
              <a:t>logical</a:t>
            </a:r>
            <a:r>
              <a:rPr sz="2394" spc="-43" dirty="0">
                <a:latin typeface="Arial"/>
                <a:cs typeface="Arial"/>
              </a:rPr>
              <a:t> </a:t>
            </a:r>
            <a:r>
              <a:rPr sz="2394" dirty="0">
                <a:latin typeface="Arial"/>
                <a:cs typeface="Arial"/>
              </a:rPr>
              <a:t>level</a:t>
            </a:r>
            <a:r>
              <a:rPr sz="2394" spc="-43" dirty="0">
                <a:latin typeface="Arial"/>
                <a:cs typeface="Arial"/>
              </a:rPr>
              <a:t> </a:t>
            </a:r>
            <a:r>
              <a:rPr sz="2394" dirty="0">
                <a:latin typeface="Arial"/>
                <a:cs typeface="Arial"/>
              </a:rPr>
              <a:t>of</a:t>
            </a:r>
            <a:r>
              <a:rPr sz="2394" spc="-43" dirty="0">
                <a:latin typeface="Arial"/>
                <a:cs typeface="Arial"/>
              </a:rPr>
              <a:t> </a:t>
            </a:r>
            <a:r>
              <a:rPr sz="2394" spc="-9" dirty="0">
                <a:latin typeface="Arial"/>
                <a:cs typeface="Arial"/>
              </a:rPr>
              <a:t>decomposition</a:t>
            </a:r>
            <a:endParaRPr sz="2394">
              <a:latin typeface="Arial"/>
              <a:cs typeface="Arial"/>
            </a:endParaRPr>
          </a:p>
          <a:p>
            <a:pPr marL="645070" marR="4344" lvl="1" indent="-243802">
              <a:spcBef>
                <a:spcPts val="577"/>
              </a:spcBef>
              <a:buClr>
                <a:srgbClr val="CC0066"/>
              </a:buClr>
              <a:buSzPct val="78571"/>
              <a:buFont typeface="Segoe UI Symbol"/>
              <a:buChar char="□"/>
              <a:tabLst>
                <a:tab pos="646699" algn="l"/>
              </a:tabLst>
            </a:pPr>
            <a:r>
              <a:rPr sz="2394" dirty="0">
                <a:latin typeface="Arial"/>
                <a:cs typeface="Arial"/>
              </a:rPr>
              <a:t>Decision</a:t>
            </a:r>
            <a:r>
              <a:rPr sz="2394" spc="-47" dirty="0">
                <a:latin typeface="Arial"/>
                <a:cs typeface="Arial"/>
              </a:rPr>
              <a:t> </a:t>
            </a:r>
            <a:r>
              <a:rPr sz="2394" dirty="0">
                <a:latin typeface="Arial"/>
                <a:cs typeface="Arial"/>
              </a:rPr>
              <a:t>has</a:t>
            </a:r>
            <a:r>
              <a:rPr sz="2394" spc="-43" dirty="0">
                <a:latin typeface="Arial"/>
                <a:cs typeface="Arial"/>
              </a:rPr>
              <a:t> </a:t>
            </a:r>
            <a:r>
              <a:rPr sz="2394" dirty="0">
                <a:latin typeface="Arial"/>
                <a:cs typeface="Arial"/>
              </a:rPr>
              <a:t>to</a:t>
            </a:r>
            <a:r>
              <a:rPr sz="2394" spc="-47" dirty="0">
                <a:latin typeface="Arial"/>
                <a:cs typeface="Arial"/>
              </a:rPr>
              <a:t> </a:t>
            </a:r>
            <a:r>
              <a:rPr sz="2394" dirty="0">
                <a:latin typeface="Arial"/>
                <a:cs typeface="Arial"/>
              </a:rPr>
              <a:t>be</a:t>
            </a:r>
            <a:r>
              <a:rPr sz="2394" spc="-43" dirty="0">
                <a:latin typeface="Arial"/>
                <a:cs typeface="Arial"/>
              </a:rPr>
              <a:t> </a:t>
            </a:r>
            <a:r>
              <a:rPr sz="2394" dirty="0">
                <a:latin typeface="Arial"/>
                <a:cs typeface="Arial"/>
              </a:rPr>
              <a:t>made</a:t>
            </a:r>
            <a:r>
              <a:rPr sz="2394" spc="-43" dirty="0">
                <a:latin typeface="Arial"/>
                <a:cs typeface="Arial"/>
              </a:rPr>
              <a:t> </a:t>
            </a:r>
            <a:r>
              <a:rPr sz="2394" dirty="0">
                <a:latin typeface="Arial"/>
                <a:cs typeface="Arial"/>
              </a:rPr>
              <a:t>when</a:t>
            </a:r>
            <a:r>
              <a:rPr sz="2394" spc="-13" dirty="0">
                <a:latin typeface="Arial"/>
                <a:cs typeface="Arial"/>
              </a:rPr>
              <a:t> </a:t>
            </a:r>
            <a:r>
              <a:rPr sz="2394" dirty="0">
                <a:latin typeface="Arial"/>
                <a:cs typeface="Arial"/>
              </a:rPr>
              <a:t>to</a:t>
            </a:r>
            <a:r>
              <a:rPr sz="2394" spc="-43" dirty="0">
                <a:latin typeface="Arial"/>
                <a:cs typeface="Arial"/>
              </a:rPr>
              <a:t> </a:t>
            </a:r>
            <a:r>
              <a:rPr sz="2394" spc="-17" dirty="0">
                <a:latin typeface="Arial"/>
                <a:cs typeface="Arial"/>
              </a:rPr>
              <a:t>stop 	</a:t>
            </a:r>
            <a:r>
              <a:rPr sz="2394" spc="-9" dirty="0">
                <a:latin typeface="Arial"/>
                <a:cs typeface="Arial"/>
              </a:rPr>
              <a:t>decomposition</a:t>
            </a:r>
            <a:endParaRPr sz="2394">
              <a:latin typeface="Arial"/>
              <a:cs typeface="Arial"/>
            </a:endParaRP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Guidelines</a:t>
            </a:r>
            <a:r>
              <a:rPr sz="3420" spc="-34" dirty="0"/>
              <a:t> </a:t>
            </a:r>
            <a:r>
              <a:rPr sz="3420" dirty="0"/>
              <a:t>for</a:t>
            </a:r>
            <a:r>
              <a:rPr sz="3420" spc="-30" dirty="0"/>
              <a:t> </a:t>
            </a:r>
            <a:r>
              <a:rPr sz="3420" dirty="0"/>
              <a:t>Drawing</a:t>
            </a:r>
            <a:r>
              <a:rPr sz="3420" spc="-38" dirty="0"/>
              <a:t>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34</a:t>
            </a:fld>
            <a:endParaRPr spc="-21" dirty="0"/>
          </a:p>
        </p:txBody>
      </p:sp>
      <p:sp>
        <p:nvSpPr>
          <p:cNvPr id="3" name="object 3"/>
          <p:cNvSpPr txBox="1"/>
          <p:nvPr/>
        </p:nvSpPr>
        <p:spPr>
          <a:xfrm>
            <a:off x="1120336" y="2110283"/>
            <a:ext cx="6595191" cy="2866819"/>
          </a:xfrm>
          <a:prstGeom prst="rect">
            <a:avLst/>
          </a:prstGeom>
        </p:spPr>
        <p:txBody>
          <a:bodyPr vert="horz" wrap="square" lIns="0" tIns="107513" rIns="0" bIns="0" rtlCol="0">
            <a:spAutoFit/>
          </a:bodyPr>
          <a:lstStyle/>
          <a:p>
            <a:pPr marL="304617" indent="-293757">
              <a:spcBef>
                <a:spcPts val="847"/>
              </a:spcBef>
              <a:buClr>
                <a:srgbClr val="3399FF"/>
              </a:buClr>
              <a:buSzPct val="75000"/>
              <a:buFont typeface="Segoe UI Symbol"/>
              <a:buChar char="■"/>
              <a:tabLst>
                <a:tab pos="304617" algn="l"/>
              </a:tabLst>
            </a:pPr>
            <a:r>
              <a:rPr sz="3078" dirty="0">
                <a:latin typeface="Arial"/>
                <a:cs typeface="Arial"/>
              </a:rPr>
              <a:t>Rules</a:t>
            </a:r>
            <a:r>
              <a:rPr sz="3078" spc="-26" dirty="0">
                <a:latin typeface="Arial"/>
                <a:cs typeface="Arial"/>
              </a:rPr>
              <a:t> </a:t>
            </a:r>
            <a:r>
              <a:rPr sz="3078" dirty="0">
                <a:latin typeface="Arial"/>
                <a:cs typeface="Arial"/>
              </a:rPr>
              <a:t>for</a:t>
            </a:r>
            <a:r>
              <a:rPr sz="3078" spc="-26" dirty="0">
                <a:latin typeface="Arial"/>
                <a:cs typeface="Arial"/>
              </a:rPr>
              <a:t> </a:t>
            </a:r>
            <a:r>
              <a:rPr sz="3078" dirty="0">
                <a:latin typeface="Arial"/>
                <a:cs typeface="Arial"/>
              </a:rPr>
              <a:t>stopping</a:t>
            </a:r>
            <a:r>
              <a:rPr sz="3078" spc="-21" dirty="0">
                <a:latin typeface="Arial"/>
                <a:cs typeface="Arial"/>
              </a:rPr>
              <a:t> </a:t>
            </a:r>
            <a:r>
              <a:rPr sz="3078" spc="-9" dirty="0">
                <a:latin typeface="Arial"/>
                <a:cs typeface="Arial"/>
              </a:rPr>
              <a:t>decomposition</a:t>
            </a:r>
            <a:endParaRPr sz="3078">
              <a:latin typeface="Arial"/>
              <a:cs typeface="Arial"/>
            </a:endParaRPr>
          </a:p>
          <a:p>
            <a:pPr marL="646699" marR="4344" indent="-245431">
              <a:spcBef>
                <a:spcPts val="671"/>
              </a:spcBef>
            </a:pPr>
            <a:r>
              <a:rPr sz="2181" dirty="0">
                <a:solidFill>
                  <a:srgbClr val="CC0066"/>
                </a:solidFill>
                <a:latin typeface="Segoe UI Symbol"/>
                <a:cs typeface="Segoe UI Symbol"/>
              </a:rPr>
              <a:t>□</a:t>
            </a:r>
            <a:r>
              <a:rPr sz="2736" dirty="0">
                <a:latin typeface="Arial"/>
                <a:cs typeface="Arial"/>
              </a:rPr>
              <a:t>When</a:t>
            </a:r>
            <a:r>
              <a:rPr sz="2736" spc="-56" dirty="0">
                <a:latin typeface="Arial"/>
                <a:cs typeface="Arial"/>
              </a:rPr>
              <a:t> </a:t>
            </a:r>
            <a:r>
              <a:rPr sz="2736" dirty="0">
                <a:latin typeface="Arial"/>
                <a:cs typeface="Arial"/>
              </a:rPr>
              <a:t>each</a:t>
            </a:r>
            <a:r>
              <a:rPr sz="2736" spc="-51" dirty="0">
                <a:latin typeface="Arial"/>
                <a:cs typeface="Arial"/>
              </a:rPr>
              <a:t> </a:t>
            </a:r>
            <a:r>
              <a:rPr sz="2736" dirty="0">
                <a:latin typeface="Arial"/>
                <a:cs typeface="Arial"/>
              </a:rPr>
              <a:t>process</a:t>
            </a:r>
            <a:r>
              <a:rPr sz="2736" spc="-51" dirty="0">
                <a:latin typeface="Arial"/>
                <a:cs typeface="Arial"/>
              </a:rPr>
              <a:t> </a:t>
            </a:r>
            <a:r>
              <a:rPr sz="2736" dirty="0">
                <a:latin typeface="Arial"/>
                <a:cs typeface="Arial"/>
              </a:rPr>
              <a:t>has</a:t>
            </a:r>
            <a:r>
              <a:rPr sz="2736" spc="-56" dirty="0">
                <a:latin typeface="Arial"/>
                <a:cs typeface="Arial"/>
              </a:rPr>
              <a:t> </a:t>
            </a:r>
            <a:r>
              <a:rPr sz="2736" dirty="0">
                <a:latin typeface="Arial"/>
                <a:cs typeface="Arial"/>
              </a:rPr>
              <a:t>been</a:t>
            </a:r>
            <a:r>
              <a:rPr sz="2736" spc="-51" dirty="0">
                <a:latin typeface="Arial"/>
                <a:cs typeface="Arial"/>
              </a:rPr>
              <a:t> </a:t>
            </a:r>
            <a:r>
              <a:rPr sz="2736" spc="-9" dirty="0">
                <a:latin typeface="Arial"/>
                <a:cs typeface="Arial"/>
              </a:rPr>
              <a:t>reduced </a:t>
            </a:r>
            <a:r>
              <a:rPr sz="2736" dirty="0">
                <a:latin typeface="Arial"/>
                <a:cs typeface="Arial"/>
              </a:rPr>
              <a:t>to</a:t>
            </a:r>
            <a:r>
              <a:rPr sz="2736" spc="-64" dirty="0">
                <a:latin typeface="Arial"/>
                <a:cs typeface="Arial"/>
              </a:rPr>
              <a:t> </a:t>
            </a:r>
            <a:r>
              <a:rPr sz="2736" dirty="0">
                <a:latin typeface="Arial"/>
                <a:cs typeface="Arial"/>
              </a:rPr>
              <a:t>a</a:t>
            </a:r>
            <a:r>
              <a:rPr sz="2736" spc="-64" dirty="0">
                <a:latin typeface="Arial"/>
                <a:cs typeface="Arial"/>
              </a:rPr>
              <a:t> </a:t>
            </a:r>
            <a:r>
              <a:rPr sz="2736" dirty="0">
                <a:latin typeface="Arial"/>
                <a:cs typeface="Arial"/>
              </a:rPr>
              <a:t>single</a:t>
            </a:r>
            <a:r>
              <a:rPr sz="2736" spc="-64" dirty="0">
                <a:latin typeface="Arial"/>
                <a:cs typeface="Arial"/>
              </a:rPr>
              <a:t> </a:t>
            </a:r>
            <a:r>
              <a:rPr sz="2736" dirty="0">
                <a:latin typeface="Arial"/>
                <a:cs typeface="Arial"/>
              </a:rPr>
              <a:t>decision,</a:t>
            </a:r>
            <a:r>
              <a:rPr sz="2736" spc="-107" dirty="0">
                <a:latin typeface="Arial"/>
                <a:cs typeface="Arial"/>
              </a:rPr>
              <a:t> </a:t>
            </a:r>
            <a:r>
              <a:rPr sz="2736" dirty="0">
                <a:latin typeface="Arial"/>
                <a:cs typeface="Arial"/>
              </a:rPr>
              <a:t>calculation</a:t>
            </a:r>
            <a:r>
              <a:rPr sz="2736" spc="-64" dirty="0">
                <a:latin typeface="Arial"/>
                <a:cs typeface="Arial"/>
              </a:rPr>
              <a:t> </a:t>
            </a:r>
            <a:r>
              <a:rPr sz="2736" spc="-21" dirty="0">
                <a:latin typeface="Arial"/>
                <a:cs typeface="Arial"/>
              </a:rPr>
              <a:t>or </a:t>
            </a:r>
            <a:r>
              <a:rPr sz="2736" dirty="0">
                <a:latin typeface="Arial"/>
                <a:cs typeface="Arial"/>
              </a:rPr>
              <a:t>database</a:t>
            </a:r>
            <a:r>
              <a:rPr sz="2736" spc="-150" dirty="0">
                <a:latin typeface="Arial"/>
                <a:cs typeface="Arial"/>
              </a:rPr>
              <a:t> </a:t>
            </a:r>
            <a:r>
              <a:rPr sz="2736" spc="-9" dirty="0">
                <a:latin typeface="Arial"/>
                <a:cs typeface="Arial"/>
              </a:rPr>
              <a:t>operation</a:t>
            </a:r>
            <a:endParaRPr sz="2736">
              <a:latin typeface="Arial"/>
              <a:cs typeface="Arial"/>
            </a:endParaRPr>
          </a:p>
          <a:p>
            <a:pPr marL="646699" marR="42896" indent="-245431">
              <a:spcBef>
                <a:spcPts val="654"/>
              </a:spcBef>
            </a:pPr>
            <a:r>
              <a:rPr sz="2181" dirty="0">
                <a:solidFill>
                  <a:srgbClr val="CC0066"/>
                </a:solidFill>
                <a:latin typeface="Segoe UI Symbol"/>
                <a:cs typeface="Segoe UI Symbol"/>
              </a:rPr>
              <a:t>□</a:t>
            </a:r>
            <a:r>
              <a:rPr sz="2736" dirty="0">
                <a:latin typeface="Arial"/>
                <a:cs typeface="Arial"/>
              </a:rPr>
              <a:t>When</a:t>
            </a:r>
            <a:r>
              <a:rPr sz="2736" spc="-68" dirty="0">
                <a:latin typeface="Arial"/>
                <a:cs typeface="Arial"/>
              </a:rPr>
              <a:t> </a:t>
            </a:r>
            <a:r>
              <a:rPr sz="2736" dirty="0">
                <a:latin typeface="Arial"/>
                <a:cs typeface="Arial"/>
              </a:rPr>
              <a:t>each</a:t>
            </a:r>
            <a:r>
              <a:rPr sz="2736" spc="-64" dirty="0">
                <a:latin typeface="Arial"/>
                <a:cs typeface="Arial"/>
              </a:rPr>
              <a:t> </a:t>
            </a:r>
            <a:r>
              <a:rPr sz="2736" dirty="0">
                <a:latin typeface="Arial"/>
                <a:cs typeface="Arial"/>
              </a:rPr>
              <a:t>data</a:t>
            </a:r>
            <a:r>
              <a:rPr sz="2736" spc="-68" dirty="0">
                <a:latin typeface="Arial"/>
                <a:cs typeface="Arial"/>
              </a:rPr>
              <a:t> </a:t>
            </a:r>
            <a:r>
              <a:rPr sz="2736" dirty="0">
                <a:latin typeface="Arial"/>
                <a:cs typeface="Arial"/>
              </a:rPr>
              <a:t>store</a:t>
            </a:r>
            <a:r>
              <a:rPr sz="2736" spc="-64" dirty="0">
                <a:latin typeface="Arial"/>
                <a:cs typeface="Arial"/>
              </a:rPr>
              <a:t> </a:t>
            </a:r>
            <a:r>
              <a:rPr sz="2736" dirty="0">
                <a:latin typeface="Arial"/>
                <a:cs typeface="Arial"/>
              </a:rPr>
              <a:t>represents</a:t>
            </a:r>
            <a:r>
              <a:rPr sz="2736" spc="-68" dirty="0">
                <a:latin typeface="Arial"/>
                <a:cs typeface="Arial"/>
              </a:rPr>
              <a:t> </a:t>
            </a:r>
            <a:r>
              <a:rPr sz="2736" spc="-17" dirty="0">
                <a:latin typeface="Arial"/>
                <a:cs typeface="Arial"/>
              </a:rPr>
              <a:t>data </a:t>
            </a:r>
            <a:r>
              <a:rPr sz="2736" dirty="0">
                <a:latin typeface="Arial"/>
                <a:cs typeface="Arial"/>
              </a:rPr>
              <a:t>about</a:t>
            </a:r>
            <a:r>
              <a:rPr sz="2736" spc="-38" dirty="0">
                <a:latin typeface="Arial"/>
                <a:cs typeface="Arial"/>
              </a:rPr>
              <a:t> </a:t>
            </a:r>
            <a:r>
              <a:rPr sz="2736" dirty="0">
                <a:latin typeface="Arial"/>
                <a:cs typeface="Arial"/>
              </a:rPr>
              <a:t>a</a:t>
            </a:r>
            <a:r>
              <a:rPr sz="2736" spc="-34" dirty="0">
                <a:latin typeface="Arial"/>
                <a:cs typeface="Arial"/>
              </a:rPr>
              <a:t> </a:t>
            </a:r>
            <a:r>
              <a:rPr sz="2736" dirty="0">
                <a:latin typeface="Arial"/>
                <a:cs typeface="Arial"/>
              </a:rPr>
              <a:t>single</a:t>
            </a:r>
            <a:r>
              <a:rPr sz="2736" spc="-34" dirty="0">
                <a:latin typeface="Arial"/>
                <a:cs typeface="Arial"/>
              </a:rPr>
              <a:t> </a:t>
            </a:r>
            <a:r>
              <a:rPr sz="2736" spc="-9" dirty="0">
                <a:latin typeface="Arial"/>
                <a:cs typeface="Arial"/>
              </a:rPr>
              <a:t>entity</a:t>
            </a:r>
            <a:endParaRPr sz="2736">
              <a:latin typeface="Arial"/>
              <a:cs typeface="Arial"/>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Guidelines</a:t>
            </a:r>
            <a:r>
              <a:rPr sz="3420" spc="-34" dirty="0"/>
              <a:t> </a:t>
            </a:r>
            <a:r>
              <a:rPr sz="3420" dirty="0"/>
              <a:t>for</a:t>
            </a:r>
            <a:r>
              <a:rPr sz="3420" spc="-30" dirty="0"/>
              <a:t> </a:t>
            </a:r>
            <a:r>
              <a:rPr sz="3420" dirty="0"/>
              <a:t>Drawing</a:t>
            </a:r>
            <a:r>
              <a:rPr sz="3420" spc="-38" dirty="0"/>
              <a:t>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35</a:t>
            </a:fld>
            <a:endParaRPr spc="-21" dirty="0"/>
          </a:p>
        </p:txBody>
      </p:sp>
      <p:sp>
        <p:nvSpPr>
          <p:cNvPr id="3" name="object 3"/>
          <p:cNvSpPr txBox="1"/>
          <p:nvPr/>
        </p:nvSpPr>
        <p:spPr>
          <a:xfrm>
            <a:off x="1120336" y="2110283"/>
            <a:ext cx="6742343" cy="2866819"/>
          </a:xfrm>
          <a:prstGeom prst="rect">
            <a:avLst/>
          </a:prstGeom>
        </p:spPr>
        <p:txBody>
          <a:bodyPr vert="horz" wrap="square" lIns="0" tIns="107513" rIns="0" bIns="0" rtlCol="0">
            <a:spAutoFit/>
          </a:bodyPr>
          <a:lstStyle/>
          <a:p>
            <a:pPr marL="304617" indent="-293757">
              <a:spcBef>
                <a:spcPts val="847"/>
              </a:spcBef>
              <a:buClr>
                <a:srgbClr val="3399FF"/>
              </a:buClr>
              <a:buSzPct val="75000"/>
              <a:buFont typeface="Segoe UI Symbol"/>
              <a:buChar char="■"/>
              <a:tabLst>
                <a:tab pos="304617" algn="l"/>
              </a:tabLst>
            </a:pPr>
            <a:r>
              <a:rPr sz="3078" spc="-86" dirty="0">
                <a:latin typeface="Arial"/>
                <a:cs typeface="Arial"/>
              </a:rPr>
              <a:t>Rules</a:t>
            </a:r>
            <a:r>
              <a:rPr sz="3078" spc="-154" dirty="0">
                <a:latin typeface="Arial"/>
                <a:cs typeface="Arial"/>
              </a:rPr>
              <a:t> </a:t>
            </a:r>
            <a:r>
              <a:rPr sz="3078" spc="-64" dirty="0">
                <a:latin typeface="Arial"/>
                <a:cs typeface="Arial"/>
              </a:rPr>
              <a:t>for</a:t>
            </a:r>
            <a:r>
              <a:rPr sz="3078" spc="-150" dirty="0">
                <a:latin typeface="Arial"/>
                <a:cs typeface="Arial"/>
              </a:rPr>
              <a:t> </a:t>
            </a:r>
            <a:r>
              <a:rPr sz="3078" spc="-86" dirty="0">
                <a:latin typeface="Arial"/>
                <a:cs typeface="Arial"/>
              </a:rPr>
              <a:t>stopping</a:t>
            </a:r>
            <a:r>
              <a:rPr sz="3078" spc="-128" dirty="0">
                <a:latin typeface="Arial"/>
                <a:cs typeface="Arial"/>
              </a:rPr>
              <a:t> </a:t>
            </a:r>
            <a:r>
              <a:rPr sz="3078" spc="-90" dirty="0">
                <a:latin typeface="Arial"/>
                <a:cs typeface="Arial"/>
              </a:rPr>
              <a:t>decomposition,</a:t>
            </a:r>
            <a:r>
              <a:rPr sz="3078" spc="-128" dirty="0">
                <a:latin typeface="Arial"/>
                <a:cs typeface="Arial"/>
              </a:rPr>
              <a:t> </a:t>
            </a:r>
            <a:r>
              <a:rPr sz="3078" spc="-30" dirty="0">
                <a:latin typeface="Arial"/>
                <a:cs typeface="Arial"/>
              </a:rPr>
              <a:t>cont.</a:t>
            </a:r>
            <a:endParaRPr sz="3078">
              <a:latin typeface="Arial"/>
              <a:cs typeface="Arial"/>
            </a:endParaRPr>
          </a:p>
          <a:p>
            <a:pPr marL="646699" marR="55384" indent="-245431">
              <a:spcBef>
                <a:spcPts val="671"/>
              </a:spcBef>
            </a:pPr>
            <a:r>
              <a:rPr sz="2181" dirty="0">
                <a:solidFill>
                  <a:srgbClr val="CC0066"/>
                </a:solidFill>
                <a:latin typeface="Segoe UI Symbol"/>
                <a:cs typeface="Segoe UI Symbol"/>
              </a:rPr>
              <a:t>□</a:t>
            </a:r>
            <a:r>
              <a:rPr sz="2736" dirty="0">
                <a:latin typeface="Arial"/>
                <a:cs typeface="Arial"/>
              </a:rPr>
              <a:t>When</a:t>
            </a:r>
            <a:r>
              <a:rPr sz="2736" spc="-47" dirty="0">
                <a:latin typeface="Arial"/>
                <a:cs typeface="Arial"/>
              </a:rPr>
              <a:t> </a:t>
            </a:r>
            <a:r>
              <a:rPr sz="2736" dirty="0">
                <a:latin typeface="Arial"/>
                <a:cs typeface="Arial"/>
              </a:rPr>
              <a:t>the</a:t>
            </a:r>
            <a:r>
              <a:rPr sz="2736" spc="-47" dirty="0">
                <a:latin typeface="Arial"/>
                <a:cs typeface="Arial"/>
              </a:rPr>
              <a:t> </a:t>
            </a:r>
            <a:r>
              <a:rPr sz="2736" dirty="0">
                <a:latin typeface="Arial"/>
                <a:cs typeface="Arial"/>
              </a:rPr>
              <a:t>system</a:t>
            </a:r>
            <a:r>
              <a:rPr sz="2736" spc="-47" dirty="0">
                <a:latin typeface="Arial"/>
                <a:cs typeface="Arial"/>
              </a:rPr>
              <a:t> </a:t>
            </a:r>
            <a:r>
              <a:rPr sz="2736" dirty="0">
                <a:latin typeface="Arial"/>
                <a:cs typeface="Arial"/>
              </a:rPr>
              <a:t>user</a:t>
            </a:r>
            <a:r>
              <a:rPr sz="2736" spc="-43" dirty="0">
                <a:latin typeface="Arial"/>
                <a:cs typeface="Arial"/>
              </a:rPr>
              <a:t> </a:t>
            </a:r>
            <a:r>
              <a:rPr sz="2736" dirty="0">
                <a:latin typeface="Arial"/>
                <a:cs typeface="Arial"/>
              </a:rPr>
              <a:t>does</a:t>
            </a:r>
            <a:r>
              <a:rPr sz="2736" spc="-47" dirty="0">
                <a:latin typeface="Arial"/>
                <a:cs typeface="Arial"/>
              </a:rPr>
              <a:t> </a:t>
            </a:r>
            <a:r>
              <a:rPr sz="2736" dirty="0">
                <a:latin typeface="Arial"/>
                <a:cs typeface="Arial"/>
              </a:rPr>
              <a:t>not</a:t>
            </a:r>
            <a:r>
              <a:rPr sz="2736" spc="-47" dirty="0">
                <a:latin typeface="Arial"/>
                <a:cs typeface="Arial"/>
              </a:rPr>
              <a:t> </a:t>
            </a:r>
            <a:r>
              <a:rPr sz="2736" dirty="0">
                <a:latin typeface="Arial"/>
                <a:cs typeface="Arial"/>
              </a:rPr>
              <a:t>care</a:t>
            </a:r>
            <a:r>
              <a:rPr sz="2736" spc="-47" dirty="0">
                <a:latin typeface="Arial"/>
                <a:cs typeface="Arial"/>
              </a:rPr>
              <a:t> </a:t>
            </a:r>
            <a:r>
              <a:rPr sz="2736" spc="-21" dirty="0">
                <a:latin typeface="Arial"/>
                <a:cs typeface="Arial"/>
              </a:rPr>
              <a:t>to </a:t>
            </a:r>
            <a:r>
              <a:rPr sz="2736" dirty="0">
                <a:latin typeface="Arial"/>
                <a:cs typeface="Arial"/>
              </a:rPr>
              <a:t>see</a:t>
            </a:r>
            <a:r>
              <a:rPr sz="2736" spc="-64" dirty="0">
                <a:latin typeface="Arial"/>
                <a:cs typeface="Arial"/>
              </a:rPr>
              <a:t> </a:t>
            </a:r>
            <a:r>
              <a:rPr sz="2736" dirty="0">
                <a:latin typeface="Arial"/>
                <a:cs typeface="Arial"/>
              </a:rPr>
              <a:t>any</a:t>
            </a:r>
            <a:r>
              <a:rPr sz="2736" spc="-60" dirty="0">
                <a:latin typeface="Arial"/>
                <a:cs typeface="Arial"/>
              </a:rPr>
              <a:t> </a:t>
            </a:r>
            <a:r>
              <a:rPr sz="2736" dirty="0">
                <a:latin typeface="Arial"/>
                <a:cs typeface="Arial"/>
              </a:rPr>
              <a:t>more</a:t>
            </a:r>
            <a:r>
              <a:rPr sz="2736" spc="-64" dirty="0">
                <a:latin typeface="Arial"/>
                <a:cs typeface="Arial"/>
              </a:rPr>
              <a:t> </a:t>
            </a:r>
            <a:r>
              <a:rPr sz="2736" spc="-9" dirty="0">
                <a:latin typeface="Arial"/>
                <a:cs typeface="Arial"/>
              </a:rPr>
              <a:t>detail</a:t>
            </a:r>
            <a:endParaRPr sz="2736">
              <a:latin typeface="Arial"/>
              <a:cs typeface="Arial"/>
            </a:endParaRPr>
          </a:p>
          <a:p>
            <a:pPr marL="646699" marR="73846" indent="-245431">
              <a:spcBef>
                <a:spcPts val="658"/>
              </a:spcBef>
            </a:pPr>
            <a:r>
              <a:rPr sz="2181" dirty="0">
                <a:solidFill>
                  <a:srgbClr val="CC0066"/>
                </a:solidFill>
                <a:latin typeface="Segoe UI Symbol"/>
                <a:cs typeface="Segoe UI Symbol"/>
              </a:rPr>
              <a:t>□</a:t>
            </a:r>
            <a:r>
              <a:rPr sz="2736" dirty="0">
                <a:latin typeface="Arial"/>
                <a:cs typeface="Arial"/>
              </a:rPr>
              <a:t>When</a:t>
            </a:r>
            <a:r>
              <a:rPr sz="2736" spc="-38" dirty="0">
                <a:latin typeface="Arial"/>
                <a:cs typeface="Arial"/>
              </a:rPr>
              <a:t> </a:t>
            </a:r>
            <a:r>
              <a:rPr sz="2736" dirty="0">
                <a:latin typeface="Arial"/>
                <a:cs typeface="Arial"/>
              </a:rPr>
              <a:t>every</a:t>
            </a:r>
            <a:r>
              <a:rPr sz="2736" spc="-77" dirty="0">
                <a:latin typeface="Arial"/>
                <a:cs typeface="Arial"/>
              </a:rPr>
              <a:t> </a:t>
            </a:r>
            <a:r>
              <a:rPr sz="2736" dirty="0">
                <a:latin typeface="Arial"/>
                <a:cs typeface="Arial"/>
              </a:rPr>
              <a:t>data</a:t>
            </a:r>
            <a:r>
              <a:rPr sz="2736" spc="-43" dirty="0">
                <a:latin typeface="Arial"/>
                <a:cs typeface="Arial"/>
              </a:rPr>
              <a:t> </a:t>
            </a:r>
            <a:r>
              <a:rPr sz="2736" dirty="0">
                <a:latin typeface="Arial"/>
                <a:cs typeface="Arial"/>
              </a:rPr>
              <a:t>flow</a:t>
            </a:r>
            <a:r>
              <a:rPr sz="2736" spc="-38" dirty="0">
                <a:latin typeface="Arial"/>
                <a:cs typeface="Arial"/>
              </a:rPr>
              <a:t> </a:t>
            </a:r>
            <a:r>
              <a:rPr sz="2736" dirty="0">
                <a:latin typeface="Arial"/>
                <a:cs typeface="Arial"/>
              </a:rPr>
              <a:t>does</a:t>
            </a:r>
            <a:r>
              <a:rPr sz="2736" spc="-34" dirty="0">
                <a:latin typeface="Arial"/>
                <a:cs typeface="Arial"/>
              </a:rPr>
              <a:t> </a:t>
            </a:r>
            <a:r>
              <a:rPr sz="2736" dirty="0">
                <a:latin typeface="Arial"/>
                <a:cs typeface="Arial"/>
              </a:rPr>
              <a:t>not</a:t>
            </a:r>
            <a:r>
              <a:rPr sz="2736" spc="-38" dirty="0">
                <a:latin typeface="Arial"/>
                <a:cs typeface="Arial"/>
              </a:rPr>
              <a:t> </a:t>
            </a:r>
            <a:r>
              <a:rPr sz="2736" dirty="0">
                <a:latin typeface="Arial"/>
                <a:cs typeface="Arial"/>
              </a:rPr>
              <a:t>need</a:t>
            </a:r>
            <a:r>
              <a:rPr sz="2736" spc="-34" dirty="0">
                <a:latin typeface="Arial"/>
                <a:cs typeface="Arial"/>
              </a:rPr>
              <a:t> </a:t>
            </a:r>
            <a:r>
              <a:rPr sz="2736" spc="-21" dirty="0">
                <a:latin typeface="Arial"/>
                <a:cs typeface="Arial"/>
              </a:rPr>
              <a:t>to </a:t>
            </a:r>
            <a:r>
              <a:rPr sz="2736" dirty="0">
                <a:latin typeface="Arial"/>
                <a:cs typeface="Arial"/>
              </a:rPr>
              <a:t>be</a:t>
            </a:r>
            <a:r>
              <a:rPr sz="2736" spc="-38" dirty="0">
                <a:latin typeface="Arial"/>
                <a:cs typeface="Arial"/>
              </a:rPr>
              <a:t> </a:t>
            </a:r>
            <a:r>
              <a:rPr sz="2736" dirty="0">
                <a:latin typeface="Arial"/>
                <a:cs typeface="Arial"/>
              </a:rPr>
              <a:t>split</a:t>
            </a:r>
            <a:r>
              <a:rPr sz="2736" spc="-34" dirty="0">
                <a:latin typeface="Arial"/>
                <a:cs typeface="Arial"/>
              </a:rPr>
              <a:t> </a:t>
            </a:r>
            <a:r>
              <a:rPr sz="2736" dirty="0">
                <a:latin typeface="Arial"/>
                <a:cs typeface="Arial"/>
              </a:rPr>
              <a:t>further</a:t>
            </a:r>
            <a:r>
              <a:rPr sz="2736" spc="-34" dirty="0">
                <a:latin typeface="Arial"/>
                <a:cs typeface="Arial"/>
              </a:rPr>
              <a:t> </a:t>
            </a:r>
            <a:r>
              <a:rPr sz="2736" dirty="0">
                <a:latin typeface="Arial"/>
                <a:cs typeface="Arial"/>
              </a:rPr>
              <a:t>to</a:t>
            </a:r>
            <a:r>
              <a:rPr sz="2736" spc="-34" dirty="0">
                <a:latin typeface="Arial"/>
                <a:cs typeface="Arial"/>
              </a:rPr>
              <a:t> </a:t>
            </a:r>
            <a:r>
              <a:rPr sz="2736" dirty="0">
                <a:latin typeface="Arial"/>
                <a:cs typeface="Arial"/>
              </a:rPr>
              <a:t>show</a:t>
            </a:r>
            <a:r>
              <a:rPr sz="2736" spc="-34" dirty="0">
                <a:latin typeface="Arial"/>
                <a:cs typeface="Arial"/>
              </a:rPr>
              <a:t> </a:t>
            </a:r>
            <a:r>
              <a:rPr sz="2736" dirty="0">
                <a:latin typeface="Arial"/>
                <a:cs typeface="Arial"/>
              </a:rPr>
              <a:t>that</a:t>
            </a:r>
            <a:r>
              <a:rPr sz="2736" spc="-38" dirty="0">
                <a:latin typeface="Arial"/>
                <a:cs typeface="Arial"/>
              </a:rPr>
              <a:t> </a:t>
            </a:r>
            <a:r>
              <a:rPr sz="2736" dirty="0">
                <a:latin typeface="Arial"/>
                <a:cs typeface="Arial"/>
              </a:rPr>
              <a:t>data</a:t>
            </a:r>
            <a:r>
              <a:rPr sz="2736" spc="-34" dirty="0">
                <a:latin typeface="Arial"/>
                <a:cs typeface="Arial"/>
              </a:rPr>
              <a:t> </a:t>
            </a:r>
            <a:r>
              <a:rPr sz="2736" spc="-21" dirty="0">
                <a:latin typeface="Arial"/>
                <a:cs typeface="Arial"/>
              </a:rPr>
              <a:t>are </a:t>
            </a:r>
            <a:r>
              <a:rPr sz="2736" dirty="0">
                <a:latin typeface="Arial"/>
                <a:cs typeface="Arial"/>
              </a:rPr>
              <a:t>handled</a:t>
            </a:r>
            <a:r>
              <a:rPr sz="2736" spc="-86" dirty="0">
                <a:latin typeface="Arial"/>
                <a:cs typeface="Arial"/>
              </a:rPr>
              <a:t> </a:t>
            </a:r>
            <a:r>
              <a:rPr sz="2736" dirty="0">
                <a:latin typeface="Arial"/>
                <a:cs typeface="Arial"/>
              </a:rPr>
              <a:t>in</a:t>
            </a:r>
            <a:r>
              <a:rPr sz="2736" spc="-81" dirty="0">
                <a:latin typeface="Arial"/>
                <a:cs typeface="Arial"/>
              </a:rPr>
              <a:t> </a:t>
            </a:r>
            <a:r>
              <a:rPr sz="2736" dirty="0">
                <a:latin typeface="Arial"/>
                <a:cs typeface="Arial"/>
              </a:rPr>
              <a:t>various</a:t>
            </a:r>
            <a:r>
              <a:rPr sz="2736" spc="-86" dirty="0">
                <a:latin typeface="Arial"/>
                <a:cs typeface="Arial"/>
              </a:rPr>
              <a:t> </a:t>
            </a:r>
            <a:r>
              <a:rPr sz="2736" spc="-17" dirty="0">
                <a:latin typeface="Arial"/>
                <a:cs typeface="Arial"/>
              </a:rPr>
              <a:t>ways</a:t>
            </a:r>
            <a:endParaRPr sz="2736">
              <a:latin typeface="Arial"/>
              <a:cs typeface="Arial"/>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756828"/>
            <a:ext cx="6743971" cy="635243"/>
          </a:xfrm>
          <a:prstGeom prst="rect">
            <a:avLst/>
          </a:prstGeom>
        </p:spPr>
        <p:txBody>
          <a:bodyPr vert="horz" wrap="square" lIns="0" tIns="107891" rIns="0" bIns="0" rtlCol="0" anchor="ctr">
            <a:spAutoFit/>
          </a:bodyPr>
          <a:lstStyle/>
          <a:p>
            <a:pPr marL="10860" marR="4344">
              <a:lnSpc>
                <a:spcPct val="100000"/>
              </a:lnSpc>
              <a:spcBef>
                <a:spcPts val="90"/>
              </a:spcBef>
            </a:pPr>
            <a:r>
              <a:rPr sz="3420" dirty="0"/>
              <a:t>Guidelines</a:t>
            </a:r>
            <a:r>
              <a:rPr sz="3420" spc="-34" dirty="0"/>
              <a:t> </a:t>
            </a:r>
            <a:r>
              <a:rPr sz="3420" dirty="0"/>
              <a:t>for</a:t>
            </a:r>
            <a:r>
              <a:rPr sz="3420" spc="-30" dirty="0"/>
              <a:t> </a:t>
            </a:r>
            <a:r>
              <a:rPr sz="3420" dirty="0"/>
              <a:t>Drawing</a:t>
            </a:r>
            <a:r>
              <a:rPr sz="3420" spc="-38" dirty="0"/>
              <a:t> </a:t>
            </a:r>
            <a:r>
              <a:rPr sz="3420" spc="-17" dirty="0"/>
              <a:t>DFDs </a:t>
            </a:r>
            <a:r>
              <a:rPr sz="3420" spc="-9" dirty="0"/>
              <a:t>(Cont.)</a:t>
            </a:r>
            <a:endParaRPr sz="3420"/>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36</a:t>
            </a:fld>
            <a:endParaRPr spc="-21" dirty="0"/>
          </a:p>
        </p:txBody>
      </p:sp>
      <p:sp>
        <p:nvSpPr>
          <p:cNvPr id="3" name="object 3"/>
          <p:cNvSpPr txBox="1"/>
          <p:nvPr/>
        </p:nvSpPr>
        <p:spPr>
          <a:xfrm>
            <a:off x="1120336" y="2110283"/>
            <a:ext cx="6742343" cy="3708844"/>
          </a:xfrm>
          <a:prstGeom prst="rect">
            <a:avLst/>
          </a:prstGeom>
        </p:spPr>
        <p:txBody>
          <a:bodyPr vert="horz" wrap="square" lIns="0" tIns="107513" rIns="0" bIns="0" rtlCol="0">
            <a:spAutoFit/>
          </a:bodyPr>
          <a:lstStyle/>
          <a:p>
            <a:pPr marL="304617" indent="-293757">
              <a:spcBef>
                <a:spcPts val="847"/>
              </a:spcBef>
              <a:buClr>
                <a:srgbClr val="3399FF"/>
              </a:buClr>
              <a:buSzPct val="75000"/>
              <a:buFont typeface="Segoe UI Symbol"/>
              <a:buChar char="■"/>
              <a:tabLst>
                <a:tab pos="304617" algn="l"/>
              </a:tabLst>
            </a:pPr>
            <a:r>
              <a:rPr sz="3078" spc="-86" dirty="0">
                <a:latin typeface="Arial"/>
                <a:cs typeface="Arial"/>
              </a:rPr>
              <a:t>Rules</a:t>
            </a:r>
            <a:r>
              <a:rPr sz="3078" spc="-154" dirty="0">
                <a:latin typeface="Arial"/>
                <a:cs typeface="Arial"/>
              </a:rPr>
              <a:t> </a:t>
            </a:r>
            <a:r>
              <a:rPr sz="3078" spc="-64" dirty="0">
                <a:latin typeface="Arial"/>
                <a:cs typeface="Arial"/>
              </a:rPr>
              <a:t>for</a:t>
            </a:r>
            <a:r>
              <a:rPr sz="3078" spc="-150" dirty="0">
                <a:latin typeface="Arial"/>
                <a:cs typeface="Arial"/>
              </a:rPr>
              <a:t> </a:t>
            </a:r>
            <a:r>
              <a:rPr sz="3078" spc="-86" dirty="0">
                <a:latin typeface="Arial"/>
                <a:cs typeface="Arial"/>
              </a:rPr>
              <a:t>stopping</a:t>
            </a:r>
            <a:r>
              <a:rPr sz="3078" spc="-128" dirty="0">
                <a:latin typeface="Arial"/>
                <a:cs typeface="Arial"/>
              </a:rPr>
              <a:t> </a:t>
            </a:r>
            <a:r>
              <a:rPr sz="3078" spc="-90" dirty="0">
                <a:latin typeface="Arial"/>
                <a:cs typeface="Arial"/>
              </a:rPr>
              <a:t>decomposition,</a:t>
            </a:r>
            <a:r>
              <a:rPr sz="3078" spc="-128" dirty="0">
                <a:latin typeface="Arial"/>
                <a:cs typeface="Arial"/>
              </a:rPr>
              <a:t> </a:t>
            </a:r>
            <a:r>
              <a:rPr sz="3078" spc="-30" dirty="0">
                <a:latin typeface="Arial"/>
                <a:cs typeface="Arial"/>
              </a:rPr>
              <a:t>cont.</a:t>
            </a:r>
            <a:endParaRPr sz="3078">
              <a:latin typeface="Arial"/>
              <a:cs typeface="Arial"/>
            </a:endParaRPr>
          </a:p>
          <a:p>
            <a:pPr marL="646699" marR="52127" indent="-245431">
              <a:spcBef>
                <a:spcPts val="671"/>
              </a:spcBef>
            </a:pPr>
            <a:r>
              <a:rPr sz="2181" dirty="0">
                <a:solidFill>
                  <a:srgbClr val="CC0066"/>
                </a:solidFill>
                <a:latin typeface="Segoe UI Symbol"/>
                <a:cs typeface="Segoe UI Symbol"/>
              </a:rPr>
              <a:t>□</a:t>
            </a:r>
            <a:r>
              <a:rPr sz="2736" dirty="0">
                <a:latin typeface="Arial"/>
                <a:cs typeface="Arial"/>
              </a:rPr>
              <a:t>When</a:t>
            </a:r>
            <a:r>
              <a:rPr sz="2736" spc="-60" dirty="0">
                <a:latin typeface="Arial"/>
                <a:cs typeface="Arial"/>
              </a:rPr>
              <a:t> </a:t>
            </a:r>
            <a:r>
              <a:rPr sz="2736" dirty="0">
                <a:latin typeface="Arial"/>
                <a:cs typeface="Arial"/>
              </a:rPr>
              <a:t>you</a:t>
            </a:r>
            <a:r>
              <a:rPr sz="2736" spc="-60" dirty="0">
                <a:latin typeface="Arial"/>
                <a:cs typeface="Arial"/>
              </a:rPr>
              <a:t> </a:t>
            </a:r>
            <a:r>
              <a:rPr sz="2736" dirty="0">
                <a:latin typeface="Arial"/>
                <a:cs typeface="Arial"/>
              </a:rPr>
              <a:t>believe</a:t>
            </a:r>
            <a:r>
              <a:rPr sz="2736" spc="-60" dirty="0">
                <a:latin typeface="Arial"/>
                <a:cs typeface="Arial"/>
              </a:rPr>
              <a:t> </a:t>
            </a:r>
            <a:r>
              <a:rPr sz="2736" dirty="0">
                <a:latin typeface="Arial"/>
                <a:cs typeface="Arial"/>
              </a:rPr>
              <a:t>that</a:t>
            </a:r>
            <a:r>
              <a:rPr sz="2736" spc="-60" dirty="0">
                <a:latin typeface="Arial"/>
                <a:cs typeface="Arial"/>
              </a:rPr>
              <a:t> </a:t>
            </a:r>
            <a:r>
              <a:rPr sz="2736" dirty="0">
                <a:latin typeface="Arial"/>
                <a:cs typeface="Arial"/>
              </a:rPr>
              <a:t>you</a:t>
            </a:r>
            <a:r>
              <a:rPr sz="2736" spc="-4" dirty="0">
                <a:latin typeface="Arial"/>
                <a:cs typeface="Arial"/>
              </a:rPr>
              <a:t> </a:t>
            </a:r>
            <a:r>
              <a:rPr sz="2736" dirty="0">
                <a:latin typeface="Arial"/>
                <a:cs typeface="Arial"/>
              </a:rPr>
              <a:t>have</a:t>
            </a:r>
            <a:r>
              <a:rPr sz="2736" spc="-60" dirty="0">
                <a:latin typeface="Arial"/>
                <a:cs typeface="Arial"/>
              </a:rPr>
              <a:t> </a:t>
            </a:r>
            <a:r>
              <a:rPr sz="2736" spc="-9" dirty="0">
                <a:latin typeface="Arial"/>
                <a:cs typeface="Arial"/>
              </a:rPr>
              <a:t>shown </a:t>
            </a:r>
            <a:r>
              <a:rPr sz="2736" dirty="0">
                <a:latin typeface="Arial"/>
                <a:cs typeface="Arial"/>
              </a:rPr>
              <a:t>each</a:t>
            </a:r>
            <a:r>
              <a:rPr sz="2736" spc="-64" dirty="0">
                <a:latin typeface="Arial"/>
                <a:cs typeface="Arial"/>
              </a:rPr>
              <a:t> </a:t>
            </a:r>
            <a:r>
              <a:rPr sz="2736" dirty="0">
                <a:latin typeface="Arial"/>
                <a:cs typeface="Arial"/>
              </a:rPr>
              <a:t>business</a:t>
            </a:r>
            <a:r>
              <a:rPr sz="2736" spc="-64" dirty="0">
                <a:latin typeface="Arial"/>
                <a:cs typeface="Arial"/>
              </a:rPr>
              <a:t> </a:t>
            </a:r>
            <a:r>
              <a:rPr sz="2736" dirty="0">
                <a:latin typeface="Arial"/>
                <a:cs typeface="Arial"/>
              </a:rPr>
              <a:t>form</a:t>
            </a:r>
            <a:r>
              <a:rPr sz="2736" spc="-64" dirty="0">
                <a:latin typeface="Arial"/>
                <a:cs typeface="Arial"/>
              </a:rPr>
              <a:t> </a:t>
            </a:r>
            <a:r>
              <a:rPr sz="2736" dirty="0">
                <a:latin typeface="Arial"/>
                <a:cs typeface="Arial"/>
              </a:rPr>
              <a:t>or</a:t>
            </a:r>
            <a:r>
              <a:rPr sz="2736" spc="-60" dirty="0">
                <a:latin typeface="Arial"/>
                <a:cs typeface="Arial"/>
              </a:rPr>
              <a:t> </a:t>
            </a:r>
            <a:r>
              <a:rPr sz="2736" spc="-9" dirty="0">
                <a:latin typeface="Arial"/>
                <a:cs typeface="Arial"/>
              </a:rPr>
              <a:t>transaction, </a:t>
            </a:r>
            <a:r>
              <a:rPr sz="2736" dirty="0">
                <a:latin typeface="Arial"/>
                <a:cs typeface="Arial"/>
              </a:rPr>
              <a:t>online</a:t>
            </a:r>
            <a:r>
              <a:rPr sz="2736" spc="-43" dirty="0">
                <a:latin typeface="Arial"/>
                <a:cs typeface="Arial"/>
              </a:rPr>
              <a:t> </a:t>
            </a:r>
            <a:r>
              <a:rPr sz="2736" dirty="0">
                <a:latin typeface="Arial"/>
                <a:cs typeface="Arial"/>
              </a:rPr>
              <a:t>display</a:t>
            </a:r>
            <a:r>
              <a:rPr sz="2736" spc="-38" dirty="0">
                <a:latin typeface="Arial"/>
                <a:cs typeface="Arial"/>
              </a:rPr>
              <a:t> </a:t>
            </a:r>
            <a:r>
              <a:rPr sz="2736" dirty="0">
                <a:latin typeface="Arial"/>
                <a:cs typeface="Arial"/>
              </a:rPr>
              <a:t>and</a:t>
            </a:r>
            <a:r>
              <a:rPr sz="2736" spc="-43" dirty="0">
                <a:latin typeface="Arial"/>
                <a:cs typeface="Arial"/>
              </a:rPr>
              <a:t> </a:t>
            </a:r>
            <a:r>
              <a:rPr sz="2736" dirty="0">
                <a:latin typeface="Arial"/>
                <a:cs typeface="Arial"/>
              </a:rPr>
              <a:t>report</a:t>
            </a:r>
            <a:r>
              <a:rPr sz="2736" spc="-38" dirty="0">
                <a:latin typeface="Arial"/>
                <a:cs typeface="Arial"/>
              </a:rPr>
              <a:t> </a:t>
            </a:r>
            <a:r>
              <a:rPr sz="2736" dirty="0">
                <a:latin typeface="Arial"/>
                <a:cs typeface="Arial"/>
              </a:rPr>
              <a:t>as</a:t>
            </a:r>
            <a:r>
              <a:rPr sz="2736" spc="-43" dirty="0">
                <a:latin typeface="Arial"/>
                <a:cs typeface="Arial"/>
              </a:rPr>
              <a:t> </a:t>
            </a:r>
            <a:r>
              <a:rPr sz="2736" dirty="0">
                <a:latin typeface="Arial"/>
                <a:cs typeface="Arial"/>
              </a:rPr>
              <a:t>a</a:t>
            </a:r>
            <a:r>
              <a:rPr sz="2736" spc="-38" dirty="0">
                <a:latin typeface="Arial"/>
                <a:cs typeface="Arial"/>
              </a:rPr>
              <a:t> </a:t>
            </a:r>
            <a:r>
              <a:rPr sz="2736" spc="-9" dirty="0">
                <a:latin typeface="Arial"/>
                <a:cs typeface="Arial"/>
              </a:rPr>
              <a:t>single </a:t>
            </a:r>
            <a:r>
              <a:rPr sz="2736" dirty="0">
                <a:latin typeface="Arial"/>
                <a:cs typeface="Arial"/>
              </a:rPr>
              <a:t>data</a:t>
            </a:r>
            <a:r>
              <a:rPr sz="2736" spc="-17" dirty="0">
                <a:latin typeface="Arial"/>
                <a:cs typeface="Arial"/>
              </a:rPr>
              <a:t> flow</a:t>
            </a:r>
            <a:endParaRPr sz="2736">
              <a:latin typeface="Arial"/>
              <a:cs typeface="Arial"/>
            </a:endParaRPr>
          </a:p>
          <a:p>
            <a:pPr marL="646699" marR="57557" indent="-245431">
              <a:spcBef>
                <a:spcPts val="654"/>
              </a:spcBef>
            </a:pPr>
            <a:r>
              <a:rPr sz="2181" dirty="0">
                <a:solidFill>
                  <a:srgbClr val="CC0066"/>
                </a:solidFill>
                <a:latin typeface="Segoe UI Symbol"/>
                <a:cs typeface="Segoe UI Symbol"/>
              </a:rPr>
              <a:t>□</a:t>
            </a:r>
            <a:r>
              <a:rPr sz="2736" dirty="0">
                <a:latin typeface="Arial"/>
                <a:cs typeface="Arial"/>
              </a:rPr>
              <a:t>When</a:t>
            </a:r>
            <a:r>
              <a:rPr sz="2736" spc="-47" dirty="0">
                <a:latin typeface="Arial"/>
                <a:cs typeface="Arial"/>
              </a:rPr>
              <a:t> </a:t>
            </a:r>
            <a:r>
              <a:rPr sz="2736" dirty="0">
                <a:latin typeface="Arial"/>
                <a:cs typeface="Arial"/>
              </a:rPr>
              <a:t>you</a:t>
            </a:r>
            <a:r>
              <a:rPr sz="2736" spc="-43" dirty="0">
                <a:latin typeface="Arial"/>
                <a:cs typeface="Arial"/>
              </a:rPr>
              <a:t> </a:t>
            </a:r>
            <a:r>
              <a:rPr sz="2736" dirty="0">
                <a:latin typeface="Arial"/>
                <a:cs typeface="Arial"/>
              </a:rPr>
              <a:t>believe</a:t>
            </a:r>
            <a:r>
              <a:rPr sz="2736" spc="-43" dirty="0">
                <a:latin typeface="Arial"/>
                <a:cs typeface="Arial"/>
              </a:rPr>
              <a:t> </a:t>
            </a:r>
            <a:r>
              <a:rPr sz="2736" dirty="0">
                <a:latin typeface="Arial"/>
                <a:cs typeface="Arial"/>
              </a:rPr>
              <a:t>that</a:t>
            </a:r>
            <a:r>
              <a:rPr sz="2736" spc="-43" dirty="0">
                <a:latin typeface="Arial"/>
                <a:cs typeface="Arial"/>
              </a:rPr>
              <a:t> </a:t>
            </a:r>
            <a:r>
              <a:rPr sz="2736" dirty="0">
                <a:latin typeface="Arial"/>
                <a:cs typeface="Arial"/>
              </a:rPr>
              <a:t>there</a:t>
            </a:r>
            <a:r>
              <a:rPr sz="2736" spc="-43" dirty="0">
                <a:latin typeface="Arial"/>
                <a:cs typeface="Arial"/>
              </a:rPr>
              <a:t> </a:t>
            </a:r>
            <a:r>
              <a:rPr sz="2736" dirty="0">
                <a:latin typeface="Arial"/>
                <a:cs typeface="Arial"/>
              </a:rPr>
              <a:t>is</a:t>
            </a:r>
            <a:r>
              <a:rPr sz="2736" spc="-43" dirty="0">
                <a:latin typeface="Arial"/>
                <a:cs typeface="Arial"/>
              </a:rPr>
              <a:t> a </a:t>
            </a:r>
            <a:r>
              <a:rPr sz="2736" dirty="0">
                <a:latin typeface="Arial"/>
                <a:cs typeface="Arial"/>
              </a:rPr>
              <a:t>separate</a:t>
            </a:r>
            <a:r>
              <a:rPr sz="2736" spc="-68" dirty="0">
                <a:latin typeface="Arial"/>
                <a:cs typeface="Arial"/>
              </a:rPr>
              <a:t> </a:t>
            </a:r>
            <a:r>
              <a:rPr sz="2736" dirty="0">
                <a:latin typeface="Arial"/>
                <a:cs typeface="Arial"/>
              </a:rPr>
              <a:t>process</a:t>
            </a:r>
            <a:r>
              <a:rPr sz="2736" spc="-60" dirty="0">
                <a:latin typeface="Arial"/>
                <a:cs typeface="Arial"/>
              </a:rPr>
              <a:t> </a:t>
            </a:r>
            <a:r>
              <a:rPr sz="2736" dirty="0">
                <a:latin typeface="Arial"/>
                <a:cs typeface="Arial"/>
              </a:rPr>
              <a:t>for</a:t>
            </a:r>
            <a:r>
              <a:rPr sz="2736" spc="-60" dirty="0">
                <a:latin typeface="Arial"/>
                <a:cs typeface="Arial"/>
              </a:rPr>
              <a:t> </a:t>
            </a:r>
            <a:r>
              <a:rPr sz="2736" dirty="0">
                <a:latin typeface="Arial"/>
                <a:cs typeface="Arial"/>
              </a:rPr>
              <a:t>each</a:t>
            </a:r>
            <a:r>
              <a:rPr sz="2736" spc="-60" dirty="0">
                <a:latin typeface="Arial"/>
                <a:cs typeface="Arial"/>
              </a:rPr>
              <a:t> </a:t>
            </a:r>
            <a:r>
              <a:rPr sz="2736" dirty="0">
                <a:latin typeface="Arial"/>
                <a:cs typeface="Arial"/>
              </a:rPr>
              <a:t>choice</a:t>
            </a:r>
            <a:r>
              <a:rPr sz="2736" spc="-103" dirty="0">
                <a:latin typeface="Arial"/>
                <a:cs typeface="Arial"/>
              </a:rPr>
              <a:t> </a:t>
            </a:r>
            <a:r>
              <a:rPr sz="2736" dirty="0">
                <a:latin typeface="Arial"/>
                <a:cs typeface="Arial"/>
              </a:rPr>
              <a:t>on</a:t>
            </a:r>
            <a:r>
              <a:rPr sz="2736" spc="-56" dirty="0">
                <a:latin typeface="Arial"/>
                <a:cs typeface="Arial"/>
              </a:rPr>
              <a:t> </a:t>
            </a:r>
            <a:r>
              <a:rPr sz="2736" spc="-21" dirty="0">
                <a:latin typeface="Arial"/>
                <a:cs typeface="Arial"/>
              </a:rPr>
              <a:t>all lowest-</a:t>
            </a:r>
            <a:r>
              <a:rPr sz="2736" dirty="0">
                <a:latin typeface="Arial"/>
                <a:cs typeface="Arial"/>
              </a:rPr>
              <a:t>level</a:t>
            </a:r>
            <a:r>
              <a:rPr sz="2736" spc="-68" dirty="0">
                <a:latin typeface="Arial"/>
                <a:cs typeface="Arial"/>
              </a:rPr>
              <a:t> </a:t>
            </a:r>
            <a:r>
              <a:rPr sz="2736" dirty="0">
                <a:latin typeface="Arial"/>
                <a:cs typeface="Arial"/>
              </a:rPr>
              <a:t>menu</a:t>
            </a:r>
            <a:r>
              <a:rPr sz="2736" spc="-64" dirty="0">
                <a:latin typeface="Arial"/>
                <a:cs typeface="Arial"/>
              </a:rPr>
              <a:t> </a:t>
            </a:r>
            <a:r>
              <a:rPr sz="2736" spc="-9" dirty="0">
                <a:latin typeface="Arial"/>
                <a:cs typeface="Arial"/>
              </a:rPr>
              <a:t>options</a:t>
            </a:r>
            <a:endParaRPr sz="2736">
              <a:latin typeface="Arial"/>
              <a:cs typeface="Arial"/>
            </a:endParaRP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Using</a:t>
            </a:r>
            <a:r>
              <a:rPr sz="3762" spc="-94" dirty="0"/>
              <a:t> </a:t>
            </a:r>
            <a:r>
              <a:rPr sz="3762" dirty="0"/>
              <a:t>DFDs</a:t>
            </a:r>
            <a:r>
              <a:rPr sz="3762" spc="-90" dirty="0"/>
              <a:t> </a:t>
            </a:r>
            <a:r>
              <a:rPr sz="3762" dirty="0"/>
              <a:t>as</a:t>
            </a:r>
            <a:r>
              <a:rPr sz="3762" spc="-90" dirty="0"/>
              <a:t> </a:t>
            </a:r>
            <a:r>
              <a:rPr sz="3762" dirty="0"/>
              <a:t>Analysis</a:t>
            </a:r>
            <a:r>
              <a:rPr sz="3762" spc="-90" dirty="0"/>
              <a:t> </a:t>
            </a:r>
            <a:r>
              <a:rPr sz="3762" spc="-17" dirty="0"/>
              <a:t>Tools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37</a:t>
            </a:fld>
            <a:endParaRPr spc="-21" dirty="0"/>
          </a:p>
        </p:txBody>
      </p:sp>
      <p:sp>
        <p:nvSpPr>
          <p:cNvPr id="3" name="object 3"/>
          <p:cNvSpPr txBox="1">
            <a:spLocks noGrp="1"/>
          </p:cNvSpPr>
          <p:nvPr>
            <p:ph type="body" idx="1"/>
          </p:nvPr>
        </p:nvSpPr>
        <p:spPr>
          <a:xfrm>
            <a:off x="537563" y="1756582"/>
            <a:ext cx="6743971" cy="2767276"/>
          </a:xfrm>
          <a:prstGeom prst="rect">
            <a:avLst/>
          </a:prstGeom>
        </p:spPr>
        <p:txBody>
          <a:bodyPr vert="horz" wrap="square" lIns="0" tIns="91293" rIns="0" bIns="0" rtlCol="0">
            <a:spAutoFit/>
          </a:bodyPr>
          <a:lstStyle/>
          <a:p>
            <a:pPr marL="305160" marR="4344" indent="-294843">
              <a:lnSpc>
                <a:spcPct val="100000"/>
              </a:lnSpc>
              <a:spcBef>
                <a:spcPts val="77"/>
              </a:spcBef>
              <a:buClr>
                <a:srgbClr val="3399FF"/>
              </a:buClr>
              <a:buSzPct val="75000"/>
              <a:buFont typeface="Segoe UI Symbol"/>
              <a:buChar char="■"/>
              <a:tabLst>
                <a:tab pos="305160" algn="l"/>
              </a:tabLst>
            </a:pPr>
            <a:r>
              <a:rPr b="1" dirty="0">
                <a:latin typeface="Arial"/>
                <a:cs typeface="Arial"/>
              </a:rPr>
              <a:t>Gap</a:t>
            </a:r>
            <a:r>
              <a:rPr b="1" spc="-86" dirty="0">
                <a:latin typeface="Arial"/>
                <a:cs typeface="Arial"/>
              </a:rPr>
              <a:t> </a:t>
            </a:r>
            <a:r>
              <a:rPr b="1" dirty="0">
                <a:latin typeface="Arial"/>
                <a:cs typeface="Arial"/>
              </a:rPr>
              <a:t>Analysis</a:t>
            </a:r>
            <a:r>
              <a:rPr b="1" spc="-13" dirty="0">
                <a:latin typeface="Arial"/>
                <a:cs typeface="Arial"/>
              </a:rPr>
              <a:t> </a:t>
            </a:r>
            <a:r>
              <a:rPr dirty="0"/>
              <a:t>is</a:t>
            </a:r>
            <a:r>
              <a:rPr spc="-86" dirty="0"/>
              <a:t> </a:t>
            </a:r>
            <a:r>
              <a:rPr dirty="0"/>
              <a:t>the</a:t>
            </a:r>
            <a:r>
              <a:rPr spc="-86" dirty="0"/>
              <a:t> </a:t>
            </a:r>
            <a:r>
              <a:rPr dirty="0"/>
              <a:t>process</a:t>
            </a:r>
            <a:r>
              <a:rPr spc="-86" dirty="0"/>
              <a:t> </a:t>
            </a:r>
            <a:r>
              <a:rPr spc="-21" dirty="0"/>
              <a:t>of </a:t>
            </a:r>
            <a:r>
              <a:rPr spc="-9" dirty="0"/>
              <a:t>discovering</a:t>
            </a:r>
            <a:r>
              <a:rPr spc="-145" dirty="0"/>
              <a:t> </a:t>
            </a:r>
            <a:r>
              <a:rPr dirty="0"/>
              <a:t>discrepancies</a:t>
            </a:r>
            <a:r>
              <a:rPr spc="-90" dirty="0"/>
              <a:t> </a:t>
            </a:r>
            <a:r>
              <a:rPr dirty="0"/>
              <a:t>between</a:t>
            </a:r>
            <a:r>
              <a:rPr spc="-38" dirty="0"/>
              <a:t> </a:t>
            </a:r>
            <a:r>
              <a:rPr dirty="0"/>
              <a:t>two</a:t>
            </a:r>
            <a:r>
              <a:rPr spc="-90" dirty="0"/>
              <a:t> </a:t>
            </a:r>
            <a:r>
              <a:rPr spc="-21" dirty="0"/>
              <a:t>or </a:t>
            </a:r>
            <a:r>
              <a:rPr dirty="0"/>
              <a:t>more</a:t>
            </a:r>
            <a:r>
              <a:rPr spc="-64" dirty="0"/>
              <a:t> </a:t>
            </a:r>
            <a:r>
              <a:rPr dirty="0"/>
              <a:t>sets</a:t>
            </a:r>
            <a:r>
              <a:rPr spc="-60" dirty="0"/>
              <a:t> </a:t>
            </a:r>
            <a:r>
              <a:rPr dirty="0"/>
              <a:t>of</a:t>
            </a:r>
            <a:r>
              <a:rPr spc="-60" dirty="0"/>
              <a:t> </a:t>
            </a:r>
            <a:r>
              <a:rPr dirty="0"/>
              <a:t>data</a:t>
            </a:r>
            <a:r>
              <a:rPr spc="-60" dirty="0"/>
              <a:t> </a:t>
            </a:r>
            <a:r>
              <a:rPr dirty="0"/>
              <a:t>flow</a:t>
            </a:r>
            <a:r>
              <a:rPr spc="-60" dirty="0"/>
              <a:t> </a:t>
            </a:r>
            <a:r>
              <a:rPr dirty="0"/>
              <a:t>diagrams</a:t>
            </a:r>
            <a:r>
              <a:rPr spc="-60" dirty="0"/>
              <a:t> </a:t>
            </a:r>
            <a:r>
              <a:rPr spc="-21" dirty="0"/>
              <a:t>or </a:t>
            </a:r>
            <a:r>
              <a:rPr dirty="0"/>
              <a:t>discrepancies</a:t>
            </a:r>
            <a:r>
              <a:rPr spc="-111" dirty="0"/>
              <a:t> </a:t>
            </a:r>
            <a:r>
              <a:rPr dirty="0"/>
              <a:t>within</a:t>
            </a:r>
            <a:r>
              <a:rPr spc="-68" dirty="0"/>
              <a:t> </a:t>
            </a:r>
            <a:r>
              <a:rPr dirty="0"/>
              <a:t>a</a:t>
            </a:r>
            <a:r>
              <a:rPr spc="-68" dirty="0"/>
              <a:t> </a:t>
            </a:r>
            <a:r>
              <a:rPr dirty="0"/>
              <a:t>single</a:t>
            </a:r>
            <a:r>
              <a:rPr spc="-73" dirty="0"/>
              <a:t> </a:t>
            </a:r>
            <a:r>
              <a:rPr spc="-17" dirty="0"/>
              <a:t>DFD.</a:t>
            </a:r>
          </a:p>
          <a:p>
            <a:pPr marL="305160" marR="567423" indent="-294843">
              <a:lnSpc>
                <a:spcPct val="100000"/>
              </a:lnSpc>
              <a:spcBef>
                <a:spcPts val="658"/>
              </a:spcBef>
              <a:buClr>
                <a:srgbClr val="3399FF"/>
              </a:buClr>
              <a:buSzPct val="75000"/>
              <a:buFont typeface="Segoe UI Symbol"/>
              <a:buChar char="■"/>
              <a:tabLst>
                <a:tab pos="305160" algn="l"/>
              </a:tabLst>
            </a:pPr>
            <a:r>
              <a:rPr spc="-9" dirty="0"/>
              <a:t>Inefficiencies</a:t>
            </a:r>
            <a:r>
              <a:rPr spc="-81" dirty="0"/>
              <a:t> </a:t>
            </a:r>
            <a:r>
              <a:rPr dirty="0"/>
              <a:t>in</a:t>
            </a:r>
            <a:r>
              <a:rPr spc="-38" dirty="0"/>
              <a:t> </a:t>
            </a:r>
            <a:r>
              <a:rPr dirty="0"/>
              <a:t>a</a:t>
            </a:r>
            <a:r>
              <a:rPr spc="-43" dirty="0"/>
              <a:t> </a:t>
            </a:r>
            <a:r>
              <a:rPr dirty="0"/>
              <a:t>system</a:t>
            </a:r>
            <a:r>
              <a:rPr spc="-38" dirty="0"/>
              <a:t> </a:t>
            </a:r>
            <a:r>
              <a:rPr dirty="0"/>
              <a:t>can</a:t>
            </a:r>
            <a:r>
              <a:rPr spc="-38" dirty="0"/>
              <a:t> </a:t>
            </a:r>
            <a:r>
              <a:rPr dirty="0"/>
              <a:t>often</a:t>
            </a:r>
            <a:r>
              <a:rPr spc="-43" dirty="0"/>
              <a:t> </a:t>
            </a:r>
            <a:r>
              <a:rPr spc="-21" dirty="0"/>
              <a:t>be </a:t>
            </a:r>
            <a:r>
              <a:rPr dirty="0"/>
              <a:t>identified</a:t>
            </a:r>
            <a:r>
              <a:rPr spc="-94" dirty="0"/>
              <a:t> </a:t>
            </a:r>
            <a:r>
              <a:rPr dirty="0"/>
              <a:t>through</a:t>
            </a:r>
            <a:r>
              <a:rPr spc="-90" dirty="0"/>
              <a:t> </a:t>
            </a:r>
            <a:r>
              <a:rPr spc="-9" dirty="0"/>
              <a:t>DFDs.</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5330"/>
            <a:ext cx="7620000" cy="1304589"/>
          </a:xfrm>
          <a:prstGeom prst="rect">
            <a:avLst/>
          </a:prstGeom>
        </p:spPr>
        <p:txBody>
          <a:bodyPr vert="horz" wrap="square" lIns="0" tIns="145289" rIns="0" bIns="0" rtlCol="0" anchor="ctr">
            <a:spAutoFit/>
          </a:bodyPr>
          <a:lstStyle/>
          <a:p>
            <a:pPr marL="10860">
              <a:lnSpc>
                <a:spcPct val="100000"/>
              </a:lnSpc>
              <a:spcBef>
                <a:spcPts val="77"/>
              </a:spcBef>
            </a:pPr>
            <a:r>
              <a:rPr sz="3762" dirty="0"/>
              <a:t>Using</a:t>
            </a:r>
            <a:r>
              <a:rPr sz="3762" spc="-86" dirty="0"/>
              <a:t> </a:t>
            </a:r>
            <a:r>
              <a:rPr sz="3762" dirty="0"/>
              <a:t>DFDs</a:t>
            </a:r>
            <a:r>
              <a:rPr sz="3762" spc="-86" dirty="0"/>
              <a:t> </a:t>
            </a:r>
            <a:r>
              <a:rPr sz="3762" dirty="0"/>
              <a:t>in</a:t>
            </a:r>
            <a:r>
              <a:rPr sz="3762" spc="-86" dirty="0"/>
              <a:t> </a:t>
            </a:r>
            <a:r>
              <a:rPr sz="3762" spc="-21" dirty="0"/>
              <a:t>BPR</a:t>
            </a:r>
            <a:r>
              <a:rPr lang="en-MY" sz="3762" spc="-21" dirty="0"/>
              <a:t> (Business Process Reengineering)</a:t>
            </a:r>
            <a:endParaRPr sz="3762" dirty="0"/>
          </a:p>
        </p:txBody>
      </p:sp>
      <p:sp>
        <p:nvSpPr>
          <p:cNvPr id="4" name="object 4"/>
          <p:cNvSpPr txBox="1"/>
          <p:nvPr/>
        </p:nvSpPr>
        <p:spPr>
          <a:xfrm>
            <a:off x="1600200" y="5669441"/>
            <a:ext cx="5131283" cy="72154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lang="en-MY" sz="1539" b="1" dirty="0">
                <a:latin typeface="Arial"/>
                <a:cs typeface="Arial"/>
              </a:rPr>
              <a:t> 9</a:t>
            </a:r>
            <a:endParaRPr sz="1539" dirty="0">
              <a:latin typeface="Arial"/>
              <a:cs typeface="Arial"/>
            </a:endParaRPr>
          </a:p>
          <a:p>
            <a:pPr marL="10860" marR="4344"/>
            <a:r>
              <a:rPr sz="1539" dirty="0">
                <a:latin typeface="Arial"/>
                <a:cs typeface="Arial"/>
              </a:rPr>
              <a:t>IBM</a:t>
            </a:r>
            <a:r>
              <a:rPr sz="1539" spc="-26" dirty="0">
                <a:latin typeface="Arial"/>
                <a:cs typeface="Arial"/>
              </a:rPr>
              <a:t> </a:t>
            </a:r>
            <a:r>
              <a:rPr sz="1539" dirty="0">
                <a:latin typeface="Arial"/>
                <a:cs typeface="Arial"/>
              </a:rPr>
              <a:t>Credit</a:t>
            </a:r>
            <a:r>
              <a:rPr sz="1539" spc="30" dirty="0">
                <a:latin typeface="Arial"/>
                <a:cs typeface="Arial"/>
              </a:rPr>
              <a:t> </a:t>
            </a:r>
            <a:r>
              <a:rPr sz="1539" dirty="0">
                <a:latin typeface="Arial"/>
                <a:cs typeface="Arial"/>
              </a:rPr>
              <a:t>Corporation’s</a:t>
            </a:r>
            <a:r>
              <a:rPr sz="1539" spc="-73" dirty="0">
                <a:latin typeface="Arial"/>
                <a:cs typeface="Arial"/>
              </a:rPr>
              <a:t> </a:t>
            </a:r>
            <a:r>
              <a:rPr sz="1539" dirty="0">
                <a:latin typeface="Arial"/>
                <a:cs typeface="Arial"/>
              </a:rPr>
              <a:t>primary</a:t>
            </a:r>
            <a:r>
              <a:rPr sz="1539" spc="-26" dirty="0">
                <a:latin typeface="Arial"/>
                <a:cs typeface="Arial"/>
              </a:rPr>
              <a:t> </a:t>
            </a:r>
            <a:r>
              <a:rPr sz="1539" dirty="0">
                <a:latin typeface="Arial"/>
                <a:cs typeface="Arial"/>
              </a:rPr>
              <a:t>work</a:t>
            </a:r>
            <a:r>
              <a:rPr sz="1539" spc="9" dirty="0">
                <a:latin typeface="Arial"/>
                <a:cs typeface="Arial"/>
              </a:rPr>
              <a:t> </a:t>
            </a:r>
            <a:r>
              <a:rPr sz="1539" dirty="0">
                <a:latin typeface="Arial"/>
                <a:cs typeface="Arial"/>
              </a:rPr>
              <a:t>process</a:t>
            </a:r>
            <a:r>
              <a:rPr sz="1539" spc="-17" dirty="0">
                <a:latin typeface="Arial"/>
                <a:cs typeface="Arial"/>
              </a:rPr>
              <a:t> </a:t>
            </a:r>
            <a:r>
              <a:rPr sz="1539" dirty="0">
                <a:latin typeface="Arial"/>
                <a:cs typeface="Arial"/>
              </a:rPr>
              <a:t>before</a:t>
            </a:r>
            <a:r>
              <a:rPr sz="1539" spc="-30" dirty="0">
                <a:latin typeface="Arial"/>
                <a:cs typeface="Arial"/>
              </a:rPr>
              <a:t> </a:t>
            </a:r>
            <a:r>
              <a:rPr sz="1539" spc="-21" dirty="0">
                <a:latin typeface="Arial"/>
                <a:cs typeface="Arial"/>
              </a:rPr>
              <a:t>BPR </a:t>
            </a:r>
            <a:r>
              <a:rPr sz="1539" dirty="0">
                <a:latin typeface="Arial"/>
                <a:cs typeface="Arial"/>
              </a:rPr>
              <a:t>(</a:t>
            </a:r>
            <a:r>
              <a:rPr sz="1539" i="1" dirty="0">
                <a:latin typeface="Arial"/>
                <a:cs typeface="Arial"/>
              </a:rPr>
              <a:t>Source:</a:t>
            </a:r>
            <a:r>
              <a:rPr sz="1539" i="1" spc="-64" dirty="0">
                <a:latin typeface="Arial"/>
                <a:cs typeface="Arial"/>
              </a:rPr>
              <a:t> </a:t>
            </a:r>
            <a:r>
              <a:rPr sz="1539" i="1" dirty="0">
                <a:latin typeface="Arial"/>
                <a:cs typeface="Arial"/>
              </a:rPr>
              <a:t>Based</a:t>
            </a:r>
            <a:r>
              <a:rPr sz="1539" i="1" spc="13" dirty="0">
                <a:latin typeface="Arial"/>
                <a:cs typeface="Arial"/>
              </a:rPr>
              <a:t> </a:t>
            </a:r>
            <a:r>
              <a:rPr sz="1539" i="1" dirty="0">
                <a:latin typeface="Arial"/>
                <a:cs typeface="Arial"/>
              </a:rPr>
              <a:t>on</a:t>
            </a:r>
            <a:r>
              <a:rPr sz="1539" i="1" spc="-38" dirty="0">
                <a:latin typeface="Arial"/>
                <a:cs typeface="Arial"/>
              </a:rPr>
              <a:t> </a:t>
            </a:r>
            <a:r>
              <a:rPr sz="1539" i="1" dirty="0">
                <a:latin typeface="Arial"/>
                <a:cs typeface="Arial"/>
              </a:rPr>
              <a:t>Hammer</a:t>
            </a:r>
            <a:r>
              <a:rPr sz="1539" i="1" spc="-13" dirty="0">
                <a:latin typeface="Arial"/>
                <a:cs typeface="Arial"/>
              </a:rPr>
              <a:t> </a:t>
            </a:r>
            <a:r>
              <a:rPr sz="1539" i="1" dirty="0">
                <a:latin typeface="Arial"/>
                <a:cs typeface="Arial"/>
              </a:rPr>
              <a:t>and</a:t>
            </a:r>
            <a:r>
              <a:rPr sz="1539" i="1" spc="-9" dirty="0">
                <a:latin typeface="Arial"/>
                <a:cs typeface="Arial"/>
              </a:rPr>
              <a:t> Champy,</a:t>
            </a:r>
            <a:r>
              <a:rPr sz="1539" i="1" spc="-30" dirty="0">
                <a:latin typeface="Arial"/>
                <a:cs typeface="Arial"/>
              </a:rPr>
              <a:t> </a:t>
            </a:r>
            <a:r>
              <a:rPr sz="1539" spc="-9" dirty="0">
                <a:latin typeface="Arial"/>
                <a:cs typeface="Arial"/>
              </a:rPr>
              <a:t>1993.)</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38</a:t>
            </a:fld>
            <a:endParaRPr spc="-21" dirty="0"/>
          </a:p>
        </p:txBody>
      </p:sp>
      <p:pic>
        <p:nvPicPr>
          <p:cNvPr id="7" name="Picture 6">
            <a:extLst>
              <a:ext uri="{FF2B5EF4-FFF2-40B4-BE49-F238E27FC236}">
                <a16:creationId xmlns:a16="http://schemas.microsoft.com/office/drawing/2014/main" id="{E7B68B3A-7D72-E7DC-B104-D8EF550A9D78}"/>
              </a:ext>
            </a:extLst>
          </p:cNvPr>
          <p:cNvPicPr>
            <a:picLocks noChangeAspect="1"/>
          </p:cNvPicPr>
          <p:nvPr/>
        </p:nvPicPr>
        <p:blipFill>
          <a:blip r:embed="rId2"/>
          <a:stretch>
            <a:fillRect/>
          </a:stretch>
        </p:blipFill>
        <p:spPr>
          <a:xfrm>
            <a:off x="1390650" y="1214437"/>
            <a:ext cx="6362700" cy="4429125"/>
          </a:xfrm>
          <a:prstGeom prst="rect">
            <a:avLst/>
          </a:prstGeom>
        </p:spPr>
      </p:pic>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612853"/>
            <a:ext cx="6743971" cy="923189"/>
          </a:xfrm>
          <a:prstGeom prst="rect">
            <a:avLst/>
          </a:prstGeom>
        </p:spPr>
        <p:txBody>
          <a:bodyPr vert="horz" wrap="square" lIns="0" tIns="340919" rIns="0" bIns="0" rtlCol="0" anchor="ctr">
            <a:spAutoFit/>
          </a:bodyPr>
          <a:lstStyle/>
          <a:p>
            <a:pPr marL="10860">
              <a:lnSpc>
                <a:spcPct val="100000"/>
              </a:lnSpc>
              <a:spcBef>
                <a:spcPts val="77"/>
              </a:spcBef>
            </a:pPr>
            <a:r>
              <a:rPr sz="3762" dirty="0"/>
              <a:t>Using</a:t>
            </a:r>
            <a:r>
              <a:rPr sz="3762" spc="-86" dirty="0"/>
              <a:t> </a:t>
            </a:r>
            <a:r>
              <a:rPr sz="3762" dirty="0"/>
              <a:t>DFDs</a:t>
            </a:r>
            <a:r>
              <a:rPr sz="3762" spc="-86" dirty="0"/>
              <a:t> </a:t>
            </a:r>
            <a:r>
              <a:rPr sz="3762" dirty="0"/>
              <a:t>in</a:t>
            </a:r>
            <a:r>
              <a:rPr sz="3762" spc="-86" dirty="0"/>
              <a:t> </a:t>
            </a:r>
            <a:r>
              <a:rPr sz="3762" dirty="0"/>
              <a:t>BPR</a:t>
            </a:r>
            <a:r>
              <a:rPr sz="3762" spc="-81" dirty="0"/>
              <a:t> </a:t>
            </a:r>
            <a:r>
              <a:rPr sz="3762" spc="-9" dirty="0"/>
              <a:t>(Cont.)</a:t>
            </a:r>
            <a:endParaRPr sz="3762"/>
          </a:p>
        </p:txBody>
      </p:sp>
      <p:sp>
        <p:nvSpPr>
          <p:cNvPr id="4" name="object 4"/>
          <p:cNvSpPr txBox="1"/>
          <p:nvPr/>
        </p:nvSpPr>
        <p:spPr>
          <a:xfrm>
            <a:off x="1706726" y="5006363"/>
            <a:ext cx="4967299" cy="72154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lang="en-MY" sz="1539" b="1" dirty="0">
                <a:latin typeface="Arial"/>
                <a:cs typeface="Arial"/>
              </a:rPr>
              <a:t> 10</a:t>
            </a:r>
            <a:endParaRPr sz="1539" dirty="0">
              <a:latin typeface="Arial"/>
              <a:cs typeface="Arial"/>
            </a:endParaRPr>
          </a:p>
          <a:p>
            <a:pPr marL="10860" marR="4344"/>
            <a:r>
              <a:rPr sz="1539" dirty="0">
                <a:latin typeface="Arial"/>
                <a:cs typeface="Arial"/>
              </a:rPr>
              <a:t>IBM</a:t>
            </a:r>
            <a:r>
              <a:rPr sz="1539" spc="-30" dirty="0">
                <a:latin typeface="Arial"/>
                <a:cs typeface="Arial"/>
              </a:rPr>
              <a:t> </a:t>
            </a:r>
            <a:r>
              <a:rPr sz="1539" dirty="0">
                <a:latin typeface="Arial"/>
                <a:cs typeface="Arial"/>
              </a:rPr>
              <a:t>Credit</a:t>
            </a:r>
            <a:r>
              <a:rPr sz="1539" spc="26" dirty="0">
                <a:latin typeface="Arial"/>
                <a:cs typeface="Arial"/>
              </a:rPr>
              <a:t> </a:t>
            </a:r>
            <a:r>
              <a:rPr sz="1539" dirty="0">
                <a:latin typeface="Arial"/>
                <a:cs typeface="Arial"/>
              </a:rPr>
              <a:t>Corporation’s</a:t>
            </a:r>
            <a:r>
              <a:rPr sz="1539" spc="-77" dirty="0">
                <a:latin typeface="Arial"/>
                <a:cs typeface="Arial"/>
              </a:rPr>
              <a:t> </a:t>
            </a:r>
            <a:r>
              <a:rPr sz="1539" dirty="0">
                <a:latin typeface="Arial"/>
                <a:cs typeface="Arial"/>
              </a:rPr>
              <a:t>primary</a:t>
            </a:r>
            <a:r>
              <a:rPr sz="1539" spc="-30" dirty="0">
                <a:latin typeface="Arial"/>
                <a:cs typeface="Arial"/>
              </a:rPr>
              <a:t> </a:t>
            </a:r>
            <a:r>
              <a:rPr sz="1539" dirty="0">
                <a:latin typeface="Arial"/>
                <a:cs typeface="Arial"/>
              </a:rPr>
              <a:t>work</a:t>
            </a:r>
            <a:r>
              <a:rPr sz="1539" spc="4" dirty="0">
                <a:latin typeface="Arial"/>
                <a:cs typeface="Arial"/>
              </a:rPr>
              <a:t> </a:t>
            </a:r>
            <a:r>
              <a:rPr sz="1539" dirty="0">
                <a:latin typeface="Arial"/>
                <a:cs typeface="Arial"/>
              </a:rPr>
              <a:t>process</a:t>
            </a:r>
            <a:r>
              <a:rPr sz="1539" spc="-21" dirty="0">
                <a:latin typeface="Arial"/>
                <a:cs typeface="Arial"/>
              </a:rPr>
              <a:t> </a:t>
            </a:r>
            <a:r>
              <a:rPr sz="1539" dirty="0">
                <a:latin typeface="Arial"/>
                <a:cs typeface="Arial"/>
              </a:rPr>
              <a:t>after</a:t>
            </a:r>
            <a:r>
              <a:rPr sz="1539" spc="-13" dirty="0">
                <a:latin typeface="Arial"/>
                <a:cs typeface="Arial"/>
              </a:rPr>
              <a:t> </a:t>
            </a:r>
            <a:r>
              <a:rPr sz="1539" spc="-21" dirty="0">
                <a:latin typeface="Arial"/>
                <a:cs typeface="Arial"/>
              </a:rPr>
              <a:t>BPR </a:t>
            </a:r>
            <a:r>
              <a:rPr sz="1539" dirty="0">
                <a:latin typeface="Arial"/>
                <a:cs typeface="Arial"/>
              </a:rPr>
              <a:t>(</a:t>
            </a:r>
            <a:r>
              <a:rPr sz="1539" i="1" dirty="0">
                <a:latin typeface="Arial"/>
                <a:cs typeface="Arial"/>
              </a:rPr>
              <a:t>Source:</a:t>
            </a:r>
            <a:r>
              <a:rPr sz="1539" i="1" spc="-64" dirty="0">
                <a:latin typeface="Arial"/>
                <a:cs typeface="Arial"/>
              </a:rPr>
              <a:t> </a:t>
            </a:r>
            <a:r>
              <a:rPr sz="1539" i="1" dirty="0">
                <a:latin typeface="Arial"/>
                <a:cs typeface="Arial"/>
              </a:rPr>
              <a:t>Based</a:t>
            </a:r>
            <a:r>
              <a:rPr sz="1539" i="1" spc="13" dirty="0">
                <a:latin typeface="Arial"/>
                <a:cs typeface="Arial"/>
              </a:rPr>
              <a:t> </a:t>
            </a:r>
            <a:r>
              <a:rPr sz="1539" i="1" dirty="0">
                <a:latin typeface="Arial"/>
                <a:cs typeface="Arial"/>
              </a:rPr>
              <a:t>on</a:t>
            </a:r>
            <a:r>
              <a:rPr sz="1539" i="1" spc="-38" dirty="0">
                <a:latin typeface="Arial"/>
                <a:cs typeface="Arial"/>
              </a:rPr>
              <a:t> </a:t>
            </a:r>
            <a:r>
              <a:rPr sz="1539" i="1" dirty="0">
                <a:latin typeface="Arial"/>
                <a:cs typeface="Arial"/>
              </a:rPr>
              <a:t>Hammer</a:t>
            </a:r>
            <a:r>
              <a:rPr sz="1539" i="1" spc="-13" dirty="0">
                <a:latin typeface="Arial"/>
                <a:cs typeface="Arial"/>
              </a:rPr>
              <a:t> </a:t>
            </a:r>
            <a:r>
              <a:rPr sz="1539" i="1" dirty="0">
                <a:latin typeface="Arial"/>
                <a:cs typeface="Arial"/>
              </a:rPr>
              <a:t>and</a:t>
            </a:r>
            <a:r>
              <a:rPr sz="1539" i="1" spc="-9" dirty="0">
                <a:latin typeface="Arial"/>
                <a:cs typeface="Arial"/>
              </a:rPr>
              <a:t> Champy,</a:t>
            </a:r>
            <a:r>
              <a:rPr sz="1539" i="1" spc="-30" dirty="0">
                <a:latin typeface="Arial"/>
                <a:cs typeface="Arial"/>
              </a:rPr>
              <a:t> </a:t>
            </a:r>
            <a:r>
              <a:rPr sz="1539" spc="-9" dirty="0">
                <a:latin typeface="Arial"/>
                <a:cs typeface="Arial"/>
              </a:rPr>
              <a:t>1993.)</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39</a:t>
            </a:fld>
            <a:endParaRPr spc="-21" dirty="0"/>
          </a:p>
        </p:txBody>
      </p:sp>
      <p:pic>
        <p:nvPicPr>
          <p:cNvPr id="7" name="Picture 6">
            <a:extLst>
              <a:ext uri="{FF2B5EF4-FFF2-40B4-BE49-F238E27FC236}">
                <a16:creationId xmlns:a16="http://schemas.microsoft.com/office/drawing/2014/main" id="{9CD25D4E-A0F9-399A-DC7C-40051EAF45DF}"/>
              </a:ext>
            </a:extLst>
          </p:cNvPr>
          <p:cNvPicPr>
            <a:picLocks noChangeAspect="1"/>
          </p:cNvPicPr>
          <p:nvPr/>
        </p:nvPicPr>
        <p:blipFill>
          <a:blip r:embed="rId2"/>
          <a:stretch>
            <a:fillRect/>
          </a:stretch>
        </p:blipFill>
        <p:spPr>
          <a:xfrm>
            <a:off x="2209800" y="1881187"/>
            <a:ext cx="4724400" cy="3095625"/>
          </a:xfrm>
          <a:prstGeom prst="rect">
            <a:avLst/>
          </a:prstGeom>
        </p:spPr>
      </p:pic>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468130"/>
            <a:ext cx="6743971" cy="1212639"/>
          </a:xfrm>
          <a:prstGeom prst="rect">
            <a:avLst/>
          </a:prstGeom>
        </p:spPr>
        <p:txBody>
          <a:bodyPr vert="horz" wrap="square" lIns="0" tIns="54228" rIns="0" bIns="0" rtlCol="0" anchor="ctr">
            <a:spAutoFit/>
          </a:bodyPr>
          <a:lstStyle/>
          <a:p>
            <a:pPr marL="10860" marR="4344">
              <a:lnSpc>
                <a:spcPct val="100000"/>
              </a:lnSpc>
              <a:spcBef>
                <a:spcPts val="77"/>
              </a:spcBef>
            </a:pPr>
            <a:r>
              <a:rPr sz="3762" dirty="0"/>
              <a:t>Modeling</a:t>
            </a:r>
            <a:r>
              <a:rPr sz="3762" spc="-120" dirty="0"/>
              <a:t> </a:t>
            </a:r>
            <a:r>
              <a:rPr sz="3762" dirty="0"/>
              <a:t>Logic</a:t>
            </a:r>
            <a:r>
              <a:rPr sz="3762" spc="-73" dirty="0"/>
              <a:t> </a:t>
            </a:r>
            <a:r>
              <a:rPr sz="3762" dirty="0"/>
              <a:t>with</a:t>
            </a:r>
            <a:r>
              <a:rPr sz="3762" spc="-120" dirty="0"/>
              <a:t> </a:t>
            </a:r>
            <a:r>
              <a:rPr sz="3762" spc="-9" dirty="0"/>
              <a:t>Decision Tables</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40</a:t>
            </a:fld>
            <a:endParaRPr spc="-21" dirty="0"/>
          </a:p>
        </p:txBody>
      </p:sp>
      <p:sp>
        <p:nvSpPr>
          <p:cNvPr id="3" name="object 3"/>
          <p:cNvSpPr txBox="1"/>
          <p:nvPr/>
        </p:nvSpPr>
        <p:spPr>
          <a:xfrm>
            <a:off x="1120261" y="2209788"/>
            <a:ext cx="6787953" cy="2204701"/>
          </a:xfrm>
          <a:prstGeom prst="rect">
            <a:avLst/>
          </a:prstGeom>
        </p:spPr>
        <p:txBody>
          <a:bodyPr vert="horz" wrap="square" lIns="0" tIns="9774" rIns="0" bIns="0" rtlCol="0">
            <a:spAutoFit/>
          </a:bodyPr>
          <a:lstStyle/>
          <a:p>
            <a:pPr marL="305160" marR="4344" indent="-294843">
              <a:spcBef>
                <a:spcPts val="77"/>
              </a:spcBef>
              <a:buClr>
                <a:srgbClr val="3399FF"/>
              </a:buClr>
              <a:buSzPct val="75000"/>
              <a:buFont typeface="Segoe UI Symbol"/>
              <a:buChar char="■"/>
              <a:tabLst>
                <a:tab pos="305160" algn="l"/>
              </a:tabLst>
            </a:pPr>
            <a:r>
              <a:rPr sz="2736" b="1" dirty="0">
                <a:latin typeface="Arial"/>
                <a:cs typeface="Arial"/>
              </a:rPr>
              <a:t>Decision</a:t>
            </a:r>
            <a:r>
              <a:rPr sz="2736" b="1" spc="-73" dirty="0">
                <a:latin typeface="Arial"/>
                <a:cs typeface="Arial"/>
              </a:rPr>
              <a:t> </a:t>
            </a:r>
            <a:r>
              <a:rPr sz="2736" b="1" dirty="0">
                <a:latin typeface="Arial"/>
                <a:cs typeface="Arial"/>
              </a:rPr>
              <a:t>table</a:t>
            </a:r>
            <a:r>
              <a:rPr sz="2736" dirty="0">
                <a:latin typeface="Arial"/>
                <a:cs typeface="Arial"/>
              </a:rPr>
              <a:t>:</a:t>
            </a:r>
            <a:r>
              <a:rPr sz="2736" spc="-73" dirty="0">
                <a:latin typeface="Arial"/>
                <a:cs typeface="Arial"/>
              </a:rPr>
              <a:t> </a:t>
            </a:r>
            <a:r>
              <a:rPr sz="2736" dirty="0">
                <a:latin typeface="Arial"/>
                <a:cs typeface="Arial"/>
              </a:rPr>
              <a:t>a</a:t>
            </a:r>
            <a:r>
              <a:rPr sz="2736" spc="-73" dirty="0">
                <a:latin typeface="Arial"/>
                <a:cs typeface="Arial"/>
              </a:rPr>
              <a:t> </a:t>
            </a:r>
            <a:r>
              <a:rPr sz="2736" dirty="0">
                <a:latin typeface="Arial"/>
                <a:cs typeface="Arial"/>
              </a:rPr>
              <a:t>matrix</a:t>
            </a:r>
            <a:r>
              <a:rPr sz="2736" spc="-73" dirty="0">
                <a:latin typeface="Arial"/>
                <a:cs typeface="Arial"/>
              </a:rPr>
              <a:t> </a:t>
            </a:r>
            <a:r>
              <a:rPr sz="2736" spc="-9" dirty="0">
                <a:latin typeface="Arial"/>
                <a:cs typeface="Arial"/>
              </a:rPr>
              <a:t>representation</a:t>
            </a:r>
            <a:r>
              <a:rPr sz="2736" spc="-73" dirty="0">
                <a:latin typeface="Arial"/>
                <a:cs typeface="Arial"/>
              </a:rPr>
              <a:t> </a:t>
            </a:r>
            <a:r>
              <a:rPr sz="2736" spc="-21" dirty="0">
                <a:latin typeface="Arial"/>
                <a:cs typeface="Arial"/>
              </a:rPr>
              <a:t>of </a:t>
            </a:r>
            <a:r>
              <a:rPr sz="2736" dirty="0">
                <a:latin typeface="Arial"/>
                <a:cs typeface="Arial"/>
              </a:rPr>
              <a:t>the</a:t>
            </a:r>
            <a:r>
              <a:rPr sz="2736" spc="-64" dirty="0">
                <a:latin typeface="Arial"/>
                <a:cs typeface="Arial"/>
              </a:rPr>
              <a:t> </a:t>
            </a:r>
            <a:r>
              <a:rPr sz="2736" dirty="0">
                <a:latin typeface="Arial"/>
                <a:cs typeface="Arial"/>
              </a:rPr>
              <a:t>logic</a:t>
            </a:r>
            <a:r>
              <a:rPr sz="2736" spc="-56" dirty="0">
                <a:latin typeface="Arial"/>
                <a:cs typeface="Arial"/>
              </a:rPr>
              <a:t> </a:t>
            </a:r>
            <a:r>
              <a:rPr sz="2736" dirty="0">
                <a:latin typeface="Arial"/>
                <a:cs typeface="Arial"/>
              </a:rPr>
              <a:t>of</a:t>
            </a:r>
            <a:r>
              <a:rPr sz="2736" spc="-56" dirty="0">
                <a:latin typeface="Arial"/>
                <a:cs typeface="Arial"/>
              </a:rPr>
              <a:t> </a:t>
            </a:r>
            <a:r>
              <a:rPr sz="2736" dirty="0">
                <a:latin typeface="Arial"/>
                <a:cs typeface="Arial"/>
              </a:rPr>
              <a:t>a</a:t>
            </a:r>
            <a:r>
              <a:rPr sz="2736" spc="-56" dirty="0">
                <a:latin typeface="Arial"/>
                <a:cs typeface="Arial"/>
              </a:rPr>
              <a:t> </a:t>
            </a:r>
            <a:r>
              <a:rPr sz="2736" dirty="0">
                <a:latin typeface="Arial"/>
                <a:cs typeface="Arial"/>
              </a:rPr>
              <a:t>decision</a:t>
            </a:r>
            <a:r>
              <a:rPr sz="2736" spc="-107" dirty="0">
                <a:latin typeface="Arial"/>
                <a:cs typeface="Arial"/>
              </a:rPr>
              <a:t> </a:t>
            </a:r>
            <a:r>
              <a:rPr sz="2736" dirty="0">
                <a:latin typeface="Arial"/>
                <a:cs typeface="Arial"/>
              </a:rPr>
              <a:t>which</a:t>
            </a:r>
            <a:r>
              <a:rPr sz="2736" spc="-17" dirty="0">
                <a:latin typeface="Arial"/>
                <a:cs typeface="Arial"/>
              </a:rPr>
              <a:t> </a:t>
            </a:r>
            <a:r>
              <a:rPr sz="2736" dirty="0">
                <a:latin typeface="Arial"/>
                <a:cs typeface="Arial"/>
              </a:rPr>
              <a:t>specifies</a:t>
            </a:r>
            <a:r>
              <a:rPr sz="2736" spc="-56" dirty="0">
                <a:latin typeface="Arial"/>
                <a:cs typeface="Arial"/>
              </a:rPr>
              <a:t> </a:t>
            </a:r>
            <a:r>
              <a:rPr sz="2736" spc="-21" dirty="0">
                <a:latin typeface="Arial"/>
                <a:cs typeface="Arial"/>
              </a:rPr>
              <a:t>the </a:t>
            </a:r>
            <a:r>
              <a:rPr sz="2736" dirty="0">
                <a:latin typeface="Arial"/>
                <a:cs typeface="Arial"/>
              </a:rPr>
              <a:t>possible</a:t>
            </a:r>
            <a:r>
              <a:rPr sz="2736" spc="-86" dirty="0">
                <a:latin typeface="Arial"/>
                <a:cs typeface="Arial"/>
              </a:rPr>
              <a:t> </a:t>
            </a:r>
            <a:r>
              <a:rPr sz="2736" dirty="0">
                <a:latin typeface="Arial"/>
                <a:cs typeface="Arial"/>
              </a:rPr>
              <a:t>conditions</a:t>
            </a:r>
            <a:r>
              <a:rPr sz="2736" spc="-77" dirty="0">
                <a:latin typeface="Arial"/>
                <a:cs typeface="Arial"/>
              </a:rPr>
              <a:t> </a:t>
            </a:r>
            <a:r>
              <a:rPr sz="2736" dirty="0">
                <a:latin typeface="Arial"/>
                <a:cs typeface="Arial"/>
              </a:rPr>
              <a:t>for</a:t>
            </a:r>
            <a:r>
              <a:rPr sz="2736" spc="-73" dirty="0">
                <a:latin typeface="Arial"/>
                <a:cs typeface="Arial"/>
              </a:rPr>
              <a:t> </a:t>
            </a:r>
            <a:r>
              <a:rPr sz="2736" dirty="0">
                <a:latin typeface="Arial"/>
                <a:cs typeface="Arial"/>
              </a:rPr>
              <a:t>the</a:t>
            </a:r>
            <a:r>
              <a:rPr sz="2736" spc="-77" dirty="0">
                <a:latin typeface="Arial"/>
                <a:cs typeface="Arial"/>
              </a:rPr>
              <a:t> </a:t>
            </a:r>
            <a:r>
              <a:rPr sz="2736" dirty="0">
                <a:latin typeface="Arial"/>
                <a:cs typeface="Arial"/>
              </a:rPr>
              <a:t>decision</a:t>
            </a:r>
            <a:r>
              <a:rPr sz="2736" spc="-73" dirty="0">
                <a:latin typeface="Arial"/>
                <a:cs typeface="Arial"/>
              </a:rPr>
              <a:t> </a:t>
            </a:r>
            <a:r>
              <a:rPr sz="2736" spc="-21" dirty="0">
                <a:latin typeface="Arial"/>
                <a:cs typeface="Arial"/>
              </a:rPr>
              <a:t>and </a:t>
            </a:r>
            <a:r>
              <a:rPr sz="2736" dirty="0">
                <a:latin typeface="Arial"/>
                <a:cs typeface="Arial"/>
              </a:rPr>
              <a:t>the</a:t>
            </a:r>
            <a:r>
              <a:rPr sz="2736" spc="-107" dirty="0">
                <a:latin typeface="Arial"/>
                <a:cs typeface="Arial"/>
              </a:rPr>
              <a:t> </a:t>
            </a:r>
            <a:r>
              <a:rPr sz="2736" dirty="0">
                <a:latin typeface="Arial"/>
                <a:cs typeface="Arial"/>
              </a:rPr>
              <a:t>resulting</a:t>
            </a:r>
            <a:r>
              <a:rPr sz="2736" spc="-94" dirty="0">
                <a:latin typeface="Arial"/>
                <a:cs typeface="Arial"/>
              </a:rPr>
              <a:t> </a:t>
            </a:r>
            <a:r>
              <a:rPr sz="2736" spc="-9" dirty="0">
                <a:latin typeface="Arial"/>
                <a:cs typeface="Arial"/>
              </a:rPr>
              <a:t>actions</a:t>
            </a:r>
            <a:endParaRPr sz="2736">
              <a:latin typeface="Arial"/>
              <a:cs typeface="Arial"/>
            </a:endParaRPr>
          </a:p>
          <a:p>
            <a:pPr marL="305160" indent="-294300">
              <a:spcBef>
                <a:spcPts val="658"/>
              </a:spcBef>
              <a:buClr>
                <a:srgbClr val="3399FF"/>
              </a:buClr>
              <a:buSzPct val="75000"/>
              <a:buFont typeface="Segoe UI Symbol"/>
              <a:buChar char="■"/>
              <a:tabLst>
                <a:tab pos="305160" algn="l"/>
              </a:tabLst>
            </a:pPr>
            <a:r>
              <a:rPr sz="2736" dirty="0">
                <a:latin typeface="Arial"/>
                <a:cs typeface="Arial"/>
              </a:rPr>
              <a:t>Best</a:t>
            </a:r>
            <a:r>
              <a:rPr sz="2736" spc="-86" dirty="0">
                <a:latin typeface="Arial"/>
                <a:cs typeface="Arial"/>
              </a:rPr>
              <a:t> </a:t>
            </a:r>
            <a:r>
              <a:rPr sz="2736" dirty="0">
                <a:latin typeface="Arial"/>
                <a:cs typeface="Arial"/>
              </a:rPr>
              <a:t>used</a:t>
            </a:r>
            <a:r>
              <a:rPr sz="2736" spc="-86" dirty="0">
                <a:latin typeface="Arial"/>
                <a:cs typeface="Arial"/>
              </a:rPr>
              <a:t> </a:t>
            </a:r>
            <a:r>
              <a:rPr sz="2736" dirty="0">
                <a:latin typeface="Arial"/>
                <a:cs typeface="Arial"/>
              </a:rPr>
              <a:t>for</a:t>
            </a:r>
            <a:r>
              <a:rPr sz="2736" spc="-86" dirty="0">
                <a:latin typeface="Arial"/>
                <a:cs typeface="Arial"/>
              </a:rPr>
              <a:t> </a:t>
            </a:r>
            <a:r>
              <a:rPr sz="2736" dirty="0">
                <a:latin typeface="Arial"/>
                <a:cs typeface="Arial"/>
              </a:rPr>
              <a:t>complicated</a:t>
            </a:r>
            <a:r>
              <a:rPr sz="2736" spc="-94" dirty="0">
                <a:latin typeface="Arial"/>
                <a:cs typeface="Arial"/>
              </a:rPr>
              <a:t> </a:t>
            </a:r>
            <a:r>
              <a:rPr sz="2736" dirty="0">
                <a:latin typeface="Arial"/>
                <a:cs typeface="Arial"/>
              </a:rPr>
              <a:t>decision</a:t>
            </a:r>
            <a:r>
              <a:rPr sz="2736" spc="-81" dirty="0">
                <a:latin typeface="Arial"/>
                <a:cs typeface="Arial"/>
              </a:rPr>
              <a:t> </a:t>
            </a:r>
            <a:r>
              <a:rPr sz="2736" spc="-9" dirty="0">
                <a:latin typeface="Arial"/>
                <a:cs typeface="Arial"/>
              </a:rPr>
              <a:t>logic</a:t>
            </a:r>
            <a:endParaRPr sz="2736">
              <a:latin typeface="Arial"/>
              <a:cs typeface="Arial"/>
            </a:endParaRP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468130"/>
            <a:ext cx="6743971" cy="1212639"/>
          </a:xfrm>
          <a:prstGeom prst="rect">
            <a:avLst/>
          </a:prstGeom>
        </p:spPr>
        <p:txBody>
          <a:bodyPr vert="horz" wrap="square" lIns="0" tIns="54228" rIns="0" bIns="0" rtlCol="0" anchor="ctr">
            <a:spAutoFit/>
          </a:bodyPr>
          <a:lstStyle/>
          <a:p>
            <a:pPr marL="10860" marR="4344">
              <a:lnSpc>
                <a:spcPct val="100000"/>
              </a:lnSpc>
              <a:spcBef>
                <a:spcPts val="77"/>
              </a:spcBef>
            </a:pPr>
            <a:r>
              <a:rPr sz="3762" dirty="0"/>
              <a:t>Modeling</a:t>
            </a:r>
            <a:r>
              <a:rPr sz="3762" spc="-120" dirty="0"/>
              <a:t> </a:t>
            </a:r>
            <a:r>
              <a:rPr sz="3762" dirty="0"/>
              <a:t>Logic</a:t>
            </a:r>
            <a:r>
              <a:rPr sz="3762" spc="-73" dirty="0"/>
              <a:t> </a:t>
            </a:r>
            <a:r>
              <a:rPr sz="3762" dirty="0"/>
              <a:t>with</a:t>
            </a:r>
            <a:r>
              <a:rPr sz="3762" spc="-120" dirty="0"/>
              <a:t> </a:t>
            </a:r>
            <a:r>
              <a:rPr sz="3762" spc="-9" dirty="0"/>
              <a:t>Decision </a:t>
            </a:r>
            <a:r>
              <a:rPr sz="3762" dirty="0"/>
              <a:t>Tables</a:t>
            </a:r>
            <a:r>
              <a:rPr sz="3762" spc="-120" dirty="0"/>
              <a:t> </a:t>
            </a:r>
            <a:r>
              <a:rPr sz="3762" spc="-9" dirty="0"/>
              <a:t>(Cont.)</a:t>
            </a:r>
            <a:endParaRPr sz="3762"/>
          </a:p>
        </p:txBody>
      </p:sp>
      <p:sp>
        <p:nvSpPr>
          <p:cNvPr id="3" name="object 3"/>
          <p:cNvSpPr txBox="1"/>
          <p:nvPr/>
        </p:nvSpPr>
        <p:spPr>
          <a:xfrm>
            <a:off x="2032490" y="5314004"/>
            <a:ext cx="4481863" cy="48468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lang="en-MY" sz="1539" b="1" dirty="0">
                <a:latin typeface="Arial"/>
                <a:cs typeface="Arial"/>
              </a:rPr>
              <a:t> 11</a:t>
            </a:r>
            <a:endParaRPr sz="1539" dirty="0">
              <a:latin typeface="Arial"/>
              <a:cs typeface="Arial"/>
            </a:endParaRPr>
          </a:p>
          <a:p>
            <a:pPr marL="10860"/>
            <a:r>
              <a:rPr sz="1539" dirty="0">
                <a:latin typeface="Arial"/>
                <a:cs typeface="Arial"/>
              </a:rPr>
              <a:t>Complete</a:t>
            </a:r>
            <a:r>
              <a:rPr sz="1539" spc="-51" dirty="0">
                <a:latin typeface="Arial"/>
                <a:cs typeface="Arial"/>
              </a:rPr>
              <a:t> </a:t>
            </a:r>
            <a:r>
              <a:rPr sz="1539" dirty="0">
                <a:latin typeface="Arial"/>
                <a:cs typeface="Arial"/>
              </a:rPr>
              <a:t>decision</a:t>
            </a:r>
            <a:r>
              <a:rPr sz="1539" spc="-38" dirty="0">
                <a:latin typeface="Arial"/>
                <a:cs typeface="Arial"/>
              </a:rPr>
              <a:t> </a:t>
            </a:r>
            <a:r>
              <a:rPr sz="1539" dirty="0">
                <a:latin typeface="Arial"/>
                <a:cs typeface="Arial"/>
              </a:rPr>
              <a:t>table</a:t>
            </a:r>
            <a:r>
              <a:rPr sz="1539" spc="-43" dirty="0">
                <a:latin typeface="Arial"/>
                <a:cs typeface="Arial"/>
              </a:rPr>
              <a:t> </a:t>
            </a:r>
            <a:r>
              <a:rPr sz="1539" dirty="0">
                <a:latin typeface="Arial"/>
                <a:cs typeface="Arial"/>
              </a:rPr>
              <a:t>for payroll</a:t>
            </a:r>
            <a:r>
              <a:rPr sz="1539" spc="-4" dirty="0">
                <a:latin typeface="Arial"/>
                <a:cs typeface="Arial"/>
              </a:rPr>
              <a:t> </a:t>
            </a:r>
            <a:r>
              <a:rPr sz="1539" dirty="0">
                <a:latin typeface="Arial"/>
                <a:cs typeface="Arial"/>
              </a:rPr>
              <a:t>system</a:t>
            </a:r>
            <a:r>
              <a:rPr sz="1539" spc="-34" dirty="0">
                <a:latin typeface="Arial"/>
                <a:cs typeface="Arial"/>
              </a:rPr>
              <a:t> </a:t>
            </a:r>
            <a:r>
              <a:rPr sz="1539" spc="-9" dirty="0">
                <a:latin typeface="Arial"/>
                <a:cs typeface="Arial"/>
              </a:rPr>
              <a:t>example</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41</a:t>
            </a:fld>
            <a:endParaRPr spc="-21" dirty="0"/>
          </a:p>
        </p:txBody>
      </p:sp>
      <p:pic>
        <p:nvPicPr>
          <p:cNvPr id="9" name="Picture 8">
            <a:extLst>
              <a:ext uri="{FF2B5EF4-FFF2-40B4-BE49-F238E27FC236}">
                <a16:creationId xmlns:a16="http://schemas.microsoft.com/office/drawing/2014/main" id="{3FDED53C-3B9D-0DD3-3C71-D34523F382F9}"/>
              </a:ext>
            </a:extLst>
          </p:cNvPr>
          <p:cNvPicPr>
            <a:picLocks noChangeAspect="1"/>
          </p:cNvPicPr>
          <p:nvPr/>
        </p:nvPicPr>
        <p:blipFill>
          <a:blip r:embed="rId2"/>
          <a:stretch>
            <a:fillRect/>
          </a:stretch>
        </p:blipFill>
        <p:spPr>
          <a:xfrm>
            <a:off x="1428750" y="1919287"/>
            <a:ext cx="6286500" cy="3019425"/>
          </a:xfrm>
          <a:prstGeom prst="rect">
            <a:avLst/>
          </a:prstGeom>
        </p:spPr>
      </p:pic>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468130"/>
            <a:ext cx="6743971" cy="1212639"/>
          </a:xfrm>
          <a:prstGeom prst="rect">
            <a:avLst/>
          </a:prstGeom>
        </p:spPr>
        <p:txBody>
          <a:bodyPr vert="horz" wrap="square" lIns="0" tIns="54228" rIns="0" bIns="0" rtlCol="0" anchor="ctr">
            <a:spAutoFit/>
          </a:bodyPr>
          <a:lstStyle/>
          <a:p>
            <a:pPr marL="10860" marR="4344">
              <a:lnSpc>
                <a:spcPct val="100000"/>
              </a:lnSpc>
              <a:spcBef>
                <a:spcPts val="77"/>
              </a:spcBef>
            </a:pPr>
            <a:r>
              <a:rPr sz="3762" dirty="0"/>
              <a:t>Modeling</a:t>
            </a:r>
            <a:r>
              <a:rPr sz="3762" spc="-120" dirty="0"/>
              <a:t> </a:t>
            </a:r>
            <a:r>
              <a:rPr sz="3762" dirty="0"/>
              <a:t>Logic</a:t>
            </a:r>
            <a:r>
              <a:rPr sz="3762" spc="-73" dirty="0"/>
              <a:t> </a:t>
            </a:r>
            <a:r>
              <a:rPr sz="3762" dirty="0"/>
              <a:t>with</a:t>
            </a:r>
            <a:r>
              <a:rPr sz="3762" spc="-120" dirty="0"/>
              <a:t> </a:t>
            </a:r>
            <a:r>
              <a:rPr sz="3762" spc="-9" dirty="0"/>
              <a:t>Decision </a:t>
            </a:r>
            <a:r>
              <a:rPr sz="3762" dirty="0"/>
              <a:t>Tables</a:t>
            </a:r>
            <a:r>
              <a:rPr sz="3762" spc="-120"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42</a:t>
            </a:fld>
            <a:endParaRPr spc="-21" dirty="0"/>
          </a:p>
        </p:txBody>
      </p:sp>
      <p:sp>
        <p:nvSpPr>
          <p:cNvPr id="3" name="object 3"/>
          <p:cNvSpPr txBox="1"/>
          <p:nvPr/>
        </p:nvSpPr>
        <p:spPr>
          <a:xfrm>
            <a:off x="1120261" y="2209788"/>
            <a:ext cx="6772750" cy="2625714"/>
          </a:xfrm>
          <a:prstGeom prst="rect">
            <a:avLst/>
          </a:prstGeom>
        </p:spPr>
        <p:txBody>
          <a:bodyPr vert="horz" wrap="square" lIns="0" tIns="9774" rIns="0" bIns="0" rtlCol="0">
            <a:spAutoFit/>
          </a:bodyPr>
          <a:lstStyle/>
          <a:p>
            <a:pPr marL="305160" marR="311675" indent="-294843" algn="just">
              <a:spcBef>
                <a:spcPts val="77"/>
              </a:spcBef>
              <a:buClr>
                <a:srgbClr val="3399FF"/>
              </a:buClr>
              <a:buSzPct val="75000"/>
              <a:buFont typeface="Segoe UI Symbol"/>
              <a:buChar char="■"/>
              <a:tabLst>
                <a:tab pos="305160" algn="l"/>
              </a:tabLst>
            </a:pPr>
            <a:r>
              <a:rPr sz="2736" b="1" dirty="0">
                <a:latin typeface="Arial"/>
                <a:cs typeface="Arial"/>
              </a:rPr>
              <a:t>Condition</a:t>
            </a:r>
            <a:r>
              <a:rPr sz="2736" b="1" spc="-47" dirty="0">
                <a:latin typeface="Arial"/>
                <a:cs typeface="Arial"/>
              </a:rPr>
              <a:t> </a:t>
            </a:r>
            <a:r>
              <a:rPr sz="2736" b="1" dirty="0">
                <a:latin typeface="Arial"/>
                <a:cs typeface="Arial"/>
              </a:rPr>
              <a:t>stubs</a:t>
            </a:r>
            <a:r>
              <a:rPr sz="2736" dirty="0">
                <a:latin typeface="Arial"/>
                <a:cs typeface="Arial"/>
              </a:rPr>
              <a:t>:</a:t>
            </a:r>
            <a:r>
              <a:rPr sz="2736" spc="-43" dirty="0">
                <a:latin typeface="Arial"/>
                <a:cs typeface="Arial"/>
              </a:rPr>
              <a:t> </a:t>
            </a:r>
            <a:r>
              <a:rPr sz="2736" dirty="0">
                <a:latin typeface="Arial"/>
                <a:cs typeface="Arial"/>
              </a:rPr>
              <a:t>that</a:t>
            </a:r>
            <a:r>
              <a:rPr sz="2736" spc="-47" dirty="0">
                <a:latin typeface="Arial"/>
                <a:cs typeface="Arial"/>
              </a:rPr>
              <a:t> </a:t>
            </a:r>
            <a:r>
              <a:rPr sz="2736" dirty="0">
                <a:latin typeface="Arial"/>
                <a:cs typeface="Arial"/>
              </a:rPr>
              <a:t>part</a:t>
            </a:r>
            <a:r>
              <a:rPr sz="2736" spc="-43" dirty="0">
                <a:latin typeface="Arial"/>
                <a:cs typeface="Arial"/>
              </a:rPr>
              <a:t> </a:t>
            </a:r>
            <a:r>
              <a:rPr sz="2736" dirty="0">
                <a:latin typeface="Arial"/>
                <a:cs typeface="Arial"/>
              </a:rPr>
              <a:t>of</a:t>
            </a:r>
            <a:r>
              <a:rPr sz="2736" spc="-47" dirty="0">
                <a:latin typeface="Arial"/>
                <a:cs typeface="Arial"/>
              </a:rPr>
              <a:t> </a:t>
            </a:r>
            <a:r>
              <a:rPr sz="2736" dirty="0">
                <a:latin typeface="Arial"/>
                <a:cs typeface="Arial"/>
              </a:rPr>
              <a:t>a</a:t>
            </a:r>
            <a:r>
              <a:rPr sz="2736" spc="-43" dirty="0">
                <a:latin typeface="Arial"/>
                <a:cs typeface="Arial"/>
              </a:rPr>
              <a:t> </a:t>
            </a:r>
            <a:r>
              <a:rPr sz="2736" spc="-9" dirty="0">
                <a:latin typeface="Arial"/>
                <a:cs typeface="Arial"/>
              </a:rPr>
              <a:t>decision </a:t>
            </a:r>
            <a:r>
              <a:rPr sz="2736" dirty="0">
                <a:latin typeface="Arial"/>
                <a:cs typeface="Arial"/>
              </a:rPr>
              <a:t>table</a:t>
            </a:r>
            <a:r>
              <a:rPr sz="2736" spc="-73" dirty="0">
                <a:latin typeface="Arial"/>
                <a:cs typeface="Arial"/>
              </a:rPr>
              <a:t> </a:t>
            </a:r>
            <a:r>
              <a:rPr sz="2736" dirty="0">
                <a:latin typeface="Arial"/>
                <a:cs typeface="Arial"/>
              </a:rPr>
              <a:t>that</a:t>
            </a:r>
            <a:r>
              <a:rPr sz="2736" spc="-68" dirty="0">
                <a:latin typeface="Arial"/>
                <a:cs typeface="Arial"/>
              </a:rPr>
              <a:t> </a:t>
            </a:r>
            <a:r>
              <a:rPr sz="2736" dirty="0">
                <a:latin typeface="Arial"/>
                <a:cs typeface="Arial"/>
              </a:rPr>
              <a:t>lists</a:t>
            </a:r>
            <a:r>
              <a:rPr sz="2736" spc="-68" dirty="0">
                <a:latin typeface="Arial"/>
                <a:cs typeface="Arial"/>
              </a:rPr>
              <a:t> </a:t>
            </a:r>
            <a:r>
              <a:rPr sz="2736" dirty="0">
                <a:latin typeface="Arial"/>
                <a:cs typeface="Arial"/>
              </a:rPr>
              <a:t>the</a:t>
            </a:r>
            <a:r>
              <a:rPr sz="2736" spc="-68" dirty="0">
                <a:latin typeface="Arial"/>
                <a:cs typeface="Arial"/>
              </a:rPr>
              <a:t> </a:t>
            </a:r>
            <a:r>
              <a:rPr sz="2736" dirty="0">
                <a:latin typeface="Arial"/>
                <a:cs typeface="Arial"/>
              </a:rPr>
              <a:t>conditions</a:t>
            </a:r>
            <a:r>
              <a:rPr sz="2736" spc="-115" dirty="0">
                <a:latin typeface="Arial"/>
                <a:cs typeface="Arial"/>
              </a:rPr>
              <a:t> </a:t>
            </a:r>
            <a:r>
              <a:rPr sz="2736" dirty="0">
                <a:latin typeface="Arial"/>
                <a:cs typeface="Arial"/>
              </a:rPr>
              <a:t>relevant</a:t>
            </a:r>
            <a:r>
              <a:rPr sz="2736" spc="-73" dirty="0">
                <a:latin typeface="Arial"/>
                <a:cs typeface="Arial"/>
              </a:rPr>
              <a:t> </a:t>
            </a:r>
            <a:r>
              <a:rPr sz="2736" spc="-21" dirty="0">
                <a:latin typeface="Arial"/>
                <a:cs typeface="Arial"/>
              </a:rPr>
              <a:t>to </a:t>
            </a:r>
            <a:r>
              <a:rPr sz="2736" dirty="0">
                <a:latin typeface="Arial"/>
                <a:cs typeface="Arial"/>
              </a:rPr>
              <a:t>the</a:t>
            </a:r>
            <a:r>
              <a:rPr sz="2736" spc="-60" dirty="0">
                <a:latin typeface="Arial"/>
                <a:cs typeface="Arial"/>
              </a:rPr>
              <a:t> </a:t>
            </a:r>
            <a:r>
              <a:rPr sz="2736" spc="-9" dirty="0">
                <a:latin typeface="Arial"/>
                <a:cs typeface="Arial"/>
              </a:rPr>
              <a:t>decision</a:t>
            </a:r>
            <a:endParaRPr sz="2736">
              <a:latin typeface="Arial"/>
              <a:cs typeface="Arial"/>
            </a:endParaRPr>
          </a:p>
          <a:p>
            <a:pPr marL="305160" marR="4344" indent="-294843" algn="just">
              <a:spcBef>
                <a:spcPts val="658"/>
              </a:spcBef>
              <a:buClr>
                <a:srgbClr val="3399FF"/>
              </a:buClr>
              <a:buSzPct val="75000"/>
              <a:buFont typeface="Segoe UI Symbol"/>
              <a:buChar char="■"/>
              <a:tabLst>
                <a:tab pos="305160" algn="l"/>
              </a:tabLst>
            </a:pPr>
            <a:r>
              <a:rPr sz="2736" b="1" dirty="0">
                <a:latin typeface="Arial"/>
                <a:cs typeface="Arial"/>
              </a:rPr>
              <a:t>Action</a:t>
            </a:r>
            <a:r>
              <a:rPr sz="2736" b="1" spc="9" dirty="0">
                <a:latin typeface="Arial"/>
                <a:cs typeface="Arial"/>
              </a:rPr>
              <a:t> </a:t>
            </a:r>
            <a:r>
              <a:rPr sz="2736" b="1" dirty="0">
                <a:latin typeface="Arial"/>
                <a:cs typeface="Arial"/>
              </a:rPr>
              <a:t>stubs</a:t>
            </a:r>
            <a:r>
              <a:rPr sz="2736" dirty="0">
                <a:latin typeface="Arial"/>
                <a:cs typeface="Arial"/>
              </a:rPr>
              <a:t>:</a:t>
            </a:r>
            <a:r>
              <a:rPr sz="2736" spc="-51" dirty="0">
                <a:latin typeface="Arial"/>
                <a:cs typeface="Arial"/>
              </a:rPr>
              <a:t> </a:t>
            </a:r>
            <a:r>
              <a:rPr sz="2736" dirty="0">
                <a:latin typeface="Arial"/>
                <a:cs typeface="Arial"/>
              </a:rPr>
              <a:t>that</a:t>
            </a:r>
            <a:r>
              <a:rPr sz="2736" spc="-51" dirty="0">
                <a:latin typeface="Arial"/>
                <a:cs typeface="Arial"/>
              </a:rPr>
              <a:t> </a:t>
            </a:r>
            <a:r>
              <a:rPr sz="2736" dirty="0">
                <a:latin typeface="Arial"/>
                <a:cs typeface="Arial"/>
              </a:rPr>
              <a:t>part</a:t>
            </a:r>
            <a:r>
              <a:rPr sz="2736" spc="-51" dirty="0">
                <a:latin typeface="Arial"/>
                <a:cs typeface="Arial"/>
              </a:rPr>
              <a:t> </a:t>
            </a:r>
            <a:r>
              <a:rPr sz="2736" dirty="0">
                <a:latin typeface="Arial"/>
                <a:cs typeface="Arial"/>
              </a:rPr>
              <a:t>of</a:t>
            </a:r>
            <a:r>
              <a:rPr sz="2736" spc="-51" dirty="0">
                <a:latin typeface="Arial"/>
                <a:cs typeface="Arial"/>
              </a:rPr>
              <a:t> </a:t>
            </a:r>
            <a:r>
              <a:rPr sz="2736" dirty="0">
                <a:latin typeface="Arial"/>
                <a:cs typeface="Arial"/>
              </a:rPr>
              <a:t>a</a:t>
            </a:r>
            <a:r>
              <a:rPr sz="2736" spc="-51" dirty="0">
                <a:latin typeface="Arial"/>
                <a:cs typeface="Arial"/>
              </a:rPr>
              <a:t> </a:t>
            </a:r>
            <a:r>
              <a:rPr sz="2736" dirty="0">
                <a:latin typeface="Arial"/>
                <a:cs typeface="Arial"/>
              </a:rPr>
              <a:t>decision</a:t>
            </a:r>
            <a:r>
              <a:rPr sz="2736" spc="-51" dirty="0">
                <a:latin typeface="Arial"/>
                <a:cs typeface="Arial"/>
              </a:rPr>
              <a:t> </a:t>
            </a:r>
            <a:r>
              <a:rPr sz="2736" spc="-9" dirty="0">
                <a:latin typeface="Arial"/>
                <a:cs typeface="Arial"/>
              </a:rPr>
              <a:t>table </a:t>
            </a:r>
            <a:r>
              <a:rPr sz="2736" dirty="0">
                <a:latin typeface="Arial"/>
                <a:cs typeface="Arial"/>
              </a:rPr>
              <a:t>that</a:t>
            </a:r>
            <a:r>
              <a:rPr sz="2736" spc="-43" dirty="0">
                <a:latin typeface="Arial"/>
                <a:cs typeface="Arial"/>
              </a:rPr>
              <a:t> </a:t>
            </a:r>
            <a:r>
              <a:rPr sz="2736" dirty="0">
                <a:latin typeface="Arial"/>
                <a:cs typeface="Arial"/>
              </a:rPr>
              <a:t>lists</a:t>
            </a:r>
            <a:r>
              <a:rPr sz="2736" spc="-43" dirty="0">
                <a:latin typeface="Arial"/>
                <a:cs typeface="Arial"/>
              </a:rPr>
              <a:t> </a:t>
            </a:r>
            <a:r>
              <a:rPr sz="2736" dirty="0">
                <a:latin typeface="Arial"/>
                <a:cs typeface="Arial"/>
              </a:rPr>
              <a:t>the</a:t>
            </a:r>
            <a:r>
              <a:rPr sz="2736" spc="-43" dirty="0">
                <a:latin typeface="Arial"/>
                <a:cs typeface="Arial"/>
              </a:rPr>
              <a:t> </a:t>
            </a:r>
            <a:r>
              <a:rPr sz="2736" dirty="0">
                <a:latin typeface="Arial"/>
                <a:cs typeface="Arial"/>
              </a:rPr>
              <a:t>actions</a:t>
            </a:r>
            <a:r>
              <a:rPr sz="2736" spc="-43" dirty="0">
                <a:latin typeface="Arial"/>
                <a:cs typeface="Arial"/>
              </a:rPr>
              <a:t> </a:t>
            </a:r>
            <a:r>
              <a:rPr sz="2736" dirty="0">
                <a:latin typeface="Arial"/>
                <a:cs typeface="Arial"/>
              </a:rPr>
              <a:t>that</a:t>
            </a:r>
            <a:r>
              <a:rPr sz="2736" spc="-38" dirty="0">
                <a:latin typeface="Arial"/>
                <a:cs typeface="Arial"/>
              </a:rPr>
              <a:t> </a:t>
            </a:r>
            <a:r>
              <a:rPr sz="2736" dirty="0">
                <a:latin typeface="Arial"/>
                <a:cs typeface="Arial"/>
              </a:rPr>
              <a:t>result</a:t>
            </a:r>
            <a:r>
              <a:rPr sz="2736" spc="-43" dirty="0">
                <a:latin typeface="Arial"/>
                <a:cs typeface="Arial"/>
              </a:rPr>
              <a:t> </a:t>
            </a:r>
            <a:r>
              <a:rPr sz="2736" dirty="0">
                <a:latin typeface="Arial"/>
                <a:cs typeface="Arial"/>
              </a:rPr>
              <a:t>for</a:t>
            </a:r>
            <a:r>
              <a:rPr sz="2736" spc="-43" dirty="0">
                <a:latin typeface="Arial"/>
                <a:cs typeface="Arial"/>
              </a:rPr>
              <a:t> </a:t>
            </a:r>
            <a:r>
              <a:rPr sz="2736" dirty="0">
                <a:latin typeface="Arial"/>
                <a:cs typeface="Arial"/>
              </a:rPr>
              <a:t>a</a:t>
            </a:r>
            <a:r>
              <a:rPr sz="2736" spc="-43" dirty="0">
                <a:latin typeface="Arial"/>
                <a:cs typeface="Arial"/>
              </a:rPr>
              <a:t> </a:t>
            </a:r>
            <a:r>
              <a:rPr sz="2736" spc="-9" dirty="0">
                <a:latin typeface="Arial"/>
                <a:cs typeface="Arial"/>
              </a:rPr>
              <a:t>given </a:t>
            </a:r>
            <a:r>
              <a:rPr sz="2736" dirty="0">
                <a:latin typeface="Arial"/>
                <a:cs typeface="Arial"/>
              </a:rPr>
              <a:t>set</a:t>
            </a:r>
            <a:r>
              <a:rPr sz="2736" spc="-34" dirty="0">
                <a:latin typeface="Arial"/>
                <a:cs typeface="Arial"/>
              </a:rPr>
              <a:t> </a:t>
            </a:r>
            <a:r>
              <a:rPr sz="2736" dirty="0">
                <a:latin typeface="Arial"/>
                <a:cs typeface="Arial"/>
              </a:rPr>
              <a:t>of</a:t>
            </a:r>
            <a:r>
              <a:rPr sz="2736" spc="-34" dirty="0">
                <a:latin typeface="Arial"/>
                <a:cs typeface="Arial"/>
              </a:rPr>
              <a:t> </a:t>
            </a:r>
            <a:r>
              <a:rPr sz="2736" spc="-9" dirty="0">
                <a:latin typeface="Arial"/>
                <a:cs typeface="Arial"/>
              </a:rPr>
              <a:t>conditions</a:t>
            </a:r>
            <a:endParaRPr sz="2736">
              <a:latin typeface="Arial"/>
              <a:cs typeface="Arial"/>
            </a:endParaRPr>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468130"/>
            <a:ext cx="6743971" cy="1212639"/>
          </a:xfrm>
          <a:prstGeom prst="rect">
            <a:avLst/>
          </a:prstGeom>
        </p:spPr>
        <p:txBody>
          <a:bodyPr vert="horz" wrap="square" lIns="0" tIns="54228" rIns="0" bIns="0" rtlCol="0" anchor="ctr">
            <a:spAutoFit/>
          </a:bodyPr>
          <a:lstStyle/>
          <a:p>
            <a:pPr marL="10860" marR="4344">
              <a:lnSpc>
                <a:spcPct val="100000"/>
              </a:lnSpc>
              <a:spcBef>
                <a:spcPts val="77"/>
              </a:spcBef>
            </a:pPr>
            <a:r>
              <a:rPr sz="3762" dirty="0"/>
              <a:t>Modeling</a:t>
            </a:r>
            <a:r>
              <a:rPr sz="3762" spc="-120" dirty="0"/>
              <a:t> </a:t>
            </a:r>
            <a:r>
              <a:rPr sz="3762" dirty="0"/>
              <a:t>Logic</a:t>
            </a:r>
            <a:r>
              <a:rPr sz="3762" spc="-73" dirty="0"/>
              <a:t> </a:t>
            </a:r>
            <a:r>
              <a:rPr sz="3762" dirty="0"/>
              <a:t>with</a:t>
            </a:r>
            <a:r>
              <a:rPr sz="3762" spc="-120" dirty="0"/>
              <a:t> </a:t>
            </a:r>
            <a:r>
              <a:rPr sz="3762" spc="-9" dirty="0"/>
              <a:t>Decision </a:t>
            </a:r>
            <a:r>
              <a:rPr sz="3762" dirty="0"/>
              <a:t>Tables</a:t>
            </a:r>
            <a:r>
              <a:rPr sz="3762" spc="-120"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43</a:t>
            </a:fld>
            <a:endParaRPr spc="-21" dirty="0"/>
          </a:p>
        </p:txBody>
      </p:sp>
      <p:sp>
        <p:nvSpPr>
          <p:cNvPr id="3" name="object 3"/>
          <p:cNvSpPr txBox="1">
            <a:spLocks noGrp="1"/>
          </p:cNvSpPr>
          <p:nvPr>
            <p:ph type="body" idx="1"/>
          </p:nvPr>
        </p:nvSpPr>
        <p:spPr>
          <a:xfrm>
            <a:off x="537563" y="1756582"/>
            <a:ext cx="6743971" cy="3198163"/>
          </a:xfrm>
          <a:prstGeom prst="rect">
            <a:avLst/>
          </a:prstGeom>
        </p:spPr>
        <p:txBody>
          <a:bodyPr vert="horz" wrap="square" lIns="0" tIns="91293" rIns="0" bIns="0" rtlCol="0">
            <a:spAutoFit/>
          </a:bodyPr>
          <a:lstStyle/>
          <a:p>
            <a:pPr marL="305160" marR="61358" indent="-294843">
              <a:lnSpc>
                <a:spcPct val="100000"/>
              </a:lnSpc>
              <a:spcBef>
                <a:spcPts val="77"/>
              </a:spcBef>
              <a:buClr>
                <a:srgbClr val="3399FF"/>
              </a:buClr>
              <a:buSzPct val="75000"/>
              <a:buFont typeface="Segoe UI Symbol"/>
              <a:buChar char="■"/>
              <a:tabLst>
                <a:tab pos="305160" algn="l"/>
              </a:tabLst>
            </a:pPr>
            <a:r>
              <a:rPr b="1" dirty="0">
                <a:latin typeface="Arial"/>
                <a:cs typeface="Arial"/>
              </a:rPr>
              <a:t>Rules</a:t>
            </a:r>
            <a:r>
              <a:rPr dirty="0"/>
              <a:t>:</a:t>
            </a:r>
            <a:r>
              <a:rPr spc="-60" dirty="0"/>
              <a:t> </a:t>
            </a:r>
            <a:r>
              <a:rPr dirty="0"/>
              <a:t>that</a:t>
            </a:r>
            <a:r>
              <a:rPr spc="-60" dirty="0"/>
              <a:t> </a:t>
            </a:r>
            <a:r>
              <a:rPr dirty="0"/>
              <a:t>part</a:t>
            </a:r>
            <a:r>
              <a:rPr spc="-56" dirty="0"/>
              <a:t> </a:t>
            </a:r>
            <a:r>
              <a:rPr dirty="0"/>
              <a:t>of</a:t>
            </a:r>
            <a:r>
              <a:rPr spc="-60" dirty="0"/>
              <a:t> </a:t>
            </a:r>
            <a:r>
              <a:rPr dirty="0"/>
              <a:t>a</a:t>
            </a:r>
            <a:r>
              <a:rPr spc="-60" dirty="0"/>
              <a:t> </a:t>
            </a:r>
            <a:r>
              <a:rPr dirty="0"/>
              <a:t>decision</a:t>
            </a:r>
            <a:r>
              <a:rPr spc="-56" dirty="0"/>
              <a:t> </a:t>
            </a:r>
            <a:r>
              <a:rPr dirty="0"/>
              <a:t>table</a:t>
            </a:r>
            <a:r>
              <a:rPr spc="-60" dirty="0"/>
              <a:t> </a:t>
            </a:r>
            <a:r>
              <a:rPr spc="-17" dirty="0"/>
              <a:t>that </a:t>
            </a:r>
            <a:r>
              <a:rPr dirty="0"/>
              <a:t>specifies</a:t>
            </a:r>
            <a:r>
              <a:rPr spc="-68" dirty="0"/>
              <a:t> </a:t>
            </a:r>
            <a:r>
              <a:rPr dirty="0"/>
              <a:t>which</a:t>
            </a:r>
            <a:r>
              <a:rPr spc="-17" dirty="0"/>
              <a:t> </a:t>
            </a:r>
            <a:r>
              <a:rPr dirty="0"/>
              <a:t>actions</a:t>
            </a:r>
            <a:r>
              <a:rPr spc="-64" dirty="0"/>
              <a:t> </a:t>
            </a:r>
            <a:r>
              <a:rPr dirty="0"/>
              <a:t>are</a:t>
            </a:r>
            <a:r>
              <a:rPr spc="-64" dirty="0"/>
              <a:t> </a:t>
            </a:r>
            <a:r>
              <a:rPr dirty="0"/>
              <a:t>to</a:t>
            </a:r>
            <a:r>
              <a:rPr spc="-64" dirty="0"/>
              <a:t> </a:t>
            </a:r>
            <a:r>
              <a:rPr dirty="0"/>
              <a:t>be</a:t>
            </a:r>
            <a:r>
              <a:rPr spc="-64" dirty="0"/>
              <a:t> </a:t>
            </a:r>
            <a:r>
              <a:rPr spc="-9" dirty="0"/>
              <a:t>followed </a:t>
            </a:r>
            <a:r>
              <a:rPr dirty="0"/>
              <a:t>for</a:t>
            </a:r>
            <a:r>
              <a:rPr spc="-34" dirty="0"/>
              <a:t> </a:t>
            </a:r>
            <a:r>
              <a:rPr dirty="0"/>
              <a:t>a</a:t>
            </a:r>
            <a:r>
              <a:rPr spc="-34" dirty="0"/>
              <a:t> </a:t>
            </a:r>
            <a:r>
              <a:rPr dirty="0"/>
              <a:t>given</a:t>
            </a:r>
            <a:r>
              <a:rPr spc="-30" dirty="0"/>
              <a:t> </a:t>
            </a:r>
            <a:r>
              <a:rPr dirty="0"/>
              <a:t>set</a:t>
            </a:r>
            <a:r>
              <a:rPr spc="-34" dirty="0"/>
              <a:t> </a:t>
            </a:r>
            <a:r>
              <a:rPr dirty="0"/>
              <a:t>of</a:t>
            </a:r>
            <a:r>
              <a:rPr spc="-34" dirty="0"/>
              <a:t> </a:t>
            </a:r>
            <a:r>
              <a:rPr spc="-9" dirty="0"/>
              <a:t>conditions</a:t>
            </a:r>
          </a:p>
          <a:p>
            <a:pPr marL="305160" marR="4344" indent="-294843">
              <a:lnSpc>
                <a:spcPct val="100000"/>
              </a:lnSpc>
              <a:spcBef>
                <a:spcPts val="658"/>
              </a:spcBef>
              <a:buClr>
                <a:srgbClr val="3399FF"/>
              </a:buClr>
              <a:buSzPct val="75000"/>
              <a:buFont typeface="Segoe UI Symbol"/>
              <a:buChar char="■"/>
              <a:tabLst>
                <a:tab pos="305160" algn="l"/>
              </a:tabLst>
            </a:pPr>
            <a:r>
              <a:rPr b="1" dirty="0">
                <a:latin typeface="Arial"/>
                <a:cs typeface="Arial"/>
              </a:rPr>
              <a:t>Indifferent</a:t>
            </a:r>
            <a:r>
              <a:rPr b="1" spc="-86" dirty="0">
                <a:latin typeface="Arial"/>
                <a:cs typeface="Arial"/>
              </a:rPr>
              <a:t> </a:t>
            </a:r>
            <a:r>
              <a:rPr b="1" dirty="0">
                <a:latin typeface="Arial"/>
                <a:cs typeface="Arial"/>
              </a:rPr>
              <a:t>condition</a:t>
            </a:r>
            <a:r>
              <a:rPr dirty="0"/>
              <a:t>:</a:t>
            </a:r>
            <a:r>
              <a:rPr spc="-86" dirty="0"/>
              <a:t> </a:t>
            </a:r>
            <a:r>
              <a:rPr dirty="0"/>
              <a:t>in</a:t>
            </a:r>
            <a:r>
              <a:rPr spc="-43" dirty="0"/>
              <a:t> </a:t>
            </a:r>
            <a:r>
              <a:rPr dirty="0"/>
              <a:t>a</a:t>
            </a:r>
            <a:r>
              <a:rPr spc="-86" dirty="0"/>
              <a:t> </a:t>
            </a:r>
            <a:r>
              <a:rPr dirty="0"/>
              <a:t>decision</a:t>
            </a:r>
            <a:r>
              <a:rPr spc="-86" dirty="0"/>
              <a:t> </a:t>
            </a:r>
            <a:r>
              <a:rPr spc="-9" dirty="0"/>
              <a:t>table, </a:t>
            </a:r>
            <a:r>
              <a:rPr dirty="0"/>
              <a:t>a</a:t>
            </a:r>
            <a:r>
              <a:rPr spc="-68" dirty="0"/>
              <a:t> </a:t>
            </a:r>
            <a:r>
              <a:rPr dirty="0"/>
              <a:t>condition</a:t>
            </a:r>
            <a:r>
              <a:rPr spc="-68" dirty="0"/>
              <a:t> </a:t>
            </a:r>
            <a:r>
              <a:rPr dirty="0"/>
              <a:t>whose</a:t>
            </a:r>
            <a:r>
              <a:rPr spc="-68" dirty="0"/>
              <a:t> </a:t>
            </a:r>
            <a:r>
              <a:rPr dirty="0"/>
              <a:t>value</a:t>
            </a:r>
            <a:r>
              <a:rPr spc="-68" dirty="0"/>
              <a:t> </a:t>
            </a:r>
            <a:r>
              <a:rPr dirty="0"/>
              <a:t>does</a:t>
            </a:r>
            <a:r>
              <a:rPr spc="-68" dirty="0"/>
              <a:t> </a:t>
            </a:r>
            <a:r>
              <a:rPr dirty="0"/>
              <a:t>not</a:t>
            </a:r>
            <a:r>
              <a:rPr spc="-68" dirty="0"/>
              <a:t> </a:t>
            </a:r>
            <a:r>
              <a:rPr spc="-9" dirty="0"/>
              <a:t>affect </a:t>
            </a:r>
            <a:r>
              <a:rPr dirty="0"/>
              <a:t>which</a:t>
            </a:r>
            <a:r>
              <a:rPr spc="-51" dirty="0"/>
              <a:t> </a:t>
            </a:r>
            <a:r>
              <a:rPr dirty="0"/>
              <a:t>actions</a:t>
            </a:r>
            <a:r>
              <a:rPr spc="-51" dirty="0"/>
              <a:t> </a:t>
            </a:r>
            <a:r>
              <a:rPr dirty="0"/>
              <a:t>are</a:t>
            </a:r>
            <a:r>
              <a:rPr spc="-47" dirty="0"/>
              <a:t> </a:t>
            </a:r>
            <a:r>
              <a:rPr dirty="0"/>
              <a:t>taken</a:t>
            </a:r>
            <a:r>
              <a:rPr spc="-51" dirty="0"/>
              <a:t> </a:t>
            </a:r>
            <a:r>
              <a:rPr dirty="0"/>
              <a:t>for</a:t>
            </a:r>
            <a:r>
              <a:rPr spc="-47" dirty="0"/>
              <a:t> </a:t>
            </a:r>
            <a:r>
              <a:rPr dirty="0"/>
              <a:t>two</a:t>
            </a:r>
            <a:r>
              <a:rPr spc="-9" dirty="0"/>
              <a:t> </a:t>
            </a:r>
            <a:r>
              <a:rPr dirty="0"/>
              <a:t>or</a:t>
            </a:r>
            <a:r>
              <a:rPr spc="-51" dirty="0"/>
              <a:t> </a:t>
            </a:r>
            <a:r>
              <a:rPr spc="-17" dirty="0"/>
              <a:t>more </a:t>
            </a:r>
            <a:r>
              <a:rPr spc="-9" dirty="0"/>
              <a:t>rules</a:t>
            </a: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468130"/>
            <a:ext cx="6743971" cy="1212639"/>
          </a:xfrm>
          <a:prstGeom prst="rect">
            <a:avLst/>
          </a:prstGeom>
        </p:spPr>
        <p:txBody>
          <a:bodyPr vert="horz" wrap="square" lIns="0" tIns="54228" rIns="0" bIns="0" rtlCol="0" anchor="ctr">
            <a:spAutoFit/>
          </a:bodyPr>
          <a:lstStyle/>
          <a:p>
            <a:pPr marL="10860" marR="4344">
              <a:lnSpc>
                <a:spcPct val="100000"/>
              </a:lnSpc>
              <a:spcBef>
                <a:spcPts val="77"/>
              </a:spcBef>
            </a:pPr>
            <a:r>
              <a:rPr sz="3762" dirty="0"/>
              <a:t>Modeling</a:t>
            </a:r>
            <a:r>
              <a:rPr sz="3762" spc="-120" dirty="0"/>
              <a:t> </a:t>
            </a:r>
            <a:r>
              <a:rPr sz="3762" dirty="0"/>
              <a:t>Logic</a:t>
            </a:r>
            <a:r>
              <a:rPr sz="3762" spc="-73" dirty="0"/>
              <a:t> </a:t>
            </a:r>
            <a:r>
              <a:rPr sz="3762" dirty="0"/>
              <a:t>with</a:t>
            </a:r>
            <a:r>
              <a:rPr sz="3762" spc="-120" dirty="0"/>
              <a:t> </a:t>
            </a:r>
            <a:r>
              <a:rPr sz="3762" spc="-9" dirty="0"/>
              <a:t>Decision </a:t>
            </a:r>
            <a:r>
              <a:rPr sz="3762" dirty="0"/>
              <a:t>Tables</a:t>
            </a:r>
            <a:r>
              <a:rPr sz="3762" spc="-120"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44</a:t>
            </a:fld>
            <a:endParaRPr spc="-21" dirty="0"/>
          </a:p>
        </p:txBody>
      </p:sp>
      <p:sp>
        <p:nvSpPr>
          <p:cNvPr id="3" name="object 3"/>
          <p:cNvSpPr txBox="1"/>
          <p:nvPr/>
        </p:nvSpPr>
        <p:spPr>
          <a:xfrm>
            <a:off x="1120261" y="2128269"/>
            <a:ext cx="6686414" cy="2842326"/>
          </a:xfrm>
          <a:prstGeom prst="rect">
            <a:avLst/>
          </a:prstGeom>
        </p:spPr>
        <p:txBody>
          <a:bodyPr vert="horz" wrap="square" lIns="0" tIns="49412" rIns="0" bIns="0" rtlCol="0">
            <a:spAutoFit/>
          </a:bodyPr>
          <a:lstStyle/>
          <a:p>
            <a:pPr marL="305160" indent="-294300">
              <a:spcBef>
                <a:spcPts val="389"/>
              </a:spcBef>
              <a:buClr>
                <a:srgbClr val="3399FF"/>
              </a:buClr>
              <a:buSzPct val="75000"/>
              <a:buFont typeface="Segoe UI Symbol"/>
              <a:buChar char="■"/>
              <a:tabLst>
                <a:tab pos="305160" algn="l"/>
              </a:tabLst>
            </a:pPr>
            <a:r>
              <a:rPr sz="2736" dirty="0">
                <a:latin typeface="Arial"/>
                <a:cs typeface="Arial"/>
              </a:rPr>
              <a:t>Procedure</a:t>
            </a:r>
            <a:r>
              <a:rPr sz="2736" spc="-94" dirty="0">
                <a:latin typeface="Arial"/>
                <a:cs typeface="Arial"/>
              </a:rPr>
              <a:t> </a:t>
            </a:r>
            <a:r>
              <a:rPr sz="2736" dirty="0">
                <a:latin typeface="Arial"/>
                <a:cs typeface="Arial"/>
              </a:rPr>
              <a:t>for</a:t>
            </a:r>
            <a:r>
              <a:rPr sz="2736" spc="-94" dirty="0">
                <a:latin typeface="Arial"/>
                <a:cs typeface="Arial"/>
              </a:rPr>
              <a:t> </a:t>
            </a:r>
            <a:r>
              <a:rPr sz="2736" dirty="0">
                <a:latin typeface="Arial"/>
                <a:cs typeface="Arial"/>
              </a:rPr>
              <a:t>Creating</a:t>
            </a:r>
            <a:r>
              <a:rPr sz="2736" spc="-94" dirty="0">
                <a:latin typeface="Arial"/>
                <a:cs typeface="Arial"/>
              </a:rPr>
              <a:t> </a:t>
            </a:r>
            <a:r>
              <a:rPr sz="2736" dirty="0">
                <a:latin typeface="Arial"/>
                <a:cs typeface="Arial"/>
              </a:rPr>
              <a:t>Decision</a:t>
            </a:r>
            <a:r>
              <a:rPr sz="2736" spc="-94" dirty="0">
                <a:latin typeface="Arial"/>
                <a:cs typeface="Arial"/>
              </a:rPr>
              <a:t> </a:t>
            </a:r>
            <a:r>
              <a:rPr sz="2736" spc="-9" dirty="0">
                <a:latin typeface="Arial"/>
                <a:cs typeface="Arial"/>
              </a:rPr>
              <a:t>Tables</a:t>
            </a:r>
            <a:endParaRPr sz="2736">
              <a:latin typeface="Arial"/>
              <a:cs typeface="Arial"/>
            </a:endParaRPr>
          </a:p>
          <a:p>
            <a:pPr marL="645070" marR="4344" lvl="1" indent="-243802">
              <a:lnSpc>
                <a:spcPts val="2582"/>
              </a:lnSpc>
              <a:spcBef>
                <a:spcPts val="611"/>
              </a:spcBef>
              <a:buClr>
                <a:srgbClr val="CC0066"/>
              </a:buClr>
              <a:buSzPct val="78571"/>
              <a:buFont typeface="Segoe UI Symbol"/>
              <a:buChar char="□"/>
              <a:tabLst>
                <a:tab pos="646699" algn="l"/>
              </a:tabLst>
            </a:pPr>
            <a:r>
              <a:rPr sz="2394" dirty="0">
                <a:latin typeface="Arial"/>
                <a:cs typeface="Arial"/>
              </a:rPr>
              <a:t>Name</a:t>
            </a:r>
            <a:r>
              <a:rPr sz="2394" spc="-56" dirty="0">
                <a:latin typeface="Arial"/>
                <a:cs typeface="Arial"/>
              </a:rPr>
              <a:t> </a:t>
            </a:r>
            <a:r>
              <a:rPr sz="2394" dirty="0">
                <a:latin typeface="Arial"/>
                <a:cs typeface="Arial"/>
              </a:rPr>
              <a:t>the</a:t>
            </a:r>
            <a:r>
              <a:rPr sz="2394" spc="-17" dirty="0">
                <a:latin typeface="Arial"/>
                <a:cs typeface="Arial"/>
              </a:rPr>
              <a:t> </a:t>
            </a:r>
            <a:r>
              <a:rPr sz="2394" dirty="0">
                <a:latin typeface="Arial"/>
                <a:cs typeface="Arial"/>
              </a:rPr>
              <a:t>condition</a:t>
            </a:r>
            <a:r>
              <a:rPr sz="2394" spc="-17" dirty="0">
                <a:latin typeface="Arial"/>
                <a:cs typeface="Arial"/>
              </a:rPr>
              <a:t> </a:t>
            </a:r>
            <a:r>
              <a:rPr sz="2394" dirty="0">
                <a:latin typeface="Arial"/>
                <a:cs typeface="Arial"/>
              </a:rPr>
              <a:t>and</a:t>
            </a:r>
            <a:r>
              <a:rPr sz="2394" spc="-21" dirty="0">
                <a:latin typeface="Arial"/>
                <a:cs typeface="Arial"/>
              </a:rPr>
              <a:t> </a:t>
            </a:r>
            <a:r>
              <a:rPr sz="2394" dirty="0">
                <a:latin typeface="Arial"/>
                <a:cs typeface="Arial"/>
              </a:rPr>
              <a:t>the</a:t>
            </a:r>
            <a:r>
              <a:rPr sz="2394" spc="-17" dirty="0">
                <a:latin typeface="Arial"/>
                <a:cs typeface="Arial"/>
              </a:rPr>
              <a:t> </a:t>
            </a:r>
            <a:r>
              <a:rPr sz="2394" dirty="0">
                <a:latin typeface="Arial"/>
                <a:cs typeface="Arial"/>
              </a:rPr>
              <a:t>values</a:t>
            </a:r>
            <a:r>
              <a:rPr sz="2394" spc="-17" dirty="0">
                <a:latin typeface="Arial"/>
                <a:cs typeface="Arial"/>
              </a:rPr>
              <a:t> </a:t>
            </a:r>
            <a:r>
              <a:rPr sz="2394" dirty="0">
                <a:latin typeface="Arial"/>
                <a:cs typeface="Arial"/>
              </a:rPr>
              <a:t>that</a:t>
            </a:r>
            <a:r>
              <a:rPr sz="2394" spc="-21" dirty="0">
                <a:latin typeface="Arial"/>
                <a:cs typeface="Arial"/>
              </a:rPr>
              <a:t> </a:t>
            </a:r>
            <a:r>
              <a:rPr sz="2394" spc="-17" dirty="0">
                <a:latin typeface="Arial"/>
                <a:cs typeface="Arial"/>
              </a:rPr>
              <a:t>each 	</a:t>
            </a:r>
            <a:r>
              <a:rPr sz="2394" dirty="0">
                <a:latin typeface="Arial"/>
                <a:cs typeface="Arial"/>
              </a:rPr>
              <a:t>condition</a:t>
            </a:r>
            <a:r>
              <a:rPr sz="2394" spc="-26" dirty="0">
                <a:latin typeface="Arial"/>
                <a:cs typeface="Arial"/>
              </a:rPr>
              <a:t> </a:t>
            </a:r>
            <a:r>
              <a:rPr sz="2394" dirty="0">
                <a:latin typeface="Arial"/>
                <a:cs typeface="Arial"/>
              </a:rPr>
              <a:t>can</a:t>
            </a:r>
            <a:r>
              <a:rPr sz="2394" spc="-64" dirty="0">
                <a:latin typeface="Arial"/>
                <a:cs typeface="Arial"/>
              </a:rPr>
              <a:t> </a:t>
            </a:r>
            <a:r>
              <a:rPr sz="2394" spc="-9" dirty="0">
                <a:latin typeface="Arial"/>
                <a:cs typeface="Arial"/>
              </a:rPr>
              <a:t>assume.</a:t>
            </a:r>
            <a:endParaRPr sz="2394">
              <a:latin typeface="Arial"/>
              <a:cs typeface="Arial"/>
            </a:endParaRPr>
          </a:p>
          <a:p>
            <a:pPr marL="645613" lvl="1" indent="-243802">
              <a:spcBef>
                <a:spcPts val="252"/>
              </a:spcBef>
              <a:buClr>
                <a:srgbClr val="CC0066"/>
              </a:buClr>
              <a:buSzPct val="78571"/>
              <a:buFont typeface="Segoe UI Symbol"/>
              <a:buChar char="□"/>
              <a:tabLst>
                <a:tab pos="645613" algn="l"/>
              </a:tabLst>
            </a:pPr>
            <a:r>
              <a:rPr sz="2394" dirty="0">
                <a:latin typeface="Arial"/>
                <a:cs typeface="Arial"/>
              </a:rPr>
              <a:t>Name</a:t>
            </a:r>
            <a:r>
              <a:rPr sz="2394" spc="-43" dirty="0">
                <a:latin typeface="Arial"/>
                <a:cs typeface="Arial"/>
              </a:rPr>
              <a:t> </a:t>
            </a:r>
            <a:r>
              <a:rPr sz="2394" dirty="0">
                <a:latin typeface="Arial"/>
                <a:cs typeface="Arial"/>
              </a:rPr>
              <a:t>all</a:t>
            </a:r>
            <a:r>
              <a:rPr sz="2394" spc="-4" dirty="0">
                <a:latin typeface="Arial"/>
                <a:cs typeface="Arial"/>
              </a:rPr>
              <a:t> </a:t>
            </a:r>
            <a:r>
              <a:rPr sz="2394" dirty="0">
                <a:latin typeface="Arial"/>
                <a:cs typeface="Arial"/>
              </a:rPr>
              <a:t>possible</a:t>
            </a:r>
            <a:r>
              <a:rPr sz="2394" spc="-60" dirty="0">
                <a:latin typeface="Arial"/>
                <a:cs typeface="Arial"/>
              </a:rPr>
              <a:t> </a:t>
            </a:r>
            <a:r>
              <a:rPr sz="2394" dirty="0">
                <a:latin typeface="Arial"/>
                <a:cs typeface="Arial"/>
              </a:rPr>
              <a:t>actions</a:t>
            </a:r>
            <a:r>
              <a:rPr sz="2394" spc="-4" dirty="0">
                <a:latin typeface="Arial"/>
                <a:cs typeface="Arial"/>
              </a:rPr>
              <a:t> </a:t>
            </a:r>
            <a:r>
              <a:rPr sz="2394" dirty="0">
                <a:latin typeface="Arial"/>
                <a:cs typeface="Arial"/>
              </a:rPr>
              <a:t>that</a:t>
            </a:r>
            <a:r>
              <a:rPr sz="2394" spc="-47" dirty="0">
                <a:latin typeface="Arial"/>
                <a:cs typeface="Arial"/>
              </a:rPr>
              <a:t> </a:t>
            </a:r>
            <a:r>
              <a:rPr sz="2394" dirty="0">
                <a:latin typeface="Arial"/>
                <a:cs typeface="Arial"/>
              </a:rPr>
              <a:t>can</a:t>
            </a:r>
            <a:r>
              <a:rPr sz="2394" spc="-9" dirty="0">
                <a:latin typeface="Arial"/>
                <a:cs typeface="Arial"/>
              </a:rPr>
              <a:t> occur.</a:t>
            </a:r>
            <a:endParaRPr sz="2394">
              <a:latin typeface="Arial"/>
              <a:cs typeface="Arial"/>
            </a:endParaRPr>
          </a:p>
          <a:p>
            <a:pPr marL="646156" lvl="1" indent="-244345">
              <a:spcBef>
                <a:spcPts val="286"/>
              </a:spcBef>
              <a:buClr>
                <a:srgbClr val="CC0066"/>
              </a:buClr>
              <a:buSzPct val="78571"/>
              <a:buFont typeface="Segoe UI Symbol"/>
              <a:buChar char="□"/>
              <a:tabLst>
                <a:tab pos="646156" algn="l"/>
              </a:tabLst>
            </a:pPr>
            <a:r>
              <a:rPr sz="2394" dirty="0">
                <a:latin typeface="Arial"/>
                <a:cs typeface="Arial"/>
              </a:rPr>
              <a:t>List</a:t>
            </a:r>
            <a:r>
              <a:rPr sz="2394" spc="-21" dirty="0">
                <a:latin typeface="Arial"/>
                <a:cs typeface="Arial"/>
              </a:rPr>
              <a:t> </a:t>
            </a:r>
            <a:r>
              <a:rPr sz="2394" dirty="0">
                <a:latin typeface="Arial"/>
                <a:cs typeface="Arial"/>
              </a:rPr>
              <a:t>all</a:t>
            </a:r>
            <a:r>
              <a:rPr sz="2394" spc="-21" dirty="0">
                <a:latin typeface="Arial"/>
                <a:cs typeface="Arial"/>
              </a:rPr>
              <a:t> </a:t>
            </a:r>
            <a:r>
              <a:rPr sz="2394" dirty="0">
                <a:latin typeface="Arial"/>
                <a:cs typeface="Arial"/>
              </a:rPr>
              <a:t>possible</a:t>
            </a:r>
            <a:r>
              <a:rPr sz="2394" spc="-68" dirty="0">
                <a:latin typeface="Arial"/>
                <a:cs typeface="Arial"/>
              </a:rPr>
              <a:t> </a:t>
            </a:r>
            <a:r>
              <a:rPr sz="2394" spc="-9" dirty="0">
                <a:latin typeface="Arial"/>
                <a:cs typeface="Arial"/>
              </a:rPr>
              <a:t>rules.</a:t>
            </a:r>
            <a:endParaRPr sz="2394">
              <a:latin typeface="Arial"/>
              <a:cs typeface="Arial"/>
            </a:endParaRPr>
          </a:p>
          <a:p>
            <a:pPr marL="645613" lvl="1" indent="-243802">
              <a:spcBef>
                <a:spcPts val="286"/>
              </a:spcBef>
              <a:buClr>
                <a:srgbClr val="CC0066"/>
              </a:buClr>
              <a:buSzPct val="78571"/>
              <a:buFont typeface="Segoe UI Symbol"/>
              <a:buChar char="□"/>
              <a:tabLst>
                <a:tab pos="645613" algn="l"/>
              </a:tabLst>
            </a:pPr>
            <a:r>
              <a:rPr sz="2394" dirty="0">
                <a:latin typeface="Arial"/>
                <a:cs typeface="Arial"/>
              </a:rPr>
              <a:t>Define</a:t>
            </a:r>
            <a:r>
              <a:rPr sz="2394" spc="-51" dirty="0">
                <a:latin typeface="Arial"/>
                <a:cs typeface="Arial"/>
              </a:rPr>
              <a:t> </a:t>
            </a:r>
            <a:r>
              <a:rPr sz="2394" dirty="0">
                <a:latin typeface="Arial"/>
                <a:cs typeface="Arial"/>
              </a:rPr>
              <a:t>the</a:t>
            </a:r>
            <a:r>
              <a:rPr sz="2394" spc="-9" dirty="0">
                <a:latin typeface="Arial"/>
                <a:cs typeface="Arial"/>
              </a:rPr>
              <a:t> </a:t>
            </a:r>
            <a:r>
              <a:rPr sz="2394" dirty="0">
                <a:latin typeface="Arial"/>
                <a:cs typeface="Arial"/>
              </a:rPr>
              <a:t>actions</a:t>
            </a:r>
            <a:r>
              <a:rPr sz="2394" spc="-9" dirty="0">
                <a:latin typeface="Arial"/>
                <a:cs typeface="Arial"/>
              </a:rPr>
              <a:t> </a:t>
            </a:r>
            <a:r>
              <a:rPr sz="2394" dirty="0">
                <a:latin typeface="Arial"/>
                <a:cs typeface="Arial"/>
              </a:rPr>
              <a:t>for</a:t>
            </a:r>
            <a:r>
              <a:rPr sz="2394" spc="-9" dirty="0">
                <a:latin typeface="Arial"/>
                <a:cs typeface="Arial"/>
              </a:rPr>
              <a:t> </a:t>
            </a:r>
            <a:r>
              <a:rPr sz="2394" dirty="0">
                <a:latin typeface="Arial"/>
                <a:cs typeface="Arial"/>
              </a:rPr>
              <a:t>each</a:t>
            </a:r>
            <a:r>
              <a:rPr sz="2394" spc="-9" dirty="0">
                <a:latin typeface="Arial"/>
                <a:cs typeface="Arial"/>
              </a:rPr>
              <a:t> rule.</a:t>
            </a:r>
            <a:endParaRPr sz="2394">
              <a:latin typeface="Arial"/>
              <a:cs typeface="Arial"/>
            </a:endParaRPr>
          </a:p>
          <a:p>
            <a:pPr marL="645613" lvl="1" indent="-243802">
              <a:spcBef>
                <a:spcPts val="291"/>
              </a:spcBef>
              <a:buClr>
                <a:srgbClr val="CC0066"/>
              </a:buClr>
              <a:buSzPct val="78571"/>
              <a:buFont typeface="Segoe UI Symbol"/>
              <a:buChar char="□"/>
              <a:tabLst>
                <a:tab pos="645613" algn="l"/>
              </a:tabLst>
            </a:pPr>
            <a:r>
              <a:rPr sz="2394" dirty="0">
                <a:latin typeface="Arial"/>
                <a:cs typeface="Arial"/>
              </a:rPr>
              <a:t>Simplify</a:t>
            </a:r>
            <a:r>
              <a:rPr sz="2394" spc="-51" dirty="0">
                <a:latin typeface="Arial"/>
                <a:cs typeface="Arial"/>
              </a:rPr>
              <a:t> </a:t>
            </a:r>
            <a:r>
              <a:rPr sz="2394" dirty="0">
                <a:latin typeface="Arial"/>
                <a:cs typeface="Arial"/>
              </a:rPr>
              <a:t>the</a:t>
            </a:r>
            <a:r>
              <a:rPr sz="2394" spc="-4" dirty="0">
                <a:latin typeface="Arial"/>
                <a:cs typeface="Arial"/>
              </a:rPr>
              <a:t> </a:t>
            </a:r>
            <a:r>
              <a:rPr sz="2394" spc="-9" dirty="0">
                <a:latin typeface="Arial"/>
                <a:cs typeface="Arial"/>
              </a:rPr>
              <a:t>table.</a:t>
            </a:r>
            <a:endParaRPr sz="2394">
              <a:latin typeface="Arial"/>
              <a:cs typeface="Arial"/>
            </a:endParaRP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542394"/>
            <a:ext cx="6743971" cy="1064110"/>
          </a:xfrm>
          <a:prstGeom prst="rect">
            <a:avLst/>
          </a:prstGeom>
        </p:spPr>
        <p:txBody>
          <a:bodyPr vert="horz" wrap="square" lIns="0" tIns="11403" rIns="0" bIns="0" rtlCol="0" anchor="ctr">
            <a:spAutoFit/>
          </a:bodyPr>
          <a:lstStyle/>
          <a:p>
            <a:pPr marL="206336" marR="4344">
              <a:lnSpc>
                <a:spcPct val="100000"/>
              </a:lnSpc>
              <a:spcBef>
                <a:spcPts val="90"/>
              </a:spcBef>
            </a:pPr>
            <a:r>
              <a:rPr sz="3420" dirty="0"/>
              <a:t>Modeling</a:t>
            </a:r>
            <a:r>
              <a:rPr sz="3420" spc="-77" dirty="0"/>
              <a:t> </a:t>
            </a:r>
            <a:r>
              <a:rPr sz="3420" dirty="0"/>
              <a:t>Logic</a:t>
            </a:r>
            <a:r>
              <a:rPr sz="3420" spc="-13" dirty="0"/>
              <a:t> </a:t>
            </a:r>
            <a:r>
              <a:rPr sz="3420" dirty="0"/>
              <a:t>with</a:t>
            </a:r>
            <a:r>
              <a:rPr sz="3420" spc="-13" dirty="0"/>
              <a:t> </a:t>
            </a:r>
            <a:r>
              <a:rPr sz="3420" spc="-9" dirty="0"/>
              <a:t>Decision </a:t>
            </a:r>
            <a:r>
              <a:rPr sz="3420" dirty="0"/>
              <a:t>Tables</a:t>
            </a:r>
            <a:r>
              <a:rPr sz="3420" spc="-64" dirty="0"/>
              <a:t> </a:t>
            </a:r>
            <a:r>
              <a:rPr sz="3420" spc="-9" dirty="0"/>
              <a:t>(Cont.)</a:t>
            </a:r>
            <a:endParaRPr sz="3420"/>
          </a:p>
        </p:txBody>
      </p:sp>
      <p:sp>
        <p:nvSpPr>
          <p:cNvPr id="4" name="object 4"/>
          <p:cNvSpPr txBox="1"/>
          <p:nvPr/>
        </p:nvSpPr>
        <p:spPr>
          <a:xfrm>
            <a:off x="1771917" y="5048063"/>
            <a:ext cx="4427564" cy="484685"/>
          </a:xfrm>
          <a:prstGeom prst="rect">
            <a:avLst/>
          </a:prstGeom>
        </p:spPr>
        <p:txBody>
          <a:bodyPr vert="horz" wrap="square" lIns="0" tIns="10860" rIns="0" bIns="0" rtlCol="0">
            <a:spAutoFit/>
          </a:bodyPr>
          <a:lstStyle/>
          <a:p>
            <a:pPr marL="10860">
              <a:spcBef>
                <a:spcPts val="86"/>
              </a:spcBef>
            </a:pPr>
            <a:r>
              <a:rPr sz="1539" b="1" dirty="0">
                <a:latin typeface="Arial"/>
                <a:cs typeface="Arial"/>
              </a:rPr>
              <a:t>FIGURE</a:t>
            </a:r>
            <a:r>
              <a:rPr lang="en-MY" sz="1539" b="1" dirty="0">
                <a:latin typeface="Arial"/>
                <a:cs typeface="Arial"/>
              </a:rPr>
              <a:t> 12</a:t>
            </a:r>
            <a:endParaRPr sz="1539" dirty="0">
              <a:latin typeface="Arial"/>
              <a:cs typeface="Arial"/>
            </a:endParaRPr>
          </a:p>
          <a:p>
            <a:pPr marL="10860"/>
            <a:r>
              <a:rPr sz="1539" dirty="0">
                <a:latin typeface="Arial"/>
                <a:cs typeface="Arial"/>
              </a:rPr>
              <a:t>Reduced</a:t>
            </a:r>
            <a:r>
              <a:rPr sz="1539" spc="-51" dirty="0">
                <a:latin typeface="Arial"/>
                <a:cs typeface="Arial"/>
              </a:rPr>
              <a:t> </a:t>
            </a:r>
            <a:r>
              <a:rPr sz="1539" dirty="0">
                <a:latin typeface="Arial"/>
                <a:cs typeface="Arial"/>
              </a:rPr>
              <a:t>decision</a:t>
            </a:r>
            <a:r>
              <a:rPr sz="1539" spc="-34" dirty="0">
                <a:latin typeface="Arial"/>
                <a:cs typeface="Arial"/>
              </a:rPr>
              <a:t> </a:t>
            </a:r>
            <a:r>
              <a:rPr sz="1539" dirty="0">
                <a:latin typeface="Arial"/>
                <a:cs typeface="Arial"/>
              </a:rPr>
              <a:t>table</a:t>
            </a:r>
            <a:r>
              <a:rPr sz="1539" spc="-34" dirty="0">
                <a:latin typeface="Arial"/>
                <a:cs typeface="Arial"/>
              </a:rPr>
              <a:t> </a:t>
            </a:r>
            <a:r>
              <a:rPr sz="1539" dirty="0">
                <a:latin typeface="Arial"/>
                <a:cs typeface="Arial"/>
              </a:rPr>
              <a:t>for</a:t>
            </a:r>
            <a:r>
              <a:rPr sz="1539" spc="4" dirty="0">
                <a:latin typeface="Arial"/>
                <a:cs typeface="Arial"/>
              </a:rPr>
              <a:t> </a:t>
            </a:r>
            <a:r>
              <a:rPr sz="1539" dirty="0">
                <a:latin typeface="Arial"/>
                <a:cs typeface="Arial"/>
              </a:rPr>
              <a:t>payroll</a:t>
            </a:r>
            <a:r>
              <a:rPr sz="1539" spc="4" dirty="0">
                <a:latin typeface="Arial"/>
                <a:cs typeface="Arial"/>
              </a:rPr>
              <a:t> </a:t>
            </a:r>
            <a:r>
              <a:rPr sz="1539" dirty="0">
                <a:latin typeface="Arial"/>
                <a:cs typeface="Arial"/>
              </a:rPr>
              <a:t>system</a:t>
            </a:r>
            <a:r>
              <a:rPr sz="1539" spc="-21" dirty="0">
                <a:latin typeface="Arial"/>
                <a:cs typeface="Arial"/>
              </a:rPr>
              <a:t> </a:t>
            </a:r>
            <a:r>
              <a:rPr sz="1539" spc="-9" dirty="0">
                <a:latin typeface="Arial"/>
                <a:cs typeface="Arial"/>
              </a:rPr>
              <a:t>example</a:t>
            </a:r>
            <a:endParaRPr sz="1539" dirty="0">
              <a:latin typeface="Arial"/>
              <a:cs typeface="Arial"/>
            </a:endParaRPr>
          </a:p>
        </p:txBody>
      </p:sp>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45</a:t>
            </a:fld>
            <a:endParaRPr spc="-21" dirty="0"/>
          </a:p>
        </p:txBody>
      </p:sp>
      <p:pic>
        <p:nvPicPr>
          <p:cNvPr id="7" name="Picture 6">
            <a:extLst>
              <a:ext uri="{FF2B5EF4-FFF2-40B4-BE49-F238E27FC236}">
                <a16:creationId xmlns:a16="http://schemas.microsoft.com/office/drawing/2014/main" id="{86A36A02-EE69-491B-257D-B78F4CAB3AAB}"/>
              </a:ext>
            </a:extLst>
          </p:cNvPr>
          <p:cNvPicPr>
            <a:picLocks noChangeAspect="1"/>
          </p:cNvPicPr>
          <p:nvPr/>
        </p:nvPicPr>
        <p:blipFill>
          <a:blip r:embed="rId2"/>
          <a:stretch>
            <a:fillRect/>
          </a:stretch>
        </p:blipFill>
        <p:spPr>
          <a:xfrm>
            <a:off x="1733550" y="1824037"/>
            <a:ext cx="5676900" cy="3209925"/>
          </a:xfrm>
          <a:prstGeom prst="rect">
            <a:avLst/>
          </a:prstGeom>
        </p:spPr>
      </p:pic>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50115"/>
            <a:ext cx="6743971" cy="2249128"/>
          </a:xfrm>
          <a:prstGeom prst="rect">
            <a:avLst/>
          </a:prstGeom>
        </p:spPr>
        <p:txBody>
          <a:bodyPr vert="horz" wrap="square" lIns="0" tIns="215696" rIns="0" bIns="0" rtlCol="0" anchor="ctr">
            <a:spAutoFit/>
          </a:bodyPr>
          <a:lstStyle/>
          <a:p>
            <a:pPr marL="10860" marR="4344">
              <a:lnSpc>
                <a:spcPct val="100000"/>
              </a:lnSpc>
              <a:spcBef>
                <a:spcPts val="77"/>
              </a:spcBef>
            </a:pPr>
            <a:r>
              <a:rPr dirty="0"/>
              <a:t>Electronic</a:t>
            </a:r>
            <a:r>
              <a:rPr spc="-107" dirty="0"/>
              <a:t> </a:t>
            </a:r>
            <a:r>
              <a:rPr spc="-9" dirty="0"/>
              <a:t>Commerce</a:t>
            </a:r>
            <a:r>
              <a:rPr spc="-103" dirty="0"/>
              <a:t> </a:t>
            </a:r>
            <a:r>
              <a:rPr dirty="0"/>
              <a:t>Application:</a:t>
            </a:r>
            <a:r>
              <a:rPr spc="-162" dirty="0"/>
              <a:t> </a:t>
            </a:r>
            <a:r>
              <a:rPr spc="-9" dirty="0"/>
              <a:t>Process </a:t>
            </a:r>
            <a:r>
              <a:rPr dirty="0"/>
              <a:t>Modeling</a:t>
            </a:r>
            <a:r>
              <a:rPr spc="-133" dirty="0"/>
              <a:t> </a:t>
            </a:r>
            <a:r>
              <a:rPr dirty="0"/>
              <a:t>using</a:t>
            </a:r>
            <a:r>
              <a:rPr spc="-77" dirty="0"/>
              <a:t> </a:t>
            </a:r>
            <a:r>
              <a:rPr dirty="0"/>
              <a:t>Data</a:t>
            </a:r>
            <a:r>
              <a:rPr spc="-77" dirty="0"/>
              <a:t> </a:t>
            </a:r>
            <a:r>
              <a:rPr dirty="0"/>
              <a:t>Flow</a:t>
            </a:r>
            <a:r>
              <a:rPr spc="-81" dirty="0"/>
              <a:t> </a:t>
            </a:r>
            <a:r>
              <a:rPr spc="-9" dirty="0"/>
              <a:t>Diagrams</a:t>
            </a:r>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46</a:t>
            </a:fld>
            <a:endParaRPr spc="-21" dirty="0"/>
          </a:p>
        </p:txBody>
      </p:sp>
      <p:sp>
        <p:nvSpPr>
          <p:cNvPr id="3" name="object 3"/>
          <p:cNvSpPr txBox="1"/>
          <p:nvPr/>
        </p:nvSpPr>
        <p:spPr>
          <a:xfrm>
            <a:off x="1120261" y="2209788"/>
            <a:ext cx="6022877" cy="2490998"/>
          </a:xfrm>
          <a:prstGeom prst="rect">
            <a:avLst/>
          </a:prstGeom>
        </p:spPr>
        <p:txBody>
          <a:bodyPr vert="horz" wrap="square" lIns="0" tIns="9774" rIns="0" bIns="0" rtlCol="0">
            <a:spAutoFit/>
          </a:bodyPr>
          <a:lstStyle/>
          <a:p>
            <a:pPr marL="305160" marR="619007" indent="-294843">
              <a:spcBef>
                <a:spcPts val="77"/>
              </a:spcBef>
              <a:buClr>
                <a:srgbClr val="3399FF"/>
              </a:buClr>
              <a:buSzPct val="75000"/>
              <a:buFont typeface="Segoe UI Symbol"/>
              <a:buChar char="■"/>
              <a:tabLst>
                <a:tab pos="305160" algn="l"/>
              </a:tabLst>
            </a:pPr>
            <a:r>
              <a:rPr sz="2736" dirty="0">
                <a:latin typeface="Arial"/>
                <a:cs typeface="Arial"/>
              </a:rPr>
              <a:t>Process</a:t>
            </a:r>
            <a:r>
              <a:rPr sz="2736" spc="-81" dirty="0">
                <a:latin typeface="Arial"/>
                <a:cs typeface="Arial"/>
              </a:rPr>
              <a:t> </a:t>
            </a:r>
            <a:r>
              <a:rPr sz="2736" dirty="0">
                <a:latin typeface="Arial"/>
                <a:cs typeface="Arial"/>
              </a:rPr>
              <a:t>modeling</a:t>
            </a:r>
            <a:r>
              <a:rPr sz="2736" spc="-81" dirty="0">
                <a:latin typeface="Arial"/>
                <a:cs typeface="Arial"/>
              </a:rPr>
              <a:t> </a:t>
            </a:r>
            <a:r>
              <a:rPr sz="2736" dirty="0">
                <a:latin typeface="Arial"/>
                <a:cs typeface="Arial"/>
              </a:rPr>
              <a:t>for</a:t>
            </a:r>
            <a:r>
              <a:rPr sz="2736" spc="-81" dirty="0">
                <a:latin typeface="Arial"/>
                <a:cs typeface="Arial"/>
              </a:rPr>
              <a:t> </a:t>
            </a:r>
            <a:r>
              <a:rPr sz="2736" dirty="0">
                <a:latin typeface="Arial"/>
                <a:cs typeface="Arial"/>
              </a:rPr>
              <a:t>Pine</a:t>
            </a:r>
            <a:r>
              <a:rPr sz="2736" spc="-81" dirty="0">
                <a:latin typeface="Arial"/>
                <a:cs typeface="Arial"/>
              </a:rPr>
              <a:t> </a:t>
            </a:r>
            <a:r>
              <a:rPr sz="2736" spc="-9" dirty="0">
                <a:latin typeface="Arial"/>
                <a:cs typeface="Arial"/>
              </a:rPr>
              <a:t>Valley </a:t>
            </a:r>
            <a:r>
              <a:rPr sz="2736" dirty="0">
                <a:latin typeface="Arial"/>
                <a:cs typeface="Arial"/>
              </a:rPr>
              <a:t>Furniture’s</a:t>
            </a:r>
            <a:r>
              <a:rPr sz="2736" spc="-137" dirty="0">
                <a:latin typeface="Arial"/>
                <a:cs typeface="Arial"/>
              </a:rPr>
              <a:t> </a:t>
            </a:r>
            <a:r>
              <a:rPr sz="2736" spc="-9" dirty="0">
                <a:latin typeface="Arial"/>
                <a:cs typeface="Arial"/>
              </a:rPr>
              <a:t>WebStore</a:t>
            </a:r>
            <a:endParaRPr sz="2736">
              <a:latin typeface="Arial"/>
              <a:cs typeface="Arial"/>
            </a:endParaRPr>
          </a:p>
          <a:p>
            <a:pPr marL="645613" lvl="1" indent="-243802">
              <a:spcBef>
                <a:spcPts val="569"/>
              </a:spcBef>
              <a:buClr>
                <a:srgbClr val="CC0066"/>
              </a:buClr>
              <a:buSzPct val="78571"/>
              <a:buFont typeface="Segoe UI Symbol"/>
              <a:buChar char="□"/>
              <a:tabLst>
                <a:tab pos="645613" algn="l"/>
              </a:tabLst>
            </a:pPr>
            <a:r>
              <a:rPr sz="2394" dirty="0">
                <a:latin typeface="Arial"/>
                <a:cs typeface="Arial"/>
              </a:rPr>
              <a:t>Completed</a:t>
            </a:r>
            <a:r>
              <a:rPr sz="2394" spc="-17" dirty="0">
                <a:latin typeface="Arial"/>
                <a:cs typeface="Arial"/>
              </a:rPr>
              <a:t> </a:t>
            </a:r>
            <a:r>
              <a:rPr sz="2394" dirty="0">
                <a:latin typeface="Arial"/>
                <a:cs typeface="Arial"/>
              </a:rPr>
              <a:t>JAD</a:t>
            </a:r>
            <a:r>
              <a:rPr sz="2394" spc="-17" dirty="0">
                <a:latin typeface="Arial"/>
                <a:cs typeface="Arial"/>
              </a:rPr>
              <a:t> </a:t>
            </a:r>
            <a:r>
              <a:rPr sz="2394" spc="-9" dirty="0">
                <a:latin typeface="Arial"/>
                <a:cs typeface="Arial"/>
              </a:rPr>
              <a:t>session</a:t>
            </a:r>
            <a:endParaRPr sz="2394">
              <a:latin typeface="Arial"/>
              <a:cs typeface="Arial"/>
            </a:endParaRPr>
          </a:p>
          <a:p>
            <a:pPr marL="645070" marR="4344" lvl="1" indent="-243802">
              <a:spcBef>
                <a:spcPts val="573"/>
              </a:spcBef>
              <a:buClr>
                <a:srgbClr val="CC0066"/>
              </a:buClr>
              <a:buSzPct val="78571"/>
              <a:buFont typeface="Segoe UI Symbol"/>
              <a:buChar char="□"/>
              <a:tabLst>
                <a:tab pos="646699" algn="l"/>
              </a:tabLst>
            </a:pPr>
            <a:r>
              <a:rPr sz="2394" dirty="0">
                <a:latin typeface="Arial"/>
                <a:cs typeface="Arial"/>
              </a:rPr>
              <a:t>Began</a:t>
            </a:r>
            <a:r>
              <a:rPr sz="2394" spc="-56" dirty="0">
                <a:latin typeface="Arial"/>
                <a:cs typeface="Arial"/>
              </a:rPr>
              <a:t> </a:t>
            </a:r>
            <a:r>
              <a:rPr sz="2394" dirty="0">
                <a:latin typeface="Arial"/>
                <a:cs typeface="Arial"/>
              </a:rPr>
              <a:t>translating</a:t>
            </a:r>
            <a:r>
              <a:rPr sz="2394" spc="-56" dirty="0">
                <a:latin typeface="Arial"/>
                <a:cs typeface="Arial"/>
              </a:rPr>
              <a:t> </a:t>
            </a:r>
            <a:r>
              <a:rPr sz="2394" dirty="0">
                <a:latin typeface="Arial"/>
                <a:cs typeface="Arial"/>
              </a:rPr>
              <a:t>the</a:t>
            </a:r>
            <a:r>
              <a:rPr sz="2394" spc="-9" dirty="0">
                <a:latin typeface="Arial"/>
                <a:cs typeface="Arial"/>
              </a:rPr>
              <a:t> </a:t>
            </a:r>
            <a:r>
              <a:rPr sz="2394" dirty="0">
                <a:latin typeface="Arial"/>
                <a:cs typeface="Arial"/>
              </a:rPr>
              <a:t>WebStore</a:t>
            </a:r>
            <a:r>
              <a:rPr sz="2394" spc="-60" dirty="0">
                <a:latin typeface="Arial"/>
                <a:cs typeface="Arial"/>
              </a:rPr>
              <a:t> </a:t>
            </a:r>
            <a:r>
              <a:rPr sz="2394" spc="-9" dirty="0">
                <a:latin typeface="Arial"/>
                <a:cs typeface="Arial"/>
              </a:rPr>
              <a:t>system 	</a:t>
            </a:r>
            <a:r>
              <a:rPr sz="2394" dirty="0">
                <a:latin typeface="Arial"/>
                <a:cs typeface="Arial"/>
              </a:rPr>
              <a:t>structure</a:t>
            </a:r>
            <a:r>
              <a:rPr sz="2394" spc="-103" dirty="0">
                <a:latin typeface="Arial"/>
                <a:cs typeface="Arial"/>
              </a:rPr>
              <a:t> </a:t>
            </a:r>
            <a:r>
              <a:rPr sz="2394" dirty="0">
                <a:latin typeface="Arial"/>
                <a:cs typeface="Arial"/>
              </a:rPr>
              <a:t>into</a:t>
            </a:r>
            <a:r>
              <a:rPr sz="2394" spc="-13" dirty="0">
                <a:latin typeface="Arial"/>
                <a:cs typeface="Arial"/>
              </a:rPr>
              <a:t> </a:t>
            </a:r>
            <a:r>
              <a:rPr sz="2394" dirty="0">
                <a:latin typeface="Arial"/>
                <a:cs typeface="Arial"/>
              </a:rPr>
              <a:t>data</a:t>
            </a:r>
            <a:r>
              <a:rPr sz="2394" spc="-13" dirty="0">
                <a:latin typeface="Arial"/>
                <a:cs typeface="Arial"/>
              </a:rPr>
              <a:t> </a:t>
            </a:r>
            <a:r>
              <a:rPr sz="2394" dirty="0">
                <a:latin typeface="Arial"/>
                <a:cs typeface="Arial"/>
              </a:rPr>
              <a:t>flow</a:t>
            </a:r>
            <a:r>
              <a:rPr sz="2394" spc="-9" dirty="0">
                <a:latin typeface="Arial"/>
                <a:cs typeface="Arial"/>
              </a:rPr>
              <a:t> diagrams</a:t>
            </a:r>
            <a:endParaRPr sz="2394">
              <a:latin typeface="Arial"/>
              <a:cs typeface="Arial"/>
            </a:endParaRPr>
          </a:p>
          <a:p>
            <a:pPr marL="987696" lvl="2" indent="-194933">
              <a:spcBef>
                <a:spcPts val="509"/>
              </a:spcBef>
              <a:buClr>
                <a:srgbClr val="3399FF"/>
              </a:buClr>
              <a:buSzPct val="64583"/>
              <a:buFont typeface="Segoe UI Symbol"/>
              <a:buChar char="■"/>
              <a:tabLst>
                <a:tab pos="987696" algn="l"/>
              </a:tabLst>
            </a:pPr>
            <a:r>
              <a:rPr sz="2052" dirty="0">
                <a:latin typeface="Arial"/>
                <a:cs typeface="Arial"/>
              </a:rPr>
              <a:t>Identified</a:t>
            </a:r>
            <a:r>
              <a:rPr sz="2052" spc="-73" dirty="0">
                <a:latin typeface="Arial"/>
                <a:cs typeface="Arial"/>
              </a:rPr>
              <a:t> </a:t>
            </a:r>
            <a:r>
              <a:rPr sz="2052" dirty="0">
                <a:latin typeface="Arial"/>
                <a:cs typeface="Arial"/>
              </a:rPr>
              <a:t>six</a:t>
            </a:r>
            <a:r>
              <a:rPr sz="2052" spc="-21" dirty="0">
                <a:latin typeface="Arial"/>
                <a:cs typeface="Arial"/>
              </a:rPr>
              <a:t> high-</a:t>
            </a:r>
            <a:r>
              <a:rPr sz="2052" dirty="0">
                <a:latin typeface="Arial"/>
                <a:cs typeface="Arial"/>
              </a:rPr>
              <a:t>level</a:t>
            </a:r>
            <a:r>
              <a:rPr sz="2052" spc="-26" dirty="0">
                <a:latin typeface="Arial"/>
                <a:cs typeface="Arial"/>
              </a:rPr>
              <a:t> </a:t>
            </a:r>
            <a:r>
              <a:rPr sz="2052" spc="-9" dirty="0">
                <a:latin typeface="Arial"/>
                <a:cs typeface="Arial"/>
              </a:rPr>
              <a:t>processes</a:t>
            </a:r>
            <a:endParaRPr sz="2052">
              <a:latin typeface="Arial"/>
              <a:cs typeface="Arial"/>
            </a:endParaRP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563" y="-50115"/>
            <a:ext cx="8073037" cy="2249128"/>
          </a:xfrm>
          <a:prstGeom prst="rect">
            <a:avLst/>
          </a:prstGeom>
        </p:spPr>
        <p:txBody>
          <a:bodyPr vert="horz" wrap="square" lIns="0" tIns="215696" rIns="0" bIns="0" rtlCol="0" anchor="ctr">
            <a:spAutoFit/>
          </a:bodyPr>
          <a:lstStyle/>
          <a:p>
            <a:pPr marL="10860" marR="4344">
              <a:lnSpc>
                <a:spcPct val="100000"/>
              </a:lnSpc>
              <a:spcBef>
                <a:spcPts val="77"/>
              </a:spcBef>
            </a:pPr>
            <a:r>
              <a:rPr dirty="0"/>
              <a:t>Electronic</a:t>
            </a:r>
            <a:r>
              <a:rPr spc="-107" dirty="0"/>
              <a:t> </a:t>
            </a:r>
            <a:r>
              <a:rPr spc="-9" dirty="0"/>
              <a:t>Commerce</a:t>
            </a:r>
            <a:r>
              <a:rPr spc="-103" dirty="0"/>
              <a:t> </a:t>
            </a:r>
            <a:r>
              <a:rPr dirty="0"/>
              <a:t>Application:</a:t>
            </a:r>
            <a:r>
              <a:rPr spc="-162" dirty="0"/>
              <a:t> </a:t>
            </a:r>
            <a:r>
              <a:rPr spc="-9" dirty="0"/>
              <a:t>Process </a:t>
            </a:r>
            <a:r>
              <a:rPr dirty="0"/>
              <a:t>Modeling</a:t>
            </a:r>
            <a:r>
              <a:rPr spc="-128" dirty="0"/>
              <a:t> </a:t>
            </a:r>
            <a:r>
              <a:rPr dirty="0"/>
              <a:t>using</a:t>
            </a:r>
            <a:r>
              <a:rPr spc="-81" dirty="0"/>
              <a:t> </a:t>
            </a:r>
            <a:r>
              <a:rPr dirty="0"/>
              <a:t>Data</a:t>
            </a:r>
            <a:r>
              <a:rPr spc="-77" dirty="0"/>
              <a:t> </a:t>
            </a:r>
            <a:r>
              <a:rPr dirty="0"/>
              <a:t>Flow</a:t>
            </a:r>
            <a:r>
              <a:rPr spc="-77" dirty="0"/>
              <a:t> </a:t>
            </a:r>
            <a:r>
              <a:rPr dirty="0"/>
              <a:t>Diagrams</a:t>
            </a:r>
            <a:r>
              <a:rPr spc="-77" dirty="0"/>
              <a:t> </a:t>
            </a:r>
            <a:r>
              <a:rPr spc="-9" dirty="0"/>
              <a:t>(Cont.)</a:t>
            </a:r>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47</a:t>
            </a:fld>
            <a:endParaRPr spc="-21" dirty="0"/>
          </a:p>
        </p:txBody>
      </p:sp>
      <p:pic>
        <p:nvPicPr>
          <p:cNvPr id="6" name="Picture 5">
            <a:extLst>
              <a:ext uri="{FF2B5EF4-FFF2-40B4-BE49-F238E27FC236}">
                <a16:creationId xmlns:a16="http://schemas.microsoft.com/office/drawing/2014/main" id="{1A6B1784-440B-11BC-2317-E06892E699D3}"/>
              </a:ext>
            </a:extLst>
          </p:cNvPr>
          <p:cNvPicPr>
            <a:picLocks noChangeAspect="1"/>
          </p:cNvPicPr>
          <p:nvPr/>
        </p:nvPicPr>
        <p:blipFill>
          <a:blip r:embed="rId2"/>
          <a:stretch>
            <a:fillRect/>
          </a:stretch>
        </p:blipFill>
        <p:spPr>
          <a:xfrm>
            <a:off x="1676400" y="2993165"/>
            <a:ext cx="6781800" cy="3562350"/>
          </a:xfrm>
          <a:prstGeom prst="rect">
            <a:avLst/>
          </a:prstGeom>
        </p:spPr>
      </p:pic>
      <p:sp>
        <p:nvSpPr>
          <p:cNvPr id="8" name="TextBox 7">
            <a:extLst>
              <a:ext uri="{FF2B5EF4-FFF2-40B4-BE49-F238E27FC236}">
                <a16:creationId xmlns:a16="http://schemas.microsoft.com/office/drawing/2014/main" id="{7755A605-216C-74FB-9F3D-86520DED7FD7}"/>
              </a:ext>
            </a:extLst>
          </p:cNvPr>
          <p:cNvSpPr txBox="1"/>
          <p:nvPr/>
        </p:nvSpPr>
        <p:spPr>
          <a:xfrm>
            <a:off x="2286000" y="2214401"/>
            <a:ext cx="6629400" cy="646331"/>
          </a:xfrm>
          <a:prstGeom prst="rect">
            <a:avLst/>
          </a:prstGeom>
          <a:noFill/>
        </p:spPr>
        <p:txBody>
          <a:bodyPr wrap="square">
            <a:spAutoFit/>
          </a:bodyPr>
          <a:lstStyle/>
          <a:p>
            <a:r>
              <a:rPr lang="en-US" sz="1800" b="1" i="0" u="none" strike="noStrike" baseline="0" dirty="0">
                <a:solidFill>
                  <a:srgbClr val="8026FF"/>
                </a:solidFill>
                <a:latin typeface="FuturaLTPro-BoldCond"/>
              </a:rPr>
              <a:t>Table 3 </a:t>
            </a:r>
            <a:r>
              <a:rPr lang="en-US" sz="1800" b="1" i="0" u="none" strike="noStrike" baseline="0" dirty="0">
                <a:solidFill>
                  <a:srgbClr val="000000"/>
                </a:solidFill>
                <a:latin typeface="FuturaLTPro-BoldCond"/>
              </a:rPr>
              <a:t>System Structure of the </a:t>
            </a:r>
            <a:r>
              <a:rPr lang="en-US" sz="1800" b="1" i="0" u="none" strike="noStrike" baseline="0" dirty="0" err="1">
                <a:solidFill>
                  <a:srgbClr val="000000"/>
                </a:solidFill>
                <a:latin typeface="FuturaLTPro-BoldCond"/>
              </a:rPr>
              <a:t>WebStore</a:t>
            </a:r>
            <a:r>
              <a:rPr lang="en-US" sz="1800" b="1" i="0" u="none" strike="noStrike" baseline="0" dirty="0">
                <a:solidFill>
                  <a:srgbClr val="000000"/>
                </a:solidFill>
                <a:latin typeface="FuturaLTPro-BoldCond"/>
              </a:rPr>
              <a:t> and Corresponding level-0 Processes</a:t>
            </a:r>
            <a:endParaRPr lang="en-MY" dirty="0"/>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Freeform: Shape 3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Freeform: Shape 3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bject 3"/>
          <p:cNvSpPr txBox="1">
            <a:spLocks noGrp="1"/>
          </p:cNvSpPr>
          <p:nvPr>
            <p:ph type="title"/>
          </p:nvPr>
        </p:nvSpPr>
        <p:spPr>
          <a:xfrm>
            <a:off x="278320" y="1161288"/>
            <a:ext cx="2578608" cy="1239012"/>
          </a:xfrm>
          <a:prstGeom prst="rect">
            <a:avLst/>
          </a:prstGeom>
        </p:spPr>
        <p:txBody>
          <a:bodyPr vert="horz" lIns="91440" tIns="45720" rIns="91440" bIns="45720" rtlCol="0" anchor="ctr">
            <a:normAutofit/>
          </a:bodyPr>
          <a:lstStyle/>
          <a:p>
            <a:pPr marL="10860" marR="4344"/>
            <a:r>
              <a:rPr lang="en-US" sz="2000" kern="1200">
                <a:solidFill>
                  <a:schemeClr val="tx1"/>
                </a:solidFill>
                <a:latin typeface="+mj-lt"/>
                <a:ea typeface="+mj-ea"/>
                <a:cs typeface="+mj-cs"/>
              </a:rPr>
              <a:t>Electronic</a:t>
            </a:r>
            <a:r>
              <a:rPr lang="en-US" sz="2000" kern="1200" spc="-107">
                <a:solidFill>
                  <a:schemeClr val="tx1"/>
                </a:solidFill>
                <a:latin typeface="+mj-lt"/>
                <a:ea typeface="+mj-ea"/>
                <a:cs typeface="+mj-cs"/>
              </a:rPr>
              <a:t> </a:t>
            </a:r>
            <a:r>
              <a:rPr lang="en-US" sz="2000" kern="1200" spc="-9">
                <a:solidFill>
                  <a:schemeClr val="tx1"/>
                </a:solidFill>
                <a:latin typeface="+mj-lt"/>
                <a:ea typeface="+mj-ea"/>
                <a:cs typeface="+mj-cs"/>
              </a:rPr>
              <a:t>Commerce</a:t>
            </a:r>
            <a:r>
              <a:rPr lang="en-US" sz="2000" kern="1200" spc="-103">
                <a:solidFill>
                  <a:schemeClr val="tx1"/>
                </a:solidFill>
                <a:latin typeface="+mj-lt"/>
                <a:ea typeface="+mj-ea"/>
                <a:cs typeface="+mj-cs"/>
              </a:rPr>
              <a:t> </a:t>
            </a:r>
            <a:r>
              <a:rPr lang="en-US" sz="2000" kern="1200">
                <a:solidFill>
                  <a:schemeClr val="tx1"/>
                </a:solidFill>
                <a:latin typeface="+mj-lt"/>
                <a:ea typeface="+mj-ea"/>
                <a:cs typeface="+mj-cs"/>
              </a:rPr>
              <a:t>Application:</a:t>
            </a:r>
            <a:r>
              <a:rPr lang="en-US" sz="2000" kern="1200" spc="-162">
                <a:solidFill>
                  <a:schemeClr val="tx1"/>
                </a:solidFill>
                <a:latin typeface="+mj-lt"/>
                <a:ea typeface="+mj-ea"/>
                <a:cs typeface="+mj-cs"/>
              </a:rPr>
              <a:t> </a:t>
            </a:r>
            <a:r>
              <a:rPr lang="en-US" sz="2000" kern="1200" spc="-9">
                <a:solidFill>
                  <a:schemeClr val="tx1"/>
                </a:solidFill>
                <a:latin typeface="+mj-lt"/>
                <a:ea typeface="+mj-ea"/>
                <a:cs typeface="+mj-cs"/>
              </a:rPr>
              <a:t>Process </a:t>
            </a:r>
            <a:r>
              <a:rPr lang="en-US" sz="2000" kern="1200">
                <a:solidFill>
                  <a:schemeClr val="tx1"/>
                </a:solidFill>
                <a:latin typeface="+mj-lt"/>
                <a:ea typeface="+mj-ea"/>
                <a:cs typeface="+mj-cs"/>
              </a:rPr>
              <a:t>Modeling</a:t>
            </a:r>
            <a:r>
              <a:rPr lang="en-US" sz="2000" kern="1200" spc="-133">
                <a:solidFill>
                  <a:schemeClr val="tx1"/>
                </a:solidFill>
                <a:latin typeface="+mj-lt"/>
                <a:ea typeface="+mj-ea"/>
                <a:cs typeface="+mj-cs"/>
              </a:rPr>
              <a:t> </a:t>
            </a:r>
            <a:r>
              <a:rPr lang="en-US" sz="2000" kern="1200">
                <a:solidFill>
                  <a:schemeClr val="tx1"/>
                </a:solidFill>
                <a:latin typeface="+mj-lt"/>
                <a:ea typeface="+mj-ea"/>
                <a:cs typeface="+mj-cs"/>
              </a:rPr>
              <a:t>using</a:t>
            </a:r>
            <a:r>
              <a:rPr lang="en-US" sz="2000" kern="1200" spc="-77">
                <a:solidFill>
                  <a:schemeClr val="tx1"/>
                </a:solidFill>
                <a:latin typeface="+mj-lt"/>
                <a:ea typeface="+mj-ea"/>
                <a:cs typeface="+mj-cs"/>
              </a:rPr>
              <a:t> </a:t>
            </a:r>
            <a:r>
              <a:rPr lang="en-US" sz="2000" kern="1200">
                <a:solidFill>
                  <a:schemeClr val="tx1"/>
                </a:solidFill>
                <a:latin typeface="+mj-lt"/>
                <a:ea typeface="+mj-ea"/>
                <a:cs typeface="+mj-cs"/>
              </a:rPr>
              <a:t>Data</a:t>
            </a:r>
            <a:r>
              <a:rPr lang="en-US" sz="2000" kern="1200" spc="-77">
                <a:solidFill>
                  <a:schemeClr val="tx1"/>
                </a:solidFill>
                <a:latin typeface="+mj-lt"/>
                <a:ea typeface="+mj-ea"/>
                <a:cs typeface="+mj-cs"/>
              </a:rPr>
              <a:t> </a:t>
            </a:r>
            <a:r>
              <a:rPr lang="en-US" sz="2000" kern="1200">
                <a:solidFill>
                  <a:schemeClr val="tx1"/>
                </a:solidFill>
                <a:latin typeface="+mj-lt"/>
                <a:ea typeface="+mj-ea"/>
                <a:cs typeface="+mj-cs"/>
              </a:rPr>
              <a:t>Flow</a:t>
            </a:r>
            <a:r>
              <a:rPr lang="en-US" sz="2000" kern="1200" spc="-81">
                <a:solidFill>
                  <a:schemeClr val="tx1"/>
                </a:solidFill>
                <a:latin typeface="+mj-lt"/>
                <a:ea typeface="+mj-ea"/>
                <a:cs typeface="+mj-cs"/>
              </a:rPr>
              <a:t> </a:t>
            </a:r>
            <a:r>
              <a:rPr lang="en-US" sz="2000" kern="1200" spc="-9">
                <a:solidFill>
                  <a:schemeClr val="tx1"/>
                </a:solidFill>
                <a:latin typeface="+mj-lt"/>
                <a:ea typeface="+mj-ea"/>
                <a:cs typeface="+mj-cs"/>
              </a:rPr>
              <a:t>Diagrams</a:t>
            </a:r>
          </a:p>
        </p:txBody>
      </p:sp>
      <p:sp>
        <p:nvSpPr>
          <p:cNvPr id="35" name="Rectangle 3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bject 4"/>
          <p:cNvSpPr txBox="1"/>
          <p:nvPr/>
        </p:nvSpPr>
        <p:spPr>
          <a:xfrm>
            <a:off x="278320" y="2718054"/>
            <a:ext cx="2579180" cy="3207258"/>
          </a:xfrm>
          <a:prstGeom prst="rect">
            <a:avLst/>
          </a:prstGeom>
        </p:spPr>
        <p:txBody>
          <a:bodyPr vert="horz" lIns="91440" tIns="45720" rIns="91440" bIns="45720" rtlCol="0" anchor="t">
            <a:normAutofit/>
          </a:bodyPr>
          <a:lstStyle/>
          <a:p>
            <a:pPr>
              <a:lnSpc>
                <a:spcPct val="90000"/>
              </a:lnSpc>
              <a:spcBef>
                <a:spcPts val="1000"/>
              </a:spcBef>
            </a:pPr>
            <a:r>
              <a:rPr lang="en-US" sz="1500" b="1" dirty="0">
                <a:latin typeface="+mn-lt"/>
                <a:cs typeface="+mn-cs"/>
              </a:rPr>
              <a:t>FIGURE 12</a:t>
            </a:r>
            <a:endParaRPr lang="en-US" sz="1500" dirty="0">
              <a:latin typeface="+mn-lt"/>
              <a:cs typeface="+mn-cs"/>
            </a:endParaRPr>
          </a:p>
          <a:p>
            <a:pPr marR="4344" indent="-228600">
              <a:lnSpc>
                <a:spcPct val="90000"/>
              </a:lnSpc>
              <a:spcBef>
                <a:spcPts val="1000"/>
              </a:spcBef>
              <a:buFont typeface="Arial" panose="020B0604020202020204" pitchFamily="34" charset="0"/>
              <a:buChar char="•"/>
            </a:pPr>
            <a:r>
              <a:rPr lang="en-US" sz="1500" dirty="0">
                <a:latin typeface="+mn-lt"/>
                <a:cs typeface="+mn-cs"/>
              </a:rPr>
              <a:t>Level-0</a:t>
            </a:r>
            <a:r>
              <a:rPr lang="en-US" sz="1500" spc="-17" dirty="0">
                <a:latin typeface="+mn-lt"/>
                <a:cs typeface="+mn-cs"/>
              </a:rPr>
              <a:t> </a:t>
            </a:r>
            <a:r>
              <a:rPr lang="en-US" sz="1500" dirty="0">
                <a:latin typeface="+mn-lt"/>
                <a:cs typeface="+mn-cs"/>
              </a:rPr>
              <a:t>data</a:t>
            </a:r>
            <a:r>
              <a:rPr lang="en-US" sz="1500" spc="-38" dirty="0">
                <a:latin typeface="+mn-lt"/>
                <a:cs typeface="+mn-cs"/>
              </a:rPr>
              <a:t> </a:t>
            </a:r>
            <a:r>
              <a:rPr lang="en-US" sz="1500" spc="-17" dirty="0">
                <a:latin typeface="+mn-lt"/>
                <a:cs typeface="+mn-cs"/>
              </a:rPr>
              <a:t>flow </a:t>
            </a:r>
            <a:r>
              <a:rPr lang="en-US" sz="1500" dirty="0">
                <a:latin typeface="+mn-lt"/>
                <a:cs typeface="+mn-cs"/>
              </a:rPr>
              <a:t>diagram</a:t>
            </a:r>
            <a:r>
              <a:rPr lang="en-US" sz="1500" spc="-38" dirty="0">
                <a:latin typeface="+mn-lt"/>
                <a:cs typeface="+mn-cs"/>
              </a:rPr>
              <a:t> </a:t>
            </a:r>
            <a:r>
              <a:rPr lang="en-US" sz="1500" dirty="0">
                <a:latin typeface="+mn-lt"/>
                <a:cs typeface="+mn-cs"/>
              </a:rPr>
              <a:t>for</a:t>
            </a:r>
            <a:r>
              <a:rPr lang="en-US" sz="1500" spc="9" dirty="0">
                <a:latin typeface="+mn-lt"/>
                <a:cs typeface="+mn-cs"/>
              </a:rPr>
              <a:t> </a:t>
            </a:r>
            <a:r>
              <a:rPr lang="en-US" sz="1500" spc="-21" dirty="0">
                <a:latin typeface="+mn-lt"/>
                <a:cs typeface="+mn-cs"/>
              </a:rPr>
              <a:t>the </a:t>
            </a:r>
            <a:r>
              <a:rPr lang="en-US" sz="1500" spc="-9" dirty="0" err="1">
                <a:latin typeface="+mn-lt"/>
                <a:cs typeface="+mn-cs"/>
              </a:rPr>
              <a:t>WebStore</a:t>
            </a:r>
            <a:endParaRPr lang="en-US" sz="1500" dirty="0">
              <a:latin typeface="+mn-lt"/>
              <a:cs typeface="+mn-cs"/>
            </a:endParaRPr>
          </a:p>
        </p:txBody>
      </p:sp>
      <p:pic>
        <p:nvPicPr>
          <p:cNvPr id="9" name="Picture 8">
            <a:extLst>
              <a:ext uri="{FF2B5EF4-FFF2-40B4-BE49-F238E27FC236}">
                <a16:creationId xmlns:a16="http://schemas.microsoft.com/office/drawing/2014/main" id="{46292271-FBC2-5DDC-799F-1B9080272B95}"/>
              </a:ext>
            </a:extLst>
          </p:cNvPr>
          <p:cNvPicPr>
            <a:picLocks noChangeAspect="1"/>
          </p:cNvPicPr>
          <p:nvPr/>
        </p:nvPicPr>
        <p:blipFill>
          <a:blip r:embed="rId2"/>
          <a:stretch>
            <a:fillRect/>
          </a:stretch>
        </p:blipFill>
        <p:spPr>
          <a:xfrm>
            <a:off x="3341754" y="705203"/>
            <a:ext cx="5523926" cy="5220110"/>
          </a:xfrm>
          <a:prstGeom prst="rect">
            <a:avLst/>
          </a:prstGeom>
        </p:spPr>
      </p:pic>
      <p:sp>
        <p:nvSpPr>
          <p:cNvPr id="5" name="object 5"/>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48</a:t>
            </a:fld>
            <a:endParaRPr spc="-21" dirty="0"/>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0302" y="1164954"/>
            <a:ext cx="2062830" cy="588810"/>
          </a:xfrm>
          <a:prstGeom prst="rect">
            <a:avLst/>
          </a:prstGeom>
        </p:spPr>
        <p:txBody>
          <a:bodyPr vert="horz" wrap="square" lIns="0" tIns="9774" rIns="0" bIns="0" rtlCol="0" anchor="ctr">
            <a:spAutoFit/>
          </a:bodyPr>
          <a:lstStyle/>
          <a:p>
            <a:pPr marL="10860">
              <a:lnSpc>
                <a:spcPct val="100000"/>
              </a:lnSpc>
              <a:spcBef>
                <a:spcPts val="77"/>
              </a:spcBef>
            </a:pPr>
            <a:r>
              <a:rPr sz="3762" spc="-9" dirty="0"/>
              <a:t>Summary</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49</a:t>
            </a:fld>
            <a:endParaRPr spc="-21" dirty="0"/>
          </a:p>
        </p:txBody>
      </p:sp>
      <p:sp>
        <p:nvSpPr>
          <p:cNvPr id="3" name="object 3"/>
          <p:cNvSpPr txBox="1"/>
          <p:nvPr/>
        </p:nvSpPr>
        <p:spPr>
          <a:xfrm>
            <a:off x="1250579" y="1933105"/>
            <a:ext cx="6413832" cy="2954564"/>
          </a:xfrm>
          <a:prstGeom prst="rect">
            <a:avLst/>
          </a:prstGeom>
        </p:spPr>
        <p:txBody>
          <a:bodyPr vert="horz" wrap="square" lIns="0" tIns="91223" rIns="0" bIns="0" rtlCol="0">
            <a:spAutoFit/>
          </a:bodyPr>
          <a:lstStyle/>
          <a:p>
            <a:pPr marL="305160" indent="-294300">
              <a:spcBef>
                <a:spcPts val="718"/>
              </a:spcBef>
              <a:buClr>
                <a:srgbClr val="3399FF"/>
              </a:buClr>
              <a:buSzPct val="75000"/>
              <a:buFont typeface="Segoe UI Symbol"/>
              <a:buChar char="■"/>
              <a:tabLst>
                <a:tab pos="305160" algn="l"/>
              </a:tabLst>
            </a:pPr>
            <a:r>
              <a:rPr sz="2736" dirty="0">
                <a:latin typeface="Arial"/>
                <a:cs typeface="Arial"/>
              </a:rPr>
              <a:t>In</a:t>
            </a:r>
            <a:r>
              <a:rPr sz="2736" spc="-47" dirty="0">
                <a:latin typeface="Arial"/>
                <a:cs typeface="Arial"/>
              </a:rPr>
              <a:t> </a:t>
            </a:r>
            <a:r>
              <a:rPr sz="2736" dirty="0">
                <a:latin typeface="Arial"/>
                <a:cs typeface="Arial"/>
              </a:rPr>
              <a:t>this</a:t>
            </a:r>
            <a:r>
              <a:rPr sz="2736" spc="-47" dirty="0">
                <a:latin typeface="Arial"/>
                <a:cs typeface="Arial"/>
              </a:rPr>
              <a:t> </a:t>
            </a:r>
            <a:r>
              <a:rPr sz="2736" dirty="0">
                <a:latin typeface="Arial"/>
                <a:cs typeface="Arial"/>
              </a:rPr>
              <a:t>chapter</a:t>
            </a:r>
            <a:r>
              <a:rPr sz="2736" spc="-47" dirty="0">
                <a:latin typeface="Arial"/>
                <a:cs typeface="Arial"/>
              </a:rPr>
              <a:t> </a:t>
            </a:r>
            <a:r>
              <a:rPr sz="2736" dirty="0">
                <a:latin typeface="Arial"/>
                <a:cs typeface="Arial"/>
              </a:rPr>
              <a:t>you</a:t>
            </a:r>
            <a:r>
              <a:rPr sz="2736" spc="-47" dirty="0">
                <a:latin typeface="Arial"/>
                <a:cs typeface="Arial"/>
              </a:rPr>
              <a:t> </a:t>
            </a:r>
            <a:r>
              <a:rPr sz="2736" dirty="0">
                <a:latin typeface="Arial"/>
                <a:cs typeface="Arial"/>
              </a:rPr>
              <a:t>learned</a:t>
            </a:r>
            <a:r>
              <a:rPr sz="2736" spc="-43" dirty="0">
                <a:latin typeface="Arial"/>
                <a:cs typeface="Arial"/>
              </a:rPr>
              <a:t> </a:t>
            </a:r>
            <a:r>
              <a:rPr sz="2736" dirty="0">
                <a:latin typeface="Arial"/>
                <a:cs typeface="Arial"/>
              </a:rPr>
              <a:t>how</a:t>
            </a:r>
            <a:r>
              <a:rPr sz="2736" spc="-47" dirty="0">
                <a:latin typeface="Arial"/>
                <a:cs typeface="Arial"/>
              </a:rPr>
              <a:t> </a:t>
            </a:r>
            <a:r>
              <a:rPr sz="2736" spc="-21" dirty="0">
                <a:latin typeface="Arial"/>
                <a:cs typeface="Arial"/>
              </a:rPr>
              <a:t>to:</a:t>
            </a:r>
            <a:endParaRPr sz="2736">
              <a:latin typeface="Arial"/>
              <a:cs typeface="Arial"/>
            </a:endParaRPr>
          </a:p>
          <a:p>
            <a:pPr marL="645070" marR="292128" lvl="1" indent="-243802">
              <a:spcBef>
                <a:spcPts val="564"/>
              </a:spcBef>
              <a:buClr>
                <a:srgbClr val="BA2212"/>
              </a:buClr>
              <a:buSzPct val="78571"/>
              <a:buFont typeface="Segoe UI Symbol"/>
              <a:buChar char="✓"/>
              <a:tabLst>
                <a:tab pos="646699" algn="l"/>
              </a:tabLst>
            </a:pPr>
            <a:r>
              <a:rPr sz="2394" dirty="0">
                <a:latin typeface="Arial"/>
                <a:cs typeface="Arial"/>
              </a:rPr>
              <a:t>Understand</a:t>
            </a:r>
            <a:r>
              <a:rPr sz="2394" spc="-64" dirty="0">
                <a:latin typeface="Arial"/>
                <a:cs typeface="Arial"/>
              </a:rPr>
              <a:t> </a:t>
            </a:r>
            <a:r>
              <a:rPr sz="2394" dirty="0">
                <a:latin typeface="Arial"/>
                <a:cs typeface="Arial"/>
              </a:rPr>
              <a:t>logical</a:t>
            </a:r>
            <a:r>
              <a:rPr sz="2394" spc="-60" dirty="0">
                <a:latin typeface="Arial"/>
                <a:cs typeface="Arial"/>
              </a:rPr>
              <a:t> </a:t>
            </a:r>
            <a:r>
              <a:rPr sz="2394" dirty="0">
                <a:latin typeface="Arial"/>
                <a:cs typeface="Arial"/>
              </a:rPr>
              <a:t>process</a:t>
            </a:r>
            <a:r>
              <a:rPr sz="2394" spc="-68" dirty="0">
                <a:latin typeface="Arial"/>
                <a:cs typeface="Arial"/>
              </a:rPr>
              <a:t> </a:t>
            </a:r>
            <a:r>
              <a:rPr sz="2394" dirty="0">
                <a:latin typeface="Arial"/>
                <a:cs typeface="Arial"/>
              </a:rPr>
              <a:t>modeling</a:t>
            </a:r>
            <a:r>
              <a:rPr sz="2394" spc="-64" dirty="0">
                <a:latin typeface="Arial"/>
                <a:cs typeface="Arial"/>
              </a:rPr>
              <a:t> </a:t>
            </a:r>
            <a:r>
              <a:rPr sz="2394" spc="-21" dirty="0">
                <a:latin typeface="Arial"/>
                <a:cs typeface="Arial"/>
              </a:rPr>
              <a:t>via 	</a:t>
            </a:r>
            <a:r>
              <a:rPr sz="2394" dirty="0">
                <a:latin typeface="Arial"/>
                <a:cs typeface="Arial"/>
              </a:rPr>
              <a:t>data</a:t>
            </a:r>
            <a:r>
              <a:rPr sz="2394" spc="-77" dirty="0">
                <a:latin typeface="Arial"/>
                <a:cs typeface="Arial"/>
              </a:rPr>
              <a:t> </a:t>
            </a:r>
            <a:r>
              <a:rPr sz="2394" dirty="0">
                <a:latin typeface="Arial"/>
                <a:cs typeface="Arial"/>
              </a:rPr>
              <a:t>flow</a:t>
            </a:r>
            <a:r>
              <a:rPr sz="2394" spc="-43" dirty="0">
                <a:latin typeface="Arial"/>
                <a:cs typeface="Arial"/>
              </a:rPr>
              <a:t> </a:t>
            </a:r>
            <a:r>
              <a:rPr sz="2394" dirty="0">
                <a:latin typeface="Arial"/>
                <a:cs typeface="Arial"/>
              </a:rPr>
              <a:t>diagrams</a:t>
            </a:r>
            <a:r>
              <a:rPr sz="2394" spc="-43" dirty="0">
                <a:latin typeface="Arial"/>
                <a:cs typeface="Arial"/>
              </a:rPr>
              <a:t> </a:t>
            </a:r>
            <a:r>
              <a:rPr sz="2394" spc="-9" dirty="0">
                <a:latin typeface="Arial"/>
                <a:cs typeface="Arial"/>
              </a:rPr>
              <a:t>(DFDs).</a:t>
            </a:r>
            <a:endParaRPr sz="2394">
              <a:latin typeface="Arial"/>
              <a:cs typeface="Arial"/>
            </a:endParaRPr>
          </a:p>
          <a:p>
            <a:pPr marL="645070" marR="4887" lvl="1" indent="-243802">
              <a:spcBef>
                <a:spcPts val="577"/>
              </a:spcBef>
              <a:buClr>
                <a:srgbClr val="BA2212"/>
              </a:buClr>
              <a:buSzPct val="78571"/>
              <a:buFont typeface="Segoe UI Symbol"/>
              <a:buChar char="✓"/>
              <a:tabLst>
                <a:tab pos="646699" algn="l"/>
              </a:tabLst>
            </a:pPr>
            <a:r>
              <a:rPr sz="2394" dirty="0">
                <a:latin typeface="Arial"/>
                <a:cs typeface="Arial"/>
              </a:rPr>
              <a:t>Draw</a:t>
            </a:r>
            <a:r>
              <a:rPr sz="2394" spc="-38" dirty="0">
                <a:latin typeface="Arial"/>
                <a:cs typeface="Arial"/>
              </a:rPr>
              <a:t> </a:t>
            </a:r>
            <a:r>
              <a:rPr sz="2394" dirty="0">
                <a:latin typeface="Arial"/>
                <a:cs typeface="Arial"/>
              </a:rPr>
              <a:t>data</a:t>
            </a:r>
            <a:r>
              <a:rPr sz="2394" spc="-38" dirty="0">
                <a:latin typeface="Arial"/>
                <a:cs typeface="Arial"/>
              </a:rPr>
              <a:t> </a:t>
            </a:r>
            <a:r>
              <a:rPr sz="2394" dirty="0">
                <a:latin typeface="Arial"/>
                <a:cs typeface="Arial"/>
              </a:rPr>
              <a:t>flow</a:t>
            </a:r>
            <a:r>
              <a:rPr sz="2394" spc="-38" dirty="0">
                <a:latin typeface="Arial"/>
                <a:cs typeface="Arial"/>
              </a:rPr>
              <a:t> </a:t>
            </a:r>
            <a:r>
              <a:rPr sz="2394" dirty="0">
                <a:latin typeface="Arial"/>
                <a:cs typeface="Arial"/>
              </a:rPr>
              <a:t>diagrams</a:t>
            </a:r>
            <a:r>
              <a:rPr sz="2394" spc="-38" dirty="0">
                <a:latin typeface="Arial"/>
                <a:cs typeface="Arial"/>
              </a:rPr>
              <a:t> </a:t>
            </a:r>
            <a:r>
              <a:rPr sz="2394" dirty="0">
                <a:latin typeface="Arial"/>
                <a:cs typeface="Arial"/>
              </a:rPr>
              <a:t>of</a:t>
            </a:r>
            <a:r>
              <a:rPr sz="2394" spc="-38" dirty="0">
                <a:latin typeface="Arial"/>
                <a:cs typeface="Arial"/>
              </a:rPr>
              <a:t> </a:t>
            </a:r>
            <a:r>
              <a:rPr sz="2394" spc="-13" dirty="0">
                <a:latin typeface="Arial"/>
                <a:cs typeface="Arial"/>
              </a:rPr>
              <a:t>well-</a:t>
            </a:r>
            <a:r>
              <a:rPr sz="2394" spc="-9" dirty="0">
                <a:latin typeface="Arial"/>
                <a:cs typeface="Arial"/>
              </a:rPr>
              <a:t>structured 	</a:t>
            </a:r>
            <a:r>
              <a:rPr sz="2394" dirty="0">
                <a:latin typeface="Arial"/>
                <a:cs typeface="Arial"/>
              </a:rPr>
              <a:t>process </a:t>
            </a:r>
            <a:r>
              <a:rPr sz="2394" spc="-9" dirty="0">
                <a:latin typeface="Arial"/>
                <a:cs typeface="Arial"/>
              </a:rPr>
              <a:t>models.</a:t>
            </a:r>
            <a:endParaRPr sz="2394">
              <a:latin typeface="Arial"/>
              <a:cs typeface="Arial"/>
            </a:endParaRPr>
          </a:p>
          <a:p>
            <a:pPr marL="645070" marR="4344" lvl="1" indent="-243802">
              <a:spcBef>
                <a:spcPts val="573"/>
              </a:spcBef>
              <a:buClr>
                <a:srgbClr val="BA2212"/>
              </a:buClr>
              <a:buSzPct val="78571"/>
              <a:buFont typeface="Segoe UI Symbol"/>
              <a:buChar char="✓"/>
              <a:tabLst>
                <a:tab pos="646699" algn="l"/>
              </a:tabLst>
            </a:pPr>
            <a:r>
              <a:rPr sz="2394" dirty="0">
                <a:latin typeface="Arial"/>
                <a:cs typeface="Arial"/>
              </a:rPr>
              <a:t>Decompose</a:t>
            </a:r>
            <a:r>
              <a:rPr sz="2394" spc="-47" dirty="0">
                <a:latin typeface="Arial"/>
                <a:cs typeface="Arial"/>
              </a:rPr>
              <a:t> </a:t>
            </a:r>
            <a:r>
              <a:rPr sz="2394" dirty="0">
                <a:latin typeface="Arial"/>
                <a:cs typeface="Arial"/>
              </a:rPr>
              <a:t>data</a:t>
            </a:r>
            <a:r>
              <a:rPr sz="2394" spc="-47" dirty="0">
                <a:latin typeface="Arial"/>
                <a:cs typeface="Arial"/>
              </a:rPr>
              <a:t> </a:t>
            </a:r>
            <a:r>
              <a:rPr sz="2394" dirty="0">
                <a:latin typeface="Arial"/>
                <a:cs typeface="Arial"/>
              </a:rPr>
              <a:t>flow</a:t>
            </a:r>
            <a:r>
              <a:rPr sz="2394" spc="-43" dirty="0">
                <a:latin typeface="Arial"/>
                <a:cs typeface="Arial"/>
              </a:rPr>
              <a:t> </a:t>
            </a:r>
            <a:r>
              <a:rPr sz="2394" dirty="0">
                <a:latin typeface="Arial"/>
                <a:cs typeface="Arial"/>
              </a:rPr>
              <a:t>diagrams</a:t>
            </a:r>
            <a:r>
              <a:rPr sz="2394" spc="-47" dirty="0">
                <a:latin typeface="Arial"/>
                <a:cs typeface="Arial"/>
              </a:rPr>
              <a:t> </a:t>
            </a:r>
            <a:r>
              <a:rPr sz="2394" dirty="0">
                <a:latin typeface="Arial"/>
                <a:cs typeface="Arial"/>
              </a:rPr>
              <a:t>into</a:t>
            </a:r>
            <a:r>
              <a:rPr sz="2394" spc="-47" dirty="0">
                <a:latin typeface="Arial"/>
                <a:cs typeface="Arial"/>
              </a:rPr>
              <a:t> </a:t>
            </a:r>
            <a:r>
              <a:rPr sz="2394" spc="-9" dirty="0">
                <a:latin typeface="Arial"/>
                <a:cs typeface="Arial"/>
              </a:rPr>
              <a:t>lower- 	</a:t>
            </a:r>
            <a:r>
              <a:rPr sz="2394" dirty="0">
                <a:latin typeface="Arial"/>
                <a:cs typeface="Arial"/>
              </a:rPr>
              <a:t>level</a:t>
            </a:r>
            <a:r>
              <a:rPr sz="2394" spc="-56" dirty="0">
                <a:latin typeface="Arial"/>
                <a:cs typeface="Arial"/>
              </a:rPr>
              <a:t> </a:t>
            </a:r>
            <a:r>
              <a:rPr sz="2394" spc="-9" dirty="0">
                <a:latin typeface="Arial"/>
                <a:cs typeface="Arial"/>
              </a:rPr>
              <a:t>diagrams.</a:t>
            </a:r>
            <a:endParaRPr sz="2394">
              <a:latin typeface="Arial"/>
              <a:cs typeface="Arial"/>
            </a:endParaRP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0302" y="1164954"/>
            <a:ext cx="3652713" cy="588810"/>
          </a:xfrm>
          <a:prstGeom prst="rect">
            <a:avLst/>
          </a:prstGeom>
        </p:spPr>
        <p:txBody>
          <a:bodyPr vert="horz" wrap="square" lIns="0" tIns="9774" rIns="0" bIns="0" rtlCol="0" anchor="ctr">
            <a:spAutoFit/>
          </a:bodyPr>
          <a:lstStyle/>
          <a:p>
            <a:pPr marL="10860">
              <a:lnSpc>
                <a:spcPct val="100000"/>
              </a:lnSpc>
              <a:spcBef>
                <a:spcPts val="77"/>
              </a:spcBef>
            </a:pPr>
            <a:r>
              <a:rPr sz="3762" dirty="0"/>
              <a:t>Summary</a:t>
            </a:r>
            <a:r>
              <a:rPr sz="3762" spc="-167" dirty="0"/>
              <a:t> </a:t>
            </a:r>
            <a:r>
              <a:rPr sz="3762" spc="-9" dirty="0"/>
              <a:t>(Cont.)</a:t>
            </a:r>
            <a:endParaRPr sz="3762"/>
          </a:p>
        </p:txBody>
      </p:sp>
      <p:sp>
        <p:nvSpPr>
          <p:cNvPr id="4" name="object 4"/>
          <p:cNvSpPr txBox="1">
            <a:spLocks noGrp="1"/>
          </p:cNvSpPr>
          <p:nvPr>
            <p:ph type="sldNum" sz="quarter" idx="7"/>
          </p:nvPr>
        </p:nvSpPr>
        <p:spPr>
          <a:xfrm>
            <a:off x="9155731" y="6790388"/>
            <a:ext cx="267334" cy="240665"/>
          </a:xfrm>
          <a:prstGeom prst="rect">
            <a:avLst/>
          </a:prstGeom>
        </p:spPr>
        <p:txBody>
          <a:bodyPr vert="horz" wrap="square" lIns="0" tIns="0" rIns="0" bIns="0" rtlCol="0">
            <a:spAutoFit/>
          </a:bodyPr>
          <a:lstStyle>
            <a:defPPr>
              <a:defRPr kern="0"/>
            </a:defPPr>
            <a:lvl1pPr>
              <a:defRPr sz="1200" b="0" i="0">
                <a:solidFill>
                  <a:schemeClr val="tx1"/>
                </a:solidFill>
                <a:latin typeface="Arial Black"/>
                <a:cs typeface="Arial Black"/>
              </a:defRPr>
            </a:lvl1pPr>
          </a:lstStyle>
          <a:p>
            <a:pPr marL="12700">
              <a:spcBef>
                <a:spcPts val="220"/>
              </a:spcBef>
            </a:pPr>
            <a:fld id="{81D60167-4931-47E6-BA6A-407CBD079E47}" type="slidenum">
              <a:rPr lang="en-MY" spc="-25" smtClean="0"/>
              <a:pPr marL="12700">
                <a:spcBef>
                  <a:spcPts val="220"/>
                </a:spcBef>
              </a:pPr>
              <a:t>50</a:t>
            </a:fld>
            <a:endParaRPr spc="-21" dirty="0"/>
          </a:p>
        </p:txBody>
      </p:sp>
      <p:sp>
        <p:nvSpPr>
          <p:cNvPr id="3" name="object 3"/>
          <p:cNvSpPr txBox="1"/>
          <p:nvPr/>
        </p:nvSpPr>
        <p:spPr>
          <a:xfrm>
            <a:off x="1641621" y="2011730"/>
            <a:ext cx="5924052" cy="2376008"/>
          </a:xfrm>
          <a:prstGeom prst="rect">
            <a:avLst/>
          </a:prstGeom>
        </p:spPr>
        <p:txBody>
          <a:bodyPr vert="horz" wrap="square" lIns="0" tIns="11403" rIns="0" bIns="0" rtlCol="0">
            <a:spAutoFit/>
          </a:bodyPr>
          <a:lstStyle/>
          <a:p>
            <a:pPr marL="254119" marR="4344" indent="-243802">
              <a:spcBef>
                <a:spcPts val="90"/>
              </a:spcBef>
              <a:buClr>
                <a:srgbClr val="BA2212"/>
              </a:buClr>
              <a:buSzPct val="78571"/>
              <a:buFont typeface="Segoe UI Symbol"/>
              <a:buChar char="✓"/>
              <a:tabLst>
                <a:tab pos="255748" algn="l"/>
              </a:tabLst>
            </a:pPr>
            <a:r>
              <a:rPr sz="2394" dirty="0">
                <a:latin typeface="Arial"/>
                <a:cs typeface="Arial"/>
              </a:rPr>
              <a:t>Balance</a:t>
            </a:r>
            <a:r>
              <a:rPr sz="2394" spc="-38" dirty="0">
                <a:latin typeface="Arial"/>
                <a:cs typeface="Arial"/>
              </a:rPr>
              <a:t> </a:t>
            </a:r>
            <a:r>
              <a:rPr sz="2394" spc="-30" dirty="0">
                <a:latin typeface="Arial"/>
                <a:cs typeface="Arial"/>
              </a:rPr>
              <a:t>high-</a:t>
            </a:r>
            <a:r>
              <a:rPr sz="2394" dirty="0">
                <a:latin typeface="Arial"/>
                <a:cs typeface="Arial"/>
              </a:rPr>
              <a:t>level</a:t>
            </a:r>
            <a:r>
              <a:rPr sz="2394" spc="-38" dirty="0">
                <a:latin typeface="Arial"/>
                <a:cs typeface="Arial"/>
              </a:rPr>
              <a:t> </a:t>
            </a:r>
            <a:r>
              <a:rPr sz="2394" dirty="0">
                <a:latin typeface="Arial"/>
                <a:cs typeface="Arial"/>
              </a:rPr>
              <a:t>and</a:t>
            </a:r>
            <a:r>
              <a:rPr sz="2394" spc="-34" dirty="0">
                <a:latin typeface="Arial"/>
                <a:cs typeface="Arial"/>
              </a:rPr>
              <a:t> </a:t>
            </a:r>
            <a:r>
              <a:rPr sz="2394" dirty="0">
                <a:latin typeface="Arial"/>
                <a:cs typeface="Arial"/>
              </a:rPr>
              <a:t>low-level</a:t>
            </a:r>
            <a:r>
              <a:rPr sz="2394" spc="13" dirty="0">
                <a:latin typeface="Arial"/>
                <a:cs typeface="Arial"/>
              </a:rPr>
              <a:t> </a:t>
            </a:r>
            <a:r>
              <a:rPr sz="2394" dirty="0">
                <a:latin typeface="Arial"/>
                <a:cs typeface="Arial"/>
              </a:rPr>
              <a:t>data</a:t>
            </a:r>
            <a:r>
              <a:rPr sz="2394" spc="-34" dirty="0">
                <a:latin typeface="Arial"/>
                <a:cs typeface="Arial"/>
              </a:rPr>
              <a:t> </a:t>
            </a:r>
            <a:r>
              <a:rPr sz="2394" spc="-17" dirty="0">
                <a:latin typeface="Arial"/>
                <a:cs typeface="Arial"/>
              </a:rPr>
              <a:t>flow 	</a:t>
            </a:r>
            <a:r>
              <a:rPr sz="2394" spc="-9" dirty="0">
                <a:latin typeface="Arial"/>
                <a:cs typeface="Arial"/>
              </a:rPr>
              <a:t>diagrams.</a:t>
            </a:r>
            <a:endParaRPr sz="2394">
              <a:latin typeface="Arial"/>
              <a:cs typeface="Arial"/>
            </a:endParaRPr>
          </a:p>
          <a:p>
            <a:pPr marL="254119" marR="671134" indent="-243802">
              <a:spcBef>
                <a:spcPts val="577"/>
              </a:spcBef>
              <a:buClr>
                <a:srgbClr val="BA2212"/>
              </a:buClr>
              <a:buSzPct val="78571"/>
              <a:buFont typeface="Segoe UI Symbol"/>
              <a:buChar char="✓"/>
              <a:tabLst>
                <a:tab pos="255748" algn="l"/>
              </a:tabLst>
            </a:pPr>
            <a:r>
              <a:rPr sz="2394" dirty="0">
                <a:latin typeface="Arial"/>
                <a:cs typeface="Arial"/>
              </a:rPr>
              <a:t>Use</a:t>
            </a:r>
            <a:r>
              <a:rPr sz="2394" spc="-64" dirty="0">
                <a:latin typeface="Arial"/>
                <a:cs typeface="Arial"/>
              </a:rPr>
              <a:t> </a:t>
            </a:r>
            <a:r>
              <a:rPr sz="2394" dirty="0">
                <a:latin typeface="Arial"/>
                <a:cs typeface="Arial"/>
              </a:rPr>
              <a:t>data</a:t>
            </a:r>
            <a:r>
              <a:rPr sz="2394" spc="-30" dirty="0">
                <a:latin typeface="Arial"/>
                <a:cs typeface="Arial"/>
              </a:rPr>
              <a:t> </a:t>
            </a:r>
            <a:r>
              <a:rPr sz="2394" dirty="0">
                <a:latin typeface="Arial"/>
                <a:cs typeface="Arial"/>
              </a:rPr>
              <a:t>flow</a:t>
            </a:r>
            <a:r>
              <a:rPr sz="2394" spc="-26" dirty="0">
                <a:latin typeface="Arial"/>
                <a:cs typeface="Arial"/>
              </a:rPr>
              <a:t> </a:t>
            </a:r>
            <a:r>
              <a:rPr sz="2394" dirty="0">
                <a:latin typeface="Arial"/>
                <a:cs typeface="Arial"/>
              </a:rPr>
              <a:t>diagrams</a:t>
            </a:r>
            <a:r>
              <a:rPr sz="2394" spc="-26" dirty="0">
                <a:latin typeface="Arial"/>
                <a:cs typeface="Arial"/>
              </a:rPr>
              <a:t> </a:t>
            </a:r>
            <a:r>
              <a:rPr sz="2394" dirty="0">
                <a:latin typeface="Arial"/>
                <a:cs typeface="Arial"/>
              </a:rPr>
              <a:t>for</a:t>
            </a:r>
            <a:r>
              <a:rPr sz="2394" spc="-30" dirty="0">
                <a:latin typeface="Arial"/>
                <a:cs typeface="Arial"/>
              </a:rPr>
              <a:t> </a:t>
            </a:r>
            <a:r>
              <a:rPr sz="2394" spc="-9" dirty="0">
                <a:latin typeface="Arial"/>
                <a:cs typeface="Arial"/>
              </a:rPr>
              <a:t>analyzing 	</a:t>
            </a:r>
            <a:r>
              <a:rPr sz="2394" dirty="0">
                <a:latin typeface="Arial"/>
                <a:cs typeface="Arial"/>
              </a:rPr>
              <a:t>information</a:t>
            </a:r>
            <a:r>
              <a:rPr sz="2394" spc="-77" dirty="0">
                <a:latin typeface="Arial"/>
                <a:cs typeface="Arial"/>
              </a:rPr>
              <a:t> </a:t>
            </a:r>
            <a:r>
              <a:rPr sz="2394" spc="-9" dirty="0">
                <a:latin typeface="Arial"/>
                <a:cs typeface="Arial"/>
              </a:rPr>
              <a:t>systems.</a:t>
            </a:r>
            <a:endParaRPr sz="2394">
              <a:latin typeface="Arial"/>
              <a:cs typeface="Arial"/>
            </a:endParaRPr>
          </a:p>
          <a:p>
            <a:pPr marL="254119" marR="90136" indent="-243802">
              <a:spcBef>
                <a:spcPts val="573"/>
              </a:spcBef>
              <a:buClr>
                <a:srgbClr val="BA2212"/>
              </a:buClr>
              <a:buSzPct val="78571"/>
              <a:buFont typeface="Segoe UI Symbol"/>
              <a:buChar char="✓"/>
              <a:tabLst>
                <a:tab pos="255748" algn="l"/>
              </a:tabLst>
            </a:pPr>
            <a:r>
              <a:rPr sz="2394" dirty="0">
                <a:latin typeface="Arial"/>
                <a:cs typeface="Arial"/>
              </a:rPr>
              <a:t>Use</a:t>
            </a:r>
            <a:r>
              <a:rPr sz="2394" spc="-47" dirty="0">
                <a:latin typeface="Arial"/>
                <a:cs typeface="Arial"/>
              </a:rPr>
              <a:t> </a:t>
            </a:r>
            <a:r>
              <a:rPr sz="2394" dirty="0">
                <a:latin typeface="Arial"/>
                <a:cs typeface="Arial"/>
              </a:rPr>
              <a:t>decision</a:t>
            </a:r>
            <a:r>
              <a:rPr sz="2394" spc="-9" dirty="0">
                <a:latin typeface="Arial"/>
                <a:cs typeface="Arial"/>
              </a:rPr>
              <a:t> </a:t>
            </a:r>
            <a:r>
              <a:rPr sz="2394" dirty="0">
                <a:latin typeface="Arial"/>
                <a:cs typeface="Arial"/>
              </a:rPr>
              <a:t>tables</a:t>
            </a:r>
            <a:r>
              <a:rPr sz="2394" spc="-17" dirty="0">
                <a:latin typeface="Arial"/>
                <a:cs typeface="Arial"/>
              </a:rPr>
              <a:t> </a:t>
            </a:r>
            <a:r>
              <a:rPr sz="2394" dirty="0">
                <a:latin typeface="Arial"/>
                <a:cs typeface="Arial"/>
              </a:rPr>
              <a:t>to</a:t>
            </a:r>
            <a:r>
              <a:rPr sz="2394" spc="-9" dirty="0">
                <a:latin typeface="Arial"/>
                <a:cs typeface="Arial"/>
              </a:rPr>
              <a:t> </a:t>
            </a:r>
            <a:r>
              <a:rPr sz="2394" dirty="0">
                <a:latin typeface="Arial"/>
                <a:cs typeface="Arial"/>
              </a:rPr>
              <a:t>represent</a:t>
            </a:r>
            <a:r>
              <a:rPr sz="2394" spc="-9" dirty="0">
                <a:latin typeface="Arial"/>
                <a:cs typeface="Arial"/>
              </a:rPr>
              <a:t> </a:t>
            </a:r>
            <a:r>
              <a:rPr sz="2394" dirty="0">
                <a:latin typeface="Arial"/>
                <a:cs typeface="Arial"/>
              </a:rPr>
              <a:t>the</a:t>
            </a:r>
            <a:r>
              <a:rPr sz="2394" spc="-9" dirty="0">
                <a:latin typeface="Arial"/>
                <a:cs typeface="Arial"/>
              </a:rPr>
              <a:t> logic 	</a:t>
            </a:r>
            <a:r>
              <a:rPr sz="2394" dirty="0">
                <a:latin typeface="Arial"/>
                <a:cs typeface="Arial"/>
              </a:rPr>
              <a:t>of</a:t>
            </a:r>
            <a:r>
              <a:rPr sz="2394" spc="-26" dirty="0">
                <a:latin typeface="Arial"/>
                <a:cs typeface="Arial"/>
              </a:rPr>
              <a:t> </a:t>
            </a:r>
            <a:r>
              <a:rPr sz="2394" dirty="0">
                <a:latin typeface="Arial"/>
                <a:cs typeface="Arial"/>
              </a:rPr>
              <a:t>choice</a:t>
            </a:r>
            <a:r>
              <a:rPr sz="2394" spc="-21" dirty="0">
                <a:latin typeface="Arial"/>
                <a:cs typeface="Arial"/>
              </a:rPr>
              <a:t> </a:t>
            </a:r>
            <a:r>
              <a:rPr sz="2394" dirty="0">
                <a:latin typeface="Arial"/>
                <a:cs typeface="Arial"/>
              </a:rPr>
              <a:t>in</a:t>
            </a:r>
            <a:r>
              <a:rPr sz="2394" spc="-64" dirty="0">
                <a:latin typeface="Arial"/>
                <a:cs typeface="Arial"/>
              </a:rPr>
              <a:t> </a:t>
            </a:r>
            <a:r>
              <a:rPr sz="2394" dirty="0">
                <a:latin typeface="Arial"/>
                <a:cs typeface="Arial"/>
              </a:rPr>
              <a:t>conditional</a:t>
            </a:r>
            <a:r>
              <a:rPr sz="2394" spc="-21" dirty="0">
                <a:latin typeface="Arial"/>
                <a:cs typeface="Arial"/>
              </a:rPr>
              <a:t> </a:t>
            </a:r>
            <a:r>
              <a:rPr sz="2394" spc="-9" dirty="0">
                <a:latin typeface="Arial"/>
                <a:cs typeface="Arial"/>
              </a:rPr>
              <a:t>statements.</a:t>
            </a:r>
            <a:endParaRPr sz="2394">
              <a:latin typeface="Arial"/>
              <a:cs typeface="Arial"/>
            </a:endParaRPr>
          </a:p>
        </p:txBody>
      </p:sp>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3078F-8182-65E4-DFB0-4193AB4B8184}"/>
              </a:ext>
            </a:extLst>
          </p:cNvPr>
          <p:cNvSpPr>
            <a:spLocks noGrp="1"/>
          </p:cNvSpPr>
          <p:nvPr>
            <p:ph type="title"/>
          </p:nvPr>
        </p:nvSpPr>
        <p:spPr>
          <a:xfrm>
            <a:off x="152400" y="365126"/>
            <a:ext cx="8362950" cy="1325563"/>
          </a:xfrm>
        </p:spPr>
        <p:txBody>
          <a:bodyPr/>
          <a:lstStyle/>
          <a:p>
            <a:r>
              <a:rPr lang="en-US" dirty="0"/>
              <a:t>Common Mistakes in DFDs (Part 1)</a:t>
            </a:r>
            <a:endParaRPr lang="en-MY" dirty="0"/>
          </a:p>
        </p:txBody>
      </p:sp>
      <p:sp>
        <p:nvSpPr>
          <p:cNvPr id="3" name="Content Placeholder 2">
            <a:extLst>
              <a:ext uri="{FF2B5EF4-FFF2-40B4-BE49-F238E27FC236}">
                <a16:creationId xmlns:a16="http://schemas.microsoft.com/office/drawing/2014/main" id="{C338CB72-0A30-02C3-E16A-4C424E59E0E9}"/>
              </a:ext>
            </a:extLst>
          </p:cNvPr>
          <p:cNvSpPr>
            <a:spLocks noGrp="1"/>
          </p:cNvSpPr>
          <p:nvPr>
            <p:ph idx="1"/>
          </p:nvPr>
        </p:nvSpPr>
        <p:spPr/>
        <p:txBody>
          <a:bodyPr>
            <a:normAutofit lnSpcReduction="10000"/>
          </a:bodyPr>
          <a:lstStyle/>
          <a:p>
            <a:pPr algn="l">
              <a:spcAft>
                <a:spcPts val="600"/>
              </a:spcAft>
              <a:buFont typeface="Arial" panose="020B0604020202020204" pitchFamily="34" charset="0"/>
              <a:buChar char="•"/>
            </a:pPr>
            <a:r>
              <a:rPr lang="en-US" b="0" i="0" dirty="0">
                <a:solidFill>
                  <a:srgbClr val="424242"/>
                </a:solidFill>
                <a:effectLst/>
                <a:latin typeface="Segoe Sans"/>
              </a:rPr>
              <a:t>Overcomplicating the Diagram:</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Too many details in one diagram.</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Keep it clear and concise.</a:t>
            </a:r>
          </a:p>
          <a:p>
            <a:pPr algn="l">
              <a:spcAft>
                <a:spcPts val="600"/>
              </a:spcAft>
              <a:buFont typeface="Arial" panose="020B0604020202020204" pitchFamily="34" charset="0"/>
              <a:buChar char="•"/>
            </a:pPr>
            <a:r>
              <a:rPr lang="en-US" b="0" i="0" dirty="0">
                <a:solidFill>
                  <a:srgbClr val="424242"/>
                </a:solidFill>
                <a:effectLst/>
                <a:latin typeface="Segoe Sans"/>
              </a:rPr>
              <a:t>Incorrectly Identifying Processes: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Mislabeled or unclear processes.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Use clear, descriptive names.</a:t>
            </a:r>
          </a:p>
          <a:p>
            <a:pPr algn="l">
              <a:spcAft>
                <a:spcPts val="600"/>
              </a:spcAft>
              <a:buFont typeface="Arial" panose="020B0604020202020204" pitchFamily="34" charset="0"/>
              <a:buChar char="•"/>
            </a:pPr>
            <a:r>
              <a:rPr lang="en-US" b="0" i="0" dirty="0">
                <a:solidFill>
                  <a:srgbClr val="424242"/>
                </a:solidFill>
                <a:effectLst/>
                <a:latin typeface="Segoe Sans"/>
              </a:rPr>
              <a:t>Missing Data Flows: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Omitting data flows.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Ensure all interactions are represented.</a:t>
            </a:r>
          </a:p>
          <a:p>
            <a:endParaRPr lang="en-MY" dirty="0"/>
          </a:p>
        </p:txBody>
      </p:sp>
      <p:sp>
        <p:nvSpPr>
          <p:cNvPr id="4" name="Date Placeholder 3">
            <a:extLst>
              <a:ext uri="{FF2B5EF4-FFF2-40B4-BE49-F238E27FC236}">
                <a16:creationId xmlns:a16="http://schemas.microsoft.com/office/drawing/2014/main" id="{E5DB3C13-C38B-B121-E759-DBEE274D6130}"/>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F146C56-9D11-BC49-1882-37B0F3F09ADC}"/>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B544C4D-F66D-A1E6-5554-78C1F4B2CAD8}"/>
              </a:ext>
            </a:extLst>
          </p:cNvPr>
          <p:cNvSpPr>
            <a:spLocks noGrp="1"/>
          </p:cNvSpPr>
          <p:nvPr>
            <p:ph type="sldNum" sz="quarter" idx="12"/>
          </p:nvPr>
        </p:nvSpPr>
        <p:spPr/>
        <p:txBody>
          <a:bodyPr/>
          <a:lstStyle/>
          <a:p>
            <a:pPr>
              <a:defRPr/>
            </a:pPr>
            <a:fld id="{58EFFD8C-6B70-4156-A8DC-27560EBC3DB0}" type="slidenum">
              <a:rPr lang="en-US" smtClean="0"/>
              <a:pPr>
                <a:defRPr/>
              </a:pPr>
              <a:t>51</a:t>
            </a:fld>
            <a:endParaRPr lang="en-US"/>
          </a:p>
        </p:txBody>
      </p:sp>
    </p:spTree>
    <p:extLst>
      <p:ext uri="{BB962C8B-B14F-4D97-AF65-F5344CB8AC3E}">
        <p14:creationId xmlns:p14="http://schemas.microsoft.com/office/powerpoint/2010/main" val="4171170449"/>
      </p:ext>
    </p:extLst>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695F2-8F39-A1CD-7CC8-9A60A940B3CC}"/>
              </a:ext>
            </a:extLst>
          </p:cNvPr>
          <p:cNvSpPr>
            <a:spLocks noGrp="1"/>
          </p:cNvSpPr>
          <p:nvPr>
            <p:ph type="title"/>
          </p:nvPr>
        </p:nvSpPr>
        <p:spPr/>
        <p:txBody>
          <a:bodyPr>
            <a:normAutofit fontScale="90000"/>
          </a:bodyPr>
          <a:lstStyle/>
          <a:p>
            <a:r>
              <a:rPr lang="en-US" b="0" i="0" dirty="0">
                <a:solidFill>
                  <a:srgbClr val="424242"/>
                </a:solidFill>
                <a:effectLst/>
                <a:latin typeface="Segoe Sans"/>
              </a:rPr>
              <a:t>Common Mistakes in DFDs (Part 2)</a:t>
            </a:r>
            <a:br>
              <a:rPr lang="en-US" b="0" i="0" dirty="0">
                <a:solidFill>
                  <a:srgbClr val="424242"/>
                </a:solidFill>
                <a:effectLst/>
                <a:latin typeface="Segoe Sans"/>
              </a:rPr>
            </a:br>
            <a:endParaRPr lang="en-MY" dirty="0"/>
          </a:p>
        </p:txBody>
      </p:sp>
      <p:sp>
        <p:nvSpPr>
          <p:cNvPr id="3" name="Content Placeholder 2">
            <a:extLst>
              <a:ext uri="{FF2B5EF4-FFF2-40B4-BE49-F238E27FC236}">
                <a16:creationId xmlns:a16="http://schemas.microsoft.com/office/drawing/2014/main" id="{333D1CE3-82CD-ADEA-0628-84CB6DD993C9}"/>
              </a:ext>
            </a:extLst>
          </p:cNvPr>
          <p:cNvSpPr>
            <a:spLocks noGrp="1"/>
          </p:cNvSpPr>
          <p:nvPr>
            <p:ph idx="1"/>
          </p:nvPr>
        </p:nvSpPr>
        <p:spPr/>
        <p:txBody>
          <a:bodyPr>
            <a:normAutofit lnSpcReduction="10000"/>
          </a:bodyPr>
          <a:lstStyle/>
          <a:p>
            <a:pPr algn="l">
              <a:spcAft>
                <a:spcPts val="600"/>
              </a:spcAft>
              <a:buFont typeface="Arial" panose="020B0604020202020204" pitchFamily="34" charset="0"/>
              <a:buChar char="•"/>
            </a:pPr>
            <a:r>
              <a:rPr lang="en-US" b="0" i="0" dirty="0">
                <a:solidFill>
                  <a:srgbClr val="424242"/>
                </a:solidFill>
                <a:effectLst/>
                <a:latin typeface="Segoe Sans"/>
              </a:rPr>
              <a:t>Improper Use of Symbols: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Using wrong symbols.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Use standardized symbols.</a:t>
            </a:r>
          </a:p>
          <a:p>
            <a:pPr algn="l">
              <a:spcAft>
                <a:spcPts val="600"/>
              </a:spcAft>
              <a:buFont typeface="Arial" panose="020B0604020202020204" pitchFamily="34" charset="0"/>
              <a:buChar char="•"/>
            </a:pPr>
            <a:r>
              <a:rPr lang="en-US" b="0" i="0" dirty="0">
                <a:solidFill>
                  <a:srgbClr val="424242"/>
                </a:solidFill>
                <a:effectLst/>
                <a:latin typeface="Segoe Sans"/>
              </a:rPr>
              <a:t>Ignoring Data Stores: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Forgetting data stores.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Show data storage and retrieval.</a:t>
            </a:r>
          </a:p>
          <a:p>
            <a:pPr algn="l">
              <a:spcAft>
                <a:spcPts val="600"/>
              </a:spcAft>
              <a:buFont typeface="Arial" panose="020B0604020202020204" pitchFamily="34" charset="0"/>
              <a:buChar char="•"/>
            </a:pPr>
            <a:r>
              <a:rPr lang="en-US" b="0" i="0" dirty="0">
                <a:solidFill>
                  <a:srgbClr val="424242"/>
                </a:solidFill>
                <a:effectLst/>
                <a:latin typeface="Segoe Sans"/>
              </a:rPr>
              <a:t>Lack of Consistency:</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Mistake: Inconsistent naming and symbols.</a:t>
            </a:r>
          </a:p>
          <a:p>
            <a:pPr marL="742950" lvl="1" indent="-285750" algn="l">
              <a:spcAft>
                <a:spcPts val="600"/>
              </a:spcAft>
              <a:buFont typeface="Arial" panose="020B0604020202020204" pitchFamily="34" charset="0"/>
              <a:buChar char="•"/>
            </a:pPr>
            <a:r>
              <a:rPr lang="en-US" b="0" i="0" dirty="0">
                <a:solidFill>
                  <a:srgbClr val="424242"/>
                </a:solidFill>
                <a:effectLst/>
                <a:latin typeface="Segoe Sans"/>
              </a:rPr>
              <a:t>Solution: Maintain consistency.</a:t>
            </a:r>
          </a:p>
          <a:p>
            <a:endParaRPr lang="en-MY" dirty="0"/>
          </a:p>
        </p:txBody>
      </p:sp>
      <p:sp>
        <p:nvSpPr>
          <p:cNvPr id="4" name="Date Placeholder 3">
            <a:extLst>
              <a:ext uri="{FF2B5EF4-FFF2-40B4-BE49-F238E27FC236}">
                <a16:creationId xmlns:a16="http://schemas.microsoft.com/office/drawing/2014/main" id="{8859873C-9174-E52D-F6A1-E6FD8A138F5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288382-ADEE-0039-67AD-4F9F2F49A4E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F569C6D-C583-AD19-F801-7DF712D2BE52}"/>
              </a:ext>
            </a:extLst>
          </p:cNvPr>
          <p:cNvSpPr>
            <a:spLocks noGrp="1"/>
          </p:cNvSpPr>
          <p:nvPr>
            <p:ph type="sldNum" sz="quarter" idx="12"/>
          </p:nvPr>
        </p:nvSpPr>
        <p:spPr/>
        <p:txBody>
          <a:bodyPr/>
          <a:lstStyle/>
          <a:p>
            <a:pPr>
              <a:defRPr/>
            </a:pPr>
            <a:fld id="{58EFFD8C-6B70-4156-A8DC-27560EBC3DB0}" type="slidenum">
              <a:rPr lang="en-US" smtClean="0"/>
              <a:pPr>
                <a:defRPr/>
              </a:pPr>
              <a:t>52</a:t>
            </a:fld>
            <a:endParaRPr lang="en-US"/>
          </a:p>
        </p:txBody>
      </p:sp>
    </p:spTree>
    <p:extLst>
      <p:ext uri="{BB962C8B-B14F-4D97-AF65-F5344CB8AC3E}">
        <p14:creationId xmlns:p14="http://schemas.microsoft.com/office/powerpoint/2010/main" val="2108411338"/>
      </p:ext>
    </p:extLst>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A8169-A2DF-2904-A603-BEC7EEB184D7}"/>
              </a:ext>
            </a:extLst>
          </p:cNvPr>
          <p:cNvSpPr>
            <a:spLocks noGrp="1"/>
          </p:cNvSpPr>
          <p:nvPr>
            <p:ph type="title"/>
          </p:nvPr>
        </p:nvSpPr>
        <p:spPr/>
        <p:txBody>
          <a:bodyPr>
            <a:normAutofit fontScale="90000"/>
          </a:bodyPr>
          <a:lstStyle/>
          <a:p>
            <a:r>
              <a:rPr lang="en-US" b="0" i="0" dirty="0">
                <a:solidFill>
                  <a:srgbClr val="424242"/>
                </a:solidFill>
                <a:effectLst/>
                <a:latin typeface="Segoe Sans"/>
              </a:rPr>
              <a:t>Common Mistakes in DFDs (Part 3)</a:t>
            </a:r>
            <a:br>
              <a:rPr lang="en-US" b="0" i="0" dirty="0">
                <a:solidFill>
                  <a:srgbClr val="424242"/>
                </a:solidFill>
                <a:effectLst/>
                <a:latin typeface="Segoe Sans"/>
              </a:rPr>
            </a:br>
            <a:endParaRPr lang="en-MY" dirty="0"/>
          </a:p>
        </p:txBody>
      </p:sp>
      <p:sp>
        <p:nvSpPr>
          <p:cNvPr id="3" name="Content Placeholder 2">
            <a:extLst>
              <a:ext uri="{FF2B5EF4-FFF2-40B4-BE49-F238E27FC236}">
                <a16:creationId xmlns:a16="http://schemas.microsoft.com/office/drawing/2014/main" id="{E532ABA6-0418-F606-D779-4F98AEDCB32C}"/>
              </a:ext>
            </a:extLst>
          </p:cNvPr>
          <p:cNvSpPr>
            <a:spLocks noGrp="1"/>
          </p:cNvSpPr>
          <p:nvPr>
            <p:ph idx="1"/>
          </p:nvPr>
        </p:nvSpPr>
        <p:spPr/>
        <p:txBody>
          <a:bodyPr>
            <a:normAutofit fontScale="70000" lnSpcReduction="20000"/>
          </a:bodyPr>
          <a:lstStyle/>
          <a:p>
            <a:pPr algn="l">
              <a:spcAft>
                <a:spcPts val="600"/>
              </a:spcAft>
              <a:buFont typeface="Arial" panose="020B0604020202020204" pitchFamily="34" charset="0"/>
              <a:buChar char="•"/>
            </a:pPr>
            <a:r>
              <a:rPr lang="en-MY" b="0" i="0" dirty="0">
                <a:solidFill>
                  <a:srgbClr val="424242"/>
                </a:solidFill>
                <a:effectLst/>
                <a:latin typeface="Segoe Sans"/>
              </a:rPr>
              <a:t>Not Validating the Diagram:</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Mistake: Failing to review and validate.</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Solution: Validate with stakeholders.</a:t>
            </a:r>
          </a:p>
          <a:p>
            <a:pPr algn="l">
              <a:spcAft>
                <a:spcPts val="600"/>
              </a:spcAft>
              <a:buFont typeface="Arial" panose="020B0604020202020204" pitchFamily="34" charset="0"/>
              <a:buChar char="•"/>
            </a:pPr>
            <a:r>
              <a:rPr lang="en-MY" b="0" i="0" dirty="0">
                <a:solidFill>
                  <a:srgbClr val="424242"/>
                </a:solidFill>
                <a:effectLst/>
                <a:latin typeface="Segoe Sans"/>
              </a:rPr>
              <a:t>Overlapping Data Flows: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Mistake: Overlapping or crossing flows.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Solution: Minimize overlaps.</a:t>
            </a:r>
          </a:p>
          <a:p>
            <a:pPr algn="l">
              <a:spcAft>
                <a:spcPts val="600"/>
              </a:spcAft>
              <a:buFont typeface="Arial" panose="020B0604020202020204" pitchFamily="34" charset="0"/>
              <a:buChar char="•"/>
            </a:pPr>
            <a:r>
              <a:rPr lang="en-MY" b="0" i="0" dirty="0">
                <a:solidFill>
                  <a:srgbClr val="424242"/>
                </a:solidFill>
                <a:effectLst/>
                <a:latin typeface="Segoe Sans"/>
              </a:rPr>
              <a:t>Ignoring External Entities: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Mistake: Missing external entities.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Solution: Include all interactions.</a:t>
            </a:r>
          </a:p>
          <a:p>
            <a:pPr algn="l">
              <a:spcAft>
                <a:spcPts val="600"/>
              </a:spcAft>
              <a:buFont typeface="Arial" panose="020B0604020202020204" pitchFamily="34" charset="0"/>
              <a:buChar char="•"/>
            </a:pPr>
            <a:r>
              <a:rPr lang="en-MY" b="0" i="0" dirty="0">
                <a:solidFill>
                  <a:srgbClr val="424242"/>
                </a:solidFill>
                <a:effectLst/>
                <a:latin typeface="Segoe Sans"/>
              </a:rPr>
              <a:t>Skipping Levels: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Mistake: Jumping to detailed levels.</a:t>
            </a:r>
          </a:p>
          <a:p>
            <a:pPr marL="742950" lvl="1" indent="-285750" algn="l">
              <a:spcAft>
                <a:spcPts val="600"/>
              </a:spcAft>
              <a:buFont typeface="Arial" panose="020B0604020202020204" pitchFamily="34" charset="0"/>
              <a:buChar char="•"/>
            </a:pPr>
            <a:r>
              <a:rPr lang="en-MY" b="0" i="0" dirty="0">
                <a:solidFill>
                  <a:srgbClr val="424242"/>
                </a:solidFill>
                <a:effectLst/>
                <a:latin typeface="Segoe Sans"/>
              </a:rPr>
              <a:t>Solution: Start with a context diagram.</a:t>
            </a:r>
          </a:p>
          <a:p>
            <a:endParaRPr lang="en-MY" dirty="0"/>
          </a:p>
        </p:txBody>
      </p:sp>
      <p:sp>
        <p:nvSpPr>
          <p:cNvPr id="4" name="Date Placeholder 3">
            <a:extLst>
              <a:ext uri="{FF2B5EF4-FFF2-40B4-BE49-F238E27FC236}">
                <a16:creationId xmlns:a16="http://schemas.microsoft.com/office/drawing/2014/main" id="{F46C2F8A-AC85-3A0E-9388-8A17153ACC6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297B244-E087-20BF-FB16-6B0A3107BE4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BB71207-EC19-37C0-9CE5-E13EB4E943F9}"/>
              </a:ext>
            </a:extLst>
          </p:cNvPr>
          <p:cNvSpPr>
            <a:spLocks noGrp="1"/>
          </p:cNvSpPr>
          <p:nvPr>
            <p:ph type="sldNum" sz="quarter" idx="12"/>
          </p:nvPr>
        </p:nvSpPr>
        <p:spPr/>
        <p:txBody>
          <a:bodyPr/>
          <a:lstStyle/>
          <a:p>
            <a:pPr>
              <a:defRPr/>
            </a:pPr>
            <a:fld id="{58EFFD8C-6B70-4156-A8DC-27560EBC3DB0}" type="slidenum">
              <a:rPr lang="en-US" smtClean="0"/>
              <a:pPr>
                <a:defRPr/>
              </a:pPr>
              <a:t>53</a:t>
            </a:fld>
            <a:endParaRPr lang="en-US"/>
          </a:p>
        </p:txBody>
      </p:sp>
    </p:spTree>
    <p:extLst>
      <p:ext uri="{BB962C8B-B14F-4D97-AF65-F5344CB8AC3E}">
        <p14:creationId xmlns:p14="http://schemas.microsoft.com/office/powerpoint/2010/main" val="990164102"/>
      </p:ext>
    </p:extLst>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itle 1"/>
          <p:cNvSpPr>
            <a:spLocks noGrp="1"/>
          </p:cNvSpPr>
          <p:nvPr>
            <p:ph type="title"/>
          </p:nvPr>
        </p:nvSpPr>
        <p:spPr>
          <a:xfrm>
            <a:off x="381000" y="2743200"/>
            <a:ext cx="8229600" cy="1371600"/>
          </a:xfrm>
        </p:spPr>
        <p:txBody>
          <a:bodyPr>
            <a:normAutofit fontScale="90000"/>
          </a:bodyPr>
          <a:lstStyle/>
          <a:p>
            <a:pPr algn="ctr"/>
            <a:r>
              <a:rPr lang="en-US" sz="1700" b="1" dirty="0">
                <a:solidFill>
                  <a:schemeClr val="tx2"/>
                </a:solidFill>
              </a:rPr>
              <a:t>Modern Systems Analysis</a:t>
            </a:r>
            <a:br>
              <a:rPr lang="en-US" sz="1700" b="1" dirty="0">
                <a:solidFill>
                  <a:schemeClr val="tx2"/>
                </a:solidFill>
              </a:rPr>
            </a:br>
            <a:r>
              <a:rPr lang="en-US" sz="1700" b="1" dirty="0">
                <a:solidFill>
                  <a:schemeClr val="tx2"/>
                </a:solidFill>
              </a:rPr>
              <a:t>and Design</a:t>
            </a:r>
            <a:br>
              <a:rPr lang="en-US" sz="1700" b="1" dirty="0">
                <a:solidFill>
                  <a:schemeClr val="tx2"/>
                </a:solidFill>
              </a:rPr>
            </a:br>
            <a:br>
              <a:rPr lang="en-US" sz="1700" b="1" dirty="0">
                <a:solidFill>
                  <a:schemeClr val="tx2"/>
                </a:solidFill>
              </a:rPr>
            </a:br>
            <a:r>
              <a:rPr lang="en-US" sz="1700" b="1" dirty="0">
                <a:solidFill>
                  <a:schemeClr val="tx2"/>
                </a:solidFill>
              </a:rPr>
              <a:t>by</a:t>
            </a:r>
            <a:br>
              <a:rPr lang="en-US" sz="1700" b="1" dirty="0">
                <a:solidFill>
                  <a:schemeClr val="tx2"/>
                </a:solidFill>
              </a:rPr>
            </a:br>
            <a:r>
              <a:rPr lang="en-US" sz="1700" b="1" dirty="0">
                <a:solidFill>
                  <a:schemeClr val="tx2"/>
                </a:solidFill>
              </a:rPr>
              <a:t> Jeffrey A. Hoffer </a:t>
            </a:r>
            <a:br>
              <a:rPr lang="en-US" sz="1700" b="1" dirty="0">
                <a:solidFill>
                  <a:schemeClr val="tx2"/>
                </a:solidFill>
              </a:rPr>
            </a:br>
            <a:r>
              <a:rPr lang="en-US" sz="1700" b="1" dirty="0">
                <a:solidFill>
                  <a:schemeClr val="tx2"/>
                </a:solidFill>
              </a:rPr>
              <a:t>Joey F. George</a:t>
            </a:r>
            <a:br>
              <a:rPr lang="en-US" sz="1700" b="1" dirty="0">
                <a:solidFill>
                  <a:schemeClr val="tx2"/>
                </a:solidFill>
              </a:rPr>
            </a:br>
            <a:r>
              <a:rPr lang="en-US" sz="1700" b="1" dirty="0">
                <a:solidFill>
                  <a:schemeClr val="tx2"/>
                </a:solidFill>
              </a:rPr>
              <a:t>Joseph S. </a:t>
            </a:r>
            <a:r>
              <a:rPr lang="en-US" sz="1700" b="1" dirty="0" err="1">
                <a:solidFill>
                  <a:schemeClr val="tx2"/>
                </a:solidFill>
              </a:rPr>
              <a:t>Valacich</a:t>
            </a:r>
            <a:br>
              <a:rPr lang="en-US" sz="4400" b="1" dirty="0">
                <a:solidFill>
                  <a:schemeClr val="tx2"/>
                </a:solidFill>
              </a:rPr>
            </a:br>
            <a:endParaRPr lang="en-US" dirty="0"/>
          </a:p>
        </p:txBody>
      </p:sp>
      <p:sp>
        <p:nvSpPr>
          <p:cNvPr id="48133" name="Date Placeholder 5"/>
          <p:cNvSpPr>
            <a:spLocks noGrp="1"/>
          </p:cNvSpPr>
          <p:nvPr>
            <p:ph type="dt" sz="half" idx="10"/>
          </p:nvPr>
        </p:nvSpPr>
        <p:spPr>
          <a:noFill/>
        </p:spPr>
        <p:txBody>
          <a:bodyPr/>
          <a:lstStyle/>
          <a:p>
            <a:endParaRPr lang="en-US">
              <a:latin typeface="Arial" pitchFamily="34" charset="0"/>
              <a:cs typeface="Arial" pitchFamily="34" charset="0"/>
            </a:endParaRPr>
          </a:p>
        </p:txBody>
      </p:sp>
      <p:sp>
        <p:nvSpPr>
          <p:cNvPr id="48130" name="Rectangle 2"/>
          <p:cNvSpPr>
            <a:spLocks noGrp="1" noChangeArrowheads="1"/>
          </p:cNvSpPr>
          <p:nvPr>
            <p:ph type="ftr" sz="quarter" idx="11"/>
          </p:nvPr>
        </p:nvSpPr>
        <p:spPr>
          <a:noFill/>
        </p:spPr>
        <p:txBody>
          <a:bodyPr/>
          <a:lstStyle/>
          <a:p>
            <a:endParaRPr lang="en-US">
              <a:latin typeface="Arial" pitchFamily="34" charset="0"/>
              <a:cs typeface="Arial" pitchFamily="34" charset="0"/>
            </a:endParaRPr>
          </a:p>
        </p:txBody>
      </p:sp>
      <p:sp>
        <p:nvSpPr>
          <p:cNvPr id="48132" name="Slide Number Placeholder 4"/>
          <p:cNvSpPr>
            <a:spLocks noGrp="1"/>
          </p:cNvSpPr>
          <p:nvPr>
            <p:ph type="sldNum" sz="quarter" idx="12"/>
          </p:nvPr>
        </p:nvSpPr>
        <p:spPr>
          <a:noFill/>
        </p:spPr>
        <p:txBody>
          <a:bodyPr/>
          <a:lstStyle/>
          <a:p>
            <a:fld id="{3F181561-60D5-402D-B96F-C5CB45586185}" type="slidenum">
              <a:rPr lang="en-US" smtClean="0">
                <a:cs typeface="Arial" pitchFamily="34" charset="0"/>
              </a:rPr>
              <a:pPr/>
              <a:t>54</a:t>
            </a:fld>
            <a:endParaRPr lang="en-US">
              <a:cs typeface="Arial" pitchFamily="34" charset="0"/>
            </a:endParaRPr>
          </a:p>
        </p:txBody>
      </p:sp>
    </p:spTree>
    <p:extLst>
      <p:ext uri="{BB962C8B-B14F-4D97-AF65-F5344CB8AC3E}">
        <p14:creationId xmlns:p14="http://schemas.microsoft.com/office/powerpoint/2010/main" val="2706690151"/>
      </p:ext>
    </p:extLst>
  </p:cSld>
  <p:clrMapOvr>
    <a:masterClrMapping/>
  </p:clrMapOvr>
  <p:transition>
    <p:zoom/>
  </p:transition>
</p:sld>
</file>

<file path=ppt/theme/theme1.xml><?xml version="1.0" encoding="utf-8"?>
<a:theme xmlns:a="http://schemas.openxmlformats.org/drawingml/2006/main" name="Pixel">
  <a:themeElements>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A212D3-BBF1-4285-A7F3-8BF460792E5D}">
  <we:reference id="a3b40b4f-8edf-490e-9df1-7e66f93912bf" version="1.1.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B2D88CD9CFDA74385306FF0A67351CF" ma:contentTypeVersion="0" ma:contentTypeDescription="Create a new document." ma:contentTypeScope="" ma:versionID="9f0928b7be040d9dc0947c5158b537e4">
  <xsd:schema xmlns:xsd="http://www.w3.org/2001/XMLSchema" xmlns:xs="http://www.w3.org/2001/XMLSchema" xmlns:p="http://schemas.microsoft.com/office/2006/metadata/properties" targetNamespace="http://schemas.microsoft.com/office/2006/metadata/properties" ma:root="true" ma:fieldsID="8022916f55ab85163ee9a5069dec31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0DA760E0-97F4-422B-80CC-3B2BD08B1397}">
  <ds:schemaRefs>
    <ds:schemaRef ds:uri="http://schemas.microsoft.com/office/2006/metadata/properties"/>
  </ds:schemaRefs>
</ds:datastoreItem>
</file>

<file path=customXml/itemProps2.xml><?xml version="1.0" encoding="utf-8"?>
<ds:datastoreItem xmlns:ds="http://schemas.openxmlformats.org/officeDocument/2006/customXml" ds:itemID="{D94858F9-8BD5-4A55-A255-72938E967131}">
  <ds:schemaRefs>
    <ds:schemaRef ds:uri="http://schemas.microsoft.com/sharepoint/v3/contenttype/forms"/>
  </ds:schemaRefs>
</ds:datastoreItem>
</file>

<file path=customXml/itemProps3.xml><?xml version="1.0" encoding="utf-8"?>
<ds:datastoreItem xmlns:ds="http://schemas.openxmlformats.org/officeDocument/2006/customXml" ds:itemID="{7479E2AF-534B-431A-B09F-EB2625D63A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4.xml><?xml version="1.0" encoding="utf-8"?>
<ds:datastoreItem xmlns:ds="http://schemas.openxmlformats.org/officeDocument/2006/customXml" ds:itemID="{6DF4936F-756B-456B-A485-D0AB87B93704}">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
  <TotalTime>4060</TotalTime>
  <Words>2792</Words>
  <Application>Microsoft Office PowerPoint</Application>
  <PresentationFormat>On-screen Show (4:3)</PresentationFormat>
  <Paragraphs>359</Paragraphs>
  <Slides>54</Slides>
  <Notes>7</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54</vt:i4>
      </vt:variant>
    </vt:vector>
  </HeadingPairs>
  <TitlesOfParts>
    <vt:vector size="69" baseType="lpstr">
      <vt:lpstr>Arabic Typesetting</vt:lpstr>
      <vt:lpstr>Arial</vt:lpstr>
      <vt:lpstr>Arial Black</vt:lpstr>
      <vt:lpstr>Calibri</vt:lpstr>
      <vt:lpstr>Calibri Light</vt:lpstr>
      <vt:lpstr>FuturaLTPro-BoldCond</vt:lpstr>
      <vt:lpstr>NewBaskervilleITCPro-Bold</vt:lpstr>
      <vt:lpstr>NewBaskervilleITCPro-Roman</vt:lpstr>
      <vt:lpstr>Segoe Sans</vt:lpstr>
      <vt:lpstr>Segoe UI Symbol</vt:lpstr>
      <vt:lpstr>Tahoma</vt:lpstr>
      <vt:lpstr>Times New Roman</vt:lpstr>
      <vt:lpstr>Wingdings</vt:lpstr>
      <vt:lpstr>Pixel</vt:lpstr>
      <vt:lpstr>Office 2013 - 2022 Theme</vt:lpstr>
      <vt:lpstr>Chapter 3 Software Requirement Analysis –PART 2 </vt:lpstr>
      <vt:lpstr>SystemProcess Requirements</vt:lpstr>
      <vt:lpstr>Process Modeling</vt:lpstr>
      <vt:lpstr>PowerPoint Presentation</vt:lpstr>
      <vt:lpstr>PowerPoint Presentation</vt:lpstr>
      <vt:lpstr>PowerPoint Presentation</vt:lpstr>
      <vt:lpstr>Data Flow Diagramming Mechanics</vt:lpstr>
      <vt:lpstr>Definitions and Symbols</vt:lpstr>
      <vt:lpstr>PowerPoint Presentation</vt:lpstr>
      <vt:lpstr>Developing DFDs</vt:lpstr>
      <vt:lpstr>Developing DFDs: An example</vt:lpstr>
      <vt:lpstr>Context Diagram</vt:lpstr>
      <vt:lpstr>Developing DFDs (Cont.)</vt:lpstr>
      <vt:lpstr>PowerPoint Presentation</vt:lpstr>
      <vt:lpstr>Level-0 Diagram</vt:lpstr>
      <vt:lpstr>Data Flow Diagramming Rules</vt:lpstr>
      <vt:lpstr>Data Flow Diagramming Rules (Cont.)</vt:lpstr>
      <vt:lpstr>Data Flow Diagramming Rules (Cont.)</vt:lpstr>
      <vt:lpstr>Decomposition of DFDs</vt:lpstr>
      <vt:lpstr>Decomposition of DFDs (Cont.)</vt:lpstr>
      <vt:lpstr>Level-1 DFD</vt:lpstr>
      <vt:lpstr>Level-n DFD</vt:lpstr>
      <vt:lpstr>Balancing DFDs</vt:lpstr>
      <vt:lpstr>Balancing DFDs (Cont.)</vt:lpstr>
      <vt:lpstr>Balancing DFDs (Cont.)</vt:lpstr>
      <vt:lpstr>Balancing DFDs (Cont.)</vt:lpstr>
      <vt:lpstr>Balancing DFDs (Cont.)</vt:lpstr>
      <vt:lpstr>Balancing DFDs: More DFD Rules</vt:lpstr>
      <vt:lpstr>Four Different Types of DFDs</vt:lpstr>
      <vt:lpstr>Four Different Types of DFDs (Cont.)</vt:lpstr>
      <vt:lpstr>Guidelines for Drawing DFDs</vt:lpstr>
      <vt:lpstr>Guidelines for Drawing DFDs (Cont.)</vt:lpstr>
      <vt:lpstr>Guidelines for Drawing DFDs (Cont.)</vt:lpstr>
      <vt:lpstr>Guidelines for Drawing DFDs (Cont.)</vt:lpstr>
      <vt:lpstr>Guidelines for Drawing DFDs (Cont.)</vt:lpstr>
      <vt:lpstr>Guidelines for Drawing DFDs (Cont.)</vt:lpstr>
      <vt:lpstr>Using DFDs as Analysis Tools</vt:lpstr>
      <vt:lpstr>Using DFDs in BPR (Business Process Reengineering)</vt:lpstr>
      <vt:lpstr>Using DFDs in BPR (Cont.)</vt:lpstr>
      <vt:lpstr>Modeling Logic with Decision Tables</vt:lpstr>
      <vt:lpstr>Modeling Logic with Decision Tables (Cont.)</vt:lpstr>
      <vt:lpstr>Modeling Logic with Decision Tables (Cont.)</vt:lpstr>
      <vt:lpstr>Modeling Logic with Decision Tables (Cont.)</vt:lpstr>
      <vt:lpstr>Modeling Logic with Decision Tables (Cont.)</vt:lpstr>
      <vt:lpstr>Modeling Logic with Decision Tables (Cont.)</vt:lpstr>
      <vt:lpstr>Electronic Commerce Application: Process Modeling using Data Flow Diagrams</vt:lpstr>
      <vt:lpstr>Electronic Commerce Application: Process Modeling using Data Flow Diagrams (Cont.)</vt:lpstr>
      <vt:lpstr>Electronic Commerce Application: Process Modeling using Data Flow Diagrams</vt:lpstr>
      <vt:lpstr>Summary</vt:lpstr>
      <vt:lpstr>Summary (Cont.)</vt:lpstr>
      <vt:lpstr>Common Mistakes in DFDs (Part 1)</vt:lpstr>
      <vt:lpstr>Common Mistakes in DFDs (Part 2) </vt:lpstr>
      <vt:lpstr>Common Mistakes in DFDs (Part 3) </vt:lpstr>
      <vt:lpstr>Modern Systems Analysis and Design  by  Jeffrey A. Hoffer  Joey F. George Joseph S. Valacich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Determining System Requirements.</dc:title>
  <dc:creator>Mike Mitri</dc:creator>
  <cp:lastModifiedBy>AINITA BINTI BAN</cp:lastModifiedBy>
  <cp:revision>353</cp:revision>
  <cp:lastPrinted>1601-01-01T00:00:00Z</cp:lastPrinted>
  <dcterms:created xsi:type="dcterms:W3CDTF">2000-04-11T00:26:26Z</dcterms:created>
  <dcterms:modified xsi:type="dcterms:W3CDTF">2025-04-29T01:51:16Z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