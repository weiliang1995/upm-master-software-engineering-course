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5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4" autoAdjust="0"/>
    <p:restoredTop sz="61322" autoAdjust="0"/>
  </p:normalViewPr>
  <p:slideViewPr>
    <p:cSldViewPr snapToGrid="0">
      <p:cViewPr varScale="1">
        <p:scale>
          <a:sx n="68" d="100"/>
          <a:sy n="68" d="100"/>
        </p:scale>
        <p:origin x="21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E6AB1-F3EE-4F96-9953-1DAA5DA1A37D}" type="datetimeFigureOut">
              <a:rPr lang="en-MY" smtClean="0"/>
              <a:t>13/6/2025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79802-75C0-4575-AA4D-B7783FEF8AE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0327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79802-75C0-4575-AA4D-B7783FEF8AE0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21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79802-75C0-4575-AA4D-B7783FEF8AE0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1612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Walkthrough:</a:t>
            </a:r>
            <a:endParaRPr lang="en-US" dirty="0"/>
          </a:p>
          <a:p>
            <a:r>
              <a:rPr lang="en-US" b="1" dirty="0"/>
              <a:t>Student</a:t>
            </a:r>
            <a:r>
              <a:rPr lang="en-US" dirty="0"/>
              <a:t> asks </a:t>
            </a:r>
            <a:r>
              <a:rPr lang="en-US" b="1" dirty="0" err="1"/>
              <a:t>CourseCatalog</a:t>
            </a:r>
            <a:r>
              <a:rPr lang="en-US" dirty="0"/>
              <a:t> for available courses.</a:t>
            </a:r>
          </a:p>
          <a:p>
            <a:r>
              <a:rPr lang="en-US" b="1" dirty="0" err="1"/>
              <a:t>CourseCatalog</a:t>
            </a:r>
            <a:r>
              <a:rPr lang="en-US" dirty="0"/>
              <a:t> returns the list.</a:t>
            </a:r>
          </a:p>
          <a:p>
            <a:r>
              <a:rPr lang="en-US" b="1" dirty="0"/>
              <a:t>Student</a:t>
            </a:r>
            <a:r>
              <a:rPr lang="en-US" dirty="0"/>
              <a:t> selects a course and requests </a:t>
            </a:r>
            <a:r>
              <a:rPr lang="en-US" b="1" dirty="0" err="1"/>
              <a:t>EnrollmentService</a:t>
            </a:r>
            <a:r>
              <a:rPr lang="en-US" dirty="0"/>
              <a:t> to register.</a:t>
            </a:r>
          </a:p>
          <a:p>
            <a:r>
              <a:rPr lang="en-US" b="1" dirty="0" err="1"/>
              <a:t>EnrollmentService</a:t>
            </a:r>
            <a:r>
              <a:rPr lang="en-US" dirty="0"/>
              <a:t> fetches course details from </a:t>
            </a:r>
            <a:r>
              <a:rPr lang="en-US" b="1" dirty="0" err="1"/>
              <a:t>CourseCatalog</a:t>
            </a:r>
            <a:r>
              <a:rPr lang="en-US" dirty="0"/>
              <a:t>.</a:t>
            </a:r>
          </a:p>
          <a:p>
            <a:r>
              <a:rPr lang="en-US" b="1" dirty="0" err="1"/>
              <a:t>EnrollmentService</a:t>
            </a:r>
            <a:r>
              <a:rPr lang="en-US" dirty="0"/>
              <a:t> checks if the </a:t>
            </a:r>
            <a:r>
              <a:rPr lang="en-US" b="1" dirty="0"/>
              <a:t>Course</a:t>
            </a:r>
            <a:r>
              <a:rPr lang="en-US" dirty="0"/>
              <a:t> is available and if the </a:t>
            </a:r>
            <a:r>
              <a:rPr lang="en-US" b="1" dirty="0"/>
              <a:t>Student</a:t>
            </a:r>
            <a:r>
              <a:rPr lang="en-US" dirty="0"/>
              <a:t> meets prerequisites.</a:t>
            </a:r>
          </a:p>
          <a:p>
            <a:r>
              <a:rPr lang="en-US" dirty="0"/>
              <a:t>If all checks pass, </a:t>
            </a:r>
            <a:r>
              <a:rPr lang="en-US" b="1" dirty="0" err="1"/>
              <a:t>EnrollmentService</a:t>
            </a:r>
            <a:r>
              <a:rPr lang="en-US" dirty="0"/>
              <a:t> tells the </a:t>
            </a:r>
            <a:r>
              <a:rPr lang="en-US" b="1" dirty="0"/>
              <a:t>Course</a:t>
            </a:r>
            <a:r>
              <a:rPr lang="en-US" dirty="0"/>
              <a:t> to </a:t>
            </a:r>
            <a:r>
              <a:rPr lang="en-US" dirty="0" err="1"/>
              <a:t>addStudent</a:t>
            </a:r>
            <a:r>
              <a:rPr lang="en-US" dirty="0"/>
              <a:t>(), which updates its enrollment count in the </a:t>
            </a:r>
            <a:r>
              <a:rPr lang="en-US" b="1" dirty="0"/>
              <a:t>Database</a:t>
            </a:r>
            <a:r>
              <a:rPr lang="en-US" dirty="0"/>
              <a:t>.</a:t>
            </a:r>
          </a:p>
          <a:p>
            <a:r>
              <a:rPr lang="en-US" b="1" dirty="0" err="1"/>
              <a:t>EnrollmentService</a:t>
            </a:r>
            <a:r>
              <a:rPr lang="en-US" dirty="0"/>
              <a:t> then updates the </a:t>
            </a:r>
            <a:r>
              <a:rPr lang="en-US" b="1" dirty="0"/>
              <a:t>Student</a:t>
            </a:r>
            <a:r>
              <a:rPr lang="en-US" dirty="0"/>
              <a:t>'s list of enrolled courses in the </a:t>
            </a:r>
            <a:r>
              <a:rPr lang="en-US" b="1" dirty="0"/>
              <a:t>Database</a:t>
            </a:r>
            <a:r>
              <a:rPr lang="en-US" dirty="0"/>
              <a:t>.</a:t>
            </a:r>
          </a:p>
          <a:p>
            <a:r>
              <a:rPr lang="en-US" dirty="0"/>
              <a:t>Finally, </a:t>
            </a:r>
            <a:r>
              <a:rPr lang="en-US" b="1" dirty="0" err="1"/>
              <a:t>EnrollmentService</a:t>
            </a:r>
            <a:r>
              <a:rPr lang="en-US" dirty="0"/>
              <a:t> confirms success to the </a:t>
            </a:r>
            <a:r>
              <a:rPr lang="en-US" b="1" dirty="0"/>
              <a:t>Student</a:t>
            </a:r>
            <a:r>
              <a:rPr lang="en-US" dirty="0"/>
              <a:t>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79802-75C0-4575-AA4D-B7783FEF8AE0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081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5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3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1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8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1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4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4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2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7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E229233-9672-4675-99B7-6CBCEF1C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04CB00-75B5-C603-F088-5F1BDCF5E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4" r="3350" b="-1"/>
          <a:stretch>
            <a:fillRect/>
          </a:stretch>
        </p:blipFill>
        <p:spPr>
          <a:xfrm>
            <a:off x="20" y="-2"/>
            <a:ext cx="811528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C5FF010-B53C-46BE-BEEF-AF926A00F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8500" y="2057400"/>
            <a:ext cx="4876800" cy="274320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9AD9C-1F43-4138-A72B-8CA988EDD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2057400"/>
            <a:ext cx="3276600" cy="274320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AE281-B0F3-75BA-AE67-7227D9EB2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2502489"/>
            <a:ext cx="3314700" cy="1853023"/>
          </a:xfrm>
        </p:spPr>
        <p:txBody>
          <a:bodyPr anchor="ctr">
            <a:normAutofit/>
          </a:bodyPr>
          <a:lstStyle/>
          <a:p>
            <a:r>
              <a:rPr lang="en-MY" sz="3200" dirty="0"/>
              <a:t>Object Oriented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415CA-162D-03D4-7868-454A65F7A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0" y="2502489"/>
            <a:ext cx="3162300" cy="1853023"/>
          </a:xfrm>
        </p:spPr>
        <p:txBody>
          <a:bodyPr anchor="ctr">
            <a:normAutofit fontScale="92500" lnSpcReduction="20000"/>
          </a:bodyPr>
          <a:lstStyle/>
          <a:p>
            <a:endParaRPr lang="en-MY" dirty="0"/>
          </a:p>
          <a:p>
            <a:pPr marL="180000" lvl="1" indent="-1800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MY" dirty="0"/>
              <a:t>Transition to design</a:t>
            </a:r>
          </a:p>
          <a:p>
            <a:pPr marL="180000" lvl="1" indent="-1800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MY" dirty="0"/>
              <a:t>Attribute specification and identifying operations</a:t>
            </a:r>
          </a:p>
          <a:p>
            <a:pPr marL="180000" lvl="1" indent="-1800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MY" dirty="0"/>
              <a:t>Design models</a:t>
            </a:r>
          </a:p>
          <a:p>
            <a:endParaRPr lang="en-MY" sz="1600" dirty="0"/>
          </a:p>
        </p:txBody>
      </p:sp>
    </p:spTree>
    <p:extLst>
      <p:ext uri="{BB962C8B-B14F-4D97-AF65-F5344CB8AC3E}">
        <p14:creationId xmlns:p14="http://schemas.microsoft.com/office/powerpoint/2010/main" val="279942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F0AD-1953-40E7-3AB2-C36BA284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463" y="59220"/>
            <a:ext cx="8915402" cy="1371600"/>
          </a:xfrm>
        </p:spPr>
        <p:txBody>
          <a:bodyPr/>
          <a:lstStyle/>
          <a:p>
            <a:r>
              <a:rPr lang="en-MY" dirty="0"/>
              <a:t>Introduction to OOD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7851A8-6C6B-CC9B-8D38-CFA62DD13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8943" y="1527109"/>
            <a:ext cx="9558443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OOD?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It's the process of transforming analysis models into a detailed blueprint for software implementation. 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It's not just about writing code; it's about crafting a blueprint for robust, scalable software.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transforms abstract ideas (analysis models) into concrete structures ready for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Principles: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OOD emphasizes the use of objects, classes, encapsulation, inheritance, and polymorphism to structure a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it important?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focuses on defining the system's structure and behavior to efficiently meet user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21638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84CA-DC93-5E9D-840C-0DE7B81A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Why OOD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7F04-E27D-CD20-544C-CC52AF678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 lvl="1"/>
            <a:r>
              <a:rPr lang="en-US" sz="2400" b="1" dirty="0"/>
              <a:t>Modularity:</a:t>
            </a:r>
            <a:r>
              <a:rPr lang="en-US" sz="2400" dirty="0"/>
              <a:t> Breaking complex systems into manageable pieces.</a:t>
            </a:r>
          </a:p>
          <a:p>
            <a:pPr lvl="1"/>
            <a:r>
              <a:rPr lang="en-US" sz="2400" b="1" dirty="0"/>
              <a:t>Reusability:</a:t>
            </a:r>
            <a:r>
              <a:rPr lang="en-US" sz="2400" dirty="0"/>
              <a:t> Building components that can be used again and again.</a:t>
            </a:r>
          </a:p>
          <a:p>
            <a:pPr lvl="1"/>
            <a:r>
              <a:rPr lang="en-US" sz="2400" b="1" dirty="0"/>
              <a:t>Maintainability:</a:t>
            </a:r>
            <a:r>
              <a:rPr lang="en-US" sz="2400" dirty="0"/>
              <a:t> Making systems easier to understand, debug, and enhance.</a:t>
            </a:r>
          </a:p>
          <a:p>
            <a:pPr lvl="1"/>
            <a:r>
              <a:rPr lang="en-US" sz="2400" b="1" dirty="0"/>
              <a:t>Key Pillars:</a:t>
            </a:r>
            <a:r>
              <a:rPr lang="en-US" sz="2400" dirty="0"/>
              <a:t> Objects, Classes, Encapsulation, Inheritance, Polymorphism.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4428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CF85-1AC2-F5F3-B130-7F2F5FAB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Transition - Bridging the Gap</a:t>
            </a:r>
            <a:endParaRPr lang="en-M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59E65-ECEB-02FA-C6FD-3FED29D36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6914" y="1717883"/>
            <a:ext cx="911678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Analysis to Design: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phase refines the abstract analysis model into a concrete design ready for coding. 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we refine our understanding of </a:t>
            </a:r>
            <a:r>
              <a:rPr lang="en-US" sz="1800" i="1" dirty="0"/>
              <a:t>what</a:t>
            </a:r>
            <a:r>
              <a:rPr lang="en-US" sz="1800" dirty="0"/>
              <a:t> the system should do (analysis) into </a:t>
            </a:r>
            <a:r>
              <a:rPr lang="en-US" sz="1800" i="1" dirty="0"/>
              <a:t>how</a:t>
            </a:r>
            <a:r>
              <a:rPr lang="en-US" sz="1800" dirty="0"/>
              <a:t> it will be built (design).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Activities: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detailed architecture and class structures.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system components.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established design principles.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appropriate design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Think of it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 Like an architect drawing detailed plans after understanding the client's needs.</a:t>
            </a:r>
          </a:p>
        </p:txBody>
      </p:sp>
    </p:spTree>
    <p:extLst>
      <p:ext uri="{BB962C8B-B14F-4D97-AF65-F5344CB8AC3E}">
        <p14:creationId xmlns:p14="http://schemas.microsoft.com/office/powerpoint/2010/main" val="127416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C325-EF2A-496E-E5E3-EB26DF44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Techniques &amp; Tools for Design Transition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9B53E1-5638-20EE-806E-B6F6CC13A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8300" y="2002373"/>
            <a:ext cx="87035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case-driven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Designing based on how users interact with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layered 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Breaking down the system into manageable, independent parts.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pattern selection: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Reusing proven solutions to common design problems.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StarUML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creating visual diagrams).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Computer-Aided Software Engineering tools.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IDEs with modeling plugins: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Eclipse (integrating design directly into development environments).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7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D505-ACFF-910F-387A-FE7762A6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0"/>
            <a:ext cx="8915402" cy="1371600"/>
          </a:xfrm>
        </p:spPr>
        <p:txBody>
          <a:bodyPr/>
          <a:lstStyle/>
          <a:p>
            <a:r>
              <a:rPr lang="en-US" dirty="0"/>
              <a:t>Attribute Specification - What Does an Object Know?</a:t>
            </a:r>
            <a:endParaRPr lang="en-M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853B05-50DB-D1D5-D250-3D377CC8A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144" y="1443995"/>
            <a:ext cx="9900557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Attributes:</a:t>
            </a:r>
            <a:r>
              <a:rPr lang="en-US" sz="2000" dirty="0"/>
              <a:t> These are the data points, the characteristics, the "nouns" that describe an object's state.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Considerations for Attributes: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is this piece of data called? </a:t>
            </a:r>
            <a:r>
              <a:rPr lang="en-MY" sz="2000" dirty="0"/>
              <a:t>Clear, descriptive name.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Type: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kind of data is it (e.g., String, Integer, Boolean)?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Default Value: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is its initial value, if any?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Who can access this data? (private, public, protected).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private (-): Accessible only within the class (good for encapsulation!).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public (+): Accessible from anywhere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protected (#): Accessible within the class and by subclasses.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Constraints and Validations: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there any rules for its values? (e.g., age must be &gt; 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 are clearly represented using UML class diagrams.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26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56AA-C754-75B6-F411-4B25EFAA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Operations - What Can an Object Do?</a:t>
            </a:r>
            <a:endParaRPr lang="en-M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3366A3-3DC6-D115-CBDB-22762EB69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9329" y="2529350"/>
            <a:ext cx="94488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Behavior: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Operations represent the actions or behaviors that objects can perform. </a:t>
            </a:r>
            <a:r>
              <a:rPr lang="en-MY" sz="2400" dirty="0"/>
              <a:t>"verbs"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 for Identifying Operations: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actions are needed to fulfill user interactions?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Responsibilities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responsibilities does an object have,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Interactions: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 does this object communicate with others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Rules: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specific actions are dictated by the business logic?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76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E2C9-B89D-6286-C4F8-7D57AC79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0"/>
            <a:ext cx="8915402" cy="1371600"/>
          </a:xfrm>
        </p:spPr>
        <p:txBody>
          <a:bodyPr/>
          <a:lstStyle/>
          <a:p>
            <a:r>
              <a:rPr lang="en-US" dirty="0"/>
              <a:t>Identifying Operations - What Can an Object Do? (CONT.)</a:t>
            </a:r>
            <a:endParaRPr lang="en-M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F8C2AF-460C-57C7-79A4-8BDF7568D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8300" y="1925429"/>
            <a:ext cx="89154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Categorizing Methods: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Accessors (Getters):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 attribute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Mutators (Setters):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Modify attribute values.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Utilities: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other internal or helper functions.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calculateTax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CRC cards (Class-Responsibility-Collaboration) or class diagrams. </a:t>
            </a:r>
          </a:p>
        </p:txBody>
      </p:sp>
    </p:spTree>
    <p:extLst>
      <p:ext uri="{BB962C8B-B14F-4D97-AF65-F5344CB8AC3E}">
        <p14:creationId xmlns:p14="http://schemas.microsoft.com/office/powerpoint/2010/main" val="160212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BEDCA0-5887-4BE5-B9A9-475112CFD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4210E-BF53-4B8C-AAF6-67A500877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F20F32-BAF8-48C2-BAC7-3E3B2405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685800"/>
            <a:ext cx="1139190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C2B84-48F8-D84F-0B3E-267348C2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1254827"/>
            <a:ext cx="4838700" cy="13706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Class Diagram - The "Student" Example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C51CDD-8A49-13BD-8663-5952AAFF6E6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638299" y="2772362"/>
            <a:ext cx="6411687" cy="2801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Student class has name and id (private data). It can enroll() in a Course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viewGrades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().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There's a relationship: a Student can enroll in multiple Courses, and a Course can have multiple Students.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Clarity: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It provides a clear visual representation of a class's structure. 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4EE33-0492-1DD1-F2FA-3380914D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703" y="1371600"/>
            <a:ext cx="21396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7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24E62E-2EEC-B1B8-B632-B875B782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Model Overview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A38C91-A520-F863-B807-482FE17B8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8915402" cy="71845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 Collection of Diagrams:</a:t>
            </a:r>
            <a:r>
              <a:rPr lang="en-US" dirty="0"/>
              <a:t> The design model is a set of diagrams that detail the system's structure and behavior.</a:t>
            </a:r>
          </a:p>
          <a:p>
            <a:endParaRPr lang="en-MY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3AD2F2B-C687-496D-14B1-25EA319FE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451" y="2590741"/>
            <a:ext cx="85755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Diagrams: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Illustrate the static structure of the system (classes, attributes, relationships).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 Diagrams: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dynamic interaction flow between objects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Diagrams: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Describe the lifecycle of an object and its different states.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Diagrams: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 the physical structure and dependencies of software components.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70C0"/>
                </a:solidFill>
              </a:rPr>
              <a:t>Goal:</a:t>
            </a:r>
            <a:r>
              <a:rPr lang="en-US" sz="2000" dirty="0">
                <a:solidFill>
                  <a:srgbClr val="0070C0"/>
                </a:solidFill>
              </a:rPr>
              <a:t> To ensure every requirement from the analysis phase is clearly addressed in the design.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9488A-B1BB-684D-6777-BC90B0F75542}"/>
              </a:ext>
            </a:extLst>
          </p:cNvPr>
          <p:cNvSpPr txBox="1"/>
          <p:nvPr/>
        </p:nvSpPr>
        <p:spPr>
          <a:xfrm>
            <a:off x="5678262" y="679103"/>
            <a:ext cx="3939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Your System's Storybook</a:t>
            </a:r>
          </a:p>
        </p:txBody>
      </p:sp>
    </p:spTree>
    <p:extLst>
      <p:ext uri="{BB962C8B-B14F-4D97-AF65-F5344CB8AC3E}">
        <p14:creationId xmlns:p14="http://schemas.microsoft.com/office/powerpoint/2010/main" val="222082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51CF-BA21-87E9-B7BF-7D216631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Model Techniques &amp;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CB1F5E-A498-B910-9DB1-ED8B883090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038" y="1786931"/>
            <a:ext cx="891540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for Building the Design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Top-down design: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with the high-level system and breaking it down into smaller components.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Bottom-up design: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with individual components and integrating them to form the system.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Responsibility-driven design: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Assigning clear responsibilities to each class. 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for Modeling: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 modeling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StarUML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creating various UML diagrams).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(often include integrated modeling capabilities)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78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84D5-4263-D9FA-4DF2-91391FA6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492273"/>
            <a:ext cx="8915402" cy="1371600"/>
          </a:xfrm>
        </p:spPr>
        <p:txBody>
          <a:bodyPr/>
          <a:lstStyle/>
          <a:p>
            <a:r>
              <a:rPr lang="en-MY" dirty="0"/>
              <a:t>Example Sequence Diagram - Illustrating Dynamic Interactions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B996DF-C39C-9E0A-F976-FD0ECF9C8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8300" y="1863873"/>
            <a:ext cx="89154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dynamic interaction between objects over time, showing the order of method calls.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diagram visually illustrates the dynamic interaction and message flow between different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sequence diagram could show how a "Student" object interacts with a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CourseCatalog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object to enroll in a "Course."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demonstrates the order of method calls and the flow of data between objects.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16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2BFC-4BD6-E93B-31E4-3C5A0DC3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Example: Student Enrollment Process</a:t>
            </a:r>
            <a:r>
              <a:rPr lang="en-US" altLang="en-US" b="0" dirty="0">
                <a:latin typeface="Arial" panose="020B0604020202020204" pitchFamily="34" charset="0"/>
              </a:rPr>
              <a:t> </a:t>
            </a:r>
            <a:br>
              <a:rPr lang="en-US" altLang="en-US" b="0" dirty="0">
                <a:latin typeface="Arial" panose="020B0604020202020204" pitchFamily="34" charset="0"/>
              </a:rPr>
            </a:br>
            <a:endParaRPr lang="en-M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7560A9-0B22-29F6-C4E7-1E7A059F1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4143" y="2240492"/>
            <a:ext cx="1060418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asks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CourseCatalog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("CS101")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CourseCatalog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asks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checkAvailability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checks its capacity.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asks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EnrollmentService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enrollStudent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(student, course)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EnrollmentService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updates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B3C5-0B5C-986F-2674-72CDFEDBA3F7}"/>
              </a:ext>
            </a:extLst>
          </p:cNvPr>
          <p:cNvSpPr txBox="1"/>
          <p:nvPr/>
        </p:nvSpPr>
        <p:spPr>
          <a:xfrm>
            <a:off x="2314574" y="5195147"/>
            <a:ext cx="75805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Value:</a:t>
            </a:r>
            <a:r>
              <a:rPr lang="en-US" sz="2400" dirty="0">
                <a:solidFill>
                  <a:srgbClr val="0070C0"/>
                </a:solidFill>
              </a:rPr>
              <a:t> Helps visualize potential bottlenecks, understand data flow, and debug interaction issues.</a:t>
            </a:r>
            <a:endParaRPr lang="en-MY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523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48FA-5048-B4C7-860C-F86FE742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28600"/>
            <a:ext cx="9432472" cy="1110344"/>
          </a:xfrm>
        </p:spPr>
        <p:txBody>
          <a:bodyPr/>
          <a:lstStyle/>
          <a:p>
            <a:r>
              <a:rPr lang="en-US" dirty="0"/>
              <a:t>Component Diagram Overview - The Physical Architecture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MY" dirty="0"/>
              <a:t>The System's Physical Layout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1CAFBC-E251-48AB-93E6-9BAB0BC1F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2396" y="1840758"/>
            <a:ext cx="998720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Describes the physical deployment structure of the software.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This diagram describes how the different software components are physically deployed and interact.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 &amp; Dependencies: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different software components </a:t>
            </a:r>
            <a:r>
              <a:rPr lang="en-US" sz="2000" dirty="0"/>
              <a:t>(e.g., "Web Server," "Database," "Payment Gateway Service")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how they depend on each other.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&amp; 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useful for planning how different parts of the system will integrate </a:t>
            </a:r>
            <a:r>
              <a:rPr lang="en-US" sz="2000" dirty="0"/>
              <a:t>(how different parts fit together)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be deployed.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Crucisl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deployment requirements (what needs to be installed where).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potential scalability or infrastructure challenges.</a:t>
            </a:r>
          </a:p>
        </p:txBody>
      </p:sp>
    </p:spTree>
    <p:extLst>
      <p:ext uri="{BB962C8B-B14F-4D97-AF65-F5344CB8AC3E}">
        <p14:creationId xmlns:p14="http://schemas.microsoft.com/office/powerpoint/2010/main" val="244150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B482-B0CB-9E07-9FB0-9A07991E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2D7B2A-EB63-482C-186F-96DFEBCC3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8300" y="2233205"/>
            <a:ext cx="873118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 to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OOD serves as the crucial bridge between initial analysis and actual software implementation.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System Elements: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defines both the static structure (attributes, classes) and the dynamic behavior (operations, interactions) of a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 and Planning: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OOD leverages various diagrams and tools to ensure clarity, thorough planning, and effective communication throughout the development process. </a:t>
            </a:r>
          </a:p>
        </p:txBody>
      </p:sp>
    </p:spTree>
    <p:extLst>
      <p:ext uri="{BB962C8B-B14F-4D97-AF65-F5344CB8AC3E}">
        <p14:creationId xmlns:p14="http://schemas.microsoft.com/office/powerpoint/2010/main" val="2932039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362C-6550-4B98-49FF-3B417A85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Student Course Registration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2A94-5663-E170-C7C8-274C39659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9" y="1812472"/>
            <a:ext cx="9051473" cy="43821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System Overview - Student Course Registration</a:t>
            </a:r>
          </a:p>
          <a:p>
            <a:r>
              <a:rPr lang="en-US" b="1" dirty="0"/>
              <a:t>The Goal:</a:t>
            </a:r>
            <a:r>
              <a:rPr lang="en-US" dirty="0"/>
              <a:t> Design a system that allows students to register for courses, view their schedules, and manage their academic records.</a:t>
            </a:r>
          </a:p>
          <a:p>
            <a:r>
              <a:rPr lang="en-US" b="1" dirty="0"/>
              <a:t>Key Actors: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Student:</a:t>
            </a:r>
            <a:r>
              <a:rPr lang="en-US" dirty="0"/>
              <a:t> The primary user of the system.</a:t>
            </a:r>
          </a:p>
          <a:p>
            <a:pPr lvl="1"/>
            <a:r>
              <a:rPr lang="en-US" b="1" dirty="0"/>
              <a:t>Administrator/Registrar:</a:t>
            </a:r>
            <a:r>
              <a:rPr lang="en-US" dirty="0"/>
              <a:t> Manages courses, students, and registration periods.</a:t>
            </a:r>
          </a:p>
          <a:p>
            <a:r>
              <a:rPr lang="en-US" b="1" dirty="0"/>
              <a:t>Core Functionality: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Browse available courses.</a:t>
            </a:r>
          </a:p>
          <a:p>
            <a:pPr lvl="1"/>
            <a:r>
              <a:rPr lang="en-US" dirty="0"/>
              <a:t>Register for courses.</a:t>
            </a:r>
          </a:p>
          <a:p>
            <a:pPr lvl="1"/>
            <a:r>
              <a:rPr lang="en-US" dirty="0"/>
              <a:t>View current schedule and registered courses.</a:t>
            </a:r>
          </a:p>
          <a:p>
            <a:pPr lvl="1"/>
            <a:r>
              <a:rPr lang="en-US" dirty="0"/>
              <a:t>Withdraw from courses.</a:t>
            </a:r>
          </a:p>
          <a:p>
            <a:pPr lvl="1"/>
            <a:r>
              <a:rPr lang="en-US" dirty="0"/>
              <a:t>(Optional) View grades.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15175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8101-4441-92B3-2F2E-29863D3D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Identifying Core Objects (Classes)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4E08-0DAC-7109-19C9-4DACCA20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our system overview, what are the key "things" or "concepts" that will have data and behavior?</a:t>
            </a:r>
          </a:p>
          <a:p>
            <a:r>
              <a:rPr lang="en-US" b="1" dirty="0"/>
              <a:t>Student:</a:t>
            </a:r>
            <a:r>
              <a:rPr lang="en-US" dirty="0"/>
              <a:t> Represents a student enrolled in the university.</a:t>
            </a:r>
          </a:p>
          <a:p>
            <a:r>
              <a:rPr lang="en-US" b="1" dirty="0"/>
              <a:t>Course:</a:t>
            </a:r>
            <a:r>
              <a:rPr lang="en-US" dirty="0"/>
              <a:t> Represents a specific course offered by the university.</a:t>
            </a:r>
          </a:p>
          <a:p>
            <a:r>
              <a:rPr lang="en-US" b="1" dirty="0"/>
              <a:t>Registration:</a:t>
            </a:r>
            <a:r>
              <a:rPr lang="en-US" dirty="0"/>
              <a:t> Represents the act of a student enrolling in a course.</a:t>
            </a:r>
          </a:p>
          <a:p>
            <a:r>
              <a:rPr lang="en-US" b="1" dirty="0" err="1"/>
              <a:t>CourseCatalog</a:t>
            </a:r>
            <a:r>
              <a:rPr lang="en-US" b="1" dirty="0"/>
              <a:t>:</a:t>
            </a:r>
            <a:r>
              <a:rPr lang="en-US" dirty="0"/>
              <a:t> A collection of all available courses.</a:t>
            </a:r>
          </a:p>
          <a:p>
            <a:r>
              <a:rPr lang="en-US" b="1" dirty="0" err="1"/>
              <a:t>EnrollmentService</a:t>
            </a:r>
            <a:r>
              <a:rPr lang="en-US" b="1" dirty="0"/>
              <a:t>:</a:t>
            </a:r>
            <a:r>
              <a:rPr lang="en-US" dirty="0"/>
              <a:t> Handles the logic for student registration and withdrawal.</a:t>
            </a:r>
          </a:p>
          <a:p>
            <a:r>
              <a:rPr lang="en-US" b="1" dirty="0"/>
              <a:t>Grade:</a:t>
            </a:r>
            <a:r>
              <a:rPr lang="en-US" dirty="0"/>
              <a:t> (If we extend to grades) Represents a student's grade in a course.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1997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4701-9665-F98A-6FDD-15A57556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Design: The 'Student' Class (Attributes &amp; Operations)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0C6D-8AC8-3698-1C1B-A14B384A6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Student class.</a:t>
            </a:r>
          </a:p>
          <a:p>
            <a:r>
              <a:rPr lang="en-US" dirty="0"/>
              <a:t>Attributes (Data it holds):</a:t>
            </a:r>
          </a:p>
          <a:p>
            <a:pPr>
              <a:buFontTx/>
              <a:buChar char="-"/>
            </a:pPr>
            <a:r>
              <a:rPr lang="en-US" dirty="0" err="1"/>
              <a:t>studentID</a:t>
            </a:r>
            <a:r>
              <a:rPr lang="en-US" dirty="0"/>
              <a:t>: String (private, unique identifier)</a:t>
            </a:r>
          </a:p>
          <a:p>
            <a:pPr>
              <a:buFontTx/>
              <a:buChar char="-"/>
            </a:pPr>
            <a:r>
              <a:rPr lang="en-US" dirty="0"/>
              <a:t>name: String (private, full name)</a:t>
            </a:r>
          </a:p>
          <a:p>
            <a:pPr>
              <a:buFontTx/>
              <a:buChar char="-"/>
            </a:pPr>
            <a:r>
              <a:rPr lang="en-US" dirty="0"/>
              <a:t>major: String (private, student's major)</a:t>
            </a:r>
          </a:p>
          <a:p>
            <a:pPr>
              <a:buFontTx/>
              <a:buChar char="-"/>
            </a:pPr>
            <a:r>
              <a:rPr lang="en-US" dirty="0"/>
              <a:t>email: String (private, contact email)</a:t>
            </a:r>
          </a:p>
          <a:p>
            <a:pPr>
              <a:buFontTx/>
              <a:buChar char="-"/>
            </a:pPr>
            <a:r>
              <a:rPr lang="en-US" dirty="0" err="1"/>
              <a:t>enrolledCourses</a:t>
            </a:r>
            <a:r>
              <a:rPr lang="en-US" dirty="0"/>
              <a:t>: List&lt;Course&gt; (private, a list of courses the student is currently registered for)</a:t>
            </a:r>
          </a:p>
          <a:p>
            <a:pPr>
              <a:buFontTx/>
              <a:buChar char="-"/>
            </a:pPr>
            <a:r>
              <a:rPr lang="en-US" dirty="0" err="1"/>
              <a:t>gpa</a:t>
            </a:r>
            <a:r>
              <a:rPr lang="en-US" dirty="0"/>
              <a:t>: double (private, student's cumulative GPA, if applicable)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87593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CCB9-91EA-2E67-FCE7-43D0A090E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(Actions it can perform or respond to):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D49B-FEBB-34B8-0EFE-919DB223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+ login(username, password): </a:t>
            </a:r>
            <a:r>
              <a:rPr lang="en-US" sz="2000" dirty="0" err="1"/>
              <a:t>boolean</a:t>
            </a:r>
            <a:r>
              <a:rPr lang="en-US" sz="2000" dirty="0"/>
              <a:t> (Allows the student to log in)</a:t>
            </a:r>
          </a:p>
          <a:p>
            <a:pPr marL="0" indent="0">
              <a:buNone/>
            </a:pPr>
            <a:r>
              <a:rPr lang="en-US" sz="2000" dirty="0"/>
              <a:t>+ </a:t>
            </a:r>
            <a:r>
              <a:rPr lang="en-US" sz="2000" dirty="0" err="1"/>
              <a:t>viewAvailableCourses</a:t>
            </a:r>
            <a:r>
              <a:rPr lang="en-US" sz="2000" dirty="0"/>
              <a:t>(): List&lt;Course&gt; (Requests a list of available courses from the system)</a:t>
            </a:r>
          </a:p>
          <a:p>
            <a:pPr marL="0" indent="0">
              <a:buNone/>
            </a:pPr>
            <a:r>
              <a:rPr lang="en-US" sz="2000" dirty="0"/>
              <a:t>+ </a:t>
            </a:r>
            <a:r>
              <a:rPr lang="en-US" sz="2000" dirty="0" err="1"/>
              <a:t>registerForCourse</a:t>
            </a:r>
            <a:r>
              <a:rPr lang="en-US" sz="2000" dirty="0"/>
              <a:t>(</a:t>
            </a:r>
            <a:r>
              <a:rPr lang="en-US" sz="2000" dirty="0" err="1"/>
              <a:t>courseID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r>
              <a:rPr lang="en-US" sz="2000" dirty="0"/>
              <a:t> (Requests to register for a specific course)</a:t>
            </a:r>
          </a:p>
          <a:p>
            <a:pPr marL="0" indent="0">
              <a:buNone/>
            </a:pPr>
            <a:r>
              <a:rPr lang="en-US" sz="2000" dirty="0"/>
              <a:t>+ </a:t>
            </a:r>
            <a:r>
              <a:rPr lang="en-US" sz="2000" dirty="0" err="1"/>
              <a:t>withdrawFromCourse</a:t>
            </a:r>
            <a:r>
              <a:rPr lang="en-US" sz="2000" dirty="0"/>
              <a:t>(</a:t>
            </a:r>
            <a:r>
              <a:rPr lang="en-US" sz="2000" dirty="0" err="1"/>
              <a:t>courseID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r>
              <a:rPr lang="en-US" sz="2000" dirty="0"/>
              <a:t> (Requests to withdraw from a course)</a:t>
            </a:r>
          </a:p>
          <a:p>
            <a:pPr marL="0" indent="0">
              <a:buNone/>
            </a:pPr>
            <a:r>
              <a:rPr lang="en-US" sz="2000" dirty="0"/>
              <a:t>+ </a:t>
            </a:r>
            <a:r>
              <a:rPr lang="en-US" sz="2000" dirty="0" err="1"/>
              <a:t>viewMySchedule</a:t>
            </a:r>
            <a:r>
              <a:rPr lang="en-US" sz="2000" dirty="0"/>
              <a:t>(): List&lt;Course&gt; (Shows the student's current registered courses)</a:t>
            </a:r>
          </a:p>
          <a:p>
            <a:pPr marL="0" indent="0">
              <a:buNone/>
            </a:pPr>
            <a:r>
              <a:rPr lang="en-US" sz="2000" dirty="0"/>
              <a:t>+ </a:t>
            </a:r>
            <a:r>
              <a:rPr lang="en-US" sz="2000" dirty="0" err="1"/>
              <a:t>updateProfile</a:t>
            </a:r>
            <a:r>
              <a:rPr lang="en-US" sz="2000" dirty="0"/>
              <a:t>(</a:t>
            </a:r>
            <a:r>
              <a:rPr lang="en-US" sz="2000" dirty="0" err="1"/>
              <a:t>newEmail</a:t>
            </a:r>
            <a:r>
              <a:rPr lang="en-US" sz="2000" dirty="0"/>
              <a:t>, </a:t>
            </a:r>
            <a:r>
              <a:rPr lang="en-US" sz="2000" dirty="0" err="1"/>
              <a:t>newMajor</a:t>
            </a:r>
            <a:r>
              <a:rPr lang="en-US" sz="2000" dirty="0"/>
              <a:t>): void (Allows student to update their details) (Actions it can perform or respond to):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543789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629B0-E076-1547-BBDB-DEE8EFDD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Design: The 'Course' Class (Attributes &amp; Operations)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E300-9A19-A79D-B788-69469412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/>
              <a:t>Attributes (Data it holds):</a:t>
            </a:r>
          </a:p>
          <a:p>
            <a:r>
              <a:rPr lang="en-US" dirty="0"/>
              <a:t>- </a:t>
            </a:r>
            <a:r>
              <a:rPr lang="en-US" dirty="0" err="1"/>
              <a:t>courseID</a:t>
            </a:r>
            <a:r>
              <a:rPr lang="en-US" dirty="0"/>
              <a:t>: String (private, unique course identifier)</a:t>
            </a:r>
          </a:p>
          <a:p>
            <a:r>
              <a:rPr lang="en-US" dirty="0"/>
              <a:t>- title: String (private, course name)- description: String (private, detailed course description)</a:t>
            </a:r>
          </a:p>
          <a:p>
            <a:r>
              <a:rPr lang="en-US" dirty="0"/>
              <a:t>- credits: int (private, number of credits for the course)</a:t>
            </a:r>
          </a:p>
          <a:p>
            <a:r>
              <a:rPr lang="en-US" dirty="0"/>
              <a:t>- capacity: int (private, maximum number of students allowed)</a:t>
            </a:r>
          </a:p>
          <a:p>
            <a:r>
              <a:rPr lang="en-US" dirty="0"/>
              <a:t>- </a:t>
            </a:r>
            <a:r>
              <a:rPr lang="en-US" dirty="0" err="1"/>
              <a:t>currentEnrollment</a:t>
            </a:r>
            <a:r>
              <a:rPr lang="en-US" dirty="0"/>
              <a:t>: int (private, current number of students enrolled)- professor: String (private, instructor's name)</a:t>
            </a:r>
          </a:p>
          <a:p>
            <a:r>
              <a:rPr lang="en-US" dirty="0"/>
              <a:t>- </a:t>
            </a:r>
            <a:r>
              <a:rPr lang="en-US" dirty="0" err="1"/>
              <a:t>prerequisiteCourses</a:t>
            </a:r>
            <a:r>
              <a:rPr lang="en-US" dirty="0"/>
              <a:t>: List&lt;Course&gt; (private, list of courses required before taking this one)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76169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BE9CA-7CE6-11C9-07B1-9B83CFFD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Operations (Actions it can perform or respond to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+ </a:t>
            </a:r>
            <a:r>
              <a:rPr lang="en-US" dirty="0" err="1"/>
              <a:t>getCourseDetails</a:t>
            </a:r>
            <a:r>
              <a:rPr lang="en-US" dirty="0"/>
              <a:t>(): String (Returns all relevant course information)</a:t>
            </a:r>
          </a:p>
          <a:p>
            <a:pPr marL="0" indent="0">
              <a:buNone/>
            </a:pPr>
            <a:r>
              <a:rPr lang="en-US" dirty="0"/>
              <a:t>+ </a:t>
            </a:r>
            <a:r>
              <a:rPr lang="en-US" dirty="0" err="1"/>
              <a:t>isAvailable</a:t>
            </a:r>
            <a:r>
              <a:rPr lang="en-US" dirty="0"/>
              <a:t>(): </a:t>
            </a:r>
            <a:r>
              <a:rPr lang="en-US" dirty="0" err="1"/>
              <a:t>boolean</a:t>
            </a:r>
            <a:r>
              <a:rPr lang="en-US" dirty="0"/>
              <a:t> (Checks if there are open spots)</a:t>
            </a:r>
          </a:p>
          <a:p>
            <a:pPr marL="0" indent="0">
              <a:buNone/>
            </a:pPr>
            <a:r>
              <a:rPr lang="en-US" dirty="0"/>
              <a:t>+ </a:t>
            </a:r>
            <a:r>
              <a:rPr lang="en-US" dirty="0" err="1"/>
              <a:t>addStudent</a:t>
            </a:r>
            <a:r>
              <a:rPr lang="en-US" dirty="0"/>
              <a:t>(): void (Increments current enrollment - called by </a:t>
            </a:r>
            <a:r>
              <a:rPr lang="en-US" dirty="0" err="1"/>
              <a:t>EnrollmentService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+ </a:t>
            </a:r>
            <a:r>
              <a:rPr lang="en-US" dirty="0" err="1"/>
              <a:t>removeStudent</a:t>
            </a:r>
            <a:r>
              <a:rPr lang="en-US" dirty="0"/>
              <a:t>(): void (Decrements current enrollment - called by </a:t>
            </a:r>
            <a:r>
              <a:rPr lang="en-US" dirty="0" err="1"/>
              <a:t>EnrollmentService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+ </a:t>
            </a:r>
            <a:r>
              <a:rPr lang="en-US" dirty="0" err="1"/>
              <a:t>checkPrerequisites</a:t>
            </a:r>
            <a:r>
              <a:rPr lang="en-US" dirty="0"/>
              <a:t>(student): </a:t>
            </a:r>
            <a:r>
              <a:rPr lang="en-US" dirty="0" err="1"/>
              <a:t>boolean</a:t>
            </a:r>
            <a:r>
              <a:rPr lang="en-US" dirty="0"/>
              <a:t> (Verifies if student meets prerequisites)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23973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CFB7124-993E-4CF3-A0CA-A32DF6CC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94F4EA-6586-4537-8435-1C89CECA2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4152"/>
            <a:ext cx="4876800" cy="412969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3F9CE-258E-D24D-49B2-A7F6C49F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057400"/>
            <a:ext cx="3695700" cy="15666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UML Class Diagram: Static Structure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04E933-C3CA-32BF-2E06-3A097D8E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93" r="2" b="6178"/>
          <a:stretch>
            <a:fillRect/>
          </a:stretch>
        </p:blipFill>
        <p:spPr>
          <a:xfrm>
            <a:off x="5687753" y="756287"/>
            <a:ext cx="5701828" cy="5345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AA9277-21AD-3564-6E97-98494F0D558F}"/>
              </a:ext>
            </a:extLst>
          </p:cNvPr>
          <p:cNvSpPr txBox="1"/>
          <p:nvPr/>
        </p:nvSpPr>
        <p:spPr>
          <a:xfrm>
            <a:off x="669471" y="3624015"/>
            <a:ext cx="48768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Student registers for many Courses.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Student uses </a:t>
            </a:r>
            <a:r>
              <a:rPr lang="en-MY" dirty="0" err="1"/>
              <a:t>EnrollmentService</a:t>
            </a:r>
            <a:r>
              <a:rPr lang="en-MY" dirty="0"/>
              <a:t> to register.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Student uses </a:t>
            </a:r>
            <a:r>
              <a:rPr lang="en-MY" dirty="0" err="1"/>
              <a:t>CourseCatalog</a:t>
            </a:r>
            <a:r>
              <a:rPr lang="en-MY" dirty="0"/>
              <a:t> to view courses.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 err="1"/>
              <a:t>EnrollmentService</a:t>
            </a:r>
            <a:r>
              <a:rPr lang="en-MY" dirty="0"/>
              <a:t> interacts with both Student and Course to manage </a:t>
            </a:r>
            <a:r>
              <a:rPr lang="en-MY" dirty="0" err="1"/>
              <a:t>enrollment</a:t>
            </a:r>
            <a:r>
              <a:rPr lang="en-MY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 err="1"/>
              <a:t>CourseCatalog</a:t>
            </a:r>
            <a:r>
              <a:rPr lang="en-MY" dirty="0"/>
              <a:t> manages a collection of Courses.</a:t>
            </a:r>
          </a:p>
        </p:txBody>
      </p:sp>
    </p:spTree>
    <p:extLst>
      <p:ext uri="{BB962C8B-B14F-4D97-AF65-F5344CB8AC3E}">
        <p14:creationId xmlns:p14="http://schemas.microsoft.com/office/powerpoint/2010/main" val="32977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5B4C5A-1390-E833-228D-1014A593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99" y="457200"/>
            <a:ext cx="2273301" cy="1371600"/>
          </a:xfrm>
        </p:spPr>
        <p:txBody>
          <a:bodyPr>
            <a:normAutofit fontScale="90000"/>
          </a:bodyPr>
          <a:lstStyle/>
          <a:p>
            <a:r>
              <a:rPr lang="en-MY" dirty="0"/>
              <a:t>Sequence Diagram: Registering for a course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61B94-64FF-F4A4-6B24-7339B16C2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57" y="0"/>
            <a:ext cx="7108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7536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1957</Words>
  <Application>Microsoft Office PowerPoint</Application>
  <PresentationFormat>Widescreen</PresentationFormat>
  <Paragraphs>212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Arial Unicode MS</vt:lpstr>
      <vt:lpstr>Avenir Next LT Pro</vt:lpstr>
      <vt:lpstr>Avenir Next LT Pro Light</vt:lpstr>
      <vt:lpstr>Comic Sans MS</vt:lpstr>
      <vt:lpstr>EncaseVTI</vt:lpstr>
      <vt:lpstr>Object Oriented Design</vt:lpstr>
      <vt:lpstr>Introduction to OOD</vt:lpstr>
      <vt:lpstr>Why OOD Matters?</vt:lpstr>
      <vt:lpstr>The Design Transition - Bridging the Gap</vt:lpstr>
      <vt:lpstr>Techniques &amp; Tools for Design Transition</vt:lpstr>
      <vt:lpstr>Attribute Specification - What Does an Object Know?</vt:lpstr>
      <vt:lpstr>Identifying Operations - What Can an Object Do?</vt:lpstr>
      <vt:lpstr>Identifying Operations - What Can an Object Do? (CONT.)</vt:lpstr>
      <vt:lpstr>Example Class Diagram - The "Student" Example</vt:lpstr>
      <vt:lpstr>Design Model Overview </vt:lpstr>
      <vt:lpstr>Design Model Techniques &amp; Tools</vt:lpstr>
      <vt:lpstr>Example Sequence Diagram - Illustrating Dynamic Interactions</vt:lpstr>
      <vt:lpstr>Example: Student Enrollment Process  </vt:lpstr>
      <vt:lpstr>Component Diagram Overview - The Physical Architecture ie The System's Physical Layout</vt:lpstr>
      <vt:lpstr>Summary</vt:lpstr>
      <vt:lpstr>Student Course Registration System</vt:lpstr>
      <vt:lpstr>Identifying Core Objects (Classes)</vt:lpstr>
      <vt:lpstr>Class Design: The 'Student' Class (Attributes &amp; Operations) </vt:lpstr>
      <vt:lpstr>Operations (Actions it can perform or respond to):</vt:lpstr>
      <vt:lpstr>Class Design: The 'Course' Class (Attributes &amp; Operations) </vt:lpstr>
      <vt:lpstr>PowerPoint Presentation</vt:lpstr>
      <vt:lpstr>UML Class Diagram: Static Structure </vt:lpstr>
      <vt:lpstr>Sequence Diagram: Registering for a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AINITA BINTI BAN</dc:creator>
  <cp:lastModifiedBy>AINITA BINTI BAN</cp:lastModifiedBy>
  <cp:revision>2</cp:revision>
  <dcterms:created xsi:type="dcterms:W3CDTF">2025-06-13T07:17:08Z</dcterms:created>
  <dcterms:modified xsi:type="dcterms:W3CDTF">2025-06-13T09:01:10Z</dcterms:modified>
</cp:coreProperties>
</file>