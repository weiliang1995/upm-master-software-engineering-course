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71" r:id="rId14"/>
    <p:sldId id="272" r:id="rId15"/>
    <p:sldId id="273" r:id="rId16"/>
    <p:sldId id="274" r:id="rId17"/>
    <p:sldId id="276" r:id="rId18"/>
    <p:sldId id="277" r:id="rId19"/>
    <p:sldId id="275" r:id="rId20"/>
    <p:sldId id="278" r:id="rId21"/>
    <p:sldId id="279" r:id="rId22"/>
    <p:sldId id="280" r:id="rId23"/>
    <p:sldId id="281" r:id="rId24"/>
    <p:sldId id="264" r:id="rId25"/>
    <p:sldId id="282" r:id="rId26"/>
    <p:sldId id="283"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40" autoAdjust="0"/>
    <p:restoredTop sz="94660"/>
  </p:normalViewPr>
  <p:slideViewPr>
    <p:cSldViewPr snapToGrid="0">
      <p:cViewPr varScale="1">
        <p:scale>
          <a:sx n="105" d="100"/>
          <a:sy n="105" d="100"/>
        </p:scale>
        <p:origin x="5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E036FB-60A5-4F79-83BA-F9ADF0FE071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4B3DBBA-C5D7-4292-827D-FD1931611E42}">
      <dgm:prSet/>
      <dgm:spPr/>
      <dgm:t>
        <a:bodyPr/>
        <a:lstStyle/>
        <a:p>
          <a:r>
            <a:rPr lang="en-US"/>
            <a:t>Overview of system implementation</a:t>
          </a:r>
        </a:p>
      </dgm:t>
    </dgm:pt>
    <dgm:pt modelId="{C73F1026-6EA7-4604-B43D-FF7D03114ECD}" type="parTrans" cxnId="{47054C82-02E1-44CC-8E24-C85A322A2723}">
      <dgm:prSet/>
      <dgm:spPr/>
      <dgm:t>
        <a:bodyPr/>
        <a:lstStyle/>
        <a:p>
          <a:endParaRPr lang="en-US"/>
        </a:p>
      </dgm:t>
    </dgm:pt>
    <dgm:pt modelId="{DCD57FFB-97EC-4BD6-A94C-37F40A793052}" type="sibTrans" cxnId="{47054C82-02E1-44CC-8E24-C85A322A2723}">
      <dgm:prSet/>
      <dgm:spPr/>
      <dgm:t>
        <a:bodyPr/>
        <a:lstStyle/>
        <a:p>
          <a:endParaRPr lang="en-US"/>
        </a:p>
      </dgm:t>
    </dgm:pt>
    <dgm:pt modelId="{94987B76-9BEE-47D8-A15D-485249CC60F4}">
      <dgm:prSet/>
      <dgm:spPr/>
      <dgm:t>
        <a:bodyPr/>
        <a:lstStyle/>
        <a:p>
          <a:r>
            <a:rPr lang="en-US"/>
            <a:t>Coding</a:t>
          </a:r>
        </a:p>
      </dgm:t>
    </dgm:pt>
    <dgm:pt modelId="{598C7ED0-F185-4E1D-946B-0909638C4CAD}" type="parTrans" cxnId="{47B6E50A-5BDE-4B0B-A2A6-F431D487035F}">
      <dgm:prSet/>
      <dgm:spPr/>
      <dgm:t>
        <a:bodyPr/>
        <a:lstStyle/>
        <a:p>
          <a:endParaRPr lang="en-US"/>
        </a:p>
      </dgm:t>
    </dgm:pt>
    <dgm:pt modelId="{0950B41C-7692-4F5B-B4DA-827DB073E4EE}" type="sibTrans" cxnId="{47B6E50A-5BDE-4B0B-A2A6-F431D487035F}">
      <dgm:prSet/>
      <dgm:spPr/>
      <dgm:t>
        <a:bodyPr/>
        <a:lstStyle/>
        <a:p>
          <a:endParaRPr lang="en-US"/>
        </a:p>
      </dgm:t>
    </dgm:pt>
    <dgm:pt modelId="{0DE3C142-E695-41F4-B541-D5F0635261DF}">
      <dgm:prSet/>
      <dgm:spPr/>
      <dgm:t>
        <a:bodyPr/>
        <a:lstStyle/>
        <a:p>
          <a:r>
            <a:rPr lang="en-US"/>
            <a:t>Testing</a:t>
          </a:r>
        </a:p>
      </dgm:t>
    </dgm:pt>
    <dgm:pt modelId="{88679236-6579-4E85-879F-120B0C129E2E}" type="parTrans" cxnId="{DF61D1A4-5FA7-4B11-B43E-55F92B036C2D}">
      <dgm:prSet/>
      <dgm:spPr/>
      <dgm:t>
        <a:bodyPr/>
        <a:lstStyle/>
        <a:p>
          <a:endParaRPr lang="en-US"/>
        </a:p>
      </dgm:t>
    </dgm:pt>
    <dgm:pt modelId="{6A98A217-CBDA-47B9-89EA-66147CC25F2E}" type="sibTrans" cxnId="{DF61D1A4-5FA7-4B11-B43E-55F92B036C2D}">
      <dgm:prSet/>
      <dgm:spPr/>
      <dgm:t>
        <a:bodyPr/>
        <a:lstStyle/>
        <a:p>
          <a:endParaRPr lang="en-US"/>
        </a:p>
      </dgm:t>
    </dgm:pt>
    <dgm:pt modelId="{AA22BF0A-A44B-4D46-9C97-11991E20C3C7}">
      <dgm:prSet/>
      <dgm:spPr/>
      <dgm:t>
        <a:bodyPr/>
        <a:lstStyle/>
        <a:p>
          <a:r>
            <a:rPr lang="en-US"/>
            <a:t>Installation</a:t>
          </a:r>
        </a:p>
      </dgm:t>
    </dgm:pt>
    <dgm:pt modelId="{5EC4D6B3-8E13-4BEC-B439-E5EF27333A6C}" type="parTrans" cxnId="{05496248-102E-4A1E-BC1E-6BD531122B3B}">
      <dgm:prSet/>
      <dgm:spPr/>
      <dgm:t>
        <a:bodyPr/>
        <a:lstStyle/>
        <a:p>
          <a:endParaRPr lang="en-US"/>
        </a:p>
      </dgm:t>
    </dgm:pt>
    <dgm:pt modelId="{D27F39F2-5C3B-4E1D-B60B-BC167BB4BE6D}" type="sibTrans" cxnId="{05496248-102E-4A1E-BC1E-6BD531122B3B}">
      <dgm:prSet/>
      <dgm:spPr/>
      <dgm:t>
        <a:bodyPr/>
        <a:lstStyle/>
        <a:p>
          <a:endParaRPr lang="en-US"/>
        </a:p>
      </dgm:t>
    </dgm:pt>
    <dgm:pt modelId="{8BEC5E00-9923-4760-BEC0-8EAC7713398C}">
      <dgm:prSet/>
      <dgm:spPr/>
      <dgm:t>
        <a:bodyPr/>
        <a:lstStyle/>
        <a:p>
          <a:r>
            <a:rPr lang="en-US"/>
            <a:t>Documenting the system</a:t>
          </a:r>
        </a:p>
      </dgm:t>
    </dgm:pt>
    <dgm:pt modelId="{1B64810D-2FAB-4012-B5F2-98FDFCBBE66E}" type="parTrans" cxnId="{23E61F78-B295-4F5C-82C0-E385562ABF44}">
      <dgm:prSet/>
      <dgm:spPr/>
      <dgm:t>
        <a:bodyPr/>
        <a:lstStyle/>
        <a:p>
          <a:endParaRPr lang="en-US"/>
        </a:p>
      </dgm:t>
    </dgm:pt>
    <dgm:pt modelId="{30318A77-380C-477B-8C6E-3E14C3AF3DAA}" type="sibTrans" cxnId="{23E61F78-B295-4F5C-82C0-E385562ABF44}">
      <dgm:prSet/>
      <dgm:spPr/>
      <dgm:t>
        <a:bodyPr/>
        <a:lstStyle/>
        <a:p>
          <a:endParaRPr lang="en-US"/>
        </a:p>
      </dgm:t>
    </dgm:pt>
    <dgm:pt modelId="{AB0CE1C8-AFE4-456F-BF3A-3DD8649FE6D6}">
      <dgm:prSet/>
      <dgm:spPr/>
      <dgm:t>
        <a:bodyPr/>
        <a:lstStyle/>
        <a:p>
          <a:r>
            <a:rPr lang="en-US"/>
            <a:t>Training </a:t>
          </a:r>
        </a:p>
      </dgm:t>
    </dgm:pt>
    <dgm:pt modelId="{ECCD4608-6068-4BD3-B2A7-941B4EFE24EB}" type="parTrans" cxnId="{91DFD160-DFFC-4EBF-9F10-C347AB1171B9}">
      <dgm:prSet/>
      <dgm:spPr/>
      <dgm:t>
        <a:bodyPr/>
        <a:lstStyle/>
        <a:p>
          <a:endParaRPr lang="en-US"/>
        </a:p>
      </dgm:t>
    </dgm:pt>
    <dgm:pt modelId="{06933C22-D6EA-4F4F-872C-BD0E31C61F82}" type="sibTrans" cxnId="{91DFD160-DFFC-4EBF-9F10-C347AB1171B9}">
      <dgm:prSet/>
      <dgm:spPr/>
      <dgm:t>
        <a:bodyPr/>
        <a:lstStyle/>
        <a:p>
          <a:endParaRPr lang="en-US"/>
        </a:p>
      </dgm:t>
    </dgm:pt>
    <dgm:pt modelId="{DB767631-F918-417A-9BE0-31F2434D383E}" type="pres">
      <dgm:prSet presAssocID="{7EE036FB-60A5-4F79-83BA-F9ADF0FE071A}" presName="vert0" presStyleCnt="0">
        <dgm:presLayoutVars>
          <dgm:dir/>
          <dgm:animOne val="branch"/>
          <dgm:animLvl val="lvl"/>
        </dgm:presLayoutVars>
      </dgm:prSet>
      <dgm:spPr/>
    </dgm:pt>
    <dgm:pt modelId="{4BA4839B-2112-4A82-93F8-6430893F86FE}" type="pres">
      <dgm:prSet presAssocID="{34B3DBBA-C5D7-4292-827D-FD1931611E42}" presName="thickLine" presStyleLbl="alignNode1" presStyleIdx="0" presStyleCnt="6"/>
      <dgm:spPr/>
    </dgm:pt>
    <dgm:pt modelId="{C938C250-B08E-4E5F-B9B3-9A3199DAD8F1}" type="pres">
      <dgm:prSet presAssocID="{34B3DBBA-C5D7-4292-827D-FD1931611E42}" presName="horz1" presStyleCnt="0"/>
      <dgm:spPr/>
    </dgm:pt>
    <dgm:pt modelId="{43289850-C3EB-4793-AE63-804BCFC2E640}" type="pres">
      <dgm:prSet presAssocID="{34B3DBBA-C5D7-4292-827D-FD1931611E42}" presName="tx1" presStyleLbl="revTx" presStyleIdx="0" presStyleCnt="6"/>
      <dgm:spPr/>
    </dgm:pt>
    <dgm:pt modelId="{EE1486C8-D27A-405E-94C5-78A3CA52D2F6}" type="pres">
      <dgm:prSet presAssocID="{34B3DBBA-C5D7-4292-827D-FD1931611E42}" presName="vert1" presStyleCnt="0"/>
      <dgm:spPr/>
    </dgm:pt>
    <dgm:pt modelId="{97199BF4-B440-4E85-A08F-81D0D6348311}" type="pres">
      <dgm:prSet presAssocID="{94987B76-9BEE-47D8-A15D-485249CC60F4}" presName="thickLine" presStyleLbl="alignNode1" presStyleIdx="1" presStyleCnt="6"/>
      <dgm:spPr/>
    </dgm:pt>
    <dgm:pt modelId="{2EA94EA1-52F6-4473-BF67-7C295AFB5F9A}" type="pres">
      <dgm:prSet presAssocID="{94987B76-9BEE-47D8-A15D-485249CC60F4}" presName="horz1" presStyleCnt="0"/>
      <dgm:spPr/>
    </dgm:pt>
    <dgm:pt modelId="{7E15D79E-E696-49E8-A48B-208C7FC0CA72}" type="pres">
      <dgm:prSet presAssocID="{94987B76-9BEE-47D8-A15D-485249CC60F4}" presName="tx1" presStyleLbl="revTx" presStyleIdx="1" presStyleCnt="6"/>
      <dgm:spPr/>
    </dgm:pt>
    <dgm:pt modelId="{65254C67-843C-40D6-BEBE-EAEA6C3FAD6D}" type="pres">
      <dgm:prSet presAssocID="{94987B76-9BEE-47D8-A15D-485249CC60F4}" presName="vert1" presStyleCnt="0"/>
      <dgm:spPr/>
    </dgm:pt>
    <dgm:pt modelId="{A8ACC6A5-787C-40C6-875B-00A557893D2F}" type="pres">
      <dgm:prSet presAssocID="{0DE3C142-E695-41F4-B541-D5F0635261DF}" presName="thickLine" presStyleLbl="alignNode1" presStyleIdx="2" presStyleCnt="6"/>
      <dgm:spPr/>
    </dgm:pt>
    <dgm:pt modelId="{92AE4937-07FC-4A74-BF20-5DDE79D767F4}" type="pres">
      <dgm:prSet presAssocID="{0DE3C142-E695-41F4-B541-D5F0635261DF}" presName="horz1" presStyleCnt="0"/>
      <dgm:spPr/>
    </dgm:pt>
    <dgm:pt modelId="{6552BAA2-3F34-420C-A19C-D9BDBA973BE4}" type="pres">
      <dgm:prSet presAssocID="{0DE3C142-E695-41F4-B541-D5F0635261DF}" presName="tx1" presStyleLbl="revTx" presStyleIdx="2" presStyleCnt="6"/>
      <dgm:spPr/>
    </dgm:pt>
    <dgm:pt modelId="{870DE03D-B498-443D-92A3-A2CDDA521B86}" type="pres">
      <dgm:prSet presAssocID="{0DE3C142-E695-41F4-B541-D5F0635261DF}" presName="vert1" presStyleCnt="0"/>
      <dgm:spPr/>
    </dgm:pt>
    <dgm:pt modelId="{49066966-DAB7-4F77-B363-8C8963A9F850}" type="pres">
      <dgm:prSet presAssocID="{AA22BF0A-A44B-4D46-9C97-11991E20C3C7}" presName="thickLine" presStyleLbl="alignNode1" presStyleIdx="3" presStyleCnt="6"/>
      <dgm:spPr/>
    </dgm:pt>
    <dgm:pt modelId="{9E787D3B-D29F-477F-82C4-7DB0A076B18D}" type="pres">
      <dgm:prSet presAssocID="{AA22BF0A-A44B-4D46-9C97-11991E20C3C7}" presName="horz1" presStyleCnt="0"/>
      <dgm:spPr/>
    </dgm:pt>
    <dgm:pt modelId="{48A977A1-887F-4F2A-A3CD-81038181487E}" type="pres">
      <dgm:prSet presAssocID="{AA22BF0A-A44B-4D46-9C97-11991E20C3C7}" presName="tx1" presStyleLbl="revTx" presStyleIdx="3" presStyleCnt="6"/>
      <dgm:spPr/>
    </dgm:pt>
    <dgm:pt modelId="{66AACC2B-08B6-4AE0-9F9F-35C3DD3F62F2}" type="pres">
      <dgm:prSet presAssocID="{AA22BF0A-A44B-4D46-9C97-11991E20C3C7}" presName="vert1" presStyleCnt="0"/>
      <dgm:spPr/>
    </dgm:pt>
    <dgm:pt modelId="{007F58FE-72E9-4907-83E3-A5E896A92212}" type="pres">
      <dgm:prSet presAssocID="{8BEC5E00-9923-4760-BEC0-8EAC7713398C}" presName="thickLine" presStyleLbl="alignNode1" presStyleIdx="4" presStyleCnt="6"/>
      <dgm:spPr/>
    </dgm:pt>
    <dgm:pt modelId="{6EDFBE70-1821-4A60-9110-968FAAE1716B}" type="pres">
      <dgm:prSet presAssocID="{8BEC5E00-9923-4760-BEC0-8EAC7713398C}" presName="horz1" presStyleCnt="0"/>
      <dgm:spPr/>
    </dgm:pt>
    <dgm:pt modelId="{9905F2E1-07CE-4400-AFC3-7695B8CAAFD3}" type="pres">
      <dgm:prSet presAssocID="{8BEC5E00-9923-4760-BEC0-8EAC7713398C}" presName="tx1" presStyleLbl="revTx" presStyleIdx="4" presStyleCnt="6"/>
      <dgm:spPr/>
    </dgm:pt>
    <dgm:pt modelId="{3FB2D57D-9D3B-44C6-BC8E-8D66AA3B6F93}" type="pres">
      <dgm:prSet presAssocID="{8BEC5E00-9923-4760-BEC0-8EAC7713398C}" presName="vert1" presStyleCnt="0"/>
      <dgm:spPr/>
    </dgm:pt>
    <dgm:pt modelId="{E028EFFE-4212-4594-A268-49ACDB4DC40B}" type="pres">
      <dgm:prSet presAssocID="{AB0CE1C8-AFE4-456F-BF3A-3DD8649FE6D6}" presName="thickLine" presStyleLbl="alignNode1" presStyleIdx="5" presStyleCnt="6"/>
      <dgm:spPr/>
    </dgm:pt>
    <dgm:pt modelId="{D0F879A2-BABF-4A64-A340-DEC3473F85DB}" type="pres">
      <dgm:prSet presAssocID="{AB0CE1C8-AFE4-456F-BF3A-3DD8649FE6D6}" presName="horz1" presStyleCnt="0"/>
      <dgm:spPr/>
    </dgm:pt>
    <dgm:pt modelId="{D64F0DA6-4F5C-4487-90F3-11238FD19402}" type="pres">
      <dgm:prSet presAssocID="{AB0CE1C8-AFE4-456F-BF3A-3DD8649FE6D6}" presName="tx1" presStyleLbl="revTx" presStyleIdx="5" presStyleCnt="6"/>
      <dgm:spPr/>
    </dgm:pt>
    <dgm:pt modelId="{2713722F-BB1A-46DC-B857-8D175D2C611C}" type="pres">
      <dgm:prSet presAssocID="{AB0CE1C8-AFE4-456F-BF3A-3DD8649FE6D6}" presName="vert1" presStyleCnt="0"/>
      <dgm:spPr/>
    </dgm:pt>
  </dgm:ptLst>
  <dgm:cxnLst>
    <dgm:cxn modelId="{47B6E50A-5BDE-4B0B-A2A6-F431D487035F}" srcId="{7EE036FB-60A5-4F79-83BA-F9ADF0FE071A}" destId="{94987B76-9BEE-47D8-A15D-485249CC60F4}" srcOrd="1" destOrd="0" parTransId="{598C7ED0-F185-4E1D-946B-0909638C4CAD}" sibTransId="{0950B41C-7692-4F5B-B4DA-827DB073E4EE}"/>
    <dgm:cxn modelId="{A5D38227-AC1C-4044-B7FA-27C9D7ED007B}" type="presOf" srcId="{94987B76-9BEE-47D8-A15D-485249CC60F4}" destId="{7E15D79E-E696-49E8-A48B-208C7FC0CA72}" srcOrd="0" destOrd="0" presId="urn:microsoft.com/office/officeart/2008/layout/LinedList"/>
    <dgm:cxn modelId="{C629BE30-229F-46B3-876C-9B3B8FFC39BF}" type="presOf" srcId="{AB0CE1C8-AFE4-456F-BF3A-3DD8649FE6D6}" destId="{D64F0DA6-4F5C-4487-90F3-11238FD19402}" srcOrd="0" destOrd="0" presId="urn:microsoft.com/office/officeart/2008/layout/LinedList"/>
    <dgm:cxn modelId="{2FFB6F33-7006-4964-BF3D-5D6EA151C6F5}" type="presOf" srcId="{AA22BF0A-A44B-4D46-9C97-11991E20C3C7}" destId="{48A977A1-887F-4F2A-A3CD-81038181487E}" srcOrd="0" destOrd="0" presId="urn:microsoft.com/office/officeart/2008/layout/LinedList"/>
    <dgm:cxn modelId="{91DFD160-DFFC-4EBF-9F10-C347AB1171B9}" srcId="{7EE036FB-60A5-4F79-83BA-F9ADF0FE071A}" destId="{AB0CE1C8-AFE4-456F-BF3A-3DD8649FE6D6}" srcOrd="5" destOrd="0" parTransId="{ECCD4608-6068-4BD3-B2A7-941B4EFE24EB}" sibTransId="{06933C22-D6EA-4F4F-872C-BD0E31C61F82}"/>
    <dgm:cxn modelId="{05496248-102E-4A1E-BC1E-6BD531122B3B}" srcId="{7EE036FB-60A5-4F79-83BA-F9ADF0FE071A}" destId="{AA22BF0A-A44B-4D46-9C97-11991E20C3C7}" srcOrd="3" destOrd="0" parTransId="{5EC4D6B3-8E13-4BEC-B439-E5EF27333A6C}" sibTransId="{D27F39F2-5C3B-4E1D-B60B-BC167BB4BE6D}"/>
    <dgm:cxn modelId="{23E61F78-B295-4F5C-82C0-E385562ABF44}" srcId="{7EE036FB-60A5-4F79-83BA-F9ADF0FE071A}" destId="{8BEC5E00-9923-4760-BEC0-8EAC7713398C}" srcOrd="4" destOrd="0" parTransId="{1B64810D-2FAB-4012-B5F2-98FDFCBBE66E}" sibTransId="{30318A77-380C-477B-8C6E-3E14C3AF3DAA}"/>
    <dgm:cxn modelId="{47054C82-02E1-44CC-8E24-C85A322A2723}" srcId="{7EE036FB-60A5-4F79-83BA-F9ADF0FE071A}" destId="{34B3DBBA-C5D7-4292-827D-FD1931611E42}" srcOrd="0" destOrd="0" parTransId="{C73F1026-6EA7-4604-B43D-FF7D03114ECD}" sibTransId="{DCD57FFB-97EC-4BD6-A94C-37F40A793052}"/>
    <dgm:cxn modelId="{81030692-474A-4392-8173-95BF6FFF4F88}" type="presOf" srcId="{8BEC5E00-9923-4760-BEC0-8EAC7713398C}" destId="{9905F2E1-07CE-4400-AFC3-7695B8CAAFD3}" srcOrd="0" destOrd="0" presId="urn:microsoft.com/office/officeart/2008/layout/LinedList"/>
    <dgm:cxn modelId="{DF61D1A4-5FA7-4B11-B43E-55F92B036C2D}" srcId="{7EE036FB-60A5-4F79-83BA-F9ADF0FE071A}" destId="{0DE3C142-E695-41F4-B541-D5F0635261DF}" srcOrd="2" destOrd="0" parTransId="{88679236-6579-4E85-879F-120B0C129E2E}" sibTransId="{6A98A217-CBDA-47B9-89EA-66147CC25F2E}"/>
    <dgm:cxn modelId="{FC43F0B2-341D-40A0-8BF7-C555C90CE94C}" type="presOf" srcId="{7EE036FB-60A5-4F79-83BA-F9ADF0FE071A}" destId="{DB767631-F918-417A-9BE0-31F2434D383E}" srcOrd="0" destOrd="0" presId="urn:microsoft.com/office/officeart/2008/layout/LinedList"/>
    <dgm:cxn modelId="{6FB3E7BC-A70E-4818-9F61-CFDB921EE9B8}" type="presOf" srcId="{34B3DBBA-C5D7-4292-827D-FD1931611E42}" destId="{43289850-C3EB-4793-AE63-804BCFC2E640}" srcOrd="0" destOrd="0" presId="urn:microsoft.com/office/officeart/2008/layout/LinedList"/>
    <dgm:cxn modelId="{CAA6C7D4-910D-461F-A1F7-D1F11E1D6988}" type="presOf" srcId="{0DE3C142-E695-41F4-B541-D5F0635261DF}" destId="{6552BAA2-3F34-420C-A19C-D9BDBA973BE4}" srcOrd="0" destOrd="0" presId="urn:microsoft.com/office/officeart/2008/layout/LinedList"/>
    <dgm:cxn modelId="{8AA7770D-062C-4AC4-94BD-A29981CF1E1E}" type="presParOf" srcId="{DB767631-F918-417A-9BE0-31F2434D383E}" destId="{4BA4839B-2112-4A82-93F8-6430893F86FE}" srcOrd="0" destOrd="0" presId="urn:microsoft.com/office/officeart/2008/layout/LinedList"/>
    <dgm:cxn modelId="{C0A79F58-BE2C-4B26-9B65-AE03FBB717E0}" type="presParOf" srcId="{DB767631-F918-417A-9BE0-31F2434D383E}" destId="{C938C250-B08E-4E5F-B9B3-9A3199DAD8F1}" srcOrd="1" destOrd="0" presId="urn:microsoft.com/office/officeart/2008/layout/LinedList"/>
    <dgm:cxn modelId="{51934B22-528B-403D-BFBE-6913F7255557}" type="presParOf" srcId="{C938C250-B08E-4E5F-B9B3-9A3199DAD8F1}" destId="{43289850-C3EB-4793-AE63-804BCFC2E640}" srcOrd="0" destOrd="0" presId="urn:microsoft.com/office/officeart/2008/layout/LinedList"/>
    <dgm:cxn modelId="{1C9C5EB9-760F-4DFA-A112-DF61B6137DF5}" type="presParOf" srcId="{C938C250-B08E-4E5F-B9B3-9A3199DAD8F1}" destId="{EE1486C8-D27A-405E-94C5-78A3CA52D2F6}" srcOrd="1" destOrd="0" presId="urn:microsoft.com/office/officeart/2008/layout/LinedList"/>
    <dgm:cxn modelId="{36688D59-D558-416B-B2A2-AD946A6EEBB3}" type="presParOf" srcId="{DB767631-F918-417A-9BE0-31F2434D383E}" destId="{97199BF4-B440-4E85-A08F-81D0D6348311}" srcOrd="2" destOrd="0" presId="urn:microsoft.com/office/officeart/2008/layout/LinedList"/>
    <dgm:cxn modelId="{D2C22616-34AC-4F93-83EE-271CC4301532}" type="presParOf" srcId="{DB767631-F918-417A-9BE0-31F2434D383E}" destId="{2EA94EA1-52F6-4473-BF67-7C295AFB5F9A}" srcOrd="3" destOrd="0" presId="urn:microsoft.com/office/officeart/2008/layout/LinedList"/>
    <dgm:cxn modelId="{5AFF736B-FA00-4992-84E8-B588A37AD369}" type="presParOf" srcId="{2EA94EA1-52F6-4473-BF67-7C295AFB5F9A}" destId="{7E15D79E-E696-49E8-A48B-208C7FC0CA72}" srcOrd="0" destOrd="0" presId="urn:microsoft.com/office/officeart/2008/layout/LinedList"/>
    <dgm:cxn modelId="{2AF9FB22-60AA-40B5-9961-374B1363E9EC}" type="presParOf" srcId="{2EA94EA1-52F6-4473-BF67-7C295AFB5F9A}" destId="{65254C67-843C-40D6-BEBE-EAEA6C3FAD6D}" srcOrd="1" destOrd="0" presId="urn:microsoft.com/office/officeart/2008/layout/LinedList"/>
    <dgm:cxn modelId="{501D1F82-2C06-427C-8256-ED03A151F077}" type="presParOf" srcId="{DB767631-F918-417A-9BE0-31F2434D383E}" destId="{A8ACC6A5-787C-40C6-875B-00A557893D2F}" srcOrd="4" destOrd="0" presId="urn:microsoft.com/office/officeart/2008/layout/LinedList"/>
    <dgm:cxn modelId="{9B7A6EC6-8008-4562-83D3-0C5DAD9EC243}" type="presParOf" srcId="{DB767631-F918-417A-9BE0-31F2434D383E}" destId="{92AE4937-07FC-4A74-BF20-5DDE79D767F4}" srcOrd="5" destOrd="0" presId="urn:microsoft.com/office/officeart/2008/layout/LinedList"/>
    <dgm:cxn modelId="{0352FDBD-90D4-444B-99F8-0178CDFF8268}" type="presParOf" srcId="{92AE4937-07FC-4A74-BF20-5DDE79D767F4}" destId="{6552BAA2-3F34-420C-A19C-D9BDBA973BE4}" srcOrd="0" destOrd="0" presId="urn:microsoft.com/office/officeart/2008/layout/LinedList"/>
    <dgm:cxn modelId="{1EC29D9C-18A6-4B0E-BDCA-EBF82CE84278}" type="presParOf" srcId="{92AE4937-07FC-4A74-BF20-5DDE79D767F4}" destId="{870DE03D-B498-443D-92A3-A2CDDA521B86}" srcOrd="1" destOrd="0" presId="urn:microsoft.com/office/officeart/2008/layout/LinedList"/>
    <dgm:cxn modelId="{86980F49-5F32-4C0D-AA53-2D0972D07A80}" type="presParOf" srcId="{DB767631-F918-417A-9BE0-31F2434D383E}" destId="{49066966-DAB7-4F77-B363-8C8963A9F850}" srcOrd="6" destOrd="0" presId="urn:microsoft.com/office/officeart/2008/layout/LinedList"/>
    <dgm:cxn modelId="{D54AD010-62E2-4CD5-A9EF-70811CD95FBC}" type="presParOf" srcId="{DB767631-F918-417A-9BE0-31F2434D383E}" destId="{9E787D3B-D29F-477F-82C4-7DB0A076B18D}" srcOrd="7" destOrd="0" presId="urn:microsoft.com/office/officeart/2008/layout/LinedList"/>
    <dgm:cxn modelId="{27238900-BAEE-4F78-ACDA-2F892DB0A29B}" type="presParOf" srcId="{9E787D3B-D29F-477F-82C4-7DB0A076B18D}" destId="{48A977A1-887F-4F2A-A3CD-81038181487E}" srcOrd="0" destOrd="0" presId="urn:microsoft.com/office/officeart/2008/layout/LinedList"/>
    <dgm:cxn modelId="{0E5CF3E1-33A7-4269-83F3-F3B242DEB16C}" type="presParOf" srcId="{9E787D3B-D29F-477F-82C4-7DB0A076B18D}" destId="{66AACC2B-08B6-4AE0-9F9F-35C3DD3F62F2}" srcOrd="1" destOrd="0" presId="urn:microsoft.com/office/officeart/2008/layout/LinedList"/>
    <dgm:cxn modelId="{72727B5E-89B2-4AC3-86D5-A566FCB2C5B8}" type="presParOf" srcId="{DB767631-F918-417A-9BE0-31F2434D383E}" destId="{007F58FE-72E9-4907-83E3-A5E896A92212}" srcOrd="8" destOrd="0" presId="urn:microsoft.com/office/officeart/2008/layout/LinedList"/>
    <dgm:cxn modelId="{D07ECF5B-865B-4EC5-A33F-4DA6DE782C8E}" type="presParOf" srcId="{DB767631-F918-417A-9BE0-31F2434D383E}" destId="{6EDFBE70-1821-4A60-9110-968FAAE1716B}" srcOrd="9" destOrd="0" presId="urn:microsoft.com/office/officeart/2008/layout/LinedList"/>
    <dgm:cxn modelId="{0F601B39-7CE1-4093-A8C1-1E5B5B5018BD}" type="presParOf" srcId="{6EDFBE70-1821-4A60-9110-968FAAE1716B}" destId="{9905F2E1-07CE-4400-AFC3-7695B8CAAFD3}" srcOrd="0" destOrd="0" presId="urn:microsoft.com/office/officeart/2008/layout/LinedList"/>
    <dgm:cxn modelId="{BF975D98-F8E3-4054-BD3D-05B5A841BAD2}" type="presParOf" srcId="{6EDFBE70-1821-4A60-9110-968FAAE1716B}" destId="{3FB2D57D-9D3B-44C6-BC8E-8D66AA3B6F93}" srcOrd="1" destOrd="0" presId="urn:microsoft.com/office/officeart/2008/layout/LinedList"/>
    <dgm:cxn modelId="{9127EAE1-82AC-434C-9FF3-18A9EBA74821}" type="presParOf" srcId="{DB767631-F918-417A-9BE0-31F2434D383E}" destId="{E028EFFE-4212-4594-A268-49ACDB4DC40B}" srcOrd="10" destOrd="0" presId="urn:microsoft.com/office/officeart/2008/layout/LinedList"/>
    <dgm:cxn modelId="{CD670784-27E5-4BC9-B9B4-251B1C6D0EFD}" type="presParOf" srcId="{DB767631-F918-417A-9BE0-31F2434D383E}" destId="{D0F879A2-BABF-4A64-A340-DEC3473F85DB}" srcOrd="11" destOrd="0" presId="urn:microsoft.com/office/officeart/2008/layout/LinedList"/>
    <dgm:cxn modelId="{DBB4648A-055E-4F39-9266-B79579861FC4}" type="presParOf" srcId="{D0F879A2-BABF-4A64-A340-DEC3473F85DB}" destId="{D64F0DA6-4F5C-4487-90F3-11238FD19402}" srcOrd="0" destOrd="0" presId="urn:microsoft.com/office/officeart/2008/layout/LinedList"/>
    <dgm:cxn modelId="{91C59D2D-4FB5-48B0-9E08-55B77D2AAD9C}" type="presParOf" srcId="{D0F879A2-BABF-4A64-A340-DEC3473F85DB}" destId="{2713722F-BB1A-46DC-B857-8D175D2C611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FD4BF1-BB13-4F0E-9566-F7ECCFD7DCA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4326A3B-2DE6-4DD2-9DB7-3E5E99B1DD05}">
      <dgm:prSet/>
      <dgm:spPr/>
      <dgm:t>
        <a:bodyPr/>
        <a:lstStyle/>
        <a:p>
          <a:r>
            <a:rPr lang="en-US" i="1"/>
            <a:t>Answer TRUE or for FALSE for each of the questions below.</a:t>
          </a:r>
          <a:endParaRPr lang="en-US"/>
        </a:p>
      </dgm:t>
    </dgm:pt>
    <dgm:pt modelId="{E034E249-91AB-4903-9A9A-178E3CB3C6FF}" type="parTrans" cxnId="{FF832E7B-F486-4D9C-8769-3E883A1481D4}">
      <dgm:prSet/>
      <dgm:spPr/>
      <dgm:t>
        <a:bodyPr/>
        <a:lstStyle/>
        <a:p>
          <a:endParaRPr lang="en-US"/>
        </a:p>
      </dgm:t>
    </dgm:pt>
    <dgm:pt modelId="{8C5D5E3B-00A0-4432-84BC-8A27744064DF}" type="sibTrans" cxnId="{FF832E7B-F486-4D9C-8769-3E883A1481D4}">
      <dgm:prSet/>
      <dgm:spPr/>
      <dgm:t>
        <a:bodyPr/>
        <a:lstStyle/>
        <a:p>
          <a:endParaRPr lang="en-US"/>
        </a:p>
      </dgm:t>
    </dgm:pt>
    <dgm:pt modelId="{4BF1B5BF-FA0C-4811-8AF6-DB89305D203D}">
      <dgm:prSet/>
      <dgm:spPr/>
      <dgm:t>
        <a:bodyPr/>
        <a:lstStyle/>
        <a:p>
          <a:pPr>
            <a:buFont typeface="+mj-lt"/>
            <a:buAutoNum type="arabicPeriod"/>
          </a:pPr>
          <a:r>
            <a:rPr lang="en-US" dirty="0"/>
            <a:t>Coding is the process whereby the physical specifications created in the previous phases are turned into working computer codes by the programmer team. </a:t>
          </a:r>
        </a:p>
      </dgm:t>
    </dgm:pt>
    <dgm:pt modelId="{04CAA971-126C-4F62-8D82-106C56DF9982}" type="parTrans" cxnId="{9125C57E-B71C-4240-96CA-2C6153081160}">
      <dgm:prSet/>
      <dgm:spPr/>
      <dgm:t>
        <a:bodyPr/>
        <a:lstStyle/>
        <a:p>
          <a:endParaRPr lang="en-US"/>
        </a:p>
      </dgm:t>
    </dgm:pt>
    <dgm:pt modelId="{4758BF05-2509-4041-87B2-27849CEEE449}" type="sibTrans" cxnId="{9125C57E-B71C-4240-96CA-2C6153081160}">
      <dgm:prSet/>
      <dgm:spPr/>
      <dgm:t>
        <a:bodyPr/>
        <a:lstStyle/>
        <a:p>
          <a:endParaRPr lang="en-US"/>
        </a:p>
      </dgm:t>
    </dgm:pt>
    <dgm:pt modelId="{84CA3EE0-D1E0-4404-847A-6392DB759488}">
      <dgm:prSet/>
      <dgm:spPr/>
      <dgm:t>
        <a:bodyPr/>
        <a:lstStyle/>
        <a:p>
          <a:pPr>
            <a:buFont typeface="+mj-lt"/>
            <a:buAutoNum type="arabicPeriod"/>
          </a:pPr>
          <a:r>
            <a:rPr lang="en-US" dirty="0"/>
            <a:t>There are several sub activities involved during coding and all this activities are compulsory. </a:t>
          </a:r>
        </a:p>
      </dgm:t>
    </dgm:pt>
    <dgm:pt modelId="{213DD585-71F6-404A-A799-6E6F80A6F382}" type="parTrans" cxnId="{BF5B4B74-4C07-412A-9A59-121CE4835420}">
      <dgm:prSet/>
      <dgm:spPr/>
      <dgm:t>
        <a:bodyPr/>
        <a:lstStyle/>
        <a:p>
          <a:endParaRPr lang="en-US"/>
        </a:p>
      </dgm:t>
    </dgm:pt>
    <dgm:pt modelId="{E0E565DC-220E-44B9-B673-5CBAABCFEC9A}" type="sibTrans" cxnId="{BF5B4B74-4C07-412A-9A59-121CE4835420}">
      <dgm:prSet/>
      <dgm:spPr/>
      <dgm:t>
        <a:bodyPr/>
        <a:lstStyle/>
        <a:p>
          <a:endParaRPr lang="en-US"/>
        </a:p>
      </dgm:t>
    </dgm:pt>
    <dgm:pt modelId="{A245872E-2675-448E-B016-D9EF679FDDAB}">
      <dgm:prSet/>
      <dgm:spPr/>
      <dgm:t>
        <a:bodyPr/>
        <a:lstStyle/>
        <a:p>
          <a:pPr>
            <a:buFont typeface="+mj-lt"/>
            <a:buAutoNum type="arabicPeriod"/>
          </a:pPr>
          <a:r>
            <a:rPr lang="en-US" dirty="0"/>
            <a:t>Most of the system developed is around the existing network, so, no need to build and test a network. </a:t>
          </a:r>
        </a:p>
      </dgm:t>
    </dgm:pt>
    <dgm:pt modelId="{2ED60EA3-A40A-4C79-87B7-9F15DC744AB2}" type="parTrans" cxnId="{F5B6C52A-E5DB-46E5-8709-0AE811797D48}">
      <dgm:prSet/>
      <dgm:spPr/>
      <dgm:t>
        <a:bodyPr/>
        <a:lstStyle/>
        <a:p>
          <a:endParaRPr lang="en-US"/>
        </a:p>
      </dgm:t>
    </dgm:pt>
    <dgm:pt modelId="{D27C7260-1B6C-4FEA-8FAE-9A6358F134D3}" type="sibTrans" cxnId="{F5B6C52A-E5DB-46E5-8709-0AE811797D48}">
      <dgm:prSet/>
      <dgm:spPr/>
      <dgm:t>
        <a:bodyPr/>
        <a:lstStyle/>
        <a:p>
          <a:endParaRPr lang="en-US"/>
        </a:p>
      </dgm:t>
    </dgm:pt>
    <dgm:pt modelId="{246D9FBA-BC95-4D90-9519-6DAA41BE4D8E}">
      <dgm:prSet/>
      <dgm:spPr/>
      <dgm:t>
        <a:bodyPr/>
        <a:lstStyle/>
        <a:p>
          <a:pPr>
            <a:buFont typeface="+mj-lt"/>
            <a:buAutoNum type="arabicPeriod"/>
          </a:pPr>
          <a:r>
            <a:rPr lang="en-US" dirty="0"/>
            <a:t>Database installed should be tested. </a:t>
          </a:r>
        </a:p>
      </dgm:t>
    </dgm:pt>
    <dgm:pt modelId="{1A08D75F-855F-49B2-BB8D-4EA78AD6247E}" type="parTrans" cxnId="{9B2A36BC-4420-4D03-AF44-246F3F311D55}">
      <dgm:prSet/>
      <dgm:spPr/>
      <dgm:t>
        <a:bodyPr/>
        <a:lstStyle/>
        <a:p>
          <a:endParaRPr lang="en-US"/>
        </a:p>
      </dgm:t>
    </dgm:pt>
    <dgm:pt modelId="{D2DE5232-3E96-41FE-9CA6-245C57DB0FDD}" type="sibTrans" cxnId="{9B2A36BC-4420-4D03-AF44-246F3F311D55}">
      <dgm:prSet/>
      <dgm:spPr/>
      <dgm:t>
        <a:bodyPr/>
        <a:lstStyle/>
        <a:p>
          <a:endParaRPr lang="en-US"/>
        </a:p>
      </dgm:t>
    </dgm:pt>
    <dgm:pt modelId="{7766F616-D3FA-4C4D-A1F5-0EF5BF7C0180}">
      <dgm:prSet/>
      <dgm:spPr/>
      <dgm:t>
        <a:bodyPr/>
        <a:lstStyle/>
        <a:p>
          <a:pPr>
            <a:buFont typeface="+mj-lt"/>
            <a:buAutoNum type="arabicPeriod"/>
          </a:pPr>
          <a:r>
            <a:rPr lang="en-US" dirty="0"/>
            <a:t>Most of the organizations are prefer to use prototyping when develop a system. </a:t>
          </a:r>
        </a:p>
      </dgm:t>
    </dgm:pt>
    <dgm:pt modelId="{0BEE863C-CC3F-4472-8254-BCD24A450D02}" type="parTrans" cxnId="{EE009960-1AE2-45FB-BA5E-970D64C97F08}">
      <dgm:prSet/>
      <dgm:spPr/>
      <dgm:t>
        <a:bodyPr/>
        <a:lstStyle/>
        <a:p>
          <a:endParaRPr lang="en-US"/>
        </a:p>
      </dgm:t>
    </dgm:pt>
    <dgm:pt modelId="{0FE7F4CC-733D-4144-85D2-B1A9D6E7035B}" type="sibTrans" cxnId="{EE009960-1AE2-45FB-BA5E-970D64C97F08}">
      <dgm:prSet/>
      <dgm:spPr/>
      <dgm:t>
        <a:bodyPr/>
        <a:lstStyle/>
        <a:p>
          <a:endParaRPr lang="en-US"/>
        </a:p>
      </dgm:t>
    </dgm:pt>
    <dgm:pt modelId="{AF52DF61-D625-4E0F-A233-EAB47D6BE736}" type="pres">
      <dgm:prSet presAssocID="{CFFD4BF1-BB13-4F0E-9566-F7ECCFD7DCA6}" presName="linear" presStyleCnt="0">
        <dgm:presLayoutVars>
          <dgm:animLvl val="lvl"/>
          <dgm:resizeHandles val="exact"/>
        </dgm:presLayoutVars>
      </dgm:prSet>
      <dgm:spPr/>
    </dgm:pt>
    <dgm:pt modelId="{A6084D98-F362-40DA-AF62-34BDED29BA2E}" type="pres">
      <dgm:prSet presAssocID="{A4326A3B-2DE6-4DD2-9DB7-3E5E99B1DD05}" presName="parentText" presStyleLbl="node1" presStyleIdx="0" presStyleCnt="1">
        <dgm:presLayoutVars>
          <dgm:chMax val="0"/>
          <dgm:bulletEnabled val="1"/>
        </dgm:presLayoutVars>
      </dgm:prSet>
      <dgm:spPr/>
    </dgm:pt>
    <dgm:pt modelId="{2A360D5A-2150-4B8E-A49E-CFA0FB7E3658}" type="pres">
      <dgm:prSet presAssocID="{A4326A3B-2DE6-4DD2-9DB7-3E5E99B1DD05}" presName="childText" presStyleLbl="revTx" presStyleIdx="0" presStyleCnt="1">
        <dgm:presLayoutVars>
          <dgm:bulletEnabled val="1"/>
        </dgm:presLayoutVars>
      </dgm:prSet>
      <dgm:spPr/>
    </dgm:pt>
  </dgm:ptLst>
  <dgm:cxnLst>
    <dgm:cxn modelId="{CF9EF006-8912-46D9-B00A-CBD69643C60A}" type="presOf" srcId="{7766F616-D3FA-4C4D-A1F5-0EF5BF7C0180}" destId="{2A360D5A-2150-4B8E-A49E-CFA0FB7E3658}" srcOrd="0" destOrd="4" presId="urn:microsoft.com/office/officeart/2005/8/layout/vList2"/>
    <dgm:cxn modelId="{D7D6F929-A17C-4489-859F-50A855E68926}" type="presOf" srcId="{84CA3EE0-D1E0-4404-847A-6392DB759488}" destId="{2A360D5A-2150-4B8E-A49E-CFA0FB7E3658}" srcOrd="0" destOrd="1" presId="urn:microsoft.com/office/officeart/2005/8/layout/vList2"/>
    <dgm:cxn modelId="{F5B6C52A-E5DB-46E5-8709-0AE811797D48}" srcId="{A4326A3B-2DE6-4DD2-9DB7-3E5E99B1DD05}" destId="{A245872E-2675-448E-B016-D9EF679FDDAB}" srcOrd="2" destOrd="0" parTransId="{2ED60EA3-A40A-4C79-87B7-9F15DC744AB2}" sibTransId="{D27C7260-1B6C-4FEA-8FAE-9A6358F134D3}"/>
    <dgm:cxn modelId="{10EF4035-89DF-40A8-BD6B-98498F178260}" type="presOf" srcId="{4BF1B5BF-FA0C-4811-8AF6-DB89305D203D}" destId="{2A360D5A-2150-4B8E-A49E-CFA0FB7E3658}" srcOrd="0" destOrd="0" presId="urn:microsoft.com/office/officeart/2005/8/layout/vList2"/>
    <dgm:cxn modelId="{EE009960-1AE2-45FB-BA5E-970D64C97F08}" srcId="{A4326A3B-2DE6-4DD2-9DB7-3E5E99B1DD05}" destId="{7766F616-D3FA-4C4D-A1F5-0EF5BF7C0180}" srcOrd="4" destOrd="0" parTransId="{0BEE863C-CC3F-4472-8254-BCD24A450D02}" sibTransId="{0FE7F4CC-733D-4144-85D2-B1A9D6E7035B}"/>
    <dgm:cxn modelId="{BF5B4B74-4C07-412A-9A59-121CE4835420}" srcId="{A4326A3B-2DE6-4DD2-9DB7-3E5E99B1DD05}" destId="{84CA3EE0-D1E0-4404-847A-6392DB759488}" srcOrd="1" destOrd="0" parTransId="{213DD585-71F6-404A-A799-6E6F80A6F382}" sibTransId="{E0E565DC-220E-44B9-B673-5CBAABCFEC9A}"/>
    <dgm:cxn modelId="{FF832E7B-F486-4D9C-8769-3E883A1481D4}" srcId="{CFFD4BF1-BB13-4F0E-9566-F7ECCFD7DCA6}" destId="{A4326A3B-2DE6-4DD2-9DB7-3E5E99B1DD05}" srcOrd="0" destOrd="0" parTransId="{E034E249-91AB-4903-9A9A-178E3CB3C6FF}" sibTransId="{8C5D5E3B-00A0-4432-84BC-8A27744064DF}"/>
    <dgm:cxn modelId="{9125C57E-B71C-4240-96CA-2C6153081160}" srcId="{A4326A3B-2DE6-4DD2-9DB7-3E5E99B1DD05}" destId="{4BF1B5BF-FA0C-4811-8AF6-DB89305D203D}" srcOrd="0" destOrd="0" parTransId="{04CAA971-126C-4F62-8D82-106C56DF9982}" sibTransId="{4758BF05-2509-4041-87B2-27849CEEE449}"/>
    <dgm:cxn modelId="{42ABC87F-5782-4FAA-9B1F-741C81581C44}" type="presOf" srcId="{246D9FBA-BC95-4D90-9519-6DAA41BE4D8E}" destId="{2A360D5A-2150-4B8E-A49E-CFA0FB7E3658}" srcOrd="0" destOrd="3" presId="urn:microsoft.com/office/officeart/2005/8/layout/vList2"/>
    <dgm:cxn modelId="{0BE0B2AC-7936-455F-BA41-B49247FFDD1A}" type="presOf" srcId="{A4326A3B-2DE6-4DD2-9DB7-3E5E99B1DD05}" destId="{A6084D98-F362-40DA-AF62-34BDED29BA2E}" srcOrd="0" destOrd="0" presId="urn:microsoft.com/office/officeart/2005/8/layout/vList2"/>
    <dgm:cxn modelId="{9B2A36BC-4420-4D03-AF44-246F3F311D55}" srcId="{A4326A3B-2DE6-4DD2-9DB7-3E5E99B1DD05}" destId="{246D9FBA-BC95-4D90-9519-6DAA41BE4D8E}" srcOrd="3" destOrd="0" parTransId="{1A08D75F-855F-49B2-BB8D-4EA78AD6247E}" sibTransId="{D2DE5232-3E96-41FE-9CA6-245C57DB0FDD}"/>
    <dgm:cxn modelId="{A57E91D2-6C7D-4EF0-A345-888AA06EEE08}" type="presOf" srcId="{A245872E-2675-448E-B016-D9EF679FDDAB}" destId="{2A360D5A-2150-4B8E-A49E-CFA0FB7E3658}" srcOrd="0" destOrd="2" presId="urn:microsoft.com/office/officeart/2005/8/layout/vList2"/>
    <dgm:cxn modelId="{6C5721FE-0CBF-4FB6-89E8-48C35D8D85D9}" type="presOf" srcId="{CFFD4BF1-BB13-4F0E-9566-F7ECCFD7DCA6}" destId="{AF52DF61-D625-4E0F-A233-EAB47D6BE736}" srcOrd="0" destOrd="0" presId="urn:microsoft.com/office/officeart/2005/8/layout/vList2"/>
    <dgm:cxn modelId="{7BCBC740-7E08-4211-B4C6-8B040B113881}" type="presParOf" srcId="{AF52DF61-D625-4E0F-A233-EAB47D6BE736}" destId="{A6084D98-F362-40DA-AF62-34BDED29BA2E}" srcOrd="0" destOrd="0" presId="urn:microsoft.com/office/officeart/2005/8/layout/vList2"/>
    <dgm:cxn modelId="{34042918-DF70-4EBC-8E56-8101BB921369}" type="presParOf" srcId="{AF52DF61-D625-4E0F-A233-EAB47D6BE736}" destId="{2A360D5A-2150-4B8E-A49E-CFA0FB7E365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00EA2A-28DF-4460-A77F-9F09739D4A9A}"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191CC2BB-0E04-4C0E-B715-D7770D67256C}">
      <dgm:prSet/>
      <dgm:spPr/>
      <dgm:t>
        <a:bodyPr/>
        <a:lstStyle/>
        <a:p>
          <a:r>
            <a:rPr lang="en-MY"/>
            <a:t>Program Testing Process</a:t>
          </a:r>
          <a:endParaRPr lang="en-US"/>
        </a:p>
      </dgm:t>
    </dgm:pt>
    <dgm:pt modelId="{51983480-5A67-45FF-A212-B5ECE6F945B2}" type="parTrans" cxnId="{B8DFD60E-233E-4E51-ACDC-94E6DADCB86A}">
      <dgm:prSet/>
      <dgm:spPr/>
      <dgm:t>
        <a:bodyPr/>
        <a:lstStyle/>
        <a:p>
          <a:endParaRPr lang="en-US"/>
        </a:p>
      </dgm:t>
    </dgm:pt>
    <dgm:pt modelId="{EDAAD3CD-7CFC-4462-B2C3-FE6194D2BF02}" type="sibTrans" cxnId="{B8DFD60E-233E-4E51-ACDC-94E6DADCB86A}">
      <dgm:prSet/>
      <dgm:spPr/>
      <dgm:t>
        <a:bodyPr/>
        <a:lstStyle/>
        <a:p>
          <a:endParaRPr lang="en-US"/>
        </a:p>
      </dgm:t>
    </dgm:pt>
    <dgm:pt modelId="{73ECC657-C500-4BB1-9E27-616FA76C3143}">
      <dgm:prSet/>
      <dgm:spPr/>
      <dgm:t>
        <a:bodyPr/>
        <a:lstStyle/>
        <a:p>
          <a:r>
            <a:rPr lang="en-US"/>
            <a:t>Initial Testing by Programmer</a:t>
          </a:r>
        </a:p>
      </dgm:t>
    </dgm:pt>
    <dgm:pt modelId="{F264C465-AC99-47D5-954A-5CF300EE25C3}" type="parTrans" cxnId="{F7EC1189-291E-496D-BA2D-890BF047A21D}">
      <dgm:prSet/>
      <dgm:spPr/>
      <dgm:t>
        <a:bodyPr/>
        <a:lstStyle/>
        <a:p>
          <a:endParaRPr lang="en-US"/>
        </a:p>
      </dgm:t>
    </dgm:pt>
    <dgm:pt modelId="{4DAB7450-FD06-4EF0-A7C8-011AA51E1E88}" type="sibTrans" cxnId="{F7EC1189-291E-496D-BA2D-890BF047A21D}">
      <dgm:prSet/>
      <dgm:spPr/>
      <dgm:t>
        <a:bodyPr/>
        <a:lstStyle/>
        <a:p>
          <a:endParaRPr lang="en-US"/>
        </a:p>
      </dgm:t>
    </dgm:pt>
    <dgm:pt modelId="{BE80DC72-238F-4059-8D2F-149F70175058}">
      <dgm:prSet/>
      <dgm:spPr/>
      <dgm:t>
        <a:bodyPr/>
        <a:lstStyle/>
        <a:p>
          <a:r>
            <a:rPr lang="en-US"/>
            <a:t>Each program is tested to ensure it works properly.</a:t>
          </a:r>
        </a:p>
      </dgm:t>
    </dgm:pt>
    <dgm:pt modelId="{1C49134D-82C3-4662-ACAD-CCFA342DE2F6}" type="parTrans" cxnId="{9039131D-308D-4498-A597-23B91D11682A}">
      <dgm:prSet/>
      <dgm:spPr/>
      <dgm:t>
        <a:bodyPr/>
        <a:lstStyle/>
        <a:p>
          <a:endParaRPr lang="en-US"/>
        </a:p>
      </dgm:t>
    </dgm:pt>
    <dgm:pt modelId="{1796EE16-0991-46D7-BF65-8D9889A9A517}" type="sibTrans" cxnId="{9039131D-308D-4498-A597-23B91D11682A}">
      <dgm:prSet/>
      <dgm:spPr/>
      <dgm:t>
        <a:bodyPr/>
        <a:lstStyle/>
        <a:p>
          <a:endParaRPr lang="en-US"/>
        </a:p>
      </dgm:t>
    </dgm:pt>
    <dgm:pt modelId="{C3CAB290-2AFC-4F29-B0B6-B0089956C43F}">
      <dgm:prSet/>
      <dgm:spPr/>
      <dgm:t>
        <a:bodyPr/>
        <a:lstStyle/>
        <a:p>
          <a:r>
            <a:rPr lang="en-US"/>
            <a:t>Group Testing</a:t>
          </a:r>
        </a:p>
      </dgm:t>
    </dgm:pt>
    <dgm:pt modelId="{B100402D-C84B-4A84-A78F-E0159A9000D3}" type="parTrans" cxnId="{B42C3451-903D-4CFC-8F4D-B1C08C9377C7}">
      <dgm:prSet/>
      <dgm:spPr/>
      <dgm:t>
        <a:bodyPr/>
        <a:lstStyle/>
        <a:p>
          <a:endParaRPr lang="en-US"/>
        </a:p>
      </dgm:t>
    </dgm:pt>
    <dgm:pt modelId="{1038C540-C01B-4A49-95BB-E1DFB5FB21FB}" type="sibTrans" cxnId="{B42C3451-903D-4CFC-8F4D-B1C08C9377C7}">
      <dgm:prSet/>
      <dgm:spPr/>
      <dgm:t>
        <a:bodyPr/>
        <a:lstStyle/>
        <a:p>
          <a:endParaRPr lang="en-US"/>
        </a:p>
      </dgm:t>
    </dgm:pt>
    <dgm:pt modelId="{4DCFC6A8-37C8-4505-B83D-B468A4F7ADF5}">
      <dgm:prSet/>
      <dgm:spPr/>
      <dgm:t>
        <a:bodyPr/>
        <a:lstStyle/>
        <a:p>
          <a:r>
            <a:rPr lang="en-US"/>
            <a:t>Programs are combined and tested together to check how they interact.</a:t>
          </a:r>
        </a:p>
      </dgm:t>
    </dgm:pt>
    <dgm:pt modelId="{82809A78-2A22-4DE0-B48E-EA5E47C13DBA}" type="parTrans" cxnId="{B1A8283C-D869-41A9-A5B8-52EE1EE5EA50}">
      <dgm:prSet/>
      <dgm:spPr/>
      <dgm:t>
        <a:bodyPr/>
        <a:lstStyle/>
        <a:p>
          <a:endParaRPr lang="en-US"/>
        </a:p>
      </dgm:t>
    </dgm:pt>
    <dgm:pt modelId="{9E1A8DB5-9B51-4176-B44F-C14CE041D606}" type="sibTrans" cxnId="{B1A8283C-D869-41A9-A5B8-52EE1EE5EA50}">
      <dgm:prSet/>
      <dgm:spPr/>
      <dgm:t>
        <a:bodyPr/>
        <a:lstStyle/>
        <a:p>
          <a:endParaRPr lang="en-US"/>
        </a:p>
      </dgm:t>
    </dgm:pt>
    <dgm:pt modelId="{DB7135B4-A088-45FA-A063-7791C54C82EA}">
      <dgm:prSet/>
      <dgm:spPr/>
      <dgm:t>
        <a:bodyPr/>
        <a:lstStyle/>
        <a:p>
          <a:r>
            <a:rPr lang="en-US" dirty="0"/>
            <a:t>System Testing</a:t>
          </a:r>
        </a:p>
      </dgm:t>
    </dgm:pt>
    <dgm:pt modelId="{FBFD933A-7993-420D-9C6B-9D129853A511}" type="parTrans" cxnId="{7D43E6F4-82D0-4E19-8F1D-B8D3D2231010}">
      <dgm:prSet/>
      <dgm:spPr/>
      <dgm:t>
        <a:bodyPr/>
        <a:lstStyle/>
        <a:p>
          <a:endParaRPr lang="en-US"/>
        </a:p>
      </dgm:t>
    </dgm:pt>
    <dgm:pt modelId="{972FB8F6-F344-4720-ABB5-A8AF92ED6AA7}" type="sibTrans" cxnId="{7D43E6F4-82D0-4E19-8F1D-B8D3D2231010}">
      <dgm:prSet/>
      <dgm:spPr/>
      <dgm:t>
        <a:bodyPr/>
        <a:lstStyle/>
        <a:p>
          <a:endParaRPr lang="en-US"/>
        </a:p>
      </dgm:t>
    </dgm:pt>
    <dgm:pt modelId="{8FF13951-B23C-4F2A-AB1F-17A1679B1569}">
      <dgm:prSet/>
      <dgm:spPr/>
      <dgm:t>
        <a:bodyPr/>
        <a:lstStyle/>
        <a:p>
          <a:r>
            <a:rPr lang="en-US"/>
            <a:t>The entire system is tested to ensure everything works as a whole.</a:t>
          </a:r>
        </a:p>
      </dgm:t>
    </dgm:pt>
    <dgm:pt modelId="{3D83CC51-BCE1-4CE8-8C0F-41BBED6E80D8}" type="parTrans" cxnId="{DDA43153-D331-41A3-83FF-6534859BA182}">
      <dgm:prSet/>
      <dgm:spPr/>
      <dgm:t>
        <a:bodyPr/>
        <a:lstStyle/>
        <a:p>
          <a:endParaRPr lang="en-US"/>
        </a:p>
      </dgm:t>
    </dgm:pt>
    <dgm:pt modelId="{4A6BC4CC-E1A9-4097-9BEE-05C6F604BD01}" type="sibTrans" cxnId="{DDA43153-D331-41A3-83FF-6534859BA182}">
      <dgm:prSet/>
      <dgm:spPr/>
      <dgm:t>
        <a:bodyPr/>
        <a:lstStyle/>
        <a:p>
          <a:endParaRPr lang="en-US"/>
        </a:p>
      </dgm:t>
    </dgm:pt>
    <dgm:pt modelId="{576B8C11-52CF-4364-B362-AB8A03E7D2A1}">
      <dgm:prSet/>
      <dgm:spPr/>
      <dgm:t>
        <a:bodyPr/>
        <a:lstStyle/>
        <a:p>
          <a:r>
            <a:rPr lang="en-US"/>
            <a:t>Testing Steps:</a:t>
          </a:r>
        </a:p>
      </dgm:t>
    </dgm:pt>
    <dgm:pt modelId="{E7A1406A-A8E9-4B93-A74C-A3A0EB5DA200}" type="parTrans" cxnId="{7B570878-8FB0-482F-8CD1-2D3727019189}">
      <dgm:prSet/>
      <dgm:spPr/>
      <dgm:t>
        <a:bodyPr/>
        <a:lstStyle/>
        <a:p>
          <a:endParaRPr lang="en-US"/>
        </a:p>
      </dgm:t>
    </dgm:pt>
    <dgm:pt modelId="{25385954-D920-47EF-8BA4-E095DE812B1A}" type="sibTrans" cxnId="{7B570878-8FB0-482F-8CD1-2D3727019189}">
      <dgm:prSet/>
      <dgm:spPr/>
      <dgm:t>
        <a:bodyPr/>
        <a:lstStyle/>
        <a:p>
          <a:endParaRPr lang="en-US"/>
        </a:p>
      </dgm:t>
    </dgm:pt>
    <dgm:pt modelId="{0CE954DA-A0D9-4140-9B3B-7847A7AD5127}">
      <dgm:prSet/>
      <dgm:spPr/>
      <dgm:t>
        <a:bodyPr/>
        <a:lstStyle/>
        <a:p>
          <a:r>
            <a:rPr lang="en-US"/>
            <a:t>Compilation: Detect and fix syntax errors.</a:t>
          </a:r>
        </a:p>
      </dgm:t>
    </dgm:pt>
    <dgm:pt modelId="{C389BE0F-A1AC-4FB5-B371-AD4F3343DB0B}" type="parTrans" cxnId="{D9443F7E-07C5-4911-A05F-701F6FA65A10}">
      <dgm:prSet/>
      <dgm:spPr/>
      <dgm:t>
        <a:bodyPr/>
        <a:lstStyle/>
        <a:p>
          <a:endParaRPr lang="en-US"/>
        </a:p>
      </dgm:t>
    </dgm:pt>
    <dgm:pt modelId="{F0838D3F-DD2E-47FF-86B9-A17897C879B9}" type="sibTrans" cxnId="{D9443F7E-07C5-4911-A05F-701F6FA65A10}">
      <dgm:prSet/>
      <dgm:spPr/>
      <dgm:t>
        <a:bodyPr/>
        <a:lstStyle/>
        <a:p>
          <a:endParaRPr lang="en-US"/>
        </a:p>
      </dgm:t>
    </dgm:pt>
    <dgm:pt modelId="{1FC466B6-178F-4274-B50C-6FF1CB2C0120}">
      <dgm:prSet/>
      <dgm:spPr/>
      <dgm:t>
        <a:bodyPr/>
        <a:lstStyle/>
        <a:p>
          <a:r>
            <a:rPr lang="en-US"/>
            <a:t>Unit Testing: Test individual components or modules.</a:t>
          </a:r>
        </a:p>
      </dgm:t>
    </dgm:pt>
    <dgm:pt modelId="{69D93E40-1C55-46F5-BBCD-5FD61E958431}" type="parTrans" cxnId="{4B832D3E-5B99-4964-86EF-88379C56E43B}">
      <dgm:prSet/>
      <dgm:spPr/>
      <dgm:t>
        <a:bodyPr/>
        <a:lstStyle/>
        <a:p>
          <a:endParaRPr lang="en-US"/>
        </a:p>
      </dgm:t>
    </dgm:pt>
    <dgm:pt modelId="{62371D8C-7C24-4F7C-9670-AEE51A31330D}" type="sibTrans" cxnId="{4B832D3E-5B99-4964-86EF-88379C56E43B}">
      <dgm:prSet/>
      <dgm:spPr/>
      <dgm:t>
        <a:bodyPr/>
        <a:lstStyle/>
        <a:p>
          <a:endParaRPr lang="en-US"/>
        </a:p>
      </dgm:t>
    </dgm:pt>
    <dgm:pt modelId="{753226C0-E077-436E-8844-C93ACA3B1BC7}">
      <dgm:prSet/>
      <dgm:spPr/>
      <dgm:t>
        <a:bodyPr/>
        <a:lstStyle/>
        <a:p>
          <a:r>
            <a:rPr lang="en-US"/>
            <a:t>Integration Testing: Test combined modules for proper interaction</a:t>
          </a:r>
        </a:p>
      </dgm:t>
    </dgm:pt>
    <dgm:pt modelId="{26BD696D-38D7-40DB-989F-6164163F0C2C}" type="parTrans" cxnId="{1CC0FED1-71E1-46C6-8F87-FFC9863EF38F}">
      <dgm:prSet/>
      <dgm:spPr/>
      <dgm:t>
        <a:bodyPr/>
        <a:lstStyle/>
        <a:p>
          <a:endParaRPr lang="en-US"/>
        </a:p>
      </dgm:t>
    </dgm:pt>
    <dgm:pt modelId="{590DE024-F701-458E-A97E-33C771C3312D}" type="sibTrans" cxnId="{1CC0FED1-71E1-46C6-8F87-FFC9863EF38F}">
      <dgm:prSet/>
      <dgm:spPr/>
      <dgm:t>
        <a:bodyPr/>
        <a:lstStyle/>
        <a:p>
          <a:endParaRPr lang="en-US"/>
        </a:p>
      </dgm:t>
    </dgm:pt>
    <dgm:pt modelId="{D0F0194A-BE2E-4AB3-85E8-A25EEA49032B}">
      <dgm:prSet/>
      <dgm:spPr/>
      <dgm:t>
        <a:bodyPr/>
        <a:lstStyle/>
        <a:p>
          <a:r>
            <a:rPr lang="en-US"/>
            <a:t>System Testing: Test the full system in its environment.</a:t>
          </a:r>
        </a:p>
      </dgm:t>
    </dgm:pt>
    <dgm:pt modelId="{37B66A22-B97E-46AE-963D-B9FB0632AFA6}" type="parTrans" cxnId="{DFCBA46D-84D4-445B-9218-E0FC6FDE81E7}">
      <dgm:prSet/>
      <dgm:spPr/>
      <dgm:t>
        <a:bodyPr/>
        <a:lstStyle/>
        <a:p>
          <a:endParaRPr lang="en-US"/>
        </a:p>
      </dgm:t>
    </dgm:pt>
    <dgm:pt modelId="{C6F9A3C8-6144-4417-B7E5-9D422CC12C15}" type="sibTrans" cxnId="{DFCBA46D-84D4-445B-9218-E0FC6FDE81E7}">
      <dgm:prSet/>
      <dgm:spPr/>
      <dgm:t>
        <a:bodyPr/>
        <a:lstStyle/>
        <a:p>
          <a:endParaRPr lang="en-US"/>
        </a:p>
      </dgm:t>
    </dgm:pt>
    <dgm:pt modelId="{A29E3F5B-ADA6-42FC-A6D0-8C03AFA8C62D}" type="pres">
      <dgm:prSet presAssocID="{9900EA2A-28DF-4460-A77F-9F09739D4A9A}" presName="linear" presStyleCnt="0">
        <dgm:presLayoutVars>
          <dgm:dir/>
          <dgm:animLvl val="lvl"/>
          <dgm:resizeHandles val="exact"/>
        </dgm:presLayoutVars>
      </dgm:prSet>
      <dgm:spPr/>
    </dgm:pt>
    <dgm:pt modelId="{56B91424-668E-4079-B317-36ED9E709593}" type="pres">
      <dgm:prSet presAssocID="{191CC2BB-0E04-4C0E-B715-D7770D67256C}" presName="parentLin" presStyleCnt="0"/>
      <dgm:spPr/>
    </dgm:pt>
    <dgm:pt modelId="{0D2EBE7B-5437-436C-B2D7-10398C9E5D69}" type="pres">
      <dgm:prSet presAssocID="{191CC2BB-0E04-4C0E-B715-D7770D67256C}" presName="parentLeftMargin" presStyleLbl="node1" presStyleIdx="0" presStyleCnt="1"/>
      <dgm:spPr/>
    </dgm:pt>
    <dgm:pt modelId="{3A6B081B-2AFC-40FA-A0F2-3AA41D37A521}" type="pres">
      <dgm:prSet presAssocID="{191CC2BB-0E04-4C0E-B715-D7770D67256C}" presName="parentText" presStyleLbl="node1" presStyleIdx="0" presStyleCnt="1">
        <dgm:presLayoutVars>
          <dgm:chMax val="0"/>
          <dgm:bulletEnabled val="1"/>
        </dgm:presLayoutVars>
      </dgm:prSet>
      <dgm:spPr/>
    </dgm:pt>
    <dgm:pt modelId="{71E6D081-2EA4-4539-B2C0-B661F27C09F7}" type="pres">
      <dgm:prSet presAssocID="{191CC2BB-0E04-4C0E-B715-D7770D67256C}" presName="negativeSpace" presStyleCnt="0"/>
      <dgm:spPr/>
    </dgm:pt>
    <dgm:pt modelId="{68771CCE-4139-4747-99B3-8448E893F6E5}" type="pres">
      <dgm:prSet presAssocID="{191CC2BB-0E04-4C0E-B715-D7770D67256C}" presName="childText" presStyleLbl="conFgAcc1" presStyleIdx="0" presStyleCnt="1">
        <dgm:presLayoutVars>
          <dgm:bulletEnabled val="1"/>
        </dgm:presLayoutVars>
      </dgm:prSet>
      <dgm:spPr/>
    </dgm:pt>
  </dgm:ptLst>
  <dgm:cxnLst>
    <dgm:cxn modelId="{77CD6308-3575-46A4-A90D-B91798B3F74B}" type="presOf" srcId="{8FF13951-B23C-4F2A-AB1F-17A1679B1569}" destId="{68771CCE-4139-4747-99B3-8448E893F6E5}" srcOrd="0" destOrd="5" presId="urn:microsoft.com/office/officeart/2005/8/layout/list1"/>
    <dgm:cxn modelId="{B8DFD60E-233E-4E51-ACDC-94E6DADCB86A}" srcId="{9900EA2A-28DF-4460-A77F-9F09739D4A9A}" destId="{191CC2BB-0E04-4C0E-B715-D7770D67256C}" srcOrd="0" destOrd="0" parTransId="{51983480-5A67-45FF-A212-B5ECE6F945B2}" sibTransId="{EDAAD3CD-7CFC-4462-B2C3-FE6194D2BF02}"/>
    <dgm:cxn modelId="{9039131D-308D-4498-A597-23B91D11682A}" srcId="{73ECC657-C500-4BB1-9E27-616FA76C3143}" destId="{BE80DC72-238F-4059-8D2F-149F70175058}" srcOrd="0" destOrd="0" parTransId="{1C49134D-82C3-4662-ACAD-CCFA342DE2F6}" sibTransId="{1796EE16-0991-46D7-BF65-8D9889A9A517}"/>
    <dgm:cxn modelId="{3DB63A2E-2AC2-496B-88D5-3BBF0987F769}" type="presOf" srcId="{0CE954DA-A0D9-4140-9B3B-7847A7AD5127}" destId="{68771CCE-4139-4747-99B3-8448E893F6E5}" srcOrd="0" destOrd="7" presId="urn:microsoft.com/office/officeart/2005/8/layout/list1"/>
    <dgm:cxn modelId="{B1A8283C-D869-41A9-A5B8-52EE1EE5EA50}" srcId="{C3CAB290-2AFC-4F29-B0B6-B0089956C43F}" destId="{4DCFC6A8-37C8-4505-B83D-B468A4F7ADF5}" srcOrd="0" destOrd="0" parTransId="{82809A78-2A22-4DE0-B48E-EA5E47C13DBA}" sibTransId="{9E1A8DB5-9B51-4176-B44F-C14CE041D606}"/>
    <dgm:cxn modelId="{4B832D3E-5B99-4964-86EF-88379C56E43B}" srcId="{576B8C11-52CF-4364-B362-AB8A03E7D2A1}" destId="{1FC466B6-178F-4274-B50C-6FF1CB2C0120}" srcOrd="1" destOrd="0" parTransId="{69D93E40-1C55-46F5-BBCD-5FD61E958431}" sibTransId="{62371D8C-7C24-4F7C-9670-AEE51A31330D}"/>
    <dgm:cxn modelId="{DFCBA46D-84D4-445B-9218-E0FC6FDE81E7}" srcId="{576B8C11-52CF-4364-B362-AB8A03E7D2A1}" destId="{D0F0194A-BE2E-4AB3-85E8-A25EEA49032B}" srcOrd="3" destOrd="0" parTransId="{37B66A22-B97E-46AE-963D-B9FB0632AFA6}" sibTransId="{C6F9A3C8-6144-4417-B7E5-9D422CC12C15}"/>
    <dgm:cxn modelId="{B42C3451-903D-4CFC-8F4D-B1C08C9377C7}" srcId="{191CC2BB-0E04-4C0E-B715-D7770D67256C}" destId="{C3CAB290-2AFC-4F29-B0B6-B0089956C43F}" srcOrd="1" destOrd="0" parTransId="{B100402D-C84B-4A84-A78F-E0159A9000D3}" sibTransId="{1038C540-C01B-4A49-95BB-E1DFB5FB21FB}"/>
    <dgm:cxn modelId="{DDA43153-D331-41A3-83FF-6534859BA182}" srcId="{DB7135B4-A088-45FA-A063-7791C54C82EA}" destId="{8FF13951-B23C-4F2A-AB1F-17A1679B1569}" srcOrd="0" destOrd="0" parTransId="{3D83CC51-BCE1-4CE8-8C0F-41BBED6E80D8}" sibTransId="{4A6BC4CC-E1A9-4097-9BEE-05C6F604BD01}"/>
    <dgm:cxn modelId="{7B570878-8FB0-482F-8CD1-2D3727019189}" srcId="{191CC2BB-0E04-4C0E-B715-D7770D67256C}" destId="{576B8C11-52CF-4364-B362-AB8A03E7D2A1}" srcOrd="3" destOrd="0" parTransId="{E7A1406A-A8E9-4B93-A74C-A3A0EB5DA200}" sibTransId="{25385954-D920-47EF-8BA4-E095DE812B1A}"/>
    <dgm:cxn modelId="{D9443F7E-07C5-4911-A05F-701F6FA65A10}" srcId="{576B8C11-52CF-4364-B362-AB8A03E7D2A1}" destId="{0CE954DA-A0D9-4140-9B3B-7847A7AD5127}" srcOrd="0" destOrd="0" parTransId="{C389BE0F-A1AC-4FB5-B371-AD4F3343DB0B}" sibTransId="{F0838D3F-DD2E-47FF-86B9-A17897C879B9}"/>
    <dgm:cxn modelId="{F7EC1189-291E-496D-BA2D-890BF047A21D}" srcId="{191CC2BB-0E04-4C0E-B715-D7770D67256C}" destId="{73ECC657-C500-4BB1-9E27-616FA76C3143}" srcOrd="0" destOrd="0" parTransId="{F264C465-AC99-47D5-954A-5CF300EE25C3}" sibTransId="{4DAB7450-FD06-4EF0-A7C8-011AA51E1E88}"/>
    <dgm:cxn modelId="{9CB29589-8A9F-47A1-8BDC-6216960239D6}" type="presOf" srcId="{C3CAB290-2AFC-4F29-B0B6-B0089956C43F}" destId="{68771CCE-4139-4747-99B3-8448E893F6E5}" srcOrd="0" destOrd="2" presId="urn:microsoft.com/office/officeart/2005/8/layout/list1"/>
    <dgm:cxn modelId="{A9330A8F-8E39-4939-911B-55B694E41DE0}" type="presOf" srcId="{191CC2BB-0E04-4C0E-B715-D7770D67256C}" destId="{3A6B081B-2AFC-40FA-A0F2-3AA41D37A521}" srcOrd="1" destOrd="0" presId="urn:microsoft.com/office/officeart/2005/8/layout/list1"/>
    <dgm:cxn modelId="{089FCF9F-98DD-457F-A98E-A3C25FBEFC84}" type="presOf" srcId="{576B8C11-52CF-4364-B362-AB8A03E7D2A1}" destId="{68771CCE-4139-4747-99B3-8448E893F6E5}" srcOrd="0" destOrd="6" presId="urn:microsoft.com/office/officeart/2005/8/layout/list1"/>
    <dgm:cxn modelId="{3AA9BEAA-39AF-47A5-B25A-3518D750379E}" type="presOf" srcId="{9900EA2A-28DF-4460-A77F-9F09739D4A9A}" destId="{A29E3F5B-ADA6-42FC-A6D0-8C03AFA8C62D}" srcOrd="0" destOrd="0" presId="urn:microsoft.com/office/officeart/2005/8/layout/list1"/>
    <dgm:cxn modelId="{B0D502B6-B67B-42FC-AED4-A8909998E0B7}" type="presOf" srcId="{191CC2BB-0E04-4C0E-B715-D7770D67256C}" destId="{0D2EBE7B-5437-436C-B2D7-10398C9E5D69}" srcOrd="0" destOrd="0" presId="urn:microsoft.com/office/officeart/2005/8/layout/list1"/>
    <dgm:cxn modelId="{5C47E7B7-4D65-4161-87E4-731D656F6E18}" type="presOf" srcId="{D0F0194A-BE2E-4AB3-85E8-A25EEA49032B}" destId="{68771CCE-4139-4747-99B3-8448E893F6E5}" srcOrd="0" destOrd="10" presId="urn:microsoft.com/office/officeart/2005/8/layout/list1"/>
    <dgm:cxn modelId="{97A250C3-18A7-4A57-937D-280742BC76A5}" type="presOf" srcId="{753226C0-E077-436E-8844-C93ACA3B1BC7}" destId="{68771CCE-4139-4747-99B3-8448E893F6E5}" srcOrd="0" destOrd="9" presId="urn:microsoft.com/office/officeart/2005/8/layout/list1"/>
    <dgm:cxn modelId="{CCD5B8CC-87F1-4C40-A0DC-E68FC689D98E}" type="presOf" srcId="{DB7135B4-A088-45FA-A063-7791C54C82EA}" destId="{68771CCE-4139-4747-99B3-8448E893F6E5}" srcOrd="0" destOrd="4" presId="urn:microsoft.com/office/officeart/2005/8/layout/list1"/>
    <dgm:cxn modelId="{E88D27CF-28CC-4E75-AD28-61ED947C0256}" type="presOf" srcId="{BE80DC72-238F-4059-8D2F-149F70175058}" destId="{68771CCE-4139-4747-99B3-8448E893F6E5}" srcOrd="0" destOrd="1" presId="urn:microsoft.com/office/officeart/2005/8/layout/list1"/>
    <dgm:cxn modelId="{1CC0FED1-71E1-46C6-8F87-FFC9863EF38F}" srcId="{576B8C11-52CF-4364-B362-AB8A03E7D2A1}" destId="{753226C0-E077-436E-8844-C93ACA3B1BC7}" srcOrd="2" destOrd="0" parTransId="{26BD696D-38D7-40DB-989F-6164163F0C2C}" sibTransId="{590DE024-F701-458E-A97E-33C771C3312D}"/>
    <dgm:cxn modelId="{ED51F0E2-4EF2-4834-8FEC-5103A63A5D97}" type="presOf" srcId="{4DCFC6A8-37C8-4505-B83D-B468A4F7ADF5}" destId="{68771CCE-4139-4747-99B3-8448E893F6E5}" srcOrd="0" destOrd="3" presId="urn:microsoft.com/office/officeart/2005/8/layout/list1"/>
    <dgm:cxn modelId="{066C7BE3-EC18-464F-BC64-D1CCA7F69113}" type="presOf" srcId="{1FC466B6-178F-4274-B50C-6FF1CB2C0120}" destId="{68771CCE-4139-4747-99B3-8448E893F6E5}" srcOrd="0" destOrd="8" presId="urn:microsoft.com/office/officeart/2005/8/layout/list1"/>
    <dgm:cxn modelId="{403EE2F0-1E8C-4ABC-AC54-A3BDE392EA6D}" type="presOf" srcId="{73ECC657-C500-4BB1-9E27-616FA76C3143}" destId="{68771CCE-4139-4747-99B3-8448E893F6E5}" srcOrd="0" destOrd="0" presId="urn:microsoft.com/office/officeart/2005/8/layout/list1"/>
    <dgm:cxn modelId="{7D43E6F4-82D0-4E19-8F1D-B8D3D2231010}" srcId="{191CC2BB-0E04-4C0E-B715-D7770D67256C}" destId="{DB7135B4-A088-45FA-A063-7791C54C82EA}" srcOrd="2" destOrd="0" parTransId="{FBFD933A-7993-420D-9C6B-9D129853A511}" sibTransId="{972FB8F6-F344-4720-ABB5-A8AF92ED6AA7}"/>
    <dgm:cxn modelId="{830D32C1-3CCD-4C52-91DA-3AE9271359D0}" type="presParOf" srcId="{A29E3F5B-ADA6-42FC-A6D0-8C03AFA8C62D}" destId="{56B91424-668E-4079-B317-36ED9E709593}" srcOrd="0" destOrd="0" presId="urn:microsoft.com/office/officeart/2005/8/layout/list1"/>
    <dgm:cxn modelId="{D1849444-302A-4BAE-A7F6-A00ED4B13FE5}" type="presParOf" srcId="{56B91424-668E-4079-B317-36ED9E709593}" destId="{0D2EBE7B-5437-436C-B2D7-10398C9E5D69}" srcOrd="0" destOrd="0" presId="urn:microsoft.com/office/officeart/2005/8/layout/list1"/>
    <dgm:cxn modelId="{389B96D0-7700-4499-AB98-D348A7FA0FB2}" type="presParOf" srcId="{56B91424-668E-4079-B317-36ED9E709593}" destId="{3A6B081B-2AFC-40FA-A0F2-3AA41D37A521}" srcOrd="1" destOrd="0" presId="urn:microsoft.com/office/officeart/2005/8/layout/list1"/>
    <dgm:cxn modelId="{4B568802-465E-4534-885C-EE1506F6D197}" type="presParOf" srcId="{A29E3F5B-ADA6-42FC-A6D0-8C03AFA8C62D}" destId="{71E6D081-2EA4-4539-B2C0-B661F27C09F7}" srcOrd="1" destOrd="0" presId="urn:microsoft.com/office/officeart/2005/8/layout/list1"/>
    <dgm:cxn modelId="{BEF58248-EA52-45C3-A286-A010A86A7890}" type="presParOf" srcId="{A29E3F5B-ADA6-42FC-A6D0-8C03AFA8C62D}" destId="{68771CCE-4139-4747-99B3-8448E893F6E5}"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A4839B-2112-4A82-93F8-6430893F86FE}">
      <dsp:nvSpPr>
        <dsp:cNvPr id="0" name=""/>
        <dsp:cNvSpPr/>
      </dsp:nvSpPr>
      <dsp:spPr>
        <a:xfrm>
          <a:off x="0" y="2495"/>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289850-C3EB-4793-AE63-804BCFC2E640}">
      <dsp:nvSpPr>
        <dsp:cNvPr id="0" name=""/>
        <dsp:cNvSpPr/>
      </dsp:nvSpPr>
      <dsp:spPr>
        <a:xfrm>
          <a:off x="0" y="2495"/>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Overview of system implementation</a:t>
          </a:r>
        </a:p>
      </dsp:txBody>
      <dsp:txXfrm>
        <a:off x="0" y="2495"/>
        <a:ext cx="7216416" cy="851044"/>
      </dsp:txXfrm>
    </dsp:sp>
    <dsp:sp modelId="{97199BF4-B440-4E85-A08F-81D0D6348311}">
      <dsp:nvSpPr>
        <dsp:cNvPr id="0" name=""/>
        <dsp:cNvSpPr/>
      </dsp:nvSpPr>
      <dsp:spPr>
        <a:xfrm>
          <a:off x="0" y="853540"/>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15D79E-E696-49E8-A48B-208C7FC0CA72}">
      <dsp:nvSpPr>
        <dsp:cNvPr id="0" name=""/>
        <dsp:cNvSpPr/>
      </dsp:nvSpPr>
      <dsp:spPr>
        <a:xfrm>
          <a:off x="0" y="853540"/>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Coding</a:t>
          </a:r>
        </a:p>
      </dsp:txBody>
      <dsp:txXfrm>
        <a:off x="0" y="853540"/>
        <a:ext cx="7216416" cy="851044"/>
      </dsp:txXfrm>
    </dsp:sp>
    <dsp:sp modelId="{A8ACC6A5-787C-40C6-875B-00A557893D2F}">
      <dsp:nvSpPr>
        <dsp:cNvPr id="0" name=""/>
        <dsp:cNvSpPr/>
      </dsp:nvSpPr>
      <dsp:spPr>
        <a:xfrm>
          <a:off x="0" y="1704585"/>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52BAA2-3F34-420C-A19C-D9BDBA973BE4}">
      <dsp:nvSpPr>
        <dsp:cNvPr id="0" name=""/>
        <dsp:cNvSpPr/>
      </dsp:nvSpPr>
      <dsp:spPr>
        <a:xfrm>
          <a:off x="0" y="1704585"/>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Testing</a:t>
          </a:r>
        </a:p>
      </dsp:txBody>
      <dsp:txXfrm>
        <a:off x="0" y="1704585"/>
        <a:ext cx="7216416" cy="851044"/>
      </dsp:txXfrm>
    </dsp:sp>
    <dsp:sp modelId="{49066966-DAB7-4F77-B363-8C8963A9F850}">
      <dsp:nvSpPr>
        <dsp:cNvPr id="0" name=""/>
        <dsp:cNvSpPr/>
      </dsp:nvSpPr>
      <dsp:spPr>
        <a:xfrm>
          <a:off x="0" y="2555630"/>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A977A1-887F-4F2A-A3CD-81038181487E}">
      <dsp:nvSpPr>
        <dsp:cNvPr id="0" name=""/>
        <dsp:cNvSpPr/>
      </dsp:nvSpPr>
      <dsp:spPr>
        <a:xfrm>
          <a:off x="0" y="2555630"/>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Installation</a:t>
          </a:r>
        </a:p>
      </dsp:txBody>
      <dsp:txXfrm>
        <a:off x="0" y="2555630"/>
        <a:ext cx="7216416" cy="851044"/>
      </dsp:txXfrm>
    </dsp:sp>
    <dsp:sp modelId="{007F58FE-72E9-4907-83E3-A5E896A92212}">
      <dsp:nvSpPr>
        <dsp:cNvPr id="0" name=""/>
        <dsp:cNvSpPr/>
      </dsp:nvSpPr>
      <dsp:spPr>
        <a:xfrm>
          <a:off x="0" y="3406674"/>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05F2E1-07CE-4400-AFC3-7695B8CAAFD3}">
      <dsp:nvSpPr>
        <dsp:cNvPr id="0" name=""/>
        <dsp:cNvSpPr/>
      </dsp:nvSpPr>
      <dsp:spPr>
        <a:xfrm>
          <a:off x="0" y="3406674"/>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Documenting the system</a:t>
          </a:r>
        </a:p>
      </dsp:txBody>
      <dsp:txXfrm>
        <a:off x="0" y="3406674"/>
        <a:ext cx="7216416" cy="851044"/>
      </dsp:txXfrm>
    </dsp:sp>
    <dsp:sp modelId="{E028EFFE-4212-4594-A268-49ACDB4DC40B}">
      <dsp:nvSpPr>
        <dsp:cNvPr id="0" name=""/>
        <dsp:cNvSpPr/>
      </dsp:nvSpPr>
      <dsp:spPr>
        <a:xfrm>
          <a:off x="0" y="4257719"/>
          <a:ext cx="72164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4F0DA6-4F5C-4487-90F3-11238FD19402}">
      <dsp:nvSpPr>
        <dsp:cNvPr id="0" name=""/>
        <dsp:cNvSpPr/>
      </dsp:nvSpPr>
      <dsp:spPr>
        <a:xfrm>
          <a:off x="0" y="4257719"/>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Training </a:t>
          </a:r>
        </a:p>
      </dsp:txBody>
      <dsp:txXfrm>
        <a:off x="0" y="4257719"/>
        <a:ext cx="7216416" cy="851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84D98-F362-40DA-AF62-34BDED29BA2E}">
      <dsp:nvSpPr>
        <dsp:cNvPr id="0" name=""/>
        <dsp:cNvSpPr/>
      </dsp:nvSpPr>
      <dsp:spPr>
        <a:xfrm>
          <a:off x="0" y="62540"/>
          <a:ext cx="10890928" cy="13127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1" kern="1200"/>
            <a:t>Answer TRUE or for FALSE for each of the questions below.</a:t>
          </a:r>
          <a:endParaRPr lang="en-US" sz="3300" kern="1200"/>
        </a:p>
      </dsp:txBody>
      <dsp:txXfrm>
        <a:off x="64083" y="126623"/>
        <a:ext cx="10762762" cy="1184574"/>
      </dsp:txXfrm>
    </dsp:sp>
    <dsp:sp modelId="{2A360D5A-2150-4B8E-A49E-CFA0FB7E3658}">
      <dsp:nvSpPr>
        <dsp:cNvPr id="0" name=""/>
        <dsp:cNvSpPr/>
      </dsp:nvSpPr>
      <dsp:spPr>
        <a:xfrm>
          <a:off x="0" y="1375280"/>
          <a:ext cx="10890928" cy="4030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787" tIns="41910" rIns="234696" bIns="41910" numCol="1" spcCol="1270" anchor="t" anchorCtr="0">
          <a:noAutofit/>
        </a:bodyPr>
        <a:lstStyle/>
        <a:p>
          <a:pPr marL="228600" lvl="1" indent="-228600" algn="l" defTabSz="1155700">
            <a:lnSpc>
              <a:spcPct val="90000"/>
            </a:lnSpc>
            <a:spcBef>
              <a:spcPct val="0"/>
            </a:spcBef>
            <a:spcAft>
              <a:spcPct val="20000"/>
            </a:spcAft>
            <a:buFont typeface="+mj-lt"/>
            <a:buAutoNum type="arabicPeriod"/>
          </a:pPr>
          <a:r>
            <a:rPr lang="en-US" sz="2600" kern="1200" dirty="0"/>
            <a:t>Coding is the process whereby the physical specifications created in the previous phases are turned into working computer codes by the programmer team. </a:t>
          </a:r>
        </a:p>
        <a:p>
          <a:pPr marL="228600" lvl="1" indent="-228600" algn="l" defTabSz="1155700">
            <a:lnSpc>
              <a:spcPct val="90000"/>
            </a:lnSpc>
            <a:spcBef>
              <a:spcPct val="0"/>
            </a:spcBef>
            <a:spcAft>
              <a:spcPct val="20000"/>
            </a:spcAft>
            <a:buFont typeface="+mj-lt"/>
            <a:buAutoNum type="arabicPeriod"/>
          </a:pPr>
          <a:r>
            <a:rPr lang="en-US" sz="2600" kern="1200" dirty="0"/>
            <a:t>There are several sub activities involved during coding and all this activities are compulsory. </a:t>
          </a:r>
        </a:p>
        <a:p>
          <a:pPr marL="228600" lvl="1" indent="-228600" algn="l" defTabSz="1155700">
            <a:lnSpc>
              <a:spcPct val="90000"/>
            </a:lnSpc>
            <a:spcBef>
              <a:spcPct val="0"/>
            </a:spcBef>
            <a:spcAft>
              <a:spcPct val="20000"/>
            </a:spcAft>
            <a:buFont typeface="+mj-lt"/>
            <a:buAutoNum type="arabicPeriod"/>
          </a:pPr>
          <a:r>
            <a:rPr lang="en-US" sz="2600" kern="1200" dirty="0"/>
            <a:t>Most of the system developed is around the existing network, so, no need to build and test a network. </a:t>
          </a:r>
        </a:p>
        <a:p>
          <a:pPr marL="228600" lvl="1" indent="-228600" algn="l" defTabSz="1155700">
            <a:lnSpc>
              <a:spcPct val="90000"/>
            </a:lnSpc>
            <a:spcBef>
              <a:spcPct val="0"/>
            </a:spcBef>
            <a:spcAft>
              <a:spcPct val="20000"/>
            </a:spcAft>
            <a:buFont typeface="+mj-lt"/>
            <a:buAutoNum type="arabicPeriod"/>
          </a:pPr>
          <a:r>
            <a:rPr lang="en-US" sz="2600" kern="1200" dirty="0"/>
            <a:t>Database installed should be tested. </a:t>
          </a:r>
        </a:p>
        <a:p>
          <a:pPr marL="228600" lvl="1" indent="-228600" algn="l" defTabSz="1155700">
            <a:lnSpc>
              <a:spcPct val="90000"/>
            </a:lnSpc>
            <a:spcBef>
              <a:spcPct val="0"/>
            </a:spcBef>
            <a:spcAft>
              <a:spcPct val="20000"/>
            </a:spcAft>
            <a:buFont typeface="+mj-lt"/>
            <a:buAutoNum type="arabicPeriod"/>
          </a:pPr>
          <a:r>
            <a:rPr lang="en-US" sz="2600" kern="1200" dirty="0"/>
            <a:t>Most of the organizations are prefer to use prototyping when develop a system. </a:t>
          </a:r>
        </a:p>
      </dsp:txBody>
      <dsp:txXfrm>
        <a:off x="0" y="1375280"/>
        <a:ext cx="10890928" cy="40302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771CCE-4139-4747-99B3-8448E893F6E5}">
      <dsp:nvSpPr>
        <dsp:cNvPr id="0" name=""/>
        <dsp:cNvSpPr/>
      </dsp:nvSpPr>
      <dsp:spPr>
        <a:xfrm>
          <a:off x="0" y="384698"/>
          <a:ext cx="7485718" cy="4422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0975" tIns="374904" rIns="580975"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Initial Testing by Programmer</a:t>
          </a:r>
        </a:p>
        <a:p>
          <a:pPr marL="342900" lvl="2" indent="-171450" algn="l" defTabSz="800100">
            <a:lnSpc>
              <a:spcPct val="90000"/>
            </a:lnSpc>
            <a:spcBef>
              <a:spcPct val="0"/>
            </a:spcBef>
            <a:spcAft>
              <a:spcPct val="15000"/>
            </a:spcAft>
            <a:buChar char="•"/>
          </a:pPr>
          <a:r>
            <a:rPr lang="en-US" sz="1800" kern="1200"/>
            <a:t>Each program is tested to ensure it works properly.</a:t>
          </a:r>
        </a:p>
        <a:p>
          <a:pPr marL="171450" lvl="1" indent="-171450" algn="l" defTabSz="800100">
            <a:lnSpc>
              <a:spcPct val="90000"/>
            </a:lnSpc>
            <a:spcBef>
              <a:spcPct val="0"/>
            </a:spcBef>
            <a:spcAft>
              <a:spcPct val="15000"/>
            </a:spcAft>
            <a:buChar char="•"/>
          </a:pPr>
          <a:r>
            <a:rPr lang="en-US" sz="1800" kern="1200"/>
            <a:t>Group Testing</a:t>
          </a:r>
        </a:p>
        <a:p>
          <a:pPr marL="342900" lvl="2" indent="-171450" algn="l" defTabSz="800100">
            <a:lnSpc>
              <a:spcPct val="90000"/>
            </a:lnSpc>
            <a:spcBef>
              <a:spcPct val="0"/>
            </a:spcBef>
            <a:spcAft>
              <a:spcPct val="15000"/>
            </a:spcAft>
            <a:buChar char="•"/>
          </a:pPr>
          <a:r>
            <a:rPr lang="en-US" sz="1800" kern="1200"/>
            <a:t>Programs are combined and tested together to check how they interact.</a:t>
          </a:r>
        </a:p>
        <a:p>
          <a:pPr marL="171450" lvl="1" indent="-171450" algn="l" defTabSz="800100">
            <a:lnSpc>
              <a:spcPct val="90000"/>
            </a:lnSpc>
            <a:spcBef>
              <a:spcPct val="0"/>
            </a:spcBef>
            <a:spcAft>
              <a:spcPct val="15000"/>
            </a:spcAft>
            <a:buChar char="•"/>
          </a:pPr>
          <a:r>
            <a:rPr lang="en-US" sz="1800" kern="1200" dirty="0"/>
            <a:t>System Testing</a:t>
          </a:r>
        </a:p>
        <a:p>
          <a:pPr marL="342900" lvl="2" indent="-171450" algn="l" defTabSz="800100">
            <a:lnSpc>
              <a:spcPct val="90000"/>
            </a:lnSpc>
            <a:spcBef>
              <a:spcPct val="0"/>
            </a:spcBef>
            <a:spcAft>
              <a:spcPct val="15000"/>
            </a:spcAft>
            <a:buChar char="•"/>
          </a:pPr>
          <a:r>
            <a:rPr lang="en-US" sz="1800" kern="1200"/>
            <a:t>The entire system is tested to ensure everything works as a whole.</a:t>
          </a:r>
        </a:p>
        <a:p>
          <a:pPr marL="171450" lvl="1" indent="-171450" algn="l" defTabSz="800100">
            <a:lnSpc>
              <a:spcPct val="90000"/>
            </a:lnSpc>
            <a:spcBef>
              <a:spcPct val="0"/>
            </a:spcBef>
            <a:spcAft>
              <a:spcPct val="15000"/>
            </a:spcAft>
            <a:buChar char="•"/>
          </a:pPr>
          <a:r>
            <a:rPr lang="en-US" sz="1800" kern="1200"/>
            <a:t>Testing Steps:</a:t>
          </a:r>
        </a:p>
        <a:p>
          <a:pPr marL="342900" lvl="2" indent="-171450" algn="l" defTabSz="800100">
            <a:lnSpc>
              <a:spcPct val="90000"/>
            </a:lnSpc>
            <a:spcBef>
              <a:spcPct val="0"/>
            </a:spcBef>
            <a:spcAft>
              <a:spcPct val="15000"/>
            </a:spcAft>
            <a:buChar char="•"/>
          </a:pPr>
          <a:r>
            <a:rPr lang="en-US" sz="1800" kern="1200"/>
            <a:t>Compilation: Detect and fix syntax errors.</a:t>
          </a:r>
        </a:p>
        <a:p>
          <a:pPr marL="342900" lvl="2" indent="-171450" algn="l" defTabSz="800100">
            <a:lnSpc>
              <a:spcPct val="90000"/>
            </a:lnSpc>
            <a:spcBef>
              <a:spcPct val="0"/>
            </a:spcBef>
            <a:spcAft>
              <a:spcPct val="15000"/>
            </a:spcAft>
            <a:buChar char="•"/>
          </a:pPr>
          <a:r>
            <a:rPr lang="en-US" sz="1800" kern="1200"/>
            <a:t>Unit Testing: Test individual components or modules.</a:t>
          </a:r>
        </a:p>
        <a:p>
          <a:pPr marL="342900" lvl="2" indent="-171450" algn="l" defTabSz="800100">
            <a:lnSpc>
              <a:spcPct val="90000"/>
            </a:lnSpc>
            <a:spcBef>
              <a:spcPct val="0"/>
            </a:spcBef>
            <a:spcAft>
              <a:spcPct val="15000"/>
            </a:spcAft>
            <a:buChar char="•"/>
          </a:pPr>
          <a:r>
            <a:rPr lang="en-US" sz="1800" kern="1200"/>
            <a:t>Integration Testing: Test combined modules for proper interaction</a:t>
          </a:r>
        </a:p>
        <a:p>
          <a:pPr marL="342900" lvl="2" indent="-171450" algn="l" defTabSz="800100">
            <a:lnSpc>
              <a:spcPct val="90000"/>
            </a:lnSpc>
            <a:spcBef>
              <a:spcPct val="0"/>
            </a:spcBef>
            <a:spcAft>
              <a:spcPct val="15000"/>
            </a:spcAft>
            <a:buChar char="•"/>
          </a:pPr>
          <a:r>
            <a:rPr lang="en-US" sz="1800" kern="1200"/>
            <a:t>System Testing: Test the full system in its environment.</a:t>
          </a:r>
        </a:p>
      </dsp:txBody>
      <dsp:txXfrm>
        <a:off x="0" y="384698"/>
        <a:ext cx="7485718" cy="4422600"/>
      </dsp:txXfrm>
    </dsp:sp>
    <dsp:sp modelId="{3A6B081B-2AFC-40FA-A0F2-3AA41D37A521}">
      <dsp:nvSpPr>
        <dsp:cNvPr id="0" name=""/>
        <dsp:cNvSpPr/>
      </dsp:nvSpPr>
      <dsp:spPr>
        <a:xfrm>
          <a:off x="374285" y="119018"/>
          <a:ext cx="5240002" cy="5313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0" tIns="0" rIns="198060" bIns="0" numCol="1" spcCol="1270" anchor="ctr" anchorCtr="0">
          <a:noAutofit/>
        </a:bodyPr>
        <a:lstStyle/>
        <a:p>
          <a:pPr marL="0" lvl="0" indent="0" algn="l" defTabSz="800100">
            <a:lnSpc>
              <a:spcPct val="90000"/>
            </a:lnSpc>
            <a:spcBef>
              <a:spcPct val="0"/>
            </a:spcBef>
            <a:spcAft>
              <a:spcPct val="35000"/>
            </a:spcAft>
            <a:buNone/>
          </a:pPr>
          <a:r>
            <a:rPr lang="en-MY" sz="1800" kern="1200"/>
            <a:t>Program Testing Process</a:t>
          </a:r>
          <a:endParaRPr lang="en-US" sz="1800" kern="1200"/>
        </a:p>
      </dsp:txBody>
      <dsp:txXfrm>
        <a:off x="400224" y="144957"/>
        <a:ext cx="5188124" cy="47948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6/20/2025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50834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6/20/2025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3791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6/20/2025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586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6/20/2025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52766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6/20/2025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16233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6/20/2025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03122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6/20/2025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51643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6/20/2025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4862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6/20/2025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69362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6/20/2025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16960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6/20/2025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60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6/20/2025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457636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4671CF-4036-5A7A-AE63-F24BF9DA7CC4}"/>
              </a:ext>
            </a:extLst>
          </p:cNvPr>
          <p:cNvSpPr>
            <a:spLocks noGrp="1"/>
          </p:cNvSpPr>
          <p:nvPr>
            <p:ph type="ctrTitle"/>
          </p:nvPr>
        </p:nvSpPr>
        <p:spPr>
          <a:xfrm>
            <a:off x="8159932" y="1186382"/>
            <a:ext cx="3324820" cy="2682240"/>
          </a:xfrm>
        </p:spPr>
        <p:txBody>
          <a:bodyPr anchor="b">
            <a:normAutofit/>
          </a:bodyPr>
          <a:lstStyle/>
          <a:p>
            <a:r>
              <a:rPr lang="en-US" sz="4400"/>
              <a:t>Chapter 7</a:t>
            </a:r>
            <a:endParaRPr lang="en-MY" sz="4400"/>
          </a:p>
        </p:txBody>
      </p:sp>
      <p:sp>
        <p:nvSpPr>
          <p:cNvPr id="3" name="Subtitle 2">
            <a:extLst>
              <a:ext uri="{FF2B5EF4-FFF2-40B4-BE49-F238E27FC236}">
                <a16:creationId xmlns:a16="http://schemas.microsoft.com/office/drawing/2014/main" id="{4552ADFD-F7AF-FE20-3062-2E3C127D8AD1}"/>
              </a:ext>
            </a:extLst>
          </p:cNvPr>
          <p:cNvSpPr>
            <a:spLocks noGrp="1"/>
          </p:cNvSpPr>
          <p:nvPr>
            <p:ph type="subTitle" idx="1"/>
          </p:nvPr>
        </p:nvSpPr>
        <p:spPr>
          <a:xfrm>
            <a:off x="8159931" y="4157886"/>
            <a:ext cx="3324821" cy="1261817"/>
          </a:xfrm>
        </p:spPr>
        <p:txBody>
          <a:bodyPr anchor="t">
            <a:normAutofit/>
          </a:bodyPr>
          <a:lstStyle/>
          <a:p>
            <a:r>
              <a:rPr lang="en-US"/>
              <a:t>SYSTEM Implementation and Testing</a:t>
            </a:r>
            <a:endParaRPr lang="en-MY" dirty="0"/>
          </a:p>
        </p:txBody>
      </p:sp>
      <p:pic>
        <p:nvPicPr>
          <p:cNvPr id="4" name="Picture 3" descr="Wavy 3D art">
            <a:extLst>
              <a:ext uri="{FF2B5EF4-FFF2-40B4-BE49-F238E27FC236}">
                <a16:creationId xmlns:a16="http://schemas.microsoft.com/office/drawing/2014/main" id="{833208A1-D6BA-E344-2F9E-EE021CCD6210}"/>
              </a:ext>
            </a:extLst>
          </p:cNvPr>
          <p:cNvPicPr>
            <a:picLocks noChangeAspect="1"/>
          </p:cNvPicPr>
          <p:nvPr/>
        </p:nvPicPr>
        <p:blipFill>
          <a:blip r:embed="rId2"/>
          <a:srcRect l="12719" r="8956" b="2"/>
          <a:stretch>
            <a:fillRect/>
          </a:stretch>
        </p:blipFill>
        <p:spPr>
          <a:xfrm>
            <a:off x="1656745" y="916445"/>
            <a:ext cx="4913007" cy="4861159"/>
          </a:xfrm>
          <a:prstGeom prst="rect">
            <a:avLst/>
          </a:prstGeom>
        </p:spPr>
      </p:pic>
      <p:cxnSp>
        <p:nvCxnSpPr>
          <p:cNvPr id="25" name="Straight Connector 24">
            <a:extLst>
              <a:ext uri="{FF2B5EF4-FFF2-40B4-BE49-F238E27FC236}">
                <a16:creationId xmlns:a16="http://schemas.microsoft.com/office/drawing/2014/main" id="{94AC3912-9445-326E-F355-EA4A288013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5307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C7829E-63C8-62D3-8B31-725F22C69BE7}"/>
              </a:ext>
            </a:extLst>
          </p:cNvPr>
          <p:cNvSpPr>
            <a:spLocks noGrp="1"/>
          </p:cNvSpPr>
          <p:nvPr>
            <p:ph type="title"/>
          </p:nvPr>
        </p:nvSpPr>
        <p:spPr>
          <a:xfrm>
            <a:off x="379828" y="914399"/>
            <a:ext cx="3784209" cy="4160520"/>
          </a:xfrm>
        </p:spPr>
        <p:txBody>
          <a:bodyPr anchor="t">
            <a:normAutofit/>
          </a:bodyPr>
          <a:lstStyle/>
          <a:p>
            <a:pPr>
              <a:lnSpc>
                <a:spcPct val="90000"/>
              </a:lnSpc>
            </a:pPr>
            <a:r>
              <a:rPr lang="en-US" sz="2400" b="0" dirty="0">
                <a:solidFill>
                  <a:srgbClr val="0070C0"/>
                </a:solidFill>
              </a:rPr>
              <a:t>The purpose of system implementation is </a:t>
            </a:r>
            <a:br>
              <a:rPr lang="en-US" sz="2400" b="0" dirty="0">
                <a:solidFill>
                  <a:srgbClr val="0070C0"/>
                </a:solidFill>
              </a:rPr>
            </a:br>
            <a:r>
              <a:rPr lang="en-US" sz="2400" b="0" dirty="0">
                <a:solidFill>
                  <a:srgbClr val="0070C0"/>
                </a:solidFill>
              </a:rPr>
              <a:t>- to build a properly working system, </a:t>
            </a:r>
            <a:br>
              <a:rPr lang="en-US" sz="2400" b="0" dirty="0">
                <a:solidFill>
                  <a:srgbClr val="0070C0"/>
                </a:solidFill>
              </a:rPr>
            </a:br>
            <a:r>
              <a:rPr lang="en-US" sz="2400" b="0" dirty="0">
                <a:solidFill>
                  <a:srgbClr val="0070C0"/>
                </a:solidFill>
              </a:rPr>
              <a:t>- install it in organization, </a:t>
            </a:r>
            <a:br>
              <a:rPr lang="en-US" sz="2400" b="0" dirty="0">
                <a:solidFill>
                  <a:srgbClr val="0070C0"/>
                </a:solidFill>
              </a:rPr>
            </a:br>
            <a:r>
              <a:rPr lang="en-US" sz="2400" b="0" dirty="0">
                <a:solidFill>
                  <a:srgbClr val="0070C0"/>
                </a:solidFill>
              </a:rPr>
              <a:t>- replace and old systems, </a:t>
            </a:r>
            <a:br>
              <a:rPr lang="en-US" sz="2400" b="0" dirty="0">
                <a:solidFill>
                  <a:srgbClr val="0070C0"/>
                </a:solidFill>
              </a:rPr>
            </a:br>
            <a:r>
              <a:rPr lang="en-US" sz="2400" b="0" dirty="0">
                <a:solidFill>
                  <a:srgbClr val="0070C0"/>
                </a:solidFill>
              </a:rPr>
              <a:t>- preparing system and user documentation and </a:t>
            </a:r>
            <a:br>
              <a:rPr lang="en-US" sz="2400" b="0" dirty="0">
                <a:solidFill>
                  <a:srgbClr val="0070C0"/>
                </a:solidFill>
              </a:rPr>
            </a:br>
            <a:r>
              <a:rPr lang="en-US" sz="2400" b="0" dirty="0">
                <a:solidFill>
                  <a:srgbClr val="0070C0"/>
                </a:solidFill>
              </a:rPr>
              <a:t>-train users.  </a:t>
            </a:r>
            <a:br>
              <a:rPr lang="en-MY" sz="2400" b="0" dirty="0">
                <a:solidFill>
                  <a:srgbClr val="0070C0"/>
                </a:solidFill>
              </a:rPr>
            </a:br>
            <a:endParaRPr lang="en-MY" sz="2400" b="0" dirty="0">
              <a:solidFill>
                <a:srgbClr val="0070C0"/>
              </a:solidFill>
            </a:endParaRPr>
          </a:p>
        </p:txBody>
      </p:sp>
      <p:cxnSp>
        <p:nvCxnSpPr>
          <p:cNvPr id="14" name="Straight Connector 13">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299CEA5E-503F-6207-B894-25C82B453EFE}"/>
              </a:ext>
            </a:extLst>
          </p:cNvPr>
          <p:cNvGraphicFramePr>
            <a:graphicFrameLocks noGrp="1"/>
          </p:cNvGraphicFramePr>
          <p:nvPr>
            <p:ph idx="1"/>
            <p:extLst>
              <p:ext uri="{D42A27DB-BD31-4B8C-83A1-F6EECF244321}">
                <p14:modId xmlns:p14="http://schemas.microsoft.com/office/powerpoint/2010/main" val="1918120333"/>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846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987552-98A1-2EC3-B34C-730CF03D8FA4}"/>
              </a:ext>
            </a:extLst>
          </p:cNvPr>
          <p:cNvSpPr>
            <a:spLocks noGrp="1"/>
          </p:cNvSpPr>
          <p:nvPr>
            <p:ph type="title"/>
          </p:nvPr>
        </p:nvSpPr>
        <p:spPr>
          <a:xfrm>
            <a:off x="8159932" y="1186382"/>
            <a:ext cx="3324820" cy="2682240"/>
          </a:xfrm>
        </p:spPr>
        <p:txBody>
          <a:bodyPr vert="horz" lIns="91440" tIns="45720" rIns="91440" bIns="45720" rtlCol="0" anchor="b">
            <a:normAutofit/>
          </a:bodyPr>
          <a:lstStyle/>
          <a:p>
            <a:r>
              <a:rPr lang="en-US" sz="4400" dirty="0"/>
              <a:t>Terminology</a:t>
            </a:r>
          </a:p>
        </p:txBody>
      </p:sp>
      <p:cxnSp>
        <p:nvCxnSpPr>
          <p:cNvPr id="17" name="Straight Connector 16">
            <a:extLst>
              <a:ext uri="{FF2B5EF4-FFF2-40B4-BE49-F238E27FC236}">
                <a16:creationId xmlns:a16="http://schemas.microsoft.com/office/drawing/2014/main" id="{94AC3912-9445-326E-F355-EA4A288013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C2D177D3-AE01-64B9-2EEC-369133EE281C}"/>
              </a:ext>
            </a:extLst>
          </p:cNvPr>
          <p:cNvGraphicFramePr>
            <a:graphicFrameLocks noGrp="1"/>
          </p:cNvGraphicFramePr>
          <p:nvPr>
            <p:extLst>
              <p:ext uri="{D42A27DB-BD31-4B8C-83A1-F6EECF244321}">
                <p14:modId xmlns:p14="http://schemas.microsoft.com/office/powerpoint/2010/main" val="2579871366"/>
              </p:ext>
            </p:extLst>
          </p:nvPr>
        </p:nvGraphicFramePr>
        <p:xfrm>
          <a:off x="1101018" y="253219"/>
          <a:ext cx="6875364" cy="5766181"/>
        </p:xfrm>
        <a:graphic>
          <a:graphicData uri="http://schemas.openxmlformats.org/drawingml/2006/table">
            <a:tbl>
              <a:tblPr firstRow="1" firstCol="1" bandRow="1">
                <a:solidFill>
                  <a:srgbClr val="F2F2F2">
                    <a:alpha val="45098"/>
                  </a:srgbClr>
                </a:solidFill>
                <a:tableStyleId>{5C22544A-7EE6-4342-B048-85BDC9FD1C3A}</a:tableStyleId>
              </a:tblPr>
              <a:tblGrid>
                <a:gridCol w="519501">
                  <a:extLst>
                    <a:ext uri="{9D8B030D-6E8A-4147-A177-3AD203B41FA5}">
                      <a16:colId xmlns:a16="http://schemas.microsoft.com/office/drawing/2014/main" val="4128000059"/>
                    </a:ext>
                  </a:extLst>
                </a:gridCol>
                <a:gridCol w="1795805">
                  <a:extLst>
                    <a:ext uri="{9D8B030D-6E8A-4147-A177-3AD203B41FA5}">
                      <a16:colId xmlns:a16="http://schemas.microsoft.com/office/drawing/2014/main" val="2410718798"/>
                    </a:ext>
                  </a:extLst>
                </a:gridCol>
                <a:gridCol w="4560058">
                  <a:extLst>
                    <a:ext uri="{9D8B030D-6E8A-4147-A177-3AD203B41FA5}">
                      <a16:colId xmlns:a16="http://schemas.microsoft.com/office/drawing/2014/main" val="457284047"/>
                    </a:ext>
                  </a:extLst>
                </a:gridCol>
              </a:tblGrid>
              <a:tr h="459547">
                <a:tc>
                  <a:txBody>
                    <a:bodyPr/>
                    <a:lstStyle/>
                    <a:p>
                      <a:pPr algn="ctr">
                        <a:lnSpc>
                          <a:spcPct val="150000"/>
                        </a:lnSpc>
                        <a:spcAft>
                          <a:spcPts val="1000"/>
                        </a:spcAft>
                        <a:buNone/>
                      </a:pPr>
                      <a:r>
                        <a:rPr lang="en-US" sz="1400" b="0" cap="none" spc="0">
                          <a:solidFill>
                            <a:schemeClr val="bg1"/>
                          </a:solidFill>
                          <a:effectLst/>
                        </a:rPr>
                        <a:t>No</a:t>
                      </a:r>
                      <a:endParaRPr lang="en-MY" sz="1400" b="0" cap="none" spc="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nchor="ctr">
                    <a:lnL w="12700" cmpd="sng">
                      <a:noFill/>
                    </a:lnL>
                    <a:lnR w="12700" cmpd="sng">
                      <a:noFill/>
                    </a:lnR>
                    <a:lnT w="19050" cap="flat" cmpd="sng" algn="ctr">
                      <a:noFill/>
                      <a:prstDash val="solid"/>
                    </a:lnT>
                    <a:lnB w="38100" cmpd="sng">
                      <a:noFill/>
                    </a:lnB>
                    <a:solidFill>
                      <a:schemeClr val="tx1"/>
                    </a:solidFill>
                  </a:tcPr>
                </a:tc>
                <a:tc>
                  <a:txBody>
                    <a:bodyPr/>
                    <a:lstStyle/>
                    <a:p>
                      <a:pPr algn="ctr">
                        <a:lnSpc>
                          <a:spcPct val="150000"/>
                        </a:lnSpc>
                        <a:spcAft>
                          <a:spcPts val="1000"/>
                        </a:spcAft>
                        <a:buNone/>
                      </a:pPr>
                      <a:r>
                        <a:rPr lang="en-US" sz="1400" b="0" cap="none" spc="0">
                          <a:solidFill>
                            <a:schemeClr val="bg1"/>
                          </a:solidFill>
                          <a:effectLst/>
                        </a:rPr>
                        <a:t>Word</a:t>
                      </a:r>
                      <a:endParaRPr lang="en-MY" sz="1400" b="0" cap="none" spc="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nchor="ctr">
                    <a:lnL w="12700" cmpd="sng">
                      <a:noFill/>
                    </a:lnL>
                    <a:lnR w="12700" cmpd="sng">
                      <a:noFill/>
                    </a:lnR>
                    <a:lnT w="19050" cap="flat" cmpd="sng" algn="ctr">
                      <a:noFill/>
                      <a:prstDash val="solid"/>
                    </a:lnT>
                    <a:lnB w="38100" cmpd="sng">
                      <a:noFill/>
                    </a:lnB>
                    <a:solidFill>
                      <a:schemeClr val="tx1"/>
                    </a:solidFill>
                  </a:tcPr>
                </a:tc>
                <a:tc>
                  <a:txBody>
                    <a:bodyPr/>
                    <a:lstStyle/>
                    <a:p>
                      <a:pPr indent="457200" algn="ctr">
                        <a:lnSpc>
                          <a:spcPct val="150000"/>
                        </a:lnSpc>
                        <a:spcAft>
                          <a:spcPts val="1000"/>
                        </a:spcAft>
                        <a:buNone/>
                      </a:pPr>
                      <a:r>
                        <a:rPr lang="en-US" sz="1400" b="0" cap="none" spc="0">
                          <a:solidFill>
                            <a:schemeClr val="bg1"/>
                          </a:solidFill>
                          <a:effectLst/>
                        </a:rPr>
                        <a:t>Definition</a:t>
                      </a:r>
                      <a:endParaRPr lang="en-MY" sz="1400" b="0" cap="none" spc="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424279411"/>
                  </a:ext>
                </a:extLst>
              </a:tr>
              <a:tr h="1023871">
                <a:tc>
                  <a:txBody>
                    <a:bodyPr/>
                    <a:lstStyle/>
                    <a:p>
                      <a:pPr algn="just">
                        <a:lnSpc>
                          <a:spcPct val="150000"/>
                        </a:lnSpc>
                        <a:spcAft>
                          <a:spcPts val="1000"/>
                        </a:spcAft>
                        <a:buNone/>
                      </a:pPr>
                      <a:r>
                        <a:rPr lang="en-US" sz="1200" b="1" cap="none" spc="0">
                          <a:solidFill>
                            <a:schemeClr val="tx1"/>
                          </a:solidFill>
                          <a:effectLst/>
                        </a:rPr>
                        <a:t>1</a:t>
                      </a:r>
                      <a:endParaRPr lang="en-MY" sz="12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lgn="just">
                        <a:lnSpc>
                          <a:spcPct val="150000"/>
                        </a:lnSpc>
                        <a:spcAft>
                          <a:spcPts val="1000"/>
                        </a:spcAft>
                        <a:buNone/>
                      </a:pPr>
                      <a:r>
                        <a:rPr lang="en-US" sz="1200" cap="none" spc="0">
                          <a:solidFill>
                            <a:schemeClr val="tx1"/>
                          </a:solidFill>
                          <a:effectLst/>
                        </a:rPr>
                        <a:t>Coding</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lgn="just">
                        <a:lnSpc>
                          <a:spcPct val="150000"/>
                        </a:lnSpc>
                        <a:spcAft>
                          <a:spcPts val="1000"/>
                        </a:spcAft>
                        <a:buNone/>
                      </a:pPr>
                      <a:r>
                        <a:rPr lang="en-US" sz="1200" cap="none" spc="0">
                          <a:solidFill>
                            <a:schemeClr val="tx1"/>
                          </a:solidFill>
                          <a:effectLst/>
                        </a:rPr>
                        <a:t>A process whereby the physical specifications created in the previous phases are turned into working computer codes by the programmer team</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80722440"/>
                  </a:ext>
                </a:extLst>
              </a:tr>
              <a:tr h="719059">
                <a:tc>
                  <a:txBody>
                    <a:bodyPr/>
                    <a:lstStyle/>
                    <a:p>
                      <a:pPr algn="just">
                        <a:lnSpc>
                          <a:spcPct val="150000"/>
                        </a:lnSpc>
                        <a:spcAft>
                          <a:spcPts val="1000"/>
                        </a:spcAft>
                        <a:buNone/>
                      </a:pPr>
                      <a:r>
                        <a:rPr lang="en-US" sz="1200" b="1" cap="none" spc="0">
                          <a:solidFill>
                            <a:schemeClr val="tx1"/>
                          </a:solidFill>
                          <a:effectLst/>
                        </a:rPr>
                        <a:t>2</a:t>
                      </a:r>
                      <a:endParaRPr lang="en-MY" sz="12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gn="just">
                        <a:lnSpc>
                          <a:spcPct val="150000"/>
                        </a:lnSpc>
                        <a:spcAft>
                          <a:spcPts val="1000"/>
                        </a:spcAft>
                        <a:buNone/>
                      </a:pPr>
                      <a:r>
                        <a:rPr lang="en-US" sz="1200" cap="none" spc="0">
                          <a:solidFill>
                            <a:schemeClr val="tx1"/>
                          </a:solidFill>
                          <a:effectLst/>
                        </a:rPr>
                        <a:t>Installation</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gn="just">
                        <a:lnSpc>
                          <a:spcPct val="150000"/>
                        </a:lnSpc>
                        <a:spcAft>
                          <a:spcPts val="1000"/>
                        </a:spcAft>
                        <a:buNone/>
                      </a:pPr>
                      <a:r>
                        <a:rPr lang="en-US" sz="1200" cap="none" spc="0">
                          <a:solidFill>
                            <a:schemeClr val="tx1"/>
                          </a:solidFill>
                          <a:effectLst/>
                        </a:rPr>
                        <a:t>the process of moving from the current system to the new or enhanced system</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839554817"/>
                  </a:ext>
                </a:extLst>
              </a:tr>
              <a:tr h="719059">
                <a:tc>
                  <a:txBody>
                    <a:bodyPr/>
                    <a:lstStyle/>
                    <a:p>
                      <a:pPr algn="just">
                        <a:lnSpc>
                          <a:spcPct val="150000"/>
                        </a:lnSpc>
                        <a:spcAft>
                          <a:spcPts val="1000"/>
                        </a:spcAft>
                        <a:buNone/>
                      </a:pPr>
                      <a:r>
                        <a:rPr lang="en-US" sz="1200" b="1" cap="none" spc="0">
                          <a:solidFill>
                            <a:schemeClr val="tx1"/>
                          </a:solidFill>
                          <a:effectLst/>
                        </a:rPr>
                        <a:t>3</a:t>
                      </a:r>
                      <a:endParaRPr lang="en-MY" sz="12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lgn="just">
                        <a:lnSpc>
                          <a:spcPct val="150000"/>
                        </a:lnSpc>
                        <a:spcAft>
                          <a:spcPts val="1000"/>
                        </a:spcAft>
                        <a:buNone/>
                      </a:pPr>
                      <a:r>
                        <a:rPr lang="en-US" sz="1200" cap="none" spc="0">
                          <a:solidFill>
                            <a:schemeClr val="tx1"/>
                          </a:solidFill>
                          <a:effectLst/>
                        </a:rPr>
                        <a:t>Integration testing</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lgn="just">
                        <a:lnSpc>
                          <a:spcPct val="150000"/>
                        </a:lnSpc>
                        <a:spcAft>
                          <a:spcPts val="1000"/>
                        </a:spcAft>
                        <a:buNone/>
                      </a:pPr>
                      <a:r>
                        <a:rPr lang="en-US" sz="1200" cap="none" spc="0" dirty="0">
                          <a:solidFill>
                            <a:schemeClr val="tx1"/>
                          </a:solidFill>
                          <a:effectLst/>
                        </a:rPr>
                        <a:t>A testing where it involves two or more modules that link each other</a:t>
                      </a:r>
                      <a:endParaRPr lang="en-MY" sz="12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3571296391"/>
                  </a:ext>
                </a:extLst>
              </a:tr>
              <a:tr h="719059">
                <a:tc>
                  <a:txBody>
                    <a:bodyPr/>
                    <a:lstStyle/>
                    <a:p>
                      <a:pPr algn="just">
                        <a:lnSpc>
                          <a:spcPct val="150000"/>
                        </a:lnSpc>
                        <a:spcAft>
                          <a:spcPts val="1000"/>
                        </a:spcAft>
                        <a:buNone/>
                      </a:pPr>
                      <a:r>
                        <a:rPr lang="en-US" sz="1200" b="1" cap="none" spc="0">
                          <a:solidFill>
                            <a:schemeClr val="tx1"/>
                          </a:solidFill>
                          <a:effectLst/>
                        </a:rPr>
                        <a:t>4</a:t>
                      </a:r>
                      <a:endParaRPr lang="en-MY" sz="12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gn="just">
                        <a:lnSpc>
                          <a:spcPct val="150000"/>
                        </a:lnSpc>
                        <a:spcAft>
                          <a:spcPts val="1000"/>
                        </a:spcAft>
                        <a:buNone/>
                      </a:pPr>
                      <a:r>
                        <a:rPr lang="en-US" sz="1200" cap="none" spc="0">
                          <a:solidFill>
                            <a:schemeClr val="tx1"/>
                          </a:solidFill>
                          <a:effectLst/>
                        </a:rPr>
                        <a:t>System implementation</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gn="just">
                        <a:lnSpc>
                          <a:spcPct val="150000"/>
                        </a:lnSpc>
                        <a:spcAft>
                          <a:spcPts val="1000"/>
                        </a:spcAft>
                        <a:buNone/>
                      </a:pPr>
                      <a:r>
                        <a:rPr lang="en-US" sz="1200" cap="none" spc="0">
                          <a:solidFill>
                            <a:schemeClr val="tx1"/>
                          </a:solidFill>
                          <a:effectLst/>
                        </a:rPr>
                        <a:t>A development, installation and testing of system components and delivery of that system into production</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068755563"/>
                  </a:ext>
                </a:extLst>
              </a:tr>
              <a:tr h="719059">
                <a:tc>
                  <a:txBody>
                    <a:bodyPr/>
                    <a:lstStyle/>
                    <a:p>
                      <a:pPr algn="just">
                        <a:lnSpc>
                          <a:spcPct val="150000"/>
                        </a:lnSpc>
                        <a:spcAft>
                          <a:spcPts val="1000"/>
                        </a:spcAft>
                        <a:buNone/>
                      </a:pPr>
                      <a:r>
                        <a:rPr lang="en-US" sz="1200" b="1" cap="none" spc="0">
                          <a:solidFill>
                            <a:schemeClr val="tx1"/>
                          </a:solidFill>
                          <a:effectLst/>
                        </a:rPr>
                        <a:t>5</a:t>
                      </a:r>
                      <a:endParaRPr lang="en-MY" sz="12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lgn="just">
                        <a:lnSpc>
                          <a:spcPct val="150000"/>
                        </a:lnSpc>
                        <a:spcAft>
                          <a:spcPts val="1000"/>
                        </a:spcAft>
                        <a:buNone/>
                      </a:pPr>
                      <a:r>
                        <a:rPr lang="en-US" sz="1200" cap="none" spc="0">
                          <a:solidFill>
                            <a:schemeClr val="tx1"/>
                          </a:solidFill>
                          <a:effectLst/>
                        </a:rPr>
                        <a:t>System testing </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lgn="just">
                        <a:lnSpc>
                          <a:spcPct val="150000"/>
                        </a:lnSpc>
                        <a:spcAft>
                          <a:spcPts val="1000"/>
                        </a:spcAft>
                        <a:buNone/>
                      </a:pPr>
                      <a:r>
                        <a:rPr lang="en-US" sz="1200" cap="none" spc="0">
                          <a:solidFill>
                            <a:schemeClr val="tx1"/>
                          </a:solidFill>
                          <a:effectLst/>
                        </a:rPr>
                        <a:t>A testing where the it involves the integration of the whole programs into a system </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587515605"/>
                  </a:ext>
                </a:extLst>
              </a:tr>
              <a:tr h="687468">
                <a:tc>
                  <a:txBody>
                    <a:bodyPr/>
                    <a:lstStyle/>
                    <a:p>
                      <a:pPr algn="just">
                        <a:lnSpc>
                          <a:spcPct val="150000"/>
                        </a:lnSpc>
                        <a:spcAft>
                          <a:spcPts val="1000"/>
                        </a:spcAft>
                        <a:buNone/>
                      </a:pPr>
                      <a:r>
                        <a:rPr lang="en-US" sz="1200" b="1" cap="none" spc="0">
                          <a:solidFill>
                            <a:schemeClr val="tx1"/>
                          </a:solidFill>
                          <a:effectLst/>
                        </a:rPr>
                        <a:t>6</a:t>
                      </a:r>
                      <a:endParaRPr lang="en-MY" sz="12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gn="just">
                        <a:lnSpc>
                          <a:spcPct val="150000"/>
                        </a:lnSpc>
                        <a:spcAft>
                          <a:spcPts val="1000"/>
                        </a:spcAft>
                        <a:buNone/>
                      </a:pPr>
                      <a:r>
                        <a:rPr lang="en-US" sz="1200" cap="none" spc="0">
                          <a:solidFill>
                            <a:schemeClr val="tx1"/>
                          </a:solidFill>
                          <a:effectLst/>
                        </a:rPr>
                        <a:t>Unit testing </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lgn="just">
                        <a:lnSpc>
                          <a:spcPct val="150000"/>
                        </a:lnSpc>
                        <a:spcAft>
                          <a:spcPts val="1000"/>
                        </a:spcAft>
                        <a:buNone/>
                      </a:pPr>
                      <a:r>
                        <a:rPr lang="en-US" sz="1200" cap="none" spc="0">
                          <a:solidFill>
                            <a:schemeClr val="tx1"/>
                          </a:solidFill>
                          <a:effectLst/>
                        </a:rPr>
                        <a:t>A testing done at the individual level of program or module</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137536530"/>
                  </a:ext>
                </a:extLst>
              </a:tr>
              <a:tr h="719059">
                <a:tc>
                  <a:txBody>
                    <a:bodyPr/>
                    <a:lstStyle/>
                    <a:p>
                      <a:pPr algn="just">
                        <a:lnSpc>
                          <a:spcPct val="150000"/>
                        </a:lnSpc>
                        <a:spcAft>
                          <a:spcPts val="1000"/>
                        </a:spcAft>
                        <a:buNone/>
                      </a:pPr>
                      <a:r>
                        <a:rPr lang="en-US" sz="1200" b="1" cap="none" spc="0">
                          <a:solidFill>
                            <a:schemeClr val="tx1"/>
                          </a:solidFill>
                          <a:effectLst/>
                        </a:rPr>
                        <a:t>7</a:t>
                      </a:r>
                      <a:endParaRPr lang="en-MY" sz="12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just">
                        <a:lnSpc>
                          <a:spcPct val="150000"/>
                        </a:lnSpc>
                        <a:spcAft>
                          <a:spcPts val="1000"/>
                        </a:spcAft>
                        <a:buNone/>
                      </a:pPr>
                      <a:r>
                        <a:rPr lang="en-US" sz="1200" cap="none" spc="0">
                          <a:solidFill>
                            <a:schemeClr val="tx1"/>
                          </a:solidFill>
                          <a:effectLst/>
                        </a:rPr>
                        <a:t>User documentation</a:t>
                      </a:r>
                      <a:endParaRPr lang="en-MY" sz="12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algn="just">
                        <a:lnSpc>
                          <a:spcPct val="150000"/>
                        </a:lnSpc>
                        <a:spcAft>
                          <a:spcPts val="1000"/>
                        </a:spcAft>
                        <a:buNone/>
                      </a:pPr>
                      <a:r>
                        <a:rPr lang="en-US" sz="1200" cap="none" spc="0" dirty="0">
                          <a:solidFill>
                            <a:schemeClr val="tx1"/>
                          </a:solidFill>
                          <a:effectLst/>
                        </a:rPr>
                        <a:t>Written or visual information about system; on how it works, and how to use it.</a:t>
                      </a:r>
                      <a:endParaRPr lang="en-MY" sz="12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7438" marR="67438" marT="89917" marB="0">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2532094711"/>
                  </a:ext>
                </a:extLst>
              </a:tr>
            </a:tbl>
          </a:graphicData>
        </a:graphic>
      </p:graphicFrame>
    </p:spTree>
    <p:extLst>
      <p:ext uri="{BB962C8B-B14F-4D97-AF65-F5344CB8AC3E}">
        <p14:creationId xmlns:p14="http://schemas.microsoft.com/office/powerpoint/2010/main" val="186952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AC7DE-B9CB-AB4F-3A29-B42EEC56E2C4}"/>
              </a:ext>
            </a:extLst>
          </p:cNvPr>
          <p:cNvSpPr>
            <a:spLocks noGrp="1"/>
          </p:cNvSpPr>
          <p:nvPr>
            <p:ph type="title"/>
          </p:nvPr>
        </p:nvSpPr>
        <p:spPr/>
        <p:txBody>
          <a:bodyPr>
            <a:normAutofit fontScale="90000"/>
          </a:bodyPr>
          <a:lstStyle/>
          <a:p>
            <a:r>
              <a:rPr lang="en-US" dirty="0"/>
              <a:t>OVERVIEW OF SYSTEM IMPLEMENTATION</a:t>
            </a:r>
            <a:br>
              <a:rPr lang="en-MY" dirty="0"/>
            </a:br>
            <a:endParaRPr lang="en-MY" dirty="0"/>
          </a:p>
        </p:txBody>
      </p:sp>
      <p:sp>
        <p:nvSpPr>
          <p:cNvPr id="3" name="Content Placeholder 2">
            <a:extLst>
              <a:ext uri="{FF2B5EF4-FFF2-40B4-BE49-F238E27FC236}">
                <a16:creationId xmlns:a16="http://schemas.microsoft.com/office/drawing/2014/main" id="{AEED6A03-2F06-D767-3B76-C1CCB22C99D0}"/>
              </a:ext>
            </a:extLst>
          </p:cNvPr>
          <p:cNvSpPr>
            <a:spLocks noGrp="1"/>
          </p:cNvSpPr>
          <p:nvPr>
            <p:ph idx="1"/>
          </p:nvPr>
        </p:nvSpPr>
        <p:spPr/>
        <p:txBody>
          <a:bodyPr/>
          <a:lstStyle/>
          <a:p>
            <a:r>
              <a:rPr lang="en-US" dirty="0"/>
              <a:t>is the development, installation and testing of system components and delivery of that system into production (Bentley </a:t>
            </a:r>
            <a:r>
              <a:rPr lang="en-US" i="1" dirty="0"/>
              <a:t>et. al</a:t>
            </a:r>
            <a:r>
              <a:rPr lang="en-US" dirty="0"/>
              <a:t>., 2007). </a:t>
            </a:r>
          </a:p>
          <a:p>
            <a:r>
              <a:rPr lang="en-US" dirty="0"/>
              <a:t>The purpose of system implementation is to build a system, install it, replace and old systems, preparing system and user documentation and train users. </a:t>
            </a:r>
          </a:p>
          <a:p>
            <a:r>
              <a:rPr lang="en-US" dirty="0"/>
              <a:t>During this phase, it’s also involved closedown the entire project. </a:t>
            </a:r>
            <a:endParaRPr lang="en-MY" dirty="0"/>
          </a:p>
          <a:p>
            <a:endParaRPr lang="en-MY" dirty="0"/>
          </a:p>
        </p:txBody>
      </p:sp>
    </p:spTree>
    <p:extLst>
      <p:ext uri="{BB962C8B-B14F-4D97-AF65-F5344CB8AC3E}">
        <p14:creationId xmlns:p14="http://schemas.microsoft.com/office/powerpoint/2010/main" val="2536210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3E704-4A8C-7885-21E4-1EDE61BC264B}"/>
              </a:ext>
            </a:extLst>
          </p:cNvPr>
          <p:cNvSpPr>
            <a:spLocks noGrp="1"/>
          </p:cNvSpPr>
          <p:nvPr>
            <p:ph type="title"/>
          </p:nvPr>
        </p:nvSpPr>
        <p:spPr>
          <a:xfrm>
            <a:off x="650535" y="375444"/>
            <a:ext cx="10890929" cy="1097280"/>
          </a:xfrm>
        </p:spPr>
        <p:txBody>
          <a:bodyPr>
            <a:normAutofit fontScale="90000"/>
          </a:bodyPr>
          <a:lstStyle/>
          <a:p>
            <a:r>
              <a:rPr lang="en-US" dirty="0"/>
              <a:t>Five Activities in the System Implementation Phase</a:t>
            </a:r>
            <a:endParaRPr lang="en-MY" dirty="0"/>
          </a:p>
        </p:txBody>
      </p:sp>
      <p:sp>
        <p:nvSpPr>
          <p:cNvPr id="4" name="Rectangle 19">
            <a:extLst>
              <a:ext uri="{FF2B5EF4-FFF2-40B4-BE49-F238E27FC236}">
                <a16:creationId xmlns:a16="http://schemas.microsoft.com/office/drawing/2014/main" id="{77A9471D-4EA4-8B8A-A539-EA5DB2E8AF7A}"/>
              </a:ext>
            </a:extLst>
          </p:cNvPr>
          <p:cNvSpPr>
            <a:spLocks noChangeArrowheads="1"/>
          </p:cNvSpPr>
          <p:nvPr/>
        </p:nvSpPr>
        <p:spPr bwMode="auto">
          <a:xfrm>
            <a:off x="5723206" y="262831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Y"/>
          </a:p>
        </p:txBody>
      </p:sp>
      <p:grpSp>
        <p:nvGrpSpPr>
          <p:cNvPr id="5" name="Group 1">
            <a:extLst>
              <a:ext uri="{FF2B5EF4-FFF2-40B4-BE49-F238E27FC236}">
                <a16:creationId xmlns:a16="http://schemas.microsoft.com/office/drawing/2014/main" id="{7BCFBA02-D534-A62F-80A4-0A3B1C1CA7A8}"/>
              </a:ext>
            </a:extLst>
          </p:cNvPr>
          <p:cNvGrpSpPr>
            <a:grpSpLocks noChangeAspect="1"/>
          </p:cNvGrpSpPr>
          <p:nvPr/>
        </p:nvGrpSpPr>
        <p:grpSpPr bwMode="auto">
          <a:xfrm>
            <a:off x="1198880" y="1472724"/>
            <a:ext cx="10139680" cy="4946540"/>
            <a:chOff x="1903" y="6866"/>
            <a:chExt cx="7660" cy="5970"/>
          </a:xfrm>
        </p:grpSpPr>
        <p:sp>
          <p:nvSpPr>
            <p:cNvPr id="6" name="AutoShape 18">
              <a:extLst>
                <a:ext uri="{FF2B5EF4-FFF2-40B4-BE49-F238E27FC236}">
                  <a16:creationId xmlns:a16="http://schemas.microsoft.com/office/drawing/2014/main" id="{ECBE48BB-AC90-2FC1-B7DA-1E174B2DA89F}"/>
                </a:ext>
              </a:extLst>
            </p:cNvPr>
            <p:cNvSpPr>
              <a:spLocks noChangeAspect="1" noChangeArrowheads="1" noTextEdit="1"/>
            </p:cNvSpPr>
            <p:nvPr/>
          </p:nvSpPr>
          <p:spPr bwMode="auto">
            <a:xfrm>
              <a:off x="1903" y="6866"/>
              <a:ext cx="7660" cy="59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7" name="Rectangle 17">
              <a:extLst>
                <a:ext uri="{FF2B5EF4-FFF2-40B4-BE49-F238E27FC236}">
                  <a16:creationId xmlns:a16="http://schemas.microsoft.com/office/drawing/2014/main" id="{BEF8A745-3025-983B-4849-DB051CB42870}"/>
                </a:ext>
              </a:extLst>
            </p:cNvPr>
            <p:cNvSpPr>
              <a:spLocks noChangeArrowheads="1"/>
            </p:cNvSpPr>
            <p:nvPr/>
          </p:nvSpPr>
          <p:spPr bwMode="auto">
            <a:xfrm>
              <a:off x="2130" y="7106"/>
              <a:ext cx="7290" cy="5550"/>
            </a:xfrm>
            <a:prstGeom prst="rect">
              <a:avLst/>
            </a:prstGeom>
            <a:solidFill>
              <a:srgbClr val="FFFFFF"/>
            </a:solidFill>
            <a:ln w="12700">
              <a:solidFill>
                <a:srgbClr val="F79646"/>
              </a:solidFill>
              <a:miter lim="800000"/>
              <a:headEnd/>
              <a:tailEnd/>
            </a:ln>
          </p:spPr>
          <p:txBody>
            <a:bodyPr vert="horz" wrap="none" lIns="91440" tIns="45720" rIns="91440" bIns="45720" numCol="1" anchor="ctr" anchorCtr="0" compatLnSpc="1">
              <a:prstTxWarp prst="textNoShape">
                <a:avLst/>
              </a:prstTxWarp>
            </a:bodyPr>
            <a:lstStyle/>
            <a:p>
              <a:endParaRPr lang="en-MY"/>
            </a:p>
          </p:txBody>
        </p:sp>
        <p:sp>
          <p:nvSpPr>
            <p:cNvPr id="8" name="Arc 16">
              <a:extLst>
                <a:ext uri="{FF2B5EF4-FFF2-40B4-BE49-F238E27FC236}">
                  <a16:creationId xmlns:a16="http://schemas.microsoft.com/office/drawing/2014/main" id="{5812CE01-4087-3AB7-C1E7-D74B59995946}"/>
                </a:ext>
              </a:extLst>
            </p:cNvPr>
            <p:cNvSpPr>
              <a:spLocks/>
            </p:cNvSpPr>
            <p:nvPr/>
          </p:nvSpPr>
          <p:spPr bwMode="auto">
            <a:xfrm>
              <a:off x="5527" y="8863"/>
              <a:ext cx="799" cy="671"/>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9" name="Text Box 15">
              <a:extLst>
                <a:ext uri="{FF2B5EF4-FFF2-40B4-BE49-F238E27FC236}">
                  <a16:creationId xmlns:a16="http://schemas.microsoft.com/office/drawing/2014/main" id="{546E79CA-4356-FDA1-E8F5-FBC2A60938BA}"/>
                </a:ext>
              </a:extLst>
            </p:cNvPr>
            <p:cNvSpPr txBox="1">
              <a:spLocks noChangeArrowheads="1"/>
            </p:cNvSpPr>
            <p:nvPr/>
          </p:nvSpPr>
          <p:spPr bwMode="auto">
            <a:xfrm>
              <a:off x="2745" y="7451"/>
              <a:ext cx="1721" cy="758"/>
            </a:xfrm>
            <a:prstGeom prst="rect">
              <a:avLst/>
            </a:prstGeom>
            <a:solidFill>
              <a:srgbClr val="FDE4D0"/>
            </a:solidFill>
            <a:ln w="9525">
              <a:solidFill>
                <a:srgbClr val="F79646"/>
              </a:solidFill>
              <a:miter lim="800000"/>
              <a:headEnd/>
              <a:tailEnd/>
            </a:ln>
            <a:effectLst>
              <a:outerShdw dist="107763" dir="135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System</a:t>
              </a:r>
              <a:endParaRPr kumimoji="0" lang="en-US" altLang="en-US" sz="8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Planning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 Box 14">
              <a:extLst>
                <a:ext uri="{FF2B5EF4-FFF2-40B4-BE49-F238E27FC236}">
                  <a16:creationId xmlns:a16="http://schemas.microsoft.com/office/drawing/2014/main" id="{FB9C78D4-BD5E-8472-9AEF-B1C926576C19}"/>
                </a:ext>
              </a:extLst>
            </p:cNvPr>
            <p:cNvSpPr txBox="1">
              <a:spLocks noChangeArrowheads="1"/>
            </p:cNvSpPr>
            <p:nvPr/>
          </p:nvSpPr>
          <p:spPr bwMode="auto">
            <a:xfrm>
              <a:off x="3805" y="8520"/>
              <a:ext cx="1722" cy="712"/>
            </a:xfrm>
            <a:prstGeom prst="rect">
              <a:avLst/>
            </a:prstGeom>
            <a:solidFill>
              <a:srgbClr val="FDE4D0"/>
            </a:solidFill>
            <a:ln w="9525">
              <a:solidFill>
                <a:srgbClr val="F79646"/>
              </a:solidFill>
              <a:miter lim="800000"/>
              <a:headEnd/>
              <a:tailEnd/>
            </a:ln>
            <a:effectLst>
              <a:outerShdw dist="107763" dir="135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System</a:t>
              </a:r>
              <a:endParaRPr kumimoji="0" lang="en-US" altLang="en-US" sz="8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Analysis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 Box 13">
              <a:extLst>
                <a:ext uri="{FF2B5EF4-FFF2-40B4-BE49-F238E27FC236}">
                  <a16:creationId xmlns:a16="http://schemas.microsoft.com/office/drawing/2014/main" id="{D7BBB6B5-3B3D-142F-5628-804B624AAF5A}"/>
                </a:ext>
              </a:extLst>
            </p:cNvPr>
            <p:cNvSpPr txBox="1">
              <a:spLocks noChangeArrowheads="1"/>
            </p:cNvSpPr>
            <p:nvPr/>
          </p:nvSpPr>
          <p:spPr bwMode="auto">
            <a:xfrm>
              <a:off x="4871" y="9534"/>
              <a:ext cx="1723" cy="706"/>
            </a:xfrm>
            <a:prstGeom prst="rect">
              <a:avLst/>
            </a:prstGeom>
            <a:solidFill>
              <a:srgbClr val="FDE4D0"/>
            </a:solidFill>
            <a:ln w="9525">
              <a:solidFill>
                <a:srgbClr val="F79646"/>
              </a:solidFill>
              <a:miter lim="800000"/>
              <a:headEnd/>
              <a:tailEnd/>
            </a:ln>
            <a:effectLst>
              <a:outerShdw dist="107763" dir="135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System</a:t>
              </a:r>
              <a:endParaRPr kumimoji="0" lang="en-US" altLang="en-US" sz="8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Design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 Box 12">
              <a:extLst>
                <a:ext uri="{FF2B5EF4-FFF2-40B4-BE49-F238E27FC236}">
                  <a16:creationId xmlns:a16="http://schemas.microsoft.com/office/drawing/2014/main" id="{645CAA64-C030-938C-5032-75007DF5A680}"/>
                </a:ext>
              </a:extLst>
            </p:cNvPr>
            <p:cNvSpPr txBox="1">
              <a:spLocks noChangeArrowheads="1"/>
            </p:cNvSpPr>
            <p:nvPr/>
          </p:nvSpPr>
          <p:spPr bwMode="auto">
            <a:xfrm>
              <a:off x="6014" y="10570"/>
              <a:ext cx="1721" cy="710"/>
            </a:xfrm>
            <a:prstGeom prst="rect">
              <a:avLst/>
            </a:prstGeom>
            <a:solidFill>
              <a:srgbClr val="FDE4D0"/>
            </a:solidFill>
            <a:ln w="9525">
              <a:solidFill>
                <a:srgbClr val="F79646"/>
              </a:solidFill>
              <a:miter lim="800000"/>
              <a:headEnd/>
              <a:tailEnd/>
            </a:ln>
            <a:effectLst>
              <a:outerShdw dist="107763" dir="135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System</a:t>
              </a:r>
              <a:endParaRPr kumimoji="0" lang="en-US" altLang="en-US" sz="8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Implementation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Text Box 11">
              <a:extLst>
                <a:ext uri="{FF2B5EF4-FFF2-40B4-BE49-F238E27FC236}">
                  <a16:creationId xmlns:a16="http://schemas.microsoft.com/office/drawing/2014/main" id="{65C3C8DD-DC33-57BB-FEF6-4390B043DF14}"/>
                </a:ext>
              </a:extLst>
            </p:cNvPr>
            <p:cNvSpPr txBox="1">
              <a:spLocks noChangeArrowheads="1"/>
            </p:cNvSpPr>
            <p:nvPr/>
          </p:nvSpPr>
          <p:spPr bwMode="auto">
            <a:xfrm>
              <a:off x="7059" y="11587"/>
              <a:ext cx="1721" cy="747"/>
            </a:xfrm>
            <a:prstGeom prst="rect">
              <a:avLst/>
            </a:prstGeom>
            <a:solidFill>
              <a:srgbClr val="FDE4D0"/>
            </a:solidFill>
            <a:ln w="9525">
              <a:solidFill>
                <a:srgbClr val="F79646"/>
              </a:solidFill>
              <a:miter lim="800000"/>
              <a:headEnd/>
              <a:tailEnd/>
            </a:ln>
            <a:effectLst>
              <a:outerShdw dist="107763" dir="13500000" algn="ctr" rotWithShape="0">
                <a:srgbClr val="808080">
                  <a:alpha val="50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System</a:t>
              </a:r>
              <a:endParaRPr kumimoji="0" lang="en-US" altLang="en-US" sz="8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Maintenance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Arc 10">
              <a:extLst>
                <a:ext uri="{FF2B5EF4-FFF2-40B4-BE49-F238E27FC236}">
                  <a16:creationId xmlns:a16="http://schemas.microsoft.com/office/drawing/2014/main" id="{8EC6ECC0-2E8F-AB85-752E-D98CF25EB85D}"/>
                </a:ext>
              </a:extLst>
            </p:cNvPr>
            <p:cNvSpPr>
              <a:spLocks/>
            </p:cNvSpPr>
            <p:nvPr/>
          </p:nvSpPr>
          <p:spPr bwMode="auto">
            <a:xfrm>
              <a:off x="4466" y="7849"/>
              <a:ext cx="799" cy="671"/>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15" name="Arc 9">
              <a:extLst>
                <a:ext uri="{FF2B5EF4-FFF2-40B4-BE49-F238E27FC236}">
                  <a16:creationId xmlns:a16="http://schemas.microsoft.com/office/drawing/2014/main" id="{49D81BE9-6256-3358-2D4F-21B22F1E540C}"/>
                </a:ext>
              </a:extLst>
            </p:cNvPr>
            <p:cNvSpPr>
              <a:spLocks/>
            </p:cNvSpPr>
            <p:nvPr/>
          </p:nvSpPr>
          <p:spPr bwMode="auto">
            <a:xfrm>
              <a:off x="6645" y="9899"/>
              <a:ext cx="799" cy="671"/>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16" name="Arc 8">
              <a:extLst>
                <a:ext uri="{FF2B5EF4-FFF2-40B4-BE49-F238E27FC236}">
                  <a16:creationId xmlns:a16="http://schemas.microsoft.com/office/drawing/2014/main" id="{15F09F7C-C1A7-9E24-7B6A-24A5DCBF41C7}"/>
                </a:ext>
              </a:extLst>
            </p:cNvPr>
            <p:cNvSpPr>
              <a:spLocks/>
            </p:cNvSpPr>
            <p:nvPr/>
          </p:nvSpPr>
          <p:spPr bwMode="auto">
            <a:xfrm>
              <a:off x="7735" y="10916"/>
              <a:ext cx="799" cy="671"/>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17" name="Arc 7">
              <a:extLst>
                <a:ext uri="{FF2B5EF4-FFF2-40B4-BE49-F238E27FC236}">
                  <a16:creationId xmlns:a16="http://schemas.microsoft.com/office/drawing/2014/main" id="{49842317-BD30-F01E-62BF-739EA8AC628E}"/>
                </a:ext>
              </a:extLst>
            </p:cNvPr>
            <p:cNvSpPr>
              <a:spLocks/>
            </p:cNvSpPr>
            <p:nvPr/>
          </p:nvSpPr>
          <p:spPr bwMode="auto">
            <a:xfrm rot="10800000">
              <a:off x="6175" y="11280"/>
              <a:ext cx="799" cy="671"/>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18" name="Arc 6">
              <a:extLst>
                <a:ext uri="{FF2B5EF4-FFF2-40B4-BE49-F238E27FC236}">
                  <a16:creationId xmlns:a16="http://schemas.microsoft.com/office/drawing/2014/main" id="{8FC430DB-7E25-1A82-5EEA-35B761C70101}"/>
                </a:ext>
              </a:extLst>
            </p:cNvPr>
            <p:cNvSpPr>
              <a:spLocks/>
            </p:cNvSpPr>
            <p:nvPr/>
          </p:nvSpPr>
          <p:spPr bwMode="auto">
            <a:xfrm rot="10800000">
              <a:off x="5122" y="10244"/>
              <a:ext cx="799" cy="672"/>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19" name="Arc 5">
              <a:extLst>
                <a:ext uri="{FF2B5EF4-FFF2-40B4-BE49-F238E27FC236}">
                  <a16:creationId xmlns:a16="http://schemas.microsoft.com/office/drawing/2014/main" id="{19CCBD51-71C2-09B3-760D-94ACC2198FBC}"/>
                </a:ext>
              </a:extLst>
            </p:cNvPr>
            <p:cNvSpPr>
              <a:spLocks/>
            </p:cNvSpPr>
            <p:nvPr/>
          </p:nvSpPr>
          <p:spPr bwMode="auto">
            <a:xfrm rot="10800000">
              <a:off x="3985" y="9232"/>
              <a:ext cx="799" cy="672"/>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20" name="Arc 4">
              <a:extLst>
                <a:ext uri="{FF2B5EF4-FFF2-40B4-BE49-F238E27FC236}">
                  <a16:creationId xmlns:a16="http://schemas.microsoft.com/office/drawing/2014/main" id="{FF3217BD-2A40-345F-5350-39F8E2DB72E3}"/>
                </a:ext>
              </a:extLst>
            </p:cNvPr>
            <p:cNvSpPr>
              <a:spLocks/>
            </p:cNvSpPr>
            <p:nvPr/>
          </p:nvSpPr>
          <p:spPr bwMode="auto">
            <a:xfrm rot="10800000">
              <a:off x="2884" y="8209"/>
              <a:ext cx="799" cy="672"/>
            </a:xfrm>
            <a:custGeom>
              <a:avLst/>
              <a:gdLst>
                <a:gd name="G0" fmla="+- 0 0 0"/>
                <a:gd name="G1" fmla="+- 21600 0 0"/>
                <a:gd name="G2" fmla="+- 21600 0 0"/>
                <a:gd name="T0" fmla="*/ 0 w 21600"/>
                <a:gd name="T1" fmla="*/ 0 h 27108"/>
                <a:gd name="T2" fmla="*/ 20886 w 21600"/>
                <a:gd name="T3" fmla="*/ 27108 h 27108"/>
                <a:gd name="T4" fmla="*/ 0 w 21600"/>
                <a:gd name="T5" fmla="*/ 21600 h 27108"/>
              </a:gdLst>
              <a:ahLst/>
              <a:cxnLst>
                <a:cxn ang="0">
                  <a:pos x="T0" y="T1"/>
                </a:cxn>
                <a:cxn ang="0">
                  <a:pos x="T2" y="T3"/>
                </a:cxn>
                <a:cxn ang="0">
                  <a:pos x="T4" y="T5"/>
                </a:cxn>
              </a:cxnLst>
              <a:rect l="0" t="0" r="r" b="b"/>
              <a:pathLst>
                <a:path w="21600" h="27108" fill="none" extrusionOk="0">
                  <a:moveTo>
                    <a:pt x="0" y="0"/>
                  </a:moveTo>
                  <a:cubicBezTo>
                    <a:pt x="11929" y="0"/>
                    <a:pt x="21600" y="9670"/>
                    <a:pt x="21600" y="21600"/>
                  </a:cubicBezTo>
                  <a:cubicBezTo>
                    <a:pt x="21600" y="23459"/>
                    <a:pt x="21359" y="25310"/>
                    <a:pt x="20885" y="27107"/>
                  </a:cubicBezTo>
                </a:path>
                <a:path w="21600" h="27108" stroke="0" extrusionOk="0">
                  <a:moveTo>
                    <a:pt x="0" y="0"/>
                  </a:moveTo>
                  <a:cubicBezTo>
                    <a:pt x="11929" y="0"/>
                    <a:pt x="21600" y="9670"/>
                    <a:pt x="21600" y="21600"/>
                  </a:cubicBezTo>
                  <a:cubicBezTo>
                    <a:pt x="21600" y="23459"/>
                    <a:pt x="21359" y="25310"/>
                    <a:pt x="20885" y="27107"/>
                  </a:cubicBezTo>
                  <a:lnTo>
                    <a:pt x="0" y="21600"/>
                  </a:lnTo>
                  <a:close/>
                </a:path>
              </a:pathLst>
            </a:custGeom>
            <a:noFill/>
            <a:ln w="28575">
              <a:solidFill>
                <a:srgbClr val="E36C0A"/>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21" name="AutoShape 3">
              <a:extLst>
                <a:ext uri="{FF2B5EF4-FFF2-40B4-BE49-F238E27FC236}">
                  <a16:creationId xmlns:a16="http://schemas.microsoft.com/office/drawing/2014/main" id="{1F0567F5-F22A-6874-09C8-65DB424122C9}"/>
                </a:ext>
              </a:extLst>
            </p:cNvPr>
            <p:cNvSpPr>
              <a:spLocks noChangeArrowheads="1"/>
            </p:cNvSpPr>
            <p:nvPr/>
          </p:nvSpPr>
          <p:spPr bwMode="auto">
            <a:xfrm rot="10800000">
              <a:off x="2502" y="10481"/>
              <a:ext cx="2620" cy="1590"/>
            </a:xfrm>
            <a:prstGeom prst="wedgeEllipseCallout">
              <a:avLst>
                <a:gd name="adj1" fmla="val -76644"/>
                <a:gd name="adj2" fmla="val 2094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MY"/>
            </a:p>
          </p:txBody>
        </p:sp>
        <p:sp>
          <p:nvSpPr>
            <p:cNvPr id="22" name="Text Box 2">
              <a:extLst>
                <a:ext uri="{FF2B5EF4-FFF2-40B4-BE49-F238E27FC236}">
                  <a16:creationId xmlns:a16="http://schemas.microsoft.com/office/drawing/2014/main" id="{2F5D8BFF-A0BA-6ADA-A16E-075174CB1C00}"/>
                </a:ext>
              </a:extLst>
            </p:cNvPr>
            <p:cNvSpPr txBox="1">
              <a:spLocks noChangeArrowheads="1"/>
            </p:cNvSpPr>
            <p:nvPr/>
          </p:nvSpPr>
          <p:spPr bwMode="auto">
            <a:xfrm>
              <a:off x="3003" y="10570"/>
              <a:ext cx="3591" cy="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  Coding</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  Testing</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  Installation</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  Documentation</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  Training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898456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ABCFF-D789-0B01-22A1-99724A97A048}"/>
              </a:ext>
            </a:extLst>
          </p:cNvPr>
          <p:cNvSpPr>
            <a:spLocks noGrp="1"/>
          </p:cNvSpPr>
          <p:nvPr>
            <p:ph type="title"/>
          </p:nvPr>
        </p:nvSpPr>
        <p:spPr/>
        <p:txBody>
          <a:bodyPr/>
          <a:lstStyle/>
          <a:p>
            <a:r>
              <a:rPr lang="en-US" dirty="0"/>
              <a:t>Coding</a:t>
            </a:r>
            <a:endParaRPr lang="en-MY" dirty="0"/>
          </a:p>
        </p:txBody>
      </p:sp>
      <p:sp>
        <p:nvSpPr>
          <p:cNvPr id="3" name="Content Placeholder 2">
            <a:extLst>
              <a:ext uri="{FF2B5EF4-FFF2-40B4-BE49-F238E27FC236}">
                <a16:creationId xmlns:a16="http://schemas.microsoft.com/office/drawing/2014/main" id="{1B610522-656D-ACC6-79C1-FEC42448E14C}"/>
              </a:ext>
            </a:extLst>
          </p:cNvPr>
          <p:cNvSpPr>
            <a:spLocks noGrp="1"/>
          </p:cNvSpPr>
          <p:nvPr>
            <p:ph idx="1"/>
          </p:nvPr>
        </p:nvSpPr>
        <p:spPr/>
        <p:txBody>
          <a:bodyPr/>
          <a:lstStyle/>
          <a:p>
            <a:r>
              <a:rPr lang="en-US" dirty="0"/>
              <a:t>Coding is the process </a:t>
            </a:r>
            <a:r>
              <a:rPr lang="en-US" b="1" dirty="0"/>
              <a:t>whereby the physical specifications created in the previous phases are turned into working computer codes </a:t>
            </a:r>
            <a:r>
              <a:rPr lang="en-US" dirty="0"/>
              <a:t>by the programmer team. Coding is an activity where all the designed during the previous phases will be programmed using a software that have been defined before.</a:t>
            </a:r>
          </a:p>
          <a:p>
            <a:r>
              <a:rPr lang="en-US" dirty="0"/>
              <a:t> During the coding, each program module will be tested individually, then as part of a larger program, and as the complete system. </a:t>
            </a:r>
          </a:p>
          <a:p>
            <a:r>
              <a:rPr lang="en-US" dirty="0"/>
              <a:t>At the same time, the team should come out </a:t>
            </a:r>
            <a:r>
              <a:rPr lang="en-US" b="1" dirty="0"/>
              <a:t>with a system and user documentation</a:t>
            </a:r>
            <a:r>
              <a:rPr lang="en-US" dirty="0"/>
              <a:t> to help users in using the system. </a:t>
            </a:r>
            <a:endParaRPr lang="en-MY" dirty="0"/>
          </a:p>
          <a:p>
            <a:pPr marL="0" indent="0">
              <a:buNone/>
            </a:pPr>
            <a:endParaRPr lang="en-MY" dirty="0"/>
          </a:p>
        </p:txBody>
      </p:sp>
    </p:spTree>
    <p:extLst>
      <p:ext uri="{BB962C8B-B14F-4D97-AF65-F5344CB8AC3E}">
        <p14:creationId xmlns:p14="http://schemas.microsoft.com/office/powerpoint/2010/main" val="3684721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F0F35-7D20-2694-EFC1-FF9CDA22A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74326-9823-96DF-87B0-BBBDA09D67A0}"/>
              </a:ext>
            </a:extLst>
          </p:cNvPr>
          <p:cNvSpPr>
            <a:spLocks noGrp="1"/>
          </p:cNvSpPr>
          <p:nvPr>
            <p:ph type="title"/>
          </p:nvPr>
        </p:nvSpPr>
        <p:spPr>
          <a:xfrm>
            <a:off x="650535" y="330592"/>
            <a:ext cx="10890929" cy="1097280"/>
          </a:xfrm>
        </p:spPr>
        <p:txBody>
          <a:bodyPr/>
          <a:lstStyle/>
          <a:p>
            <a:r>
              <a:rPr lang="en-US" dirty="0"/>
              <a:t>Coding (Coding)-sub activities</a:t>
            </a:r>
            <a:endParaRPr lang="en-MY" dirty="0"/>
          </a:p>
        </p:txBody>
      </p:sp>
      <p:sp>
        <p:nvSpPr>
          <p:cNvPr id="3" name="Content Placeholder 2">
            <a:extLst>
              <a:ext uri="{FF2B5EF4-FFF2-40B4-BE49-F238E27FC236}">
                <a16:creationId xmlns:a16="http://schemas.microsoft.com/office/drawing/2014/main" id="{61855676-ECB7-8728-730B-2CF1D4548796}"/>
              </a:ext>
            </a:extLst>
          </p:cNvPr>
          <p:cNvSpPr>
            <a:spLocks noGrp="1"/>
          </p:cNvSpPr>
          <p:nvPr>
            <p:ph idx="1"/>
          </p:nvPr>
        </p:nvSpPr>
        <p:spPr>
          <a:xfrm>
            <a:off x="640080" y="1427872"/>
            <a:ext cx="10890928" cy="4771760"/>
          </a:xfrm>
        </p:spPr>
        <p:txBody>
          <a:bodyPr>
            <a:normAutofit/>
          </a:bodyPr>
          <a:lstStyle/>
          <a:p>
            <a:r>
              <a:rPr lang="en-US" dirty="0"/>
              <a:t>Involve system analyst, programmer, system designer and database administrator</a:t>
            </a:r>
          </a:p>
          <a:p>
            <a:pPr lvl="0"/>
            <a:r>
              <a:rPr lang="en-US" b="1" dirty="0"/>
              <a:t>Network building and testing</a:t>
            </a:r>
            <a:endParaRPr lang="en-MY" b="1" dirty="0"/>
          </a:p>
          <a:p>
            <a:pPr lvl="1"/>
            <a:r>
              <a:rPr lang="en-US" dirty="0"/>
              <a:t>Only needed if the system requires a new or upgraded network.</a:t>
            </a:r>
          </a:p>
          <a:p>
            <a:pPr lvl="1"/>
            <a:r>
              <a:rPr lang="en-US" dirty="0"/>
              <a:t>Should be done </a:t>
            </a:r>
            <a:r>
              <a:rPr lang="en-US" b="1" dirty="0"/>
              <a:t>before</a:t>
            </a:r>
            <a:r>
              <a:rPr lang="en-US" dirty="0"/>
              <a:t> database and software development.</a:t>
            </a:r>
          </a:p>
          <a:p>
            <a:pPr lvl="1"/>
            <a:r>
              <a:rPr lang="en-US" dirty="0"/>
              <a:t>Often skipped if the existing network is sufficient.</a:t>
            </a:r>
          </a:p>
          <a:p>
            <a:pPr lvl="1"/>
            <a:r>
              <a:rPr lang="en-US" dirty="0"/>
              <a:t>Modern systems are typically web-based or intranet-based.</a:t>
            </a:r>
          </a:p>
          <a:p>
            <a:r>
              <a:rPr lang="en-US" b="1" dirty="0"/>
              <a:t>Database building and testing</a:t>
            </a:r>
            <a:endParaRPr lang="en-MY" b="1" dirty="0"/>
          </a:p>
          <a:p>
            <a:pPr lvl="1"/>
            <a:r>
              <a:rPr lang="en-US" dirty="0"/>
              <a:t>A crucial task, as databases store all system data</a:t>
            </a:r>
          </a:p>
          <a:p>
            <a:pPr lvl="1"/>
            <a:r>
              <a:rPr lang="en-US" dirty="0"/>
              <a:t>Must be done before writing programs because programs rely on database structures.</a:t>
            </a:r>
          </a:p>
          <a:p>
            <a:pPr lvl="1"/>
            <a:r>
              <a:rPr lang="en-US" dirty="0"/>
              <a:t>Needed if a new or updated database is required.</a:t>
            </a:r>
            <a:endParaRPr lang="en-MY" dirty="0"/>
          </a:p>
          <a:p>
            <a:pPr marL="0" indent="0">
              <a:buNone/>
            </a:pPr>
            <a:endParaRPr lang="en-MY" dirty="0"/>
          </a:p>
        </p:txBody>
      </p:sp>
    </p:spTree>
    <p:extLst>
      <p:ext uri="{BB962C8B-B14F-4D97-AF65-F5344CB8AC3E}">
        <p14:creationId xmlns:p14="http://schemas.microsoft.com/office/powerpoint/2010/main" val="289847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A6C43-B9CF-B917-B08E-3AED1370C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FDAD2-AD12-88E2-6086-8CEF8BFF6D31}"/>
              </a:ext>
            </a:extLst>
          </p:cNvPr>
          <p:cNvSpPr>
            <a:spLocks noGrp="1"/>
          </p:cNvSpPr>
          <p:nvPr>
            <p:ph type="title"/>
          </p:nvPr>
        </p:nvSpPr>
        <p:spPr>
          <a:xfrm>
            <a:off x="650535" y="330592"/>
            <a:ext cx="10890929" cy="1097280"/>
          </a:xfrm>
        </p:spPr>
        <p:txBody>
          <a:bodyPr/>
          <a:lstStyle/>
          <a:p>
            <a:r>
              <a:rPr lang="en-US" dirty="0"/>
              <a:t>Coding (Coding)-sub activities</a:t>
            </a:r>
            <a:endParaRPr lang="en-MY" dirty="0"/>
          </a:p>
        </p:txBody>
      </p:sp>
      <p:sp>
        <p:nvSpPr>
          <p:cNvPr id="3" name="Content Placeholder 2">
            <a:extLst>
              <a:ext uri="{FF2B5EF4-FFF2-40B4-BE49-F238E27FC236}">
                <a16:creationId xmlns:a16="http://schemas.microsoft.com/office/drawing/2014/main" id="{13B5C43A-C036-7FB7-06A5-88FC1B6CD09C}"/>
              </a:ext>
            </a:extLst>
          </p:cNvPr>
          <p:cNvSpPr>
            <a:spLocks noGrp="1"/>
          </p:cNvSpPr>
          <p:nvPr>
            <p:ph idx="1"/>
          </p:nvPr>
        </p:nvSpPr>
        <p:spPr>
          <a:xfrm>
            <a:off x="640080" y="1427872"/>
            <a:ext cx="10890928" cy="4771760"/>
          </a:xfrm>
        </p:spPr>
        <p:txBody>
          <a:bodyPr>
            <a:normAutofit/>
          </a:bodyPr>
          <a:lstStyle/>
          <a:p>
            <a:pPr lvl="0"/>
            <a:r>
              <a:rPr lang="en-US" b="1" dirty="0"/>
              <a:t>Install and Test New Software</a:t>
            </a:r>
          </a:p>
          <a:p>
            <a:pPr lvl="1"/>
            <a:r>
              <a:rPr lang="en-US" b="1" dirty="0"/>
              <a:t>Applies when the system needs new software purchases or leases.</a:t>
            </a:r>
          </a:p>
          <a:p>
            <a:pPr lvl="1"/>
            <a:r>
              <a:rPr lang="en-US" b="1" dirty="0"/>
              <a:t>This software should be installed and tested after setting up the database..</a:t>
            </a:r>
          </a:p>
          <a:p>
            <a:r>
              <a:rPr lang="en-US" b="1" dirty="0"/>
              <a:t>Write and Test New Programs</a:t>
            </a:r>
          </a:p>
          <a:p>
            <a:pPr lvl="1"/>
            <a:r>
              <a:rPr lang="en-US" b="1" dirty="0"/>
              <a:t>Involves actual coding of the system.</a:t>
            </a:r>
          </a:p>
          <a:p>
            <a:pPr lvl="1"/>
            <a:r>
              <a:rPr lang="en-US" b="1" dirty="0"/>
              <a:t>Begins only after the network, database, and required software are in place.</a:t>
            </a:r>
          </a:p>
          <a:p>
            <a:pPr lvl="1"/>
            <a:r>
              <a:rPr lang="en-US" b="1" dirty="0"/>
              <a:t>Often uses a prototyping approach for development.</a:t>
            </a:r>
            <a:endParaRPr lang="en-MY" dirty="0"/>
          </a:p>
        </p:txBody>
      </p:sp>
    </p:spTree>
    <p:extLst>
      <p:ext uri="{BB962C8B-B14F-4D97-AF65-F5344CB8AC3E}">
        <p14:creationId xmlns:p14="http://schemas.microsoft.com/office/powerpoint/2010/main" val="2928194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4">
            <a:extLst>
              <a:ext uri="{FF2B5EF4-FFF2-40B4-BE49-F238E27FC236}">
                <a16:creationId xmlns:a16="http://schemas.microsoft.com/office/drawing/2014/main" id="{3F0A688E-C66F-9B8C-89DE-CE298F5A2D80}"/>
              </a:ext>
            </a:extLst>
          </p:cNvPr>
          <p:cNvGraphicFramePr>
            <a:graphicFrameLocks noGrp="1"/>
          </p:cNvGraphicFramePr>
          <p:nvPr>
            <p:ph idx="1"/>
            <p:extLst>
              <p:ext uri="{D42A27DB-BD31-4B8C-83A1-F6EECF244321}">
                <p14:modId xmlns:p14="http://schemas.microsoft.com/office/powerpoint/2010/main" val="3952981197"/>
              </p:ext>
            </p:extLst>
          </p:nvPr>
        </p:nvGraphicFramePr>
        <p:xfrm>
          <a:off x="640080" y="731520"/>
          <a:ext cx="10890928" cy="5468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8388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149F9F0F-FB8C-5565-247C-BDCC156B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FEB026-6488-260F-3A90-DEEA0E2F268A}"/>
              </a:ext>
            </a:extLst>
          </p:cNvPr>
          <p:cNvSpPr>
            <a:spLocks noGrp="1"/>
          </p:cNvSpPr>
          <p:nvPr>
            <p:ph type="title"/>
          </p:nvPr>
        </p:nvSpPr>
        <p:spPr>
          <a:xfrm>
            <a:off x="640080" y="1371600"/>
            <a:ext cx="2652779" cy="4150811"/>
          </a:xfrm>
        </p:spPr>
        <p:txBody>
          <a:bodyPr>
            <a:normAutofit/>
          </a:bodyPr>
          <a:lstStyle/>
          <a:p>
            <a:r>
              <a:rPr lang="en-US" sz="3400"/>
              <a:t>SYSTEM TESTING </a:t>
            </a:r>
            <a:br>
              <a:rPr lang="en-MY" sz="3400"/>
            </a:br>
            <a:endParaRPr lang="en-MY" sz="3400"/>
          </a:p>
        </p:txBody>
      </p:sp>
      <p:graphicFrame>
        <p:nvGraphicFramePr>
          <p:cNvPr id="5" name="Content Placeholder 2">
            <a:extLst>
              <a:ext uri="{FF2B5EF4-FFF2-40B4-BE49-F238E27FC236}">
                <a16:creationId xmlns:a16="http://schemas.microsoft.com/office/drawing/2014/main" id="{85BBBAC9-6A29-9A47-E1E5-206DF44BA938}"/>
              </a:ext>
            </a:extLst>
          </p:cNvPr>
          <p:cNvGraphicFramePr>
            <a:graphicFrameLocks noGrp="1"/>
          </p:cNvGraphicFramePr>
          <p:nvPr>
            <p:ph idx="1"/>
            <p:extLst>
              <p:ext uri="{D42A27DB-BD31-4B8C-83A1-F6EECF244321}">
                <p14:modId xmlns:p14="http://schemas.microsoft.com/office/powerpoint/2010/main" val="1046108354"/>
              </p:ext>
            </p:extLst>
          </p:nvPr>
        </p:nvGraphicFramePr>
        <p:xfrm>
          <a:off x="4045291" y="1371600"/>
          <a:ext cx="7485718" cy="4926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803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4FF3A-49BC-63B6-24D3-72DE086D931D}"/>
              </a:ext>
            </a:extLst>
          </p:cNvPr>
          <p:cNvSpPr>
            <a:spLocks noGrp="1"/>
          </p:cNvSpPr>
          <p:nvPr>
            <p:ph type="title"/>
          </p:nvPr>
        </p:nvSpPr>
        <p:spPr/>
        <p:txBody>
          <a:bodyPr/>
          <a:lstStyle/>
          <a:p>
            <a:r>
              <a:rPr lang="en-US" dirty="0"/>
              <a:t>Unit Testing</a:t>
            </a:r>
            <a:endParaRPr lang="en-MY" dirty="0"/>
          </a:p>
        </p:txBody>
      </p:sp>
      <p:sp>
        <p:nvSpPr>
          <p:cNvPr id="3" name="Content Placeholder 2">
            <a:extLst>
              <a:ext uri="{FF2B5EF4-FFF2-40B4-BE49-F238E27FC236}">
                <a16:creationId xmlns:a16="http://schemas.microsoft.com/office/drawing/2014/main" id="{975FFDC6-32A2-D10A-C749-C915DB6EE3CD}"/>
              </a:ext>
            </a:extLst>
          </p:cNvPr>
          <p:cNvSpPr>
            <a:spLocks noGrp="1"/>
          </p:cNvSpPr>
          <p:nvPr>
            <p:ph idx="1"/>
          </p:nvPr>
        </p:nvSpPr>
        <p:spPr/>
        <p:txBody>
          <a:bodyPr>
            <a:normAutofit/>
          </a:bodyPr>
          <a:lstStyle/>
          <a:p>
            <a:r>
              <a:rPr lang="en-US" sz="2400" dirty="0"/>
              <a:t>Also called </a:t>
            </a:r>
            <a:r>
              <a:rPr lang="en-US" sz="2400" b="1" dirty="0"/>
              <a:t>module testing</a:t>
            </a:r>
            <a:r>
              <a:rPr lang="en-US" sz="2400" dirty="0"/>
              <a:t>.</a:t>
            </a:r>
          </a:p>
          <a:p>
            <a:r>
              <a:rPr lang="en-US" sz="2400" dirty="0"/>
              <a:t>Performed on individual programs or modules.</a:t>
            </a:r>
          </a:p>
          <a:p>
            <a:r>
              <a:rPr lang="en-US" sz="2400" dirty="0"/>
              <a:t>Aims to detect:</a:t>
            </a:r>
          </a:p>
          <a:p>
            <a:pPr lvl="1"/>
            <a:r>
              <a:rPr lang="en-US" sz="2000" dirty="0"/>
              <a:t>Execution errors (e.g., crashes)</a:t>
            </a:r>
          </a:p>
          <a:p>
            <a:pPr lvl="1"/>
            <a:r>
              <a:rPr lang="en-US" sz="2000" dirty="0"/>
              <a:t>Logic errors missed during desk checking.</a:t>
            </a:r>
          </a:p>
          <a:p>
            <a:r>
              <a:rPr lang="en-US" sz="2400" dirty="0"/>
              <a:t>Each program is tested independently, especially those that interact with files or other programs.</a:t>
            </a:r>
            <a:endParaRPr lang="en-MY" sz="2400" dirty="0"/>
          </a:p>
        </p:txBody>
      </p:sp>
    </p:spTree>
    <p:extLst>
      <p:ext uri="{BB962C8B-B14F-4D97-AF65-F5344CB8AC3E}">
        <p14:creationId xmlns:p14="http://schemas.microsoft.com/office/powerpoint/2010/main" val="1011257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84D6B-EDFB-CC31-2989-557511C49D0C}"/>
              </a:ext>
            </a:extLst>
          </p:cNvPr>
          <p:cNvSpPr>
            <a:spLocks noGrp="1"/>
          </p:cNvSpPr>
          <p:nvPr>
            <p:ph type="title"/>
          </p:nvPr>
        </p:nvSpPr>
        <p:spPr/>
        <p:txBody>
          <a:bodyPr/>
          <a:lstStyle/>
          <a:p>
            <a:r>
              <a:rPr lang="en-US" dirty="0"/>
              <a:t>Integration Testing</a:t>
            </a:r>
            <a:endParaRPr lang="en-MY" dirty="0"/>
          </a:p>
        </p:txBody>
      </p:sp>
      <p:sp>
        <p:nvSpPr>
          <p:cNvPr id="3" name="Content Placeholder 2">
            <a:extLst>
              <a:ext uri="{FF2B5EF4-FFF2-40B4-BE49-F238E27FC236}">
                <a16:creationId xmlns:a16="http://schemas.microsoft.com/office/drawing/2014/main" id="{403516E0-711F-D86E-D95F-CF008857A56F}"/>
              </a:ext>
            </a:extLst>
          </p:cNvPr>
          <p:cNvSpPr>
            <a:spLocks noGrp="1"/>
          </p:cNvSpPr>
          <p:nvPr>
            <p:ph idx="1"/>
          </p:nvPr>
        </p:nvSpPr>
        <p:spPr/>
        <p:txBody>
          <a:bodyPr/>
          <a:lstStyle/>
          <a:p>
            <a:r>
              <a:rPr lang="en-US" dirty="0"/>
              <a:t>Performed </a:t>
            </a:r>
            <a:r>
              <a:rPr lang="en-US" b="1" dirty="0"/>
              <a:t>after unit testing</a:t>
            </a:r>
            <a:r>
              <a:rPr lang="en-US" dirty="0"/>
              <a:t>.</a:t>
            </a:r>
          </a:p>
          <a:p>
            <a:r>
              <a:rPr lang="en-US" dirty="0"/>
              <a:t>Tests </a:t>
            </a:r>
            <a:r>
              <a:rPr lang="en-US" b="1" dirty="0"/>
              <a:t>multiple modules working together</a:t>
            </a:r>
            <a:r>
              <a:rPr lang="en-US" dirty="0"/>
              <a:t>.</a:t>
            </a:r>
          </a:p>
          <a:p>
            <a:r>
              <a:rPr lang="en-US" dirty="0"/>
              <a:t>Ensures that </a:t>
            </a:r>
            <a:r>
              <a:rPr lang="en-US" b="1" dirty="0"/>
              <a:t>interactions between modules</a:t>
            </a:r>
            <a:r>
              <a:rPr lang="en-US" dirty="0"/>
              <a:t> function correctly within the system.</a:t>
            </a:r>
          </a:p>
          <a:p>
            <a:r>
              <a:rPr lang="en-US" dirty="0"/>
              <a:t>First, we need to test the root module and only one of the subordinates. After that, we need to test another two subordinates module from the same level. The same process goes until for the next level. We continued this testing until the whole system is tested as a unit. </a:t>
            </a:r>
          </a:p>
          <a:p>
            <a:pPr marL="0" indent="0">
              <a:buNone/>
            </a:pPr>
            <a:endParaRPr lang="en-MY" dirty="0"/>
          </a:p>
        </p:txBody>
      </p:sp>
    </p:spTree>
    <p:extLst>
      <p:ext uri="{BB962C8B-B14F-4D97-AF65-F5344CB8AC3E}">
        <p14:creationId xmlns:p14="http://schemas.microsoft.com/office/powerpoint/2010/main" val="2256998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674C-FFCA-151C-1A38-E4FA92481503}"/>
              </a:ext>
            </a:extLst>
          </p:cNvPr>
          <p:cNvSpPr>
            <a:spLocks noGrp="1"/>
          </p:cNvSpPr>
          <p:nvPr>
            <p:ph type="title"/>
          </p:nvPr>
        </p:nvSpPr>
        <p:spPr/>
        <p:txBody>
          <a:bodyPr/>
          <a:lstStyle/>
          <a:p>
            <a:r>
              <a:rPr lang="en-US" dirty="0"/>
              <a:t>System Testing</a:t>
            </a:r>
            <a:endParaRPr lang="en-MY" dirty="0"/>
          </a:p>
        </p:txBody>
      </p:sp>
      <p:sp>
        <p:nvSpPr>
          <p:cNvPr id="3" name="Content Placeholder 2">
            <a:extLst>
              <a:ext uri="{FF2B5EF4-FFF2-40B4-BE49-F238E27FC236}">
                <a16:creationId xmlns:a16="http://schemas.microsoft.com/office/drawing/2014/main" id="{71970878-E773-F282-D7DA-BC01DA3CBE4C}"/>
              </a:ext>
            </a:extLst>
          </p:cNvPr>
          <p:cNvSpPr>
            <a:spLocks noGrp="1"/>
          </p:cNvSpPr>
          <p:nvPr>
            <p:ph idx="1"/>
          </p:nvPr>
        </p:nvSpPr>
        <p:spPr/>
        <p:txBody>
          <a:bodyPr/>
          <a:lstStyle/>
          <a:p>
            <a:r>
              <a:rPr lang="en-US" dirty="0"/>
              <a:t>After completing the integration testing, which involves the entire system.</a:t>
            </a:r>
          </a:p>
          <a:p>
            <a:r>
              <a:rPr lang="en-US" dirty="0"/>
              <a:t>It’s similar with an integration testing. The different is, in system testing, we integrate programs into system. </a:t>
            </a:r>
          </a:p>
          <a:p>
            <a:r>
              <a:rPr lang="en-US" dirty="0"/>
              <a:t>After the system testing is completed, we can assume that the system is fully tested and are free any errors or bugs. </a:t>
            </a:r>
            <a:endParaRPr lang="en-MY" dirty="0"/>
          </a:p>
        </p:txBody>
      </p:sp>
    </p:spTree>
    <p:extLst>
      <p:ext uri="{BB962C8B-B14F-4D97-AF65-F5344CB8AC3E}">
        <p14:creationId xmlns:p14="http://schemas.microsoft.com/office/powerpoint/2010/main" val="2325904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BF6518-D461-7DBC-0F9B-CDF6D5AB7F57}"/>
              </a:ext>
            </a:extLst>
          </p:cNvPr>
          <p:cNvSpPr>
            <a:spLocks noGrp="1"/>
          </p:cNvSpPr>
          <p:nvPr>
            <p:ph type="title"/>
          </p:nvPr>
        </p:nvSpPr>
        <p:spPr>
          <a:xfrm>
            <a:off x="640080" y="570750"/>
            <a:ext cx="10890929" cy="1387934"/>
          </a:xfrm>
        </p:spPr>
        <p:txBody>
          <a:bodyPr anchor="b">
            <a:normAutofit/>
          </a:bodyPr>
          <a:lstStyle/>
          <a:p>
            <a:r>
              <a:rPr lang="en-US"/>
              <a:t>Exercise</a:t>
            </a:r>
            <a:endParaRPr lang="en-MY" dirty="0"/>
          </a:p>
        </p:txBody>
      </p:sp>
      <p:sp>
        <p:nvSpPr>
          <p:cNvPr id="13" name="Content Placeholder 2">
            <a:extLst>
              <a:ext uri="{FF2B5EF4-FFF2-40B4-BE49-F238E27FC236}">
                <a16:creationId xmlns:a16="http://schemas.microsoft.com/office/drawing/2014/main" id="{D858ECAF-1A03-D62A-C2E4-1F47D2345C17}"/>
              </a:ext>
            </a:extLst>
          </p:cNvPr>
          <p:cNvSpPr>
            <a:spLocks noGrp="1"/>
          </p:cNvSpPr>
          <p:nvPr>
            <p:ph idx="1"/>
          </p:nvPr>
        </p:nvSpPr>
        <p:spPr>
          <a:xfrm>
            <a:off x="640080" y="2761673"/>
            <a:ext cx="10890929" cy="3536241"/>
          </a:xfrm>
        </p:spPr>
        <p:txBody>
          <a:bodyPr>
            <a:normAutofit/>
          </a:bodyPr>
          <a:lstStyle/>
          <a:p>
            <a:pPr marL="0" indent="0">
              <a:buNone/>
            </a:pPr>
            <a:r>
              <a:rPr lang="en-US" i="1"/>
              <a:t>Answer TRUE or for FALSE for each of the questions below.</a:t>
            </a:r>
            <a:endParaRPr lang="en-MY"/>
          </a:p>
          <a:p>
            <a:pPr marL="457200" lvl="0" indent="-457200">
              <a:buFont typeface="+mj-lt"/>
              <a:buAutoNum type="arabicPeriod"/>
            </a:pPr>
            <a:r>
              <a:rPr lang="en-US"/>
              <a:t>Unit testing does require automated code execution</a:t>
            </a:r>
            <a:endParaRPr lang="en-MY"/>
          </a:p>
          <a:p>
            <a:pPr marL="457200" lvl="0" indent="-457200">
              <a:buFont typeface="+mj-lt"/>
              <a:buAutoNum type="arabicPeriod"/>
            </a:pPr>
            <a:r>
              <a:rPr lang="en-US"/>
              <a:t>Integration testing is the process of bringing together all of the modules that a program comprises for testing purposes. </a:t>
            </a:r>
            <a:endParaRPr lang="en-MY"/>
          </a:p>
          <a:p>
            <a:pPr marL="457200" lvl="0" indent="-457200">
              <a:buFont typeface="+mj-lt"/>
              <a:buAutoNum type="arabicPeriod"/>
            </a:pPr>
            <a:r>
              <a:rPr lang="en-US"/>
              <a:t>The focus of integration testing is to make sure that all the interrelated modules are working. </a:t>
            </a:r>
            <a:endParaRPr lang="en-MY"/>
          </a:p>
          <a:p>
            <a:pPr marL="457200" lvl="0" indent="-457200">
              <a:buFont typeface="+mj-lt"/>
              <a:buAutoNum type="arabicPeriod"/>
            </a:pPr>
            <a:r>
              <a:rPr lang="en-US"/>
              <a:t>System testing is not compulsory since we have conducted an integration testing. </a:t>
            </a:r>
            <a:endParaRPr lang="en-MY"/>
          </a:p>
          <a:p>
            <a:pPr marL="457200" lvl="0" indent="-457200">
              <a:buFont typeface="+mj-lt"/>
              <a:buAutoNum type="arabicPeriod"/>
            </a:pPr>
            <a:r>
              <a:rPr lang="en-US"/>
              <a:t>Once we have finished the system testing, we can proceed with an installation. </a:t>
            </a:r>
            <a:endParaRPr lang="en-MY"/>
          </a:p>
          <a:p>
            <a:endParaRPr lang="en-MY"/>
          </a:p>
        </p:txBody>
      </p:sp>
      <p:cxnSp>
        <p:nvCxnSpPr>
          <p:cNvPr id="10" name="Straight Connector 9">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228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CD9DD0-62BD-B930-0515-D43A45326AA4}"/>
              </a:ext>
            </a:extLst>
          </p:cNvPr>
          <p:cNvSpPr>
            <a:spLocks noGrp="1"/>
          </p:cNvSpPr>
          <p:nvPr>
            <p:ph type="title"/>
          </p:nvPr>
        </p:nvSpPr>
        <p:spPr>
          <a:xfrm>
            <a:off x="5496821" y="1371600"/>
            <a:ext cx="6034187" cy="1097280"/>
          </a:xfrm>
        </p:spPr>
        <p:txBody>
          <a:bodyPr>
            <a:normAutofit/>
          </a:bodyPr>
          <a:lstStyle/>
          <a:p>
            <a:r>
              <a:rPr lang="en-US" dirty="0"/>
              <a:t>Installation</a:t>
            </a:r>
            <a:endParaRPr lang="en-MY" dirty="0"/>
          </a:p>
        </p:txBody>
      </p:sp>
      <p:pic>
        <p:nvPicPr>
          <p:cNvPr id="5" name="Picture 4" descr="Electronics protoboard">
            <a:extLst>
              <a:ext uri="{FF2B5EF4-FFF2-40B4-BE49-F238E27FC236}">
                <a16:creationId xmlns:a16="http://schemas.microsoft.com/office/drawing/2014/main" id="{12BF7B52-58C0-7855-6F48-2C42EA5AECA0}"/>
              </a:ext>
            </a:extLst>
          </p:cNvPr>
          <p:cNvPicPr>
            <a:picLocks noChangeAspect="1"/>
          </p:cNvPicPr>
          <p:nvPr/>
        </p:nvPicPr>
        <p:blipFill>
          <a:blip r:embed="rId2"/>
          <a:srcRect l="9356" r="43360"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58DBA7B-6AEE-24BA-DD66-A61A931CD9E9}"/>
              </a:ext>
            </a:extLst>
          </p:cNvPr>
          <p:cNvSpPr>
            <a:spLocks noGrp="1"/>
          </p:cNvSpPr>
          <p:nvPr>
            <p:ph idx="1"/>
          </p:nvPr>
        </p:nvSpPr>
        <p:spPr>
          <a:xfrm>
            <a:off x="5496821" y="2633236"/>
            <a:ext cx="6034187" cy="3664687"/>
          </a:xfrm>
        </p:spPr>
        <p:txBody>
          <a:bodyPr>
            <a:normAutofit/>
          </a:bodyPr>
          <a:lstStyle/>
          <a:p>
            <a:r>
              <a:rPr lang="en-US" sz="1900"/>
              <a:t>Installation is the process of moving from the current system to the new or enhanced system. This is also refer to conversion activity; converting an old system to a new system. At this stage, all users must give up their reliance on the current system and begin to rely on a new system. There are four approaches of installation; direct, parallel, single-location and phased installation. Which approaches will be used is depends on the organizations and the system’s scope and complexity.</a:t>
            </a:r>
            <a:endParaRPr lang="en-MY" sz="1900"/>
          </a:p>
          <a:p>
            <a:endParaRPr lang="en-MY" sz="1900"/>
          </a:p>
        </p:txBody>
      </p:sp>
    </p:spTree>
    <p:extLst>
      <p:ext uri="{BB962C8B-B14F-4D97-AF65-F5344CB8AC3E}">
        <p14:creationId xmlns:p14="http://schemas.microsoft.com/office/powerpoint/2010/main" val="1242458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DAFDAB-F52B-E352-7E0F-4288B22DB4B7}"/>
              </a:ext>
            </a:extLst>
          </p:cNvPr>
          <p:cNvSpPr>
            <a:spLocks noGrp="1"/>
          </p:cNvSpPr>
          <p:nvPr>
            <p:ph type="title"/>
          </p:nvPr>
        </p:nvSpPr>
        <p:spPr/>
        <p:txBody>
          <a:bodyPr/>
          <a:lstStyle/>
          <a:p>
            <a:r>
              <a:rPr lang="en-US" dirty="0"/>
              <a:t>Direct Installation</a:t>
            </a:r>
            <a:endParaRPr lang="en-MY" dirty="0"/>
          </a:p>
        </p:txBody>
      </p:sp>
      <p:sp>
        <p:nvSpPr>
          <p:cNvPr id="5" name="Content Placeholder 4">
            <a:extLst>
              <a:ext uri="{FF2B5EF4-FFF2-40B4-BE49-F238E27FC236}">
                <a16:creationId xmlns:a16="http://schemas.microsoft.com/office/drawing/2014/main" id="{BC04AC6B-6B47-483A-64F6-E341D7D021AB}"/>
              </a:ext>
            </a:extLst>
          </p:cNvPr>
          <p:cNvSpPr>
            <a:spLocks noGrp="1"/>
          </p:cNvSpPr>
          <p:nvPr>
            <p:ph sz="half" idx="1"/>
          </p:nvPr>
        </p:nvSpPr>
        <p:spPr/>
        <p:txBody>
          <a:bodyPr>
            <a:normAutofit fontScale="77500" lnSpcReduction="20000"/>
          </a:bodyPr>
          <a:lstStyle/>
          <a:p>
            <a:r>
              <a:rPr lang="en-US" dirty="0"/>
              <a:t>The old system is immediately replaced by the new one at a specific date and time.</a:t>
            </a:r>
          </a:p>
          <a:p>
            <a:r>
              <a:rPr lang="en-US" dirty="0"/>
              <a:t>It is a high-risk approach because any undetected problems in the new system will affect users directly.</a:t>
            </a:r>
          </a:p>
          <a:p>
            <a:r>
              <a:rPr lang="en-US" dirty="0"/>
              <a:t>If the new system fails, delays may occur until the issues are resolved.</a:t>
            </a:r>
          </a:p>
          <a:p>
            <a:r>
              <a:rPr lang="en-US" dirty="0"/>
              <a:t>This method is sometimes necessary for policy or deadline-driven changes.</a:t>
            </a:r>
          </a:p>
          <a:p>
            <a:r>
              <a:rPr lang="en-US" dirty="0"/>
              <a:t>While risky, it can lower installation costs if everything goes smoothly.</a:t>
            </a:r>
          </a:p>
          <a:p>
            <a:r>
              <a:rPr lang="en-US" dirty="0"/>
              <a:t>Thorough preparation is essential to minimize risk.</a:t>
            </a:r>
            <a:endParaRPr lang="en-MY" dirty="0"/>
          </a:p>
        </p:txBody>
      </p:sp>
      <p:sp>
        <p:nvSpPr>
          <p:cNvPr id="8" name="Rectangle 13">
            <a:extLst>
              <a:ext uri="{FF2B5EF4-FFF2-40B4-BE49-F238E27FC236}">
                <a16:creationId xmlns:a16="http://schemas.microsoft.com/office/drawing/2014/main" id="{346EAF76-DAB4-C8A6-1E9A-7C8544E2868E}"/>
              </a:ext>
            </a:extLst>
          </p:cNvPr>
          <p:cNvSpPr>
            <a:spLocks noChangeArrowheads="1"/>
          </p:cNvSpPr>
          <p:nvPr/>
        </p:nvSpPr>
        <p:spPr bwMode="auto">
          <a:xfrm>
            <a:off x="6665740" y="2633472"/>
            <a:ext cx="1373892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MY"/>
          </a:p>
        </p:txBody>
      </p:sp>
      <p:grpSp>
        <p:nvGrpSpPr>
          <p:cNvPr id="9" name="Group 3">
            <a:extLst>
              <a:ext uri="{FF2B5EF4-FFF2-40B4-BE49-F238E27FC236}">
                <a16:creationId xmlns:a16="http://schemas.microsoft.com/office/drawing/2014/main" id="{754A3659-12BB-2CBF-C997-2BA08BFBA224}"/>
              </a:ext>
            </a:extLst>
          </p:cNvPr>
          <p:cNvGrpSpPr>
            <a:grpSpLocks noChangeAspect="1"/>
          </p:cNvGrpSpPr>
          <p:nvPr/>
        </p:nvGrpSpPr>
        <p:grpSpPr bwMode="auto">
          <a:xfrm>
            <a:off x="6665741" y="2633472"/>
            <a:ext cx="5094850" cy="3566160"/>
            <a:chOff x="1195" y="1230"/>
            <a:chExt cx="7121" cy="2895"/>
          </a:xfrm>
        </p:grpSpPr>
        <p:sp>
          <p:nvSpPr>
            <p:cNvPr id="10" name="AutoShape 12">
              <a:extLst>
                <a:ext uri="{FF2B5EF4-FFF2-40B4-BE49-F238E27FC236}">
                  <a16:creationId xmlns:a16="http://schemas.microsoft.com/office/drawing/2014/main" id="{1A50B34E-7B3F-C50E-56A6-157CFF7ABEF5}"/>
                </a:ext>
              </a:extLst>
            </p:cNvPr>
            <p:cNvSpPr>
              <a:spLocks noChangeAspect="1" noChangeArrowheads="1" noTextEdit="1"/>
            </p:cNvSpPr>
            <p:nvPr/>
          </p:nvSpPr>
          <p:spPr bwMode="auto">
            <a:xfrm>
              <a:off x="1195" y="1230"/>
              <a:ext cx="7121" cy="28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11" name="Text Box 11">
              <a:extLst>
                <a:ext uri="{FF2B5EF4-FFF2-40B4-BE49-F238E27FC236}">
                  <a16:creationId xmlns:a16="http://schemas.microsoft.com/office/drawing/2014/main" id="{0656A23E-D13D-D6D7-5625-A233D65EDBA9}"/>
                </a:ext>
              </a:extLst>
            </p:cNvPr>
            <p:cNvSpPr txBox="1">
              <a:spLocks noChangeArrowheads="1"/>
            </p:cNvSpPr>
            <p:nvPr/>
          </p:nvSpPr>
          <p:spPr bwMode="auto">
            <a:xfrm>
              <a:off x="2357" y="1590"/>
              <a:ext cx="2037"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Current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 Box 10">
              <a:extLst>
                <a:ext uri="{FF2B5EF4-FFF2-40B4-BE49-F238E27FC236}">
                  <a16:creationId xmlns:a16="http://schemas.microsoft.com/office/drawing/2014/main" id="{7D46823E-8DA4-E43D-D76C-D63A4BBF3DF4}"/>
                </a:ext>
              </a:extLst>
            </p:cNvPr>
            <p:cNvSpPr txBox="1">
              <a:spLocks noChangeArrowheads="1"/>
            </p:cNvSpPr>
            <p:nvPr/>
          </p:nvSpPr>
          <p:spPr bwMode="auto">
            <a:xfrm>
              <a:off x="2672" y="2201"/>
              <a:ext cx="1722" cy="686"/>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Install 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AutoShape 9">
              <a:extLst>
                <a:ext uri="{FF2B5EF4-FFF2-40B4-BE49-F238E27FC236}">
                  <a16:creationId xmlns:a16="http://schemas.microsoft.com/office/drawing/2014/main" id="{BEE61E50-73A3-2500-DB6A-89A6F8032E5F}"/>
                </a:ext>
              </a:extLst>
            </p:cNvPr>
            <p:cNvSpPr>
              <a:spLocks noChangeShapeType="1"/>
            </p:cNvSpPr>
            <p:nvPr/>
          </p:nvSpPr>
          <p:spPr bwMode="auto">
            <a:xfrm flipV="1">
              <a:off x="1725" y="1896"/>
              <a:ext cx="632" cy="9"/>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4" name="Text Box 8">
              <a:extLst>
                <a:ext uri="{FF2B5EF4-FFF2-40B4-BE49-F238E27FC236}">
                  <a16:creationId xmlns:a16="http://schemas.microsoft.com/office/drawing/2014/main" id="{F594EBDF-2524-8B59-B6C7-95C763524636}"/>
                </a:ext>
              </a:extLst>
            </p:cNvPr>
            <p:cNvSpPr txBox="1">
              <a:spLocks noChangeArrowheads="1"/>
            </p:cNvSpPr>
            <p:nvPr/>
          </p:nvSpPr>
          <p:spPr bwMode="auto">
            <a:xfrm>
              <a:off x="4394" y="2887"/>
              <a:ext cx="1720"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AutoShape 7">
              <a:extLst>
                <a:ext uri="{FF2B5EF4-FFF2-40B4-BE49-F238E27FC236}">
                  <a16:creationId xmlns:a16="http://schemas.microsoft.com/office/drawing/2014/main" id="{F9357E79-24AD-DE36-F4D6-0ED14DF58FC0}"/>
                </a:ext>
              </a:extLst>
            </p:cNvPr>
            <p:cNvSpPr>
              <a:spLocks noChangeShapeType="1"/>
            </p:cNvSpPr>
            <p:nvPr/>
          </p:nvSpPr>
          <p:spPr bwMode="auto">
            <a:xfrm flipV="1">
              <a:off x="6114" y="3081"/>
              <a:ext cx="630" cy="9"/>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6" name="Text Box 6">
              <a:extLst>
                <a:ext uri="{FF2B5EF4-FFF2-40B4-BE49-F238E27FC236}">
                  <a16:creationId xmlns:a16="http://schemas.microsoft.com/office/drawing/2014/main" id="{4B9A31E4-7084-639A-8724-F648ECB8C2E9}"/>
                </a:ext>
              </a:extLst>
            </p:cNvPr>
            <p:cNvSpPr txBox="1">
              <a:spLocks noChangeArrowheads="1"/>
            </p:cNvSpPr>
            <p:nvPr/>
          </p:nvSpPr>
          <p:spPr bwMode="auto">
            <a:xfrm>
              <a:off x="6654" y="2887"/>
              <a:ext cx="724"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Time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Text Box 5">
              <a:extLst>
                <a:ext uri="{FF2B5EF4-FFF2-40B4-BE49-F238E27FC236}">
                  <a16:creationId xmlns:a16="http://schemas.microsoft.com/office/drawing/2014/main" id="{ACE2F9D4-06EC-8879-814E-9040A2C814EB}"/>
                </a:ext>
              </a:extLst>
            </p:cNvPr>
            <p:cNvSpPr txBox="1">
              <a:spLocks noChangeArrowheads="1"/>
            </p:cNvSpPr>
            <p:nvPr/>
          </p:nvSpPr>
          <p:spPr bwMode="auto">
            <a:xfrm>
              <a:off x="4284" y="3592"/>
              <a:ext cx="2476"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Direct Installation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4">
              <a:extLst>
                <a:ext uri="{FF2B5EF4-FFF2-40B4-BE49-F238E27FC236}">
                  <a16:creationId xmlns:a16="http://schemas.microsoft.com/office/drawing/2014/main" id="{F78D6739-DB42-AD5F-2802-650776DEF23C}"/>
                </a:ext>
              </a:extLst>
            </p:cNvPr>
            <p:cNvSpPr>
              <a:spLocks noChangeArrowheads="1"/>
            </p:cNvSpPr>
            <p:nvPr/>
          </p:nvSpPr>
          <p:spPr bwMode="auto">
            <a:xfrm>
              <a:off x="1323" y="1425"/>
              <a:ext cx="6786" cy="2580"/>
            </a:xfrm>
            <a:prstGeom prst="rect">
              <a:avLst/>
            </a:prstGeom>
            <a:noFill/>
            <a:ln w="12700">
              <a:solidFill>
                <a:srgbClr val="F79646"/>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0" rIns="91440" bIns="45720" numCol="1" anchor="ctr" anchorCtr="0" compatLnSpc="1">
              <a:prstTxWarp prst="textNoShape">
                <a:avLst/>
              </a:prstTxWarp>
            </a:bodyPr>
            <a:lstStyle/>
            <a:p>
              <a:endParaRPr lang="en-MY"/>
            </a:p>
          </p:txBody>
        </p:sp>
      </p:grpSp>
    </p:spTree>
    <p:extLst>
      <p:ext uri="{BB962C8B-B14F-4D97-AF65-F5344CB8AC3E}">
        <p14:creationId xmlns:p14="http://schemas.microsoft.com/office/powerpoint/2010/main" val="1563971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6AA79-CDDE-A951-5E18-4034FA01533D}"/>
              </a:ext>
            </a:extLst>
          </p:cNvPr>
          <p:cNvSpPr>
            <a:spLocks noGrp="1"/>
          </p:cNvSpPr>
          <p:nvPr>
            <p:ph type="title"/>
          </p:nvPr>
        </p:nvSpPr>
        <p:spPr/>
        <p:txBody>
          <a:bodyPr/>
          <a:lstStyle/>
          <a:p>
            <a:r>
              <a:rPr lang="en-US" dirty="0"/>
              <a:t>Parallel Installation</a:t>
            </a:r>
            <a:endParaRPr lang="en-MY" dirty="0"/>
          </a:p>
        </p:txBody>
      </p:sp>
      <p:sp>
        <p:nvSpPr>
          <p:cNvPr id="3" name="Content Placeholder 2">
            <a:extLst>
              <a:ext uri="{FF2B5EF4-FFF2-40B4-BE49-F238E27FC236}">
                <a16:creationId xmlns:a16="http://schemas.microsoft.com/office/drawing/2014/main" id="{187E926E-C265-7083-4C31-8D2855C6BEB9}"/>
              </a:ext>
            </a:extLst>
          </p:cNvPr>
          <p:cNvSpPr>
            <a:spLocks noGrp="1"/>
          </p:cNvSpPr>
          <p:nvPr>
            <p:ph sz="half" idx="1"/>
          </p:nvPr>
        </p:nvSpPr>
        <p:spPr/>
        <p:txBody>
          <a:bodyPr>
            <a:normAutofit fontScale="77500" lnSpcReduction="20000"/>
          </a:bodyPr>
          <a:lstStyle/>
          <a:p>
            <a:r>
              <a:rPr lang="en-US" dirty="0"/>
              <a:t>Both </a:t>
            </a:r>
            <a:r>
              <a:rPr lang="en-US" b="1" dirty="0"/>
              <a:t>old and new systems run simultaneously</a:t>
            </a:r>
            <a:r>
              <a:rPr lang="en-US" dirty="0"/>
              <a:t> for a period of time.</a:t>
            </a:r>
          </a:p>
          <a:p>
            <a:r>
              <a:rPr lang="en-US" dirty="0"/>
              <a:t>Considered a </a:t>
            </a:r>
            <a:r>
              <a:rPr lang="en-US" b="1" dirty="0"/>
              <a:t>low-risk (riskless) approach</a:t>
            </a:r>
            <a:r>
              <a:rPr lang="en-US" dirty="0"/>
              <a:t> because issues can be resolved before turning off the old system.</a:t>
            </a:r>
          </a:p>
          <a:p>
            <a:r>
              <a:rPr lang="en-US" b="1" dirty="0"/>
              <a:t>Opposite of direct installation</a:t>
            </a:r>
            <a:r>
              <a:rPr lang="en-US" dirty="0"/>
              <a:t>.</a:t>
            </a:r>
          </a:p>
          <a:p>
            <a:r>
              <a:rPr lang="en-US" dirty="0"/>
              <a:t>Ensures </a:t>
            </a:r>
            <a:r>
              <a:rPr lang="en-US" b="1" dirty="0"/>
              <a:t>smooth transition</a:t>
            </a:r>
            <a:r>
              <a:rPr lang="en-US" dirty="0"/>
              <a:t> and system reliability.</a:t>
            </a:r>
          </a:p>
          <a:p>
            <a:r>
              <a:rPr lang="en-US" dirty="0"/>
              <a:t>However, it involves </a:t>
            </a:r>
            <a:r>
              <a:rPr lang="en-US" b="1" dirty="0"/>
              <a:t>high costs</a:t>
            </a:r>
            <a:r>
              <a:rPr lang="en-US" dirty="0"/>
              <a:t> (e.g., staff, maintenance).</a:t>
            </a:r>
          </a:p>
          <a:p>
            <a:r>
              <a:rPr lang="en-US" dirty="0"/>
              <a:t>May cause </a:t>
            </a:r>
            <a:r>
              <a:rPr lang="en-US" b="1" dirty="0"/>
              <a:t>confusion among users</a:t>
            </a:r>
            <a:r>
              <a:rPr lang="en-US" dirty="0"/>
              <a:t> who must work with both systems at once.</a:t>
            </a:r>
          </a:p>
          <a:p>
            <a:endParaRPr lang="en-MY" dirty="0"/>
          </a:p>
        </p:txBody>
      </p:sp>
      <p:sp>
        <p:nvSpPr>
          <p:cNvPr id="5" name="Rectangle 11">
            <a:extLst>
              <a:ext uri="{FF2B5EF4-FFF2-40B4-BE49-F238E27FC236}">
                <a16:creationId xmlns:a16="http://schemas.microsoft.com/office/drawing/2014/main" id="{9F73330B-0F27-62DC-3973-3AE2D6776A44}"/>
              </a:ext>
            </a:extLst>
          </p:cNvPr>
          <p:cNvSpPr>
            <a:spLocks noChangeArrowheads="1"/>
          </p:cNvSpPr>
          <p:nvPr/>
        </p:nvSpPr>
        <p:spPr bwMode="auto">
          <a:xfrm>
            <a:off x="6096000" y="2951870"/>
            <a:ext cx="1449579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MY"/>
          </a:p>
        </p:txBody>
      </p:sp>
      <p:grpSp>
        <p:nvGrpSpPr>
          <p:cNvPr id="6" name="Group 1">
            <a:extLst>
              <a:ext uri="{FF2B5EF4-FFF2-40B4-BE49-F238E27FC236}">
                <a16:creationId xmlns:a16="http://schemas.microsoft.com/office/drawing/2014/main" id="{FEF64AEC-7F40-3D2C-D652-1E7A5793C9D4}"/>
              </a:ext>
            </a:extLst>
          </p:cNvPr>
          <p:cNvGrpSpPr>
            <a:grpSpLocks noChangeAspect="1"/>
          </p:cNvGrpSpPr>
          <p:nvPr/>
        </p:nvGrpSpPr>
        <p:grpSpPr bwMode="auto">
          <a:xfrm>
            <a:off x="6096000" y="2951871"/>
            <a:ext cx="6365755" cy="3040966"/>
            <a:chOff x="2588" y="7995"/>
            <a:chExt cx="7065" cy="3375"/>
          </a:xfrm>
        </p:grpSpPr>
        <p:sp>
          <p:nvSpPr>
            <p:cNvPr id="7" name="AutoShape 10">
              <a:extLst>
                <a:ext uri="{FF2B5EF4-FFF2-40B4-BE49-F238E27FC236}">
                  <a16:creationId xmlns:a16="http://schemas.microsoft.com/office/drawing/2014/main" id="{21A0A687-DD92-F5FB-1BF7-C12488B80036}"/>
                </a:ext>
              </a:extLst>
            </p:cNvPr>
            <p:cNvSpPr>
              <a:spLocks noChangeAspect="1" noChangeArrowheads="1" noTextEdit="1"/>
            </p:cNvSpPr>
            <p:nvPr/>
          </p:nvSpPr>
          <p:spPr bwMode="auto">
            <a:xfrm>
              <a:off x="2588" y="7995"/>
              <a:ext cx="7065" cy="33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8" name="Text Box 9">
              <a:extLst>
                <a:ext uri="{FF2B5EF4-FFF2-40B4-BE49-F238E27FC236}">
                  <a16:creationId xmlns:a16="http://schemas.microsoft.com/office/drawing/2014/main" id="{FC18C44A-B487-2B04-A927-836E3C715F5C}"/>
                </a:ext>
              </a:extLst>
            </p:cNvPr>
            <p:cNvSpPr txBox="1">
              <a:spLocks noChangeArrowheads="1"/>
            </p:cNvSpPr>
            <p:nvPr/>
          </p:nvSpPr>
          <p:spPr bwMode="auto">
            <a:xfrm>
              <a:off x="3594" y="8433"/>
              <a:ext cx="2639"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Current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 Box 8">
              <a:extLst>
                <a:ext uri="{FF2B5EF4-FFF2-40B4-BE49-F238E27FC236}">
                  <a16:creationId xmlns:a16="http://schemas.microsoft.com/office/drawing/2014/main" id="{ABAD254A-D61F-842D-0DD1-BD13758FD56C}"/>
                </a:ext>
              </a:extLst>
            </p:cNvPr>
            <p:cNvSpPr txBox="1">
              <a:spLocks noChangeArrowheads="1"/>
            </p:cNvSpPr>
            <p:nvPr/>
          </p:nvSpPr>
          <p:spPr bwMode="auto">
            <a:xfrm>
              <a:off x="3910" y="9044"/>
              <a:ext cx="1721" cy="687"/>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Install 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AutoShape 7">
              <a:extLst>
                <a:ext uri="{FF2B5EF4-FFF2-40B4-BE49-F238E27FC236}">
                  <a16:creationId xmlns:a16="http://schemas.microsoft.com/office/drawing/2014/main" id="{2A7F450F-F181-4474-C581-3B89E8976A00}"/>
                </a:ext>
              </a:extLst>
            </p:cNvPr>
            <p:cNvSpPr>
              <a:spLocks noChangeShapeType="1"/>
            </p:cNvSpPr>
            <p:nvPr/>
          </p:nvSpPr>
          <p:spPr bwMode="auto">
            <a:xfrm flipV="1">
              <a:off x="2964" y="8740"/>
              <a:ext cx="630" cy="9"/>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1" name="Text Box 6">
              <a:extLst>
                <a:ext uri="{FF2B5EF4-FFF2-40B4-BE49-F238E27FC236}">
                  <a16:creationId xmlns:a16="http://schemas.microsoft.com/office/drawing/2014/main" id="{1C71829F-AD46-7E79-8E9B-B99BA1F87CDD}"/>
                </a:ext>
              </a:extLst>
            </p:cNvPr>
            <p:cNvSpPr txBox="1">
              <a:spLocks noChangeArrowheads="1"/>
            </p:cNvSpPr>
            <p:nvPr/>
          </p:nvSpPr>
          <p:spPr bwMode="auto">
            <a:xfrm>
              <a:off x="5631" y="9715"/>
              <a:ext cx="1721"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AutoShape 5">
              <a:extLst>
                <a:ext uri="{FF2B5EF4-FFF2-40B4-BE49-F238E27FC236}">
                  <a16:creationId xmlns:a16="http://schemas.microsoft.com/office/drawing/2014/main" id="{5EE57570-B47F-0985-2E8B-F4E43D16C7B1}"/>
                </a:ext>
              </a:extLst>
            </p:cNvPr>
            <p:cNvSpPr>
              <a:spLocks noChangeShapeType="1"/>
            </p:cNvSpPr>
            <p:nvPr/>
          </p:nvSpPr>
          <p:spPr bwMode="auto">
            <a:xfrm flipV="1">
              <a:off x="7352" y="9924"/>
              <a:ext cx="631" cy="9"/>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3" name="Text Box 4">
              <a:extLst>
                <a:ext uri="{FF2B5EF4-FFF2-40B4-BE49-F238E27FC236}">
                  <a16:creationId xmlns:a16="http://schemas.microsoft.com/office/drawing/2014/main" id="{5DC6E548-B916-AB45-1105-BADB037F015B}"/>
                </a:ext>
              </a:extLst>
            </p:cNvPr>
            <p:cNvSpPr txBox="1">
              <a:spLocks noChangeArrowheads="1"/>
            </p:cNvSpPr>
            <p:nvPr/>
          </p:nvSpPr>
          <p:spPr bwMode="auto">
            <a:xfrm>
              <a:off x="7892" y="9731"/>
              <a:ext cx="724"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Time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Text Box 3">
              <a:extLst>
                <a:ext uri="{FF2B5EF4-FFF2-40B4-BE49-F238E27FC236}">
                  <a16:creationId xmlns:a16="http://schemas.microsoft.com/office/drawing/2014/main" id="{4B16C025-00F8-E828-3B09-626E8C468208}"/>
                </a:ext>
              </a:extLst>
            </p:cNvPr>
            <p:cNvSpPr txBox="1">
              <a:spLocks noChangeArrowheads="1"/>
            </p:cNvSpPr>
            <p:nvPr/>
          </p:nvSpPr>
          <p:spPr bwMode="auto">
            <a:xfrm>
              <a:off x="5631" y="10500"/>
              <a:ext cx="2476"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Parallel Installation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57FAF8D6-907B-B792-42BA-F63D4822B9F1}"/>
                </a:ext>
              </a:extLst>
            </p:cNvPr>
            <p:cNvSpPr>
              <a:spLocks noChangeArrowheads="1"/>
            </p:cNvSpPr>
            <p:nvPr/>
          </p:nvSpPr>
          <p:spPr bwMode="auto">
            <a:xfrm>
              <a:off x="2687" y="8085"/>
              <a:ext cx="6223" cy="3060"/>
            </a:xfrm>
            <a:prstGeom prst="rect">
              <a:avLst/>
            </a:prstGeom>
            <a:noFill/>
            <a:ln w="12700">
              <a:solidFill>
                <a:srgbClr val="F79646"/>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0" rIns="91440" bIns="45720" numCol="1" anchor="ctr" anchorCtr="0" compatLnSpc="1">
              <a:prstTxWarp prst="textNoShape">
                <a:avLst/>
              </a:prstTxWarp>
            </a:bodyPr>
            <a:lstStyle/>
            <a:p>
              <a:endParaRPr lang="en-MY"/>
            </a:p>
          </p:txBody>
        </p:sp>
      </p:grpSp>
    </p:spTree>
    <p:extLst>
      <p:ext uri="{BB962C8B-B14F-4D97-AF65-F5344CB8AC3E}">
        <p14:creationId xmlns:p14="http://schemas.microsoft.com/office/powerpoint/2010/main" val="1660883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8A2AE-B1E1-EBD5-C0D8-D1ED48F0E21A}"/>
              </a:ext>
            </a:extLst>
          </p:cNvPr>
          <p:cNvSpPr>
            <a:spLocks noGrp="1"/>
          </p:cNvSpPr>
          <p:nvPr>
            <p:ph type="title"/>
          </p:nvPr>
        </p:nvSpPr>
        <p:spPr>
          <a:xfrm>
            <a:off x="1118381" y="297542"/>
            <a:ext cx="10890929" cy="1097280"/>
          </a:xfrm>
        </p:spPr>
        <p:txBody>
          <a:bodyPr/>
          <a:lstStyle/>
          <a:p>
            <a:r>
              <a:rPr lang="en-MY" dirty="0"/>
              <a:t>Single-location Installation</a:t>
            </a:r>
          </a:p>
        </p:txBody>
      </p:sp>
      <p:sp>
        <p:nvSpPr>
          <p:cNvPr id="3" name="Content Placeholder 2">
            <a:extLst>
              <a:ext uri="{FF2B5EF4-FFF2-40B4-BE49-F238E27FC236}">
                <a16:creationId xmlns:a16="http://schemas.microsoft.com/office/drawing/2014/main" id="{4669E473-C207-04AE-4E5E-07075E4ACE10}"/>
              </a:ext>
            </a:extLst>
          </p:cNvPr>
          <p:cNvSpPr>
            <a:spLocks noGrp="1"/>
          </p:cNvSpPr>
          <p:nvPr>
            <p:ph sz="half" idx="1"/>
          </p:nvPr>
        </p:nvSpPr>
        <p:spPr>
          <a:xfrm>
            <a:off x="640080" y="1575582"/>
            <a:ext cx="5212080" cy="4624050"/>
          </a:xfrm>
        </p:spPr>
        <p:txBody>
          <a:bodyPr>
            <a:normAutofit fontScale="85000" lnSpcReduction="10000"/>
          </a:bodyPr>
          <a:lstStyle/>
          <a:p>
            <a:r>
              <a:rPr lang="en-US" dirty="0"/>
              <a:t>The new system is tested at one site (e.g., a branch or department) before full rollout.</a:t>
            </a:r>
          </a:p>
          <a:p>
            <a:r>
              <a:rPr lang="en-US" dirty="0"/>
              <a:t>Can use either direct or parallel installation at the pilot site.</a:t>
            </a:r>
          </a:p>
          <a:p>
            <a:r>
              <a:rPr lang="en-US" dirty="0"/>
              <a:t>It is a moderate-risk approach, sitting between direct and parallel methods.</a:t>
            </a:r>
          </a:p>
          <a:p>
            <a:r>
              <a:rPr lang="en-US" dirty="0"/>
              <a:t>Once the pilot is successful, the system is deployed to other locations, often using direct installation.</a:t>
            </a:r>
          </a:p>
          <a:p>
            <a:r>
              <a:rPr lang="en-US" b="1" dirty="0" err="1"/>
              <a:t>Advantages</a:t>
            </a:r>
            <a:r>
              <a:rPr lang="en-US" dirty="0" err="1"/>
              <a:t>:Helps</a:t>
            </a:r>
            <a:r>
              <a:rPr lang="en-US" dirty="0"/>
              <a:t> identify and fix issues </a:t>
            </a:r>
            <a:r>
              <a:rPr lang="en-US" dirty="0" err="1"/>
              <a:t>early.Reduces</a:t>
            </a:r>
            <a:r>
              <a:rPr lang="en-US" dirty="0"/>
              <a:t> risk and cost for the full rollout.</a:t>
            </a:r>
          </a:p>
          <a:p>
            <a:r>
              <a:rPr lang="en-US" b="1" dirty="0" err="1"/>
              <a:t>Disadvantages</a:t>
            </a:r>
            <a:r>
              <a:rPr lang="en-US" dirty="0" err="1"/>
              <a:t>:May</a:t>
            </a:r>
            <a:r>
              <a:rPr lang="en-US" dirty="0"/>
              <a:t> delay full implementation across the organization.</a:t>
            </a:r>
            <a:endParaRPr lang="en-MY" dirty="0"/>
          </a:p>
        </p:txBody>
      </p:sp>
      <p:sp>
        <p:nvSpPr>
          <p:cNvPr id="5" name="Rectangle 18">
            <a:extLst>
              <a:ext uri="{FF2B5EF4-FFF2-40B4-BE49-F238E27FC236}">
                <a16:creationId xmlns:a16="http://schemas.microsoft.com/office/drawing/2014/main" id="{C88F52D9-BCEC-031F-A244-21BE2E3AEA50}"/>
              </a:ext>
            </a:extLst>
          </p:cNvPr>
          <p:cNvSpPr>
            <a:spLocks noChangeArrowheads="1"/>
          </p:cNvSpPr>
          <p:nvPr/>
        </p:nvSpPr>
        <p:spPr bwMode="auto">
          <a:xfrm>
            <a:off x="6096000" y="263347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Y"/>
          </a:p>
        </p:txBody>
      </p:sp>
      <p:grpSp>
        <p:nvGrpSpPr>
          <p:cNvPr id="6" name="Group 1">
            <a:extLst>
              <a:ext uri="{FF2B5EF4-FFF2-40B4-BE49-F238E27FC236}">
                <a16:creationId xmlns:a16="http://schemas.microsoft.com/office/drawing/2014/main" id="{0AD88170-D6E1-A0C3-F77D-FDB1CF2EFFF9}"/>
              </a:ext>
            </a:extLst>
          </p:cNvPr>
          <p:cNvGrpSpPr>
            <a:grpSpLocks noChangeAspect="1"/>
          </p:cNvGrpSpPr>
          <p:nvPr/>
        </p:nvGrpSpPr>
        <p:grpSpPr bwMode="auto">
          <a:xfrm>
            <a:off x="6096000" y="2053883"/>
            <a:ext cx="6029325" cy="3926039"/>
            <a:chOff x="1305" y="6216"/>
            <a:chExt cx="9495" cy="5271"/>
          </a:xfrm>
        </p:grpSpPr>
        <p:sp>
          <p:nvSpPr>
            <p:cNvPr id="7" name="AutoShape 17">
              <a:extLst>
                <a:ext uri="{FF2B5EF4-FFF2-40B4-BE49-F238E27FC236}">
                  <a16:creationId xmlns:a16="http://schemas.microsoft.com/office/drawing/2014/main" id="{25CC4612-AE0F-A185-EBED-D5D71A0BD764}"/>
                </a:ext>
              </a:extLst>
            </p:cNvPr>
            <p:cNvSpPr>
              <a:spLocks noChangeAspect="1" noChangeArrowheads="1" noTextEdit="1"/>
            </p:cNvSpPr>
            <p:nvPr/>
          </p:nvSpPr>
          <p:spPr bwMode="auto">
            <a:xfrm>
              <a:off x="1305" y="6216"/>
              <a:ext cx="9495" cy="52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8" name="Text Box 16">
              <a:extLst>
                <a:ext uri="{FF2B5EF4-FFF2-40B4-BE49-F238E27FC236}">
                  <a16:creationId xmlns:a16="http://schemas.microsoft.com/office/drawing/2014/main" id="{39B93580-C4F6-015F-3802-0FA97CE30743}"/>
                </a:ext>
              </a:extLst>
            </p:cNvPr>
            <p:cNvSpPr txBox="1">
              <a:spLocks noChangeArrowheads="1"/>
            </p:cNvSpPr>
            <p:nvPr/>
          </p:nvSpPr>
          <p:spPr bwMode="auto">
            <a:xfrm>
              <a:off x="2371" y="6737"/>
              <a:ext cx="2037"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Current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 Box 15">
              <a:extLst>
                <a:ext uri="{FF2B5EF4-FFF2-40B4-BE49-F238E27FC236}">
                  <a16:creationId xmlns:a16="http://schemas.microsoft.com/office/drawing/2014/main" id="{B8117640-D7A4-E23C-FEC8-C2B11118400C}"/>
                </a:ext>
              </a:extLst>
            </p:cNvPr>
            <p:cNvSpPr txBox="1">
              <a:spLocks noChangeArrowheads="1"/>
            </p:cNvSpPr>
            <p:nvPr/>
          </p:nvSpPr>
          <p:spPr bwMode="auto">
            <a:xfrm>
              <a:off x="2687" y="7348"/>
              <a:ext cx="1721"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Install 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AutoShape 14">
              <a:extLst>
                <a:ext uri="{FF2B5EF4-FFF2-40B4-BE49-F238E27FC236}">
                  <a16:creationId xmlns:a16="http://schemas.microsoft.com/office/drawing/2014/main" id="{F8534731-BE23-BFB1-8EE3-C18EA486AFDA}"/>
                </a:ext>
              </a:extLst>
            </p:cNvPr>
            <p:cNvSpPr>
              <a:spLocks noChangeShapeType="1"/>
            </p:cNvSpPr>
            <p:nvPr/>
          </p:nvSpPr>
          <p:spPr bwMode="auto">
            <a:xfrm flipV="1">
              <a:off x="1740" y="7044"/>
              <a:ext cx="631" cy="7"/>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1" name="Text Box 13">
              <a:extLst>
                <a:ext uri="{FF2B5EF4-FFF2-40B4-BE49-F238E27FC236}">
                  <a16:creationId xmlns:a16="http://schemas.microsoft.com/office/drawing/2014/main" id="{88EFD03B-26D2-80A6-BF62-B50823EC8E6F}"/>
                </a:ext>
              </a:extLst>
            </p:cNvPr>
            <p:cNvSpPr txBox="1">
              <a:spLocks noChangeArrowheads="1"/>
            </p:cNvSpPr>
            <p:nvPr/>
          </p:nvSpPr>
          <p:spPr bwMode="auto">
            <a:xfrm>
              <a:off x="4408" y="7959"/>
              <a:ext cx="1721"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AutoShape 12">
              <a:extLst>
                <a:ext uri="{FF2B5EF4-FFF2-40B4-BE49-F238E27FC236}">
                  <a16:creationId xmlns:a16="http://schemas.microsoft.com/office/drawing/2014/main" id="{B997ADEF-0D6B-F0B5-DB1F-C05159E2C655}"/>
                </a:ext>
              </a:extLst>
            </p:cNvPr>
            <p:cNvSpPr>
              <a:spLocks noChangeShapeType="1"/>
            </p:cNvSpPr>
            <p:nvPr/>
          </p:nvSpPr>
          <p:spPr bwMode="auto">
            <a:xfrm flipV="1">
              <a:off x="6129" y="8228"/>
              <a:ext cx="631" cy="9"/>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3" name="Text Box 11">
              <a:extLst>
                <a:ext uri="{FF2B5EF4-FFF2-40B4-BE49-F238E27FC236}">
                  <a16:creationId xmlns:a16="http://schemas.microsoft.com/office/drawing/2014/main" id="{751588DD-9A51-F3ED-D631-1EE8E8A41DAC}"/>
                </a:ext>
              </a:extLst>
            </p:cNvPr>
            <p:cNvSpPr txBox="1">
              <a:spLocks noChangeArrowheads="1"/>
            </p:cNvSpPr>
            <p:nvPr/>
          </p:nvSpPr>
          <p:spPr bwMode="auto">
            <a:xfrm>
              <a:off x="6669" y="8034"/>
              <a:ext cx="724"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MY"/>
            </a:p>
          </p:txBody>
        </p:sp>
        <p:sp>
          <p:nvSpPr>
            <p:cNvPr id="14" name="Text Box 10">
              <a:extLst>
                <a:ext uri="{FF2B5EF4-FFF2-40B4-BE49-F238E27FC236}">
                  <a16:creationId xmlns:a16="http://schemas.microsoft.com/office/drawing/2014/main" id="{C808CFED-55EB-D1FD-8B4A-B1BB8C7F95E8}"/>
                </a:ext>
              </a:extLst>
            </p:cNvPr>
            <p:cNvSpPr txBox="1">
              <a:spLocks noChangeArrowheads="1"/>
            </p:cNvSpPr>
            <p:nvPr/>
          </p:nvSpPr>
          <p:spPr bwMode="auto">
            <a:xfrm>
              <a:off x="8323" y="7425"/>
              <a:ext cx="2476"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Location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Text Box 9">
              <a:extLst>
                <a:ext uri="{FF2B5EF4-FFF2-40B4-BE49-F238E27FC236}">
                  <a16:creationId xmlns:a16="http://schemas.microsoft.com/office/drawing/2014/main" id="{8D4E3BFA-8231-ED9C-9833-6497236AF0EE}"/>
                </a:ext>
              </a:extLst>
            </p:cNvPr>
            <p:cNvSpPr txBox="1">
              <a:spLocks noChangeArrowheads="1"/>
            </p:cNvSpPr>
            <p:nvPr/>
          </p:nvSpPr>
          <p:spPr bwMode="auto">
            <a:xfrm>
              <a:off x="2371" y="8867"/>
              <a:ext cx="3852"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Current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 Box 8">
              <a:extLst>
                <a:ext uri="{FF2B5EF4-FFF2-40B4-BE49-F238E27FC236}">
                  <a16:creationId xmlns:a16="http://schemas.microsoft.com/office/drawing/2014/main" id="{64E7BC4A-FCEE-2D38-42B0-C0189B2752B3}"/>
                </a:ext>
              </a:extLst>
            </p:cNvPr>
            <p:cNvSpPr txBox="1">
              <a:spLocks noChangeArrowheads="1"/>
            </p:cNvSpPr>
            <p:nvPr/>
          </p:nvSpPr>
          <p:spPr bwMode="auto">
            <a:xfrm>
              <a:off x="4699" y="9478"/>
              <a:ext cx="1524"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Install 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AutoShape 7">
              <a:extLst>
                <a:ext uri="{FF2B5EF4-FFF2-40B4-BE49-F238E27FC236}">
                  <a16:creationId xmlns:a16="http://schemas.microsoft.com/office/drawing/2014/main" id="{D82A1998-EF49-3D87-041F-F857007C03D3}"/>
                </a:ext>
              </a:extLst>
            </p:cNvPr>
            <p:cNvSpPr>
              <a:spLocks noChangeShapeType="1"/>
            </p:cNvSpPr>
            <p:nvPr/>
          </p:nvSpPr>
          <p:spPr bwMode="auto">
            <a:xfrm flipV="1">
              <a:off x="1740" y="9174"/>
              <a:ext cx="631" cy="7"/>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8" name="Text Box 6">
              <a:extLst>
                <a:ext uri="{FF2B5EF4-FFF2-40B4-BE49-F238E27FC236}">
                  <a16:creationId xmlns:a16="http://schemas.microsoft.com/office/drawing/2014/main" id="{E598FDDA-9039-A394-B275-DDBDC4D288DC}"/>
                </a:ext>
              </a:extLst>
            </p:cNvPr>
            <p:cNvSpPr txBox="1">
              <a:spLocks noChangeArrowheads="1"/>
            </p:cNvSpPr>
            <p:nvPr/>
          </p:nvSpPr>
          <p:spPr bwMode="auto">
            <a:xfrm>
              <a:off x="6223" y="10089"/>
              <a:ext cx="1722"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New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AutoShape 5">
              <a:extLst>
                <a:ext uri="{FF2B5EF4-FFF2-40B4-BE49-F238E27FC236}">
                  <a16:creationId xmlns:a16="http://schemas.microsoft.com/office/drawing/2014/main" id="{3A22403C-8A29-D795-22A2-96810B4C18FA}"/>
                </a:ext>
              </a:extLst>
            </p:cNvPr>
            <p:cNvSpPr>
              <a:spLocks noChangeShapeType="1"/>
            </p:cNvSpPr>
            <p:nvPr/>
          </p:nvSpPr>
          <p:spPr bwMode="auto">
            <a:xfrm flipV="1">
              <a:off x="7945" y="10358"/>
              <a:ext cx="630" cy="10"/>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20" name="Text Box 4">
              <a:extLst>
                <a:ext uri="{FF2B5EF4-FFF2-40B4-BE49-F238E27FC236}">
                  <a16:creationId xmlns:a16="http://schemas.microsoft.com/office/drawing/2014/main" id="{EAC3FF3F-72ED-B6D0-F467-85AB1E2FDFF6}"/>
                </a:ext>
              </a:extLst>
            </p:cNvPr>
            <p:cNvSpPr txBox="1">
              <a:spLocks noChangeArrowheads="1"/>
            </p:cNvSpPr>
            <p:nvPr/>
          </p:nvSpPr>
          <p:spPr bwMode="auto">
            <a:xfrm>
              <a:off x="8323" y="9478"/>
              <a:ext cx="2477"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Location 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Text Box 3">
              <a:extLst>
                <a:ext uri="{FF2B5EF4-FFF2-40B4-BE49-F238E27FC236}">
                  <a16:creationId xmlns:a16="http://schemas.microsoft.com/office/drawing/2014/main" id="{CCFCD509-35D9-A41A-1882-64EB2E9DE6EC}"/>
                </a:ext>
              </a:extLst>
            </p:cNvPr>
            <p:cNvSpPr txBox="1">
              <a:spLocks noChangeArrowheads="1"/>
            </p:cNvSpPr>
            <p:nvPr/>
          </p:nvSpPr>
          <p:spPr bwMode="auto">
            <a:xfrm>
              <a:off x="4699" y="10837"/>
              <a:ext cx="3137"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Single-location installation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
              <a:extLst>
                <a:ext uri="{FF2B5EF4-FFF2-40B4-BE49-F238E27FC236}">
                  <a16:creationId xmlns:a16="http://schemas.microsoft.com/office/drawing/2014/main" id="{98F781B3-A04D-1AFF-76AF-2D572FE4CB29}"/>
                </a:ext>
              </a:extLst>
            </p:cNvPr>
            <p:cNvSpPr>
              <a:spLocks noChangeArrowheads="1"/>
            </p:cNvSpPr>
            <p:nvPr/>
          </p:nvSpPr>
          <p:spPr bwMode="auto">
            <a:xfrm>
              <a:off x="1485" y="6456"/>
              <a:ext cx="8475" cy="4830"/>
            </a:xfrm>
            <a:prstGeom prst="rect">
              <a:avLst/>
            </a:prstGeom>
            <a:noFill/>
            <a:ln w="12700">
              <a:solidFill>
                <a:srgbClr val="F79646"/>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0" rIns="91440" bIns="45720" numCol="1" anchor="ctr" anchorCtr="0" compatLnSpc="1">
              <a:prstTxWarp prst="textNoShape">
                <a:avLst/>
              </a:prstTxWarp>
            </a:bodyPr>
            <a:lstStyle/>
            <a:p>
              <a:endParaRPr lang="en-MY"/>
            </a:p>
          </p:txBody>
        </p:sp>
      </p:grpSp>
    </p:spTree>
    <p:extLst>
      <p:ext uri="{BB962C8B-B14F-4D97-AF65-F5344CB8AC3E}">
        <p14:creationId xmlns:p14="http://schemas.microsoft.com/office/powerpoint/2010/main" val="2090549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F599-115F-362D-C6AB-BDAAD472068C}"/>
              </a:ext>
            </a:extLst>
          </p:cNvPr>
          <p:cNvSpPr>
            <a:spLocks noGrp="1"/>
          </p:cNvSpPr>
          <p:nvPr>
            <p:ph type="title"/>
          </p:nvPr>
        </p:nvSpPr>
        <p:spPr>
          <a:xfrm>
            <a:off x="1277044" y="307185"/>
            <a:ext cx="10890929" cy="1097280"/>
          </a:xfrm>
        </p:spPr>
        <p:txBody>
          <a:bodyPr>
            <a:normAutofit fontScale="90000"/>
          </a:bodyPr>
          <a:lstStyle/>
          <a:p>
            <a:r>
              <a:rPr lang="en-US" dirty="0"/>
              <a:t>Phased Installation</a:t>
            </a:r>
            <a:br>
              <a:rPr lang="en-MY" dirty="0"/>
            </a:br>
            <a:endParaRPr lang="en-MY" dirty="0"/>
          </a:p>
        </p:txBody>
      </p:sp>
      <p:sp>
        <p:nvSpPr>
          <p:cNvPr id="5" name="Rectangle 15">
            <a:extLst>
              <a:ext uri="{FF2B5EF4-FFF2-40B4-BE49-F238E27FC236}">
                <a16:creationId xmlns:a16="http://schemas.microsoft.com/office/drawing/2014/main" id="{DFA40632-6A1C-BF2A-D7FE-F8006CEDE134}"/>
              </a:ext>
            </a:extLst>
          </p:cNvPr>
          <p:cNvSpPr>
            <a:spLocks noChangeArrowheads="1"/>
          </p:cNvSpPr>
          <p:nvPr/>
        </p:nvSpPr>
        <p:spPr bwMode="auto">
          <a:xfrm flipV="1">
            <a:off x="6575439" y="3406140"/>
            <a:ext cx="125146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MY"/>
          </a:p>
        </p:txBody>
      </p:sp>
      <p:grpSp>
        <p:nvGrpSpPr>
          <p:cNvPr id="6" name="Group 1">
            <a:extLst>
              <a:ext uri="{FF2B5EF4-FFF2-40B4-BE49-F238E27FC236}">
                <a16:creationId xmlns:a16="http://schemas.microsoft.com/office/drawing/2014/main" id="{92ECA5DE-2753-A4FF-CDAF-11785B894CFD}"/>
              </a:ext>
            </a:extLst>
          </p:cNvPr>
          <p:cNvGrpSpPr>
            <a:grpSpLocks noChangeAspect="1"/>
          </p:cNvGrpSpPr>
          <p:nvPr/>
        </p:nvGrpSpPr>
        <p:grpSpPr bwMode="auto">
          <a:xfrm>
            <a:off x="5686548" y="2761597"/>
            <a:ext cx="6421742" cy="3416320"/>
            <a:chOff x="1440" y="3604"/>
            <a:chExt cx="8205" cy="4365"/>
          </a:xfrm>
        </p:grpSpPr>
        <p:sp>
          <p:nvSpPr>
            <p:cNvPr id="7" name="AutoShape 14">
              <a:extLst>
                <a:ext uri="{FF2B5EF4-FFF2-40B4-BE49-F238E27FC236}">
                  <a16:creationId xmlns:a16="http://schemas.microsoft.com/office/drawing/2014/main" id="{52C36960-F739-51CE-0CF9-8C1101190E49}"/>
                </a:ext>
              </a:extLst>
            </p:cNvPr>
            <p:cNvSpPr>
              <a:spLocks noChangeAspect="1" noChangeArrowheads="1" noTextEdit="1"/>
            </p:cNvSpPr>
            <p:nvPr/>
          </p:nvSpPr>
          <p:spPr bwMode="auto">
            <a:xfrm>
              <a:off x="1440" y="3604"/>
              <a:ext cx="8205" cy="43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8" name="Text Box 13">
              <a:extLst>
                <a:ext uri="{FF2B5EF4-FFF2-40B4-BE49-F238E27FC236}">
                  <a16:creationId xmlns:a16="http://schemas.microsoft.com/office/drawing/2014/main" id="{5E202D08-497E-2266-1C47-0F7D89131AAB}"/>
                </a:ext>
              </a:extLst>
            </p:cNvPr>
            <p:cNvSpPr txBox="1">
              <a:spLocks noChangeArrowheads="1"/>
            </p:cNvSpPr>
            <p:nvPr/>
          </p:nvSpPr>
          <p:spPr bwMode="auto">
            <a:xfrm>
              <a:off x="3981" y="7279"/>
              <a:ext cx="2477"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Phased Installation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 Box 12">
              <a:extLst>
                <a:ext uri="{FF2B5EF4-FFF2-40B4-BE49-F238E27FC236}">
                  <a16:creationId xmlns:a16="http://schemas.microsoft.com/office/drawing/2014/main" id="{97883A82-D442-C166-D7EC-C31A3DAF7DA1}"/>
                </a:ext>
              </a:extLst>
            </p:cNvPr>
            <p:cNvSpPr txBox="1">
              <a:spLocks noChangeArrowheads="1"/>
            </p:cNvSpPr>
            <p:nvPr/>
          </p:nvSpPr>
          <p:spPr bwMode="auto">
            <a:xfrm>
              <a:off x="2295" y="3975"/>
              <a:ext cx="2038" cy="825"/>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Current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 Box 11">
              <a:extLst>
                <a:ext uri="{FF2B5EF4-FFF2-40B4-BE49-F238E27FC236}">
                  <a16:creationId xmlns:a16="http://schemas.microsoft.com/office/drawing/2014/main" id="{C8835B6D-5B11-D5FD-0E1B-CB8064930348}"/>
                </a:ext>
              </a:extLst>
            </p:cNvPr>
            <p:cNvSpPr txBox="1">
              <a:spLocks noChangeArrowheads="1"/>
            </p:cNvSpPr>
            <p:nvPr/>
          </p:nvSpPr>
          <p:spPr bwMode="auto">
            <a:xfrm>
              <a:off x="2839" y="4811"/>
              <a:ext cx="1495"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Install Module 1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AutoShape 10">
              <a:extLst>
                <a:ext uri="{FF2B5EF4-FFF2-40B4-BE49-F238E27FC236}">
                  <a16:creationId xmlns:a16="http://schemas.microsoft.com/office/drawing/2014/main" id="{F19829C9-AEF1-14E4-B091-9FDD429AA076}"/>
                </a:ext>
              </a:extLst>
            </p:cNvPr>
            <p:cNvSpPr>
              <a:spLocks noChangeShapeType="1"/>
            </p:cNvSpPr>
            <p:nvPr/>
          </p:nvSpPr>
          <p:spPr bwMode="auto">
            <a:xfrm flipV="1">
              <a:off x="1665" y="4283"/>
              <a:ext cx="630" cy="6"/>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2" name="Text Box 9">
              <a:extLst>
                <a:ext uri="{FF2B5EF4-FFF2-40B4-BE49-F238E27FC236}">
                  <a16:creationId xmlns:a16="http://schemas.microsoft.com/office/drawing/2014/main" id="{6089DA9F-7CF1-7D11-209F-F3F3831D92EF}"/>
                </a:ext>
              </a:extLst>
            </p:cNvPr>
            <p:cNvSpPr txBox="1">
              <a:spLocks noChangeArrowheads="1"/>
            </p:cNvSpPr>
            <p:nvPr/>
          </p:nvSpPr>
          <p:spPr bwMode="auto">
            <a:xfrm>
              <a:off x="4504" y="5760"/>
              <a:ext cx="4106"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New Module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Text Box 8">
              <a:extLst>
                <a:ext uri="{FF2B5EF4-FFF2-40B4-BE49-F238E27FC236}">
                  <a16:creationId xmlns:a16="http://schemas.microsoft.com/office/drawing/2014/main" id="{779CC170-EA44-56E8-3673-70F37CBE02B5}"/>
                </a:ext>
              </a:extLst>
            </p:cNvPr>
            <p:cNvSpPr txBox="1">
              <a:spLocks noChangeArrowheads="1"/>
            </p:cNvSpPr>
            <p:nvPr/>
          </p:nvSpPr>
          <p:spPr bwMode="auto">
            <a:xfrm>
              <a:off x="4334" y="4200"/>
              <a:ext cx="1891"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Current System without Module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Text Box 7">
              <a:extLst>
                <a:ext uri="{FF2B5EF4-FFF2-40B4-BE49-F238E27FC236}">
                  <a16:creationId xmlns:a16="http://schemas.microsoft.com/office/drawing/2014/main" id="{F9A80E4B-4EC9-8259-ADC8-5E545E0D41DD}"/>
                </a:ext>
              </a:extLst>
            </p:cNvPr>
            <p:cNvSpPr txBox="1">
              <a:spLocks noChangeArrowheads="1"/>
            </p:cNvSpPr>
            <p:nvPr/>
          </p:nvSpPr>
          <p:spPr bwMode="auto">
            <a:xfrm>
              <a:off x="6225" y="4200"/>
              <a:ext cx="2385"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Current System without Module 1, </a:t>
              </a:r>
              <a:r>
                <a:rPr kumimoji="0" lang="en-US" altLang="en-US" sz="10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ahoma" panose="020B060403050404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Text Box 6">
              <a:extLst>
                <a:ext uri="{FF2B5EF4-FFF2-40B4-BE49-F238E27FC236}">
                  <a16:creationId xmlns:a16="http://schemas.microsoft.com/office/drawing/2014/main" id="{28C9E4A5-1334-8551-4854-55F96760B567}"/>
                </a:ext>
              </a:extLst>
            </p:cNvPr>
            <p:cNvSpPr txBox="1">
              <a:spLocks noChangeArrowheads="1"/>
            </p:cNvSpPr>
            <p:nvPr/>
          </p:nvSpPr>
          <p:spPr bwMode="auto">
            <a:xfrm>
              <a:off x="4730" y="4800"/>
              <a:ext cx="1495"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Install Module  ...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 Box 5">
              <a:extLst>
                <a:ext uri="{FF2B5EF4-FFF2-40B4-BE49-F238E27FC236}">
                  <a16:creationId xmlns:a16="http://schemas.microsoft.com/office/drawing/2014/main" id="{5354D559-CDF8-5FCB-B9D0-B45A6364F368}"/>
                </a:ext>
              </a:extLst>
            </p:cNvPr>
            <p:cNvSpPr txBox="1">
              <a:spLocks noChangeArrowheads="1"/>
            </p:cNvSpPr>
            <p:nvPr/>
          </p:nvSpPr>
          <p:spPr bwMode="auto">
            <a:xfrm>
              <a:off x="6225" y="6525"/>
              <a:ext cx="2385" cy="611"/>
            </a:xfrm>
            <a:prstGeom prst="rect">
              <a:avLst/>
            </a:prstGeom>
            <a:solidFill>
              <a:srgbClr val="FDE4D0"/>
            </a:solidFill>
            <a:ln w="9525">
              <a:solidFill>
                <a:srgbClr val="F79646"/>
              </a:solidFill>
              <a:miter lim="800000"/>
              <a:headEnd/>
              <a:tailEnd/>
            </a:ln>
            <a:effectLst/>
            <a:extLst>
              <a:ext uri="{AF507438-7753-43E0-B8FC-AC1667EBCBE1}">
                <a14:hiddenEffects xmlns:a14="http://schemas.microsoft.com/office/drawing/2010/main">
                  <a:effectLst>
                    <a:outerShdw dist="107763" dir="13500000" algn="ctr" rotWithShape="0">
                      <a:srgbClr val="808080">
                        <a:alpha val="50000"/>
                      </a:srgbClr>
                    </a:outerShdw>
                  </a:effectLst>
                </a14:hiddenEffects>
              </a:ext>
            </a:extLst>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ahoma" panose="020B0604030504040204" pitchFamily="34" charset="0"/>
                  <a:ea typeface="Calibri" panose="020F0502020204030204" pitchFamily="34" charset="0"/>
                  <a:cs typeface="Tahoma" panose="020B0604030504040204" pitchFamily="34" charset="0"/>
                </a:rPr>
                <a:t>New Module </a:t>
              </a:r>
              <a:r>
                <a:rPr kumimoji="0" lang="en-US" altLang="en-US" sz="10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ahoma" panose="020B060403050404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AutoShape 4">
              <a:extLst>
                <a:ext uri="{FF2B5EF4-FFF2-40B4-BE49-F238E27FC236}">
                  <a16:creationId xmlns:a16="http://schemas.microsoft.com/office/drawing/2014/main" id="{EFA9A1F4-67A8-F4E9-947C-365CD6850F27}"/>
                </a:ext>
              </a:extLst>
            </p:cNvPr>
            <p:cNvSpPr>
              <a:spLocks noChangeShapeType="1"/>
            </p:cNvSpPr>
            <p:nvPr/>
          </p:nvSpPr>
          <p:spPr bwMode="auto">
            <a:xfrm flipV="1">
              <a:off x="7785" y="6808"/>
              <a:ext cx="630" cy="6"/>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8" name="AutoShape 3">
              <a:extLst>
                <a:ext uri="{FF2B5EF4-FFF2-40B4-BE49-F238E27FC236}">
                  <a16:creationId xmlns:a16="http://schemas.microsoft.com/office/drawing/2014/main" id="{EF9C1688-4885-7B7E-ABD8-0C3E64D4312F}"/>
                </a:ext>
              </a:extLst>
            </p:cNvPr>
            <p:cNvSpPr>
              <a:spLocks noChangeShapeType="1"/>
            </p:cNvSpPr>
            <p:nvPr/>
          </p:nvSpPr>
          <p:spPr bwMode="auto">
            <a:xfrm flipV="1">
              <a:off x="6054" y="6064"/>
              <a:ext cx="630" cy="6"/>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txBody>
            <a:bodyPr vert="horz" wrap="none" lIns="91440" tIns="45720" rIns="91440" bIns="45720" numCol="1" anchor="ctr" anchorCtr="0" compatLnSpc="1">
              <a:prstTxWarp prst="textNoShape">
                <a:avLst/>
              </a:prstTxWarp>
            </a:bodyPr>
            <a:lstStyle/>
            <a:p>
              <a:endParaRPr lang="en-MY"/>
            </a:p>
          </p:txBody>
        </p:sp>
        <p:sp>
          <p:nvSpPr>
            <p:cNvPr id="19" name="Rectangle 2">
              <a:extLst>
                <a:ext uri="{FF2B5EF4-FFF2-40B4-BE49-F238E27FC236}">
                  <a16:creationId xmlns:a16="http://schemas.microsoft.com/office/drawing/2014/main" id="{D4FC613F-9F26-D852-0610-3F35CB9DB707}"/>
                </a:ext>
              </a:extLst>
            </p:cNvPr>
            <p:cNvSpPr>
              <a:spLocks noChangeArrowheads="1"/>
            </p:cNvSpPr>
            <p:nvPr/>
          </p:nvSpPr>
          <p:spPr bwMode="auto">
            <a:xfrm>
              <a:off x="1560" y="3784"/>
              <a:ext cx="7620" cy="3930"/>
            </a:xfrm>
            <a:prstGeom prst="rect">
              <a:avLst/>
            </a:prstGeom>
            <a:noFill/>
            <a:ln w="12700">
              <a:solidFill>
                <a:srgbClr val="F79646"/>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0" rIns="91440" bIns="45720" numCol="1" anchor="ctr" anchorCtr="0" compatLnSpc="1">
              <a:prstTxWarp prst="textNoShape">
                <a:avLst/>
              </a:prstTxWarp>
            </a:bodyPr>
            <a:lstStyle/>
            <a:p>
              <a:endParaRPr lang="en-MY"/>
            </a:p>
          </p:txBody>
        </p:sp>
      </p:grpSp>
      <p:sp>
        <p:nvSpPr>
          <p:cNvPr id="20" name="Rectangle 24">
            <a:extLst>
              <a:ext uri="{FF2B5EF4-FFF2-40B4-BE49-F238E27FC236}">
                <a16:creationId xmlns:a16="http://schemas.microsoft.com/office/drawing/2014/main" id="{11841F7A-E768-EADD-4ECB-552BA74A823D}"/>
              </a:ext>
            </a:extLst>
          </p:cNvPr>
          <p:cNvSpPr>
            <a:spLocks noGrp="1" noChangeArrowheads="1"/>
          </p:cNvSpPr>
          <p:nvPr>
            <p:ph sz="half" idx="1"/>
          </p:nvPr>
        </p:nvSpPr>
        <p:spPr bwMode="auto">
          <a:xfrm>
            <a:off x="593747" y="1479385"/>
            <a:ext cx="1197314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new system is installed module by module</a:t>
            </a:r>
            <a:r>
              <a:rPr kumimoji="0" lang="en-US" altLang="en-US" sz="1800" b="0" i="0" u="none" strike="noStrike" cap="none" normalizeH="0" baseline="0" dirty="0">
                <a:ln>
                  <a:noFill/>
                </a:ln>
                <a:solidFill>
                  <a:schemeClr val="tx1"/>
                </a:solidFill>
                <a:effectLst/>
                <a:latin typeface="Arial" panose="020B0604020202020204" pitchFamily="34" charset="0"/>
              </a:rPr>
              <a:t> (functional components),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is an </a:t>
            </a:r>
            <a:r>
              <a:rPr kumimoji="0" lang="en-US" altLang="en-US" sz="1800" b="1" i="0" u="none" strike="noStrike" cap="none" normalizeH="0" baseline="0" dirty="0">
                <a:ln>
                  <a:noFill/>
                </a:ln>
                <a:solidFill>
                  <a:schemeClr val="tx1"/>
                </a:solidFill>
                <a:effectLst/>
                <a:latin typeface="Arial" panose="020B0604020202020204" pitchFamily="34" charset="0"/>
              </a:rPr>
              <a:t>incremental approach</a:t>
            </a:r>
            <a:r>
              <a:rPr kumimoji="0" lang="en-US" altLang="en-US" sz="1800" b="0" i="0" u="none" strike="noStrike" cap="none" normalizeH="0" baseline="0" dirty="0">
                <a:ln>
                  <a:noFill/>
                </a:ln>
                <a:solidFill>
                  <a:schemeClr val="tx1"/>
                </a:solidFill>
                <a:effectLst/>
                <a:latin typeface="Arial" panose="020B0604020202020204" pitchFamily="34" charset="0"/>
              </a:rPr>
              <a:t>, where parts of the old and new system run together until the full system is in place.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Aims to </a:t>
            </a:r>
            <a:r>
              <a:rPr kumimoji="0" lang="en-US" altLang="en-US" sz="1800" b="1" i="0" u="none" strike="noStrike" cap="none" normalizeH="0" baseline="0" dirty="0">
                <a:ln>
                  <a:noFill/>
                </a:ln>
                <a:solidFill>
                  <a:schemeClr val="tx1"/>
                </a:solidFill>
                <a:effectLst/>
                <a:latin typeface="Arial" panose="020B0604020202020204" pitchFamily="34" charset="0"/>
              </a:rPr>
              <a:t>minimize risk</a:t>
            </a:r>
            <a:r>
              <a:rPr kumimoji="0" lang="en-US" altLang="en-US" sz="1800" b="0" i="0" u="none" strike="noStrike" cap="none" normalizeH="0" baseline="0" dirty="0">
                <a:ln>
                  <a:noFill/>
                </a:ln>
                <a:solidFill>
                  <a:schemeClr val="tx1"/>
                </a:solidFill>
                <a:effectLst/>
                <a:latin typeface="Arial" panose="020B0604020202020204" pitchFamily="34" charset="0"/>
              </a:rPr>
              <a:t>, similar to single-location installation.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Resembles </a:t>
            </a:r>
            <a:r>
              <a:rPr kumimoji="0" lang="en-US" altLang="en-US" sz="1800" b="1" i="0" u="none" strike="noStrike" cap="none" normalizeH="0" baseline="0" dirty="0">
                <a:ln>
                  <a:noFill/>
                </a:ln>
                <a:solidFill>
                  <a:schemeClr val="tx1"/>
                </a:solidFill>
                <a:effectLst/>
                <a:latin typeface="Arial" panose="020B0604020202020204" pitchFamily="34" charset="0"/>
              </a:rPr>
              <a:t>a series of gradual system releases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Requires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Careful </a:t>
            </a:r>
            <a:r>
              <a:rPr kumimoji="0" lang="en-US" altLang="en-US" sz="1800" b="1" i="0" u="none" strike="noStrike" cap="none" normalizeH="0" baseline="0" dirty="0">
                <a:ln>
                  <a:noFill/>
                </a:ln>
                <a:solidFill>
                  <a:schemeClr val="tx1"/>
                </a:solidFill>
                <a:effectLst/>
                <a:latin typeface="Arial" panose="020B0604020202020204" pitchFamily="34" charset="0"/>
              </a:rPr>
              <a:t>version control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Repeated conversions</a:t>
            </a:r>
            <a:r>
              <a:rPr kumimoji="0" lang="en-US" altLang="en-US" sz="1800" b="0" i="0" u="none" strike="noStrike" cap="none" normalizeH="0" baseline="0" dirty="0">
                <a:ln>
                  <a:noFill/>
                </a:ln>
                <a:solidFill>
                  <a:schemeClr val="tx1"/>
                </a:solidFill>
                <a:effectLst/>
                <a:latin typeface="Arial" panose="020B0604020202020204" pitchFamily="34" charset="0"/>
              </a:rPr>
              <a:t> for each phase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longer rollout period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Disadvantages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Can cause </a:t>
            </a:r>
            <a:r>
              <a:rPr kumimoji="0" lang="en-US" altLang="en-US" sz="1800" b="1" i="0" u="none" strike="noStrike" cap="none" normalizeH="0" baseline="0" dirty="0">
                <a:ln>
                  <a:noFill/>
                </a:ln>
                <a:solidFill>
                  <a:schemeClr val="tx1"/>
                </a:solidFill>
                <a:effectLst/>
                <a:latin typeface="Arial" panose="020B0604020202020204" pitchFamily="34" charset="0"/>
              </a:rPr>
              <a:t>user frustration and confusion</a:t>
            </a:r>
            <a:r>
              <a:rPr kumimoji="0" lang="en-US" altLang="en-US" sz="1800" b="0" i="0" u="none" strike="noStrike" cap="none" normalizeH="0" baseline="0" dirty="0">
                <a:ln>
                  <a:noFill/>
                </a:ln>
                <a:solidFill>
                  <a:schemeClr val="tx1"/>
                </a:solidFill>
                <a:effectLst/>
                <a:latin typeface="Arial" panose="020B0604020202020204" pitchFamily="34" charset="0"/>
              </a:rPr>
              <a:t> due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to ongoing changes.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0709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316BA97B-A693-F06D-6661-8AF6D2965C4A}"/>
              </a:ext>
            </a:extLst>
          </p:cNvPr>
          <p:cNvSpPr>
            <a:spLocks noGrp="1"/>
          </p:cNvSpPr>
          <p:nvPr>
            <p:ph type="title"/>
          </p:nvPr>
        </p:nvSpPr>
        <p:spPr>
          <a:xfrm>
            <a:off x="5496821" y="1371600"/>
            <a:ext cx="6034187" cy="1097280"/>
          </a:xfrm>
        </p:spPr>
        <p:txBody>
          <a:bodyPr>
            <a:normAutofit/>
          </a:bodyPr>
          <a:lstStyle/>
          <a:p>
            <a:r>
              <a:rPr lang="en-MY" dirty="0"/>
              <a:t>System Acceptance Test</a:t>
            </a:r>
          </a:p>
        </p:txBody>
      </p:sp>
      <p:pic>
        <p:nvPicPr>
          <p:cNvPr id="8" name="Picture 7" descr="A hand holding a pen and shading circles on a sheet">
            <a:extLst>
              <a:ext uri="{FF2B5EF4-FFF2-40B4-BE49-F238E27FC236}">
                <a16:creationId xmlns:a16="http://schemas.microsoft.com/office/drawing/2014/main" id="{6CB06FA1-E7E7-E476-4AD6-F55952D759EB}"/>
              </a:ext>
            </a:extLst>
          </p:cNvPr>
          <p:cNvPicPr>
            <a:picLocks noChangeAspect="1"/>
          </p:cNvPicPr>
          <p:nvPr/>
        </p:nvPicPr>
        <p:blipFill>
          <a:blip r:embed="rId2"/>
          <a:srcRect l="41605" r="17133" b="-1"/>
          <a:stretch>
            <a:fillRect/>
          </a:stretch>
        </p:blipFill>
        <p:spPr>
          <a:xfrm>
            <a:off x="20" y="10"/>
            <a:ext cx="4857871" cy="6857990"/>
          </a:xfrm>
          <a:prstGeom prst="rect">
            <a:avLst/>
          </a:prstGeom>
        </p:spPr>
      </p:pic>
      <p:cxnSp>
        <p:nvCxnSpPr>
          <p:cNvPr id="14" name="Straight Connector 13">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FEE5692C-386E-D88F-3053-32122F6FBE0C}"/>
              </a:ext>
            </a:extLst>
          </p:cNvPr>
          <p:cNvSpPr>
            <a:spLocks noGrp="1"/>
          </p:cNvSpPr>
          <p:nvPr>
            <p:ph idx="1"/>
          </p:nvPr>
        </p:nvSpPr>
        <p:spPr>
          <a:xfrm>
            <a:off x="5496821" y="2633236"/>
            <a:ext cx="6034187" cy="3664687"/>
          </a:xfrm>
        </p:spPr>
        <p:txBody>
          <a:bodyPr>
            <a:normAutofit/>
          </a:bodyPr>
          <a:lstStyle/>
          <a:p>
            <a:pPr>
              <a:lnSpc>
                <a:spcPct val="110000"/>
              </a:lnSpc>
            </a:pPr>
            <a:r>
              <a:rPr lang="en-US" sz="1400" dirty="0"/>
              <a:t>A </a:t>
            </a:r>
            <a:r>
              <a:rPr lang="en-US" sz="1400" b="1" dirty="0"/>
              <a:t>final evaluation</a:t>
            </a:r>
            <a:r>
              <a:rPr lang="en-US" sz="1400" dirty="0"/>
              <a:t> before officially adopting the new system.</a:t>
            </a:r>
          </a:p>
          <a:p>
            <a:pPr>
              <a:lnSpc>
                <a:spcPct val="110000"/>
              </a:lnSpc>
            </a:pPr>
            <a:r>
              <a:rPr lang="en-US" sz="1400" dirty="0"/>
              <a:t>Involves </a:t>
            </a:r>
            <a:r>
              <a:rPr lang="en-US" sz="1400" b="1" dirty="0"/>
              <a:t>end users, management, and IT operations</a:t>
            </a:r>
            <a:r>
              <a:rPr lang="en-US" sz="1400" dirty="0"/>
              <a:t>.</a:t>
            </a:r>
          </a:p>
          <a:p>
            <a:pPr>
              <a:lnSpc>
                <a:spcPct val="110000"/>
              </a:lnSpc>
            </a:pPr>
            <a:r>
              <a:rPr lang="en-US" sz="1400" dirty="0"/>
              <a:t>Determines whether to </a:t>
            </a:r>
            <a:r>
              <a:rPr lang="en-US" sz="1400" b="1" dirty="0"/>
              <a:t>accept or reject</a:t>
            </a:r>
            <a:r>
              <a:rPr lang="en-US" sz="1400" dirty="0"/>
              <a:t> the system.</a:t>
            </a:r>
          </a:p>
          <a:p>
            <a:pPr>
              <a:lnSpc>
                <a:spcPct val="110000"/>
              </a:lnSpc>
            </a:pPr>
            <a:r>
              <a:rPr lang="en-US" sz="1400" dirty="0"/>
              <a:t>Conducted on the </a:t>
            </a:r>
            <a:r>
              <a:rPr lang="en-US" sz="1400" b="1" dirty="0"/>
              <a:t>completed system</a:t>
            </a:r>
            <a:r>
              <a:rPr lang="en-US" sz="1400" dirty="0"/>
              <a:t>.</a:t>
            </a:r>
          </a:p>
          <a:p>
            <a:pPr marL="0" indent="0">
              <a:lnSpc>
                <a:spcPct val="110000"/>
              </a:lnSpc>
              <a:buNone/>
            </a:pPr>
            <a:r>
              <a:rPr lang="en-US" sz="1400" b="1" dirty="0"/>
              <a:t>Includes Three Levels of Testing:</a:t>
            </a:r>
          </a:p>
          <a:p>
            <a:pPr>
              <a:lnSpc>
                <a:spcPct val="110000"/>
              </a:lnSpc>
            </a:pPr>
            <a:r>
              <a:rPr lang="en-US" sz="1400" b="1" dirty="0"/>
              <a:t>Verification Testing</a:t>
            </a:r>
            <a:r>
              <a:rPr lang="en-US" sz="1400" dirty="0"/>
              <a:t> – Ensures the system meets all specified requirements.</a:t>
            </a:r>
          </a:p>
          <a:p>
            <a:pPr>
              <a:lnSpc>
                <a:spcPct val="110000"/>
              </a:lnSpc>
            </a:pPr>
            <a:r>
              <a:rPr lang="en-US" sz="1400" b="1" dirty="0"/>
              <a:t>Validation Testing</a:t>
            </a:r>
            <a:r>
              <a:rPr lang="en-US" sz="1400" dirty="0"/>
              <a:t> – Confirms the system performs correctly in real-world scenarios.</a:t>
            </a:r>
          </a:p>
          <a:p>
            <a:pPr>
              <a:lnSpc>
                <a:spcPct val="110000"/>
              </a:lnSpc>
            </a:pPr>
            <a:r>
              <a:rPr lang="en-US" sz="1400" b="1" dirty="0"/>
              <a:t>Audit Testing</a:t>
            </a:r>
            <a:r>
              <a:rPr lang="en-US" sz="1400" dirty="0"/>
              <a:t> – Checks system accuracy, security, and compliance with policies.</a:t>
            </a:r>
          </a:p>
          <a:p>
            <a:pPr>
              <a:lnSpc>
                <a:spcPct val="110000"/>
              </a:lnSpc>
            </a:pPr>
            <a:endParaRPr lang="en-MY" sz="1400" dirty="0"/>
          </a:p>
        </p:txBody>
      </p:sp>
    </p:spTree>
    <p:extLst>
      <p:ext uri="{BB962C8B-B14F-4D97-AF65-F5344CB8AC3E}">
        <p14:creationId xmlns:p14="http://schemas.microsoft.com/office/powerpoint/2010/main" val="19968323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63B7F1-DA94-D440-77E8-E2284A465F67}"/>
              </a:ext>
            </a:extLst>
          </p:cNvPr>
          <p:cNvSpPr>
            <a:spLocks noGrp="1"/>
          </p:cNvSpPr>
          <p:nvPr>
            <p:ph idx="1"/>
          </p:nvPr>
        </p:nvSpPr>
        <p:spPr>
          <a:xfrm>
            <a:off x="640080" y="984738"/>
            <a:ext cx="10890928" cy="5214894"/>
          </a:xfrm>
        </p:spPr>
        <p:txBody>
          <a:bodyPr>
            <a:normAutofit fontScale="85000" lnSpcReduction="10000"/>
          </a:bodyPr>
          <a:lstStyle/>
          <a:p>
            <a:r>
              <a:rPr lang="en-US" sz="2200" b="1" i="1" dirty="0"/>
              <a:t>Verification testing </a:t>
            </a:r>
            <a:endParaRPr lang="en-MY" sz="2200" b="1" dirty="0"/>
          </a:p>
          <a:p>
            <a:pPr lvl="1"/>
            <a:r>
              <a:rPr lang="en-US" sz="1900" dirty="0"/>
              <a:t>also refers to alpha testing. </a:t>
            </a:r>
          </a:p>
          <a:p>
            <a:pPr lvl="1"/>
            <a:r>
              <a:rPr lang="en-US" sz="1900" dirty="0"/>
              <a:t>This testing runs the system in a simulated environment using simulated data. It’s looking for errors and omissions regarding end users and design specifications that were specified in the earlier phase of testing.</a:t>
            </a:r>
            <a:endParaRPr lang="en-MY" sz="1900" dirty="0"/>
          </a:p>
          <a:p>
            <a:pPr marL="0" indent="0">
              <a:buNone/>
            </a:pPr>
            <a:r>
              <a:rPr lang="en-US" sz="2200" i="1" dirty="0"/>
              <a:t> </a:t>
            </a:r>
            <a:endParaRPr lang="en-MY" sz="2200" dirty="0"/>
          </a:p>
          <a:p>
            <a:r>
              <a:rPr lang="en-US" sz="2200" b="1" i="1" dirty="0"/>
              <a:t>Validation testing</a:t>
            </a:r>
            <a:endParaRPr lang="en-MY" sz="2200" b="1" dirty="0"/>
          </a:p>
          <a:p>
            <a:pPr lvl="1"/>
            <a:r>
              <a:rPr lang="en-US" sz="1900" dirty="0"/>
              <a:t>also refers to beta testing. This testing runs the system in a live environment using real data. A number of items tested during this testing such as:</a:t>
            </a:r>
            <a:endParaRPr lang="en-MY" sz="1900" dirty="0"/>
          </a:p>
          <a:p>
            <a:pPr lvl="2"/>
            <a:r>
              <a:rPr lang="en-US" sz="1700" dirty="0"/>
              <a:t>system performance </a:t>
            </a:r>
            <a:endParaRPr lang="en-MY" sz="1700" dirty="0"/>
          </a:p>
          <a:p>
            <a:pPr lvl="2"/>
            <a:r>
              <a:rPr lang="en-US" sz="1700" dirty="0"/>
              <a:t>peak workload processing performance</a:t>
            </a:r>
            <a:endParaRPr lang="en-MY" sz="1700" dirty="0"/>
          </a:p>
          <a:p>
            <a:pPr lvl="2"/>
            <a:r>
              <a:rPr lang="en-US" sz="1700" dirty="0"/>
              <a:t>human engineering test</a:t>
            </a:r>
            <a:endParaRPr lang="en-MY" sz="1700" dirty="0"/>
          </a:p>
          <a:p>
            <a:pPr lvl="2"/>
            <a:r>
              <a:rPr lang="en-US" sz="1700" dirty="0"/>
              <a:t>methods and procedures test</a:t>
            </a:r>
            <a:endParaRPr lang="en-MY" sz="1700" dirty="0"/>
          </a:p>
          <a:p>
            <a:pPr lvl="2"/>
            <a:r>
              <a:rPr lang="en-US" sz="1700" dirty="0"/>
              <a:t>backup and recovery testing</a:t>
            </a:r>
            <a:endParaRPr lang="en-MY" sz="1700" dirty="0"/>
          </a:p>
          <a:p>
            <a:r>
              <a:rPr lang="en-US" sz="2200" dirty="0"/>
              <a:t> </a:t>
            </a:r>
            <a:r>
              <a:rPr lang="en-US" sz="2200" b="1" i="1" dirty="0"/>
              <a:t>Audit testing</a:t>
            </a:r>
            <a:endParaRPr lang="en-MY" sz="2200" b="1" dirty="0"/>
          </a:p>
          <a:p>
            <a:pPr lvl="1"/>
            <a:r>
              <a:rPr lang="en-US" sz="1900" dirty="0"/>
              <a:t>is a test performed to ensure that the system is free from any errors and ready to be placed at the real location.</a:t>
            </a:r>
            <a:endParaRPr lang="en-MY" sz="1900" dirty="0"/>
          </a:p>
          <a:p>
            <a:pPr marL="0" indent="0">
              <a:buNone/>
            </a:pPr>
            <a:endParaRPr lang="en-MY" dirty="0"/>
          </a:p>
        </p:txBody>
      </p:sp>
    </p:spTree>
    <p:extLst>
      <p:ext uri="{BB962C8B-B14F-4D97-AF65-F5344CB8AC3E}">
        <p14:creationId xmlns:p14="http://schemas.microsoft.com/office/powerpoint/2010/main" val="2770735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DEEC-01A3-99DF-5986-144EBD7C1F8D}"/>
              </a:ext>
            </a:extLst>
          </p:cNvPr>
          <p:cNvSpPr>
            <a:spLocks noGrp="1"/>
          </p:cNvSpPr>
          <p:nvPr>
            <p:ph type="title"/>
          </p:nvPr>
        </p:nvSpPr>
        <p:spPr/>
        <p:txBody>
          <a:bodyPr/>
          <a:lstStyle/>
          <a:p>
            <a:r>
              <a:rPr lang="en-US" dirty="0"/>
              <a:t>Exercise</a:t>
            </a:r>
            <a:endParaRPr lang="en-MY" dirty="0"/>
          </a:p>
        </p:txBody>
      </p:sp>
      <p:sp>
        <p:nvSpPr>
          <p:cNvPr id="3" name="Content Placeholder 2">
            <a:extLst>
              <a:ext uri="{FF2B5EF4-FFF2-40B4-BE49-F238E27FC236}">
                <a16:creationId xmlns:a16="http://schemas.microsoft.com/office/drawing/2014/main" id="{2898C45E-4C79-4F36-0D3F-4E65E90CBAA9}"/>
              </a:ext>
            </a:extLst>
          </p:cNvPr>
          <p:cNvSpPr>
            <a:spLocks noGrp="1"/>
          </p:cNvSpPr>
          <p:nvPr>
            <p:ph idx="1"/>
          </p:nvPr>
        </p:nvSpPr>
        <p:spPr/>
        <p:txBody>
          <a:bodyPr>
            <a:normAutofit fontScale="85000" lnSpcReduction="10000"/>
          </a:bodyPr>
          <a:lstStyle/>
          <a:p>
            <a:pPr marL="0" indent="0">
              <a:buNone/>
            </a:pPr>
            <a:r>
              <a:rPr lang="en-US" i="1" dirty="0"/>
              <a:t>Answer TRUE or for FALSE for each of the questions below.</a:t>
            </a:r>
            <a:endParaRPr lang="en-MY" dirty="0"/>
          </a:p>
          <a:p>
            <a:pPr marL="457200" lvl="0" indent="-457200">
              <a:buFont typeface="+mj-lt"/>
              <a:buAutoNum type="arabicPeriod"/>
            </a:pPr>
            <a:r>
              <a:rPr lang="en-US" dirty="0"/>
              <a:t>There are four approaches of installation that can be chosen by organizations; direct, parallel, single-location and phased installation. </a:t>
            </a:r>
            <a:endParaRPr lang="en-MY" dirty="0"/>
          </a:p>
          <a:p>
            <a:pPr marL="457200" lvl="0" indent="-457200">
              <a:buFont typeface="+mj-lt"/>
              <a:buAutoNum type="arabicPeriod"/>
            </a:pPr>
            <a:r>
              <a:rPr lang="en-US" dirty="0"/>
              <a:t>Single-location installation is when both system; old and new system are operating at the same time until the management decide that the old system can be turned off. </a:t>
            </a:r>
            <a:endParaRPr lang="en-MY" dirty="0"/>
          </a:p>
          <a:p>
            <a:pPr marL="457200" lvl="0" indent="-457200">
              <a:buFont typeface="+mj-lt"/>
              <a:buAutoNum type="arabicPeriod"/>
            </a:pPr>
            <a:r>
              <a:rPr lang="en-US" dirty="0"/>
              <a:t>Phase installation is known as incremental approach where a new system is installed by module. </a:t>
            </a:r>
            <a:endParaRPr lang="en-MY" dirty="0"/>
          </a:p>
          <a:p>
            <a:pPr marL="457200" lvl="0" indent="-457200">
              <a:buFont typeface="+mj-lt"/>
              <a:buAutoNum type="arabicPeriod"/>
            </a:pPr>
            <a:r>
              <a:rPr lang="en-US" dirty="0"/>
              <a:t>Verification testing is a test that runs the system in a simulated environment using simulated data. </a:t>
            </a:r>
            <a:endParaRPr lang="en-MY" dirty="0"/>
          </a:p>
          <a:p>
            <a:pPr marL="457200" lvl="0" indent="-457200">
              <a:buFont typeface="+mj-lt"/>
              <a:buAutoNum type="arabicPeriod"/>
            </a:pPr>
            <a:r>
              <a:rPr lang="en-US" dirty="0"/>
              <a:t>There is a need to conduct system acceptance test since we can make a final decision about the system. </a:t>
            </a:r>
            <a:endParaRPr lang="en-MY" dirty="0"/>
          </a:p>
          <a:p>
            <a:endParaRPr lang="en-MY" dirty="0"/>
          </a:p>
        </p:txBody>
      </p:sp>
    </p:spTree>
    <p:extLst>
      <p:ext uri="{BB962C8B-B14F-4D97-AF65-F5344CB8AC3E}">
        <p14:creationId xmlns:p14="http://schemas.microsoft.com/office/powerpoint/2010/main" val="3437443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1B5B28-FC91-C747-C2C4-2F54E8654375}"/>
              </a:ext>
            </a:extLst>
          </p:cNvPr>
          <p:cNvSpPr>
            <a:spLocks noGrp="1"/>
          </p:cNvSpPr>
          <p:nvPr>
            <p:ph type="title"/>
          </p:nvPr>
        </p:nvSpPr>
        <p:spPr>
          <a:xfrm>
            <a:off x="640080" y="1371600"/>
            <a:ext cx="5852160" cy="1097280"/>
          </a:xfrm>
        </p:spPr>
        <p:txBody>
          <a:bodyPr anchor="t">
            <a:normAutofit/>
          </a:bodyPr>
          <a:lstStyle/>
          <a:p>
            <a:pPr>
              <a:lnSpc>
                <a:spcPct val="90000"/>
              </a:lnSpc>
            </a:pPr>
            <a:r>
              <a:rPr lang="en-MY" sz="3400"/>
              <a:t>DOCUMENTING THE SYSTEM</a:t>
            </a:r>
            <a:br>
              <a:rPr lang="en-MY" sz="3400"/>
            </a:br>
            <a:endParaRPr lang="en-MY" sz="340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8D96835-E502-F74D-AD8B-E30FAE6BCF00}"/>
              </a:ext>
            </a:extLst>
          </p:cNvPr>
          <p:cNvSpPr>
            <a:spLocks noGrp="1"/>
          </p:cNvSpPr>
          <p:nvPr>
            <p:ph idx="1"/>
          </p:nvPr>
        </p:nvSpPr>
        <p:spPr>
          <a:xfrm>
            <a:off x="640080" y="2633236"/>
            <a:ext cx="5852160" cy="3664685"/>
          </a:xfrm>
        </p:spPr>
        <p:txBody>
          <a:bodyPr>
            <a:normAutofit/>
          </a:bodyPr>
          <a:lstStyle/>
          <a:p>
            <a:r>
              <a:rPr lang="en-US" dirty="0"/>
              <a:t>Every system development is unique and need unique documentation. There are two basic types of documentation; system documentation and user documentation. </a:t>
            </a:r>
            <a:endParaRPr lang="en-MY" dirty="0"/>
          </a:p>
          <a:p>
            <a:endParaRPr lang="en-MY" dirty="0"/>
          </a:p>
        </p:txBody>
      </p:sp>
      <p:pic>
        <p:nvPicPr>
          <p:cNvPr id="5" name="Picture 4" descr="Different colored organizers">
            <a:extLst>
              <a:ext uri="{FF2B5EF4-FFF2-40B4-BE49-F238E27FC236}">
                <a16:creationId xmlns:a16="http://schemas.microsoft.com/office/drawing/2014/main" id="{95A91637-3E1C-EB75-D0BD-762676334E1D}"/>
              </a:ext>
            </a:extLst>
          </p:cNvPr>
          <p:cNvPicPr>
            <a:picLocks noChangeAspect="1"/>
          </p:cNvPicPr>
          <p:nvPr/>
        </p:nvPicPr>
        <p:blipFill>
          <a:blip r:embed="rId2"/>
          <a:srcRect l="28677" r="2857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638356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2A747-01F3-8008-3CFC-795E83638103}"/>
              </a:ext>
            </a:extLst>
          </p:cNvPr>
          <p:cNvSpPr>
            <a:spLocks noGrp="1"/>
          </p:cNvSpPr>
          <p:nvPr>
            <p:ph type="title"/>
          </p:nvPr>
        </p:nvSpPr>
        <p:spPr>
          <a:xfrm>
            <a:off x="640079" y="330592"/>
            <a:ext cx="10890929" cy="1097280"/>
          </a:xfrm>
        </p:spPr>
        <p:txBody>
          <a:bodyPr/>
          <a:lstStyle/>
          <a:p>
            <a:r>
              <a:rPr lang="en-MY" dirty="0"/>
              <a:t>System documentation </a:t>
            </a:r>
          </a:p>
        </p:txBody>
      </p:sp>
      <p:sp>
        <p:nvSpPr>
          <p:cNvPr id="3" name="Content Placeholder 2">
            <a:extLst>
              <a:ext uri="{FF2B5EF4-FFF2-40B4-BE49-F238E27FC236}">
                <a16:creationId xmlns:a16="http://schemas.microsoft.com/office/drawing/2014/main" id="{1ECDDB7E-5917-983A-2D40-26FF5BADF8C4}"/>
              </a:ext>
            </a:extLst>
          </p:cNvPr>
          <p:cNvSpPr>
            <a:spLocks noGrp="1"/>
          </p:cNvSpPr>
          <p:nvPr>
            <p:ph idx="1"/>
          </p:nvPr>
        </p:nvSpPr>
        <p:spPr>
          <a:xfrm>
            <a:off x="640080" y="1561514"/>
            <a:ext cx="10890928" cy="4638118"/>
          </a:xfrm>
        </p:spPr>
        <p:txBody>
          <a:bodyPr>
            <a:normAutofit fontScale="92500" lnSpcReduction="20000"/>
          </a:bodyPr>
          <a:lstStyle/>
          <a:p>
            <a:r>
              <a:rPr lang="en-US" sz="2600" dirty="0"/>
              <a:t>records detailed information about system’s design specification, its internal workings and its functionality (Hoffer et. al., 2005).</a:t>
            </a:r>
          </a:p>
          <a:p>
            <a:r>
              <a:rPr lang="en-US" sz="2600" dirty="0"/>
              <a:t>is prepared for maintenance person who will in charge the system operating in the future. System documentation can be divided to internal and external documentation. </a:t>
            </a:r>
          </a:p>
          <a:p>
            <a:pPr lvl="1"/>
            <a:r>
              <a:rPr lang="en-US" sz="2200" b="1" dirty="0"/>
              <a:t>Internal documentation</a:t>
            </a:r>
          </a:p>
          <a:p>
            <a:pPr lvl="2"/>
            <a:r>
              <a:rPr lang="en-US" sz="1900" dirty="0"/>
              <a:t>Internal documentation is part of the program source code or is generated at compile time</a:t>
            </a:r>
          </a:p>
          <a:p>
            <a:pPr lvl="1"/>
            <a:r>
              <a:rPr lang="en-US" sz="2200" b="1" dirty="0"/>
              <a:t>External documentation</a:t>
            </a:r>
          </a:p>
          <a:p>
            <a:pPr lvl="2"/>
            <a:r>
              <a:rPr lang="en-US" sz="1900" dirty="0"/>
              <a:t>External documentation is a system documentation that includes the outcome of structured diagramming techniques such as data flow and entity-relationship diagrams. Although it don’t cover the code itself, but it can provide useful information to the primary users of system documentation-maintenance programmer</a:t>
            </a:r>
          </a:p>
          <a:p>
            <a:endParaRPr lang="en-MY" dirty="0"/>
          </a:p>
        </p:txBody>
      </p:sp>
    </p:spTree>
    <p:extLst>
      <p:ext uri="{BB962C8B-B14F-4D97-AF65-F5344CB8AC3E}">
        <p14:creationId xmlns:p14="http://schemas.microsoft.com/office/powerpoint/2010/main" val="2897539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44609-62B3-5B1F-D6CB-70D7A2AC03A9}"/>
              </a:ext>
            </a:extLst>
          </p:cNvPr>
          <p:cNvSpPr>
            <a:spLocks noGrp="1"/>
          </p:cNvSpPr>
          <p:nvPr>
            <p:ph type="title"/>
          </p:nvPr>
        </p:nvSpPr>
        <p:spPr/>
        <p:txBody>
          <a:bodyPr/>
          <a:lstStyle/>
          <a:p>
            <a:r>
              <a:rPr lang="en-US" dirty="0"/>
              <a:t>User Documentation</a:t>
            </a:r>
            <a:endParaRPr lang="en-MY" dirty="0"/>
          </a:p>
        </p:txBody>
      </p:sp>
      <p:sp>
        <p:nvSpPr>
          <p:cNvPr id="3" name="Content Placeholder 2">
            <a:extLst>
              <a:ext uri="{FF2B5EF4-FFF2-40B4-BE49-F238E27FC236}">
                <a16:creationId xmlns:a16="http://schemas.microsoft.com/office/drawing/2014/main" id="{AF59469C-F7D3-EA50-E5DA-331E3EB90802}"/>
              </a:ext>
            </a:extLst>
          </p:cNvPr>
          <p:cNvSpPr>
            <a:spLocks noGrp="1"/>
          </p:cNvSpPr>
          <p:nvPr>
            <p:ph idx="1"/>
          </p:nvPr>
        </p:nvSpPr>
        <p:spPr>
          <a:xfrm>
            <a:off x="640080" y="2236763"/>
            <a:ext cx="10890928" cy="3962869"/>
          </a:xfrm>
        </p:spPr>
        <p:txBody>
          <a:bodyPr>
            <a:normAutofit/>
          </a:bodyPr>
          <a:lstStyle/>
          <a:p>
            <a:r>
              <a:rPr lang="en-US" dirty="0"/>
              <a:t>is intended for system maintenance programmer; user documentation is intended for system users. User documentation consists of written and visual information about the system, such as what its function, how its function and how to use it. There are few types of user documentations; </a:t>
            </a:r>
            <a:endParaRPr lang="en-MY" dirty="0"/>
          </a:p>
          <a:p>
            <a:pPr lvl="1"/>
            <a:r>
              <a:rPr lang="en-US" b="1" dirty="0"/>
              <a:t>reference guide </a:t>
            </a:r>
            <a:r>
              <a:rPr lang="en-US" dirty="0"/>
              <a:t>- consist of exhaustive list of system functions and commands</a:t>
            </a:r>
            <a:endParaRPr lang="en-MY" dirty="0"/>
          </a:p>
          <a:p>
            <a:pPr lvl="1"/>
            <a:r>
              <a:rPr lang="en-US" b="1" dirty="0"/>
              <a:t>quick reference guide </a:t>
            </a:r>
            <a:r>
              <a:rPr lang="en-US" dirty="0"/>
              <a:t>- provide essential information about operating a system in a short, concise format</a:t>
            </a:r>
            <a:endParaRPr lang="en-MY" dirty="0"/>
          </a:p>
          <a:p>
            <a:pPr lvl="1"/>
            <a:r>
              <a:rPr lang="en-US" b="1" dirty="0"/>
              <a:t>user’s guide </a:t>
            </a:r>
            <a:r>
              <a:rPr lang="en-US" dirty="0"/>
              <a:t>- provide information on how users can use a computer system to perform specific tasks. </a:t>
            </a:r>
            <a:endParaRPr lang="en-MY" dirty="0"/>
          </a:p>
          <a:p>
            <a:endParaRPr lang="en-MY" dirty="0"/>
          </a:p>
        </p:txBody>
      </p:sp>
    </p:spTree>
    <p:extLst>
      <p:ext uri="{BB962C8B-B14F-4D97-AF65-F5344CB8AC3E}">
        <p14:creationId xmlns:p14="http://schemas.microsoft.com/office/powerpoint/2010/main" val="3578062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C06F9-C00A-1BE4-C72D-49F148F3715C}"/>
              </a:ext>
            </a:extLst>
          </p:cNvPr>
          <p:cNvSpPr>
            <a:spLocks noGrp="1"/>
          </p:cNvSpPr>
          <p:nvPr>
            <p:ph type="title"/>
          </p:nvPr>
        </p:nvSpPr>
        <p:spPr/>
        <p:txBody>
          <a:bodyPr/>
          <a:lstStyle/>
          <a:p>
            <a:r>
              <a:rPr lang="en-US" dirty="0"/>
              <a:t>Exercises</a:t>
            </a:r>
            <a:endParaRPr lang="en-MY" dirty="0"/>
          </a:p>
        </p:txBody>
      </p:sp>
      <p:sp>
        <p:nvSpPr>
          <p:cNvPr id="3" name="Content Placeholder 2">
            <a:extLst>
              <a:ext uri="{FF2B5EF4-FFF2-40B4-BE49-F238E27FC236}">
                <a16:creationId xmlns:a16="http://schemas.microsoft.com/office/drawing/2014/main" id="{2C06C6B5-701A-81B3-E9EE-93C217A68661}"/>
              </a:ext>
            </a:extLst>
          </p:cNvPr>
          <p:cNvSpPr>
            <a:spLocks noGrp="1"/>
          </p:cNvSpPr>
          <p:nvPr>
            <p:ph idx="1"/>
          </p:nvPr>
        </p:nvSpPr>
        <p:spPr/>
        <p:txBody>
          <a:bodyPr>
            <a:normAutofit fontScale="92500" lnSpcReduction="20000"/>
          </a:bodyPr>
          <a:lstStyle/>
          <a:p>
            <a:pPr marL="0" indent="0">
              <a:buNone/>
            </a:pPr>
            <a:r>
              <a:rPr lang="en-US" i="1" dirty="0"/>
              <a:t>Answer TRUE or for FALSE for each of the questions below.</a:t>
            </a:r>
            <a:endParaRPr lang="en-MY" dirty="0"/>
          </a:p>
          <a:p>
            <a:pPr marL="457200" lvl="0" indent="-457200">
              <a:buFont typeface="+mj-lt"/>
              <a:buAutoNum type="arabicPeriod"/>
            </a:pPr>
            <a:r>
              <a:rPr lang="en-US" dirty="0"/>
              <a:t>System documentation is a documentation prepared in order to assist users about the system. </a:t>
            </a:r>
            <a:endParaRPr lang="en-MY" dirty="0"/>
          </a:p>
          <a:p>
            <a:pPr marL="457200" lvl="0" indent="-457200">
              <a:buFont typeface="+mj-lt"/>
              <a:buAutoNum type="arabicPeriod"/>
            </a:pPr>
            <a:r>
              <a:rPr lang="en-US" dirty="0"/>
              <a:t>Each system requires same documentation. </a:t>
            </a:r>
            <a:endParaRPr lang="en-MY" dirty="0"/>
          </a:p>
          <a:p>
            <a:pPr marL="457200" lvl="0" indent="-457200">
              <a:buFont typeface="+mj-lt"/>
              <a:buAutoNum type="arabicPeriod"/>
            </a:pPr>
            <a:r>
              <a:rPr lang="en-US" dirty="0"/>
              <a:t>System documentation records detailed information about system’s design specification, its internal workings and its functionality.  </a:t>
            </a:r>
            <a:endParaRPr lang="en-MY" dirty="0"/>
          </a:p>
          <a:p>
            <a:pPr marL="457200" lvl="0" indent="-457200">
              <a:buFont typeface="+mj-lt"/>
              <a:buAutoNum type="arabicPeriod"/>
            </a:pPr>
            <a:r>
              <a:rPr lang="en-US" dirty="0"/>
              <a:t>External documentation is part of the documentation contains program source code or is generated at compile time. </a:t>
            </a:r>
            <a:endParaRPr lang="en-MY" dirty="0"/>
          </a:p>
          <a:p>
            <a:pPr marL="457200" lvl="0" indent="-457200">
              <a:buFont typeface="+mj-lt"/>
              <a:buAutoNum type="arabicPeriod"/>
            </a:pPr>
            <a:r>
              <a:rPr lang="en-US" dirty="0"/>
              <a:t>System documentation is for system maintenance programmer and user documentation is for system users. </a:t>
            </a:r>
            <a:endParaRPr lang="en-MY" dirty="0"/>
          </a:p>
          <a:p>
            <a:endParaRPr lang="en-MY" dirty="0"/>
          </a:p>
        </p:txBody>
      </p:sp>
    </p:spTree>
    <p:extLst>
      <p:ext uri="{BB962C8B-B14F-4D97-AF65-F5344CB8AC3E}">
        <p14:creationId xmlns:p14="http://schemas.microsoft.com/office/powerpoint/2010/main" val="3954154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A14F7-8118-9E7E-966D-F0FD15296669}"/>
              </a:ext>
            </a:extLst>
          </p:cNvPr>
          <p:cNvSpPr>
            <a:spLocks noGrp="1"/>
          </p:cNvSpPr>
          <p:nvPr>
            <p:ph type="title"/>
          </p:nvPr>
        </p:nvSpPr>
        <p:spPr>
          <a:xfrm>
            <a:off x="640079" y="109728"/>
            <a:ext cx="10890929" cy="1097280"/>
          </a:xfrm>
        </p:spPr>
        <p:txBody>
          <a:bodyPr/>
          <a:lstStyle/>
          <a:p>
            <a:r>
              <a:rPr lang="en-US" dirty="0"/>
              <a:t>Training</a:t>
            </a:r>
            <a:endParaRPr lang="en-MY" dirty="0"/>
          </a:p>
        </p:txBody>
      </p:sp>
      <p:sp>
        <p:nvSpPr>
          <p:cNvPr id="3" name="Content Placeholder 2">
            <a:extLst>
              <a:ext uri="{FF2B5EF4-FFF2-40B4-BE49-F238E27FC236}">
                <a16:creationId xmlns:a16="http://schemas.microsoft.com/office/drawing/2014/main" id="{70ED3499-51D6-066C-CB3D-DF2F62F3D345}"/>
              </a:ext>
            </a:extLst>
          </p:cNvPr>
          <p:cNvSpPr>
            <a:spLocks noGrp="1"/>
          </p:cNvSpPr>
          <p:nvPr>
            <p:ph idx="1"/>
          </p:nvPr>
        </p:nvSpPr>
        <p:spPr>
          <a:xfrm>
            <a:off x="640080" y="1547446"/>
            <a:ext cx="10890928" cy="4652186"/>
          </a:xfrm>
        </p:spPr>
        <p:txBody>
          <a:bodyPr>
            <a:normAutofit lnSpcReduction="10000"/>
          </a:bodyPr>
          <a:lstStyle/>
          <a:p>
            <a:r>
              <a:rPr lang="en-US" b="1" dirty="0"/>
              <a:t>Documentation</a:t>
            </a:r>
            <a:r>
              <a:rPr lang="en-US" dirty="0"/>
              <a:t> helps users throughout the system’s life cycle, but </a:t>
            </a:r>
            <a:r>
              <a:rPr lang="en-US" b="1" dirty="0"/>
              <a:t>training is essential</a:t>
            </a:r>
            <a:r>
              <a:rPr lang="en-US" dirty="0"/>
              <a:t> when transitioning to a new system.</a:t>
            </a:r>
          </a:p>
          <a:p>
            <a:r>
              <a:rPr lang="en-US" b="1" dirty="0"/>
              <a:t>Training sessions</a:t>
            </a:r>
            <a:r>
              <a:rPr lang="en-US" dirty="0"/>
              <a:t> are usually supported by the prepared documentation.</a:t>
            </a:r>
          </a:p>
          <a:p>
            <a:r>
              <a:rPr lang="en-US" dirty="0"/>
              <a:t>Users must be </a:t>
            </a:r>
            <a:r>
              <a:rPr lang="en-US" b="1" dirty="0"/>
              <a:t>trained and guided</a:t>
            </a:r>
            <a:r>
              <a:rPr lang="en-US" dirty="0"/>
              <a:t> to use the new system effectively.</a:t>
            </a:r>
          </a:p>
          <a:p>
            <a:r>
              <a:rPr lang="en-US" b="1" dirty="0"/>
              <a:t>Training Methods:</a:t>
            </a:r>
          </a:p>
          <a:p>
            <a:pPr lvl="1"/>
            <a:r>
              <a:rPr lang="en-US" dirty="0"/>
              <a:t>Can be done </a:t>
            </a:r>
            <a:r>
              <a:rPr lang="en-US" b="1" dirty="0"/>
              <a:t>one-to-one</a:t>
            </a:r>
            <a:r>
              <a:rPr lang="en-US" dirty="0"/>
              <a:t>, but </a:t>
            </a:r>
            <a:r>
              <a:rPr lang="en-US" b="1" dirty="0"/>
              <a:t>group training is preferred</a:t>
            </a:r>
            <a:r>
              <a:rPr lang="en-US" dirty="0"/>
              <a:t>:</a:t>
            </a:r>
          </a:p>
          <a:p>
            <a:pPr lvl="2"/>
            <a:r>
              <a:rPr lang="en-US" b="1" dirty="0"/>
              <a:t>Saves time and cost</a:t>
            </a:r>
            <a:endParaRPr lang="en-US" dirty="0"/>
          </a:p>
          <a:p>
            <a:pPr lvl="2"/>
            <a:r>
              <a:rPr lang="en-US" b="1" dirty="0"/>
              <a:t>Encourages participation and feedback</a:t>
            </a:r>
            <a:endParaRPr lang="en-US" dirty="0"/>
          </a:p>
          <a:p>
            <a:r>
              <a:rPr lang="en-US" b="1" dirty="0"/>
              <a:t>Training Content Should Include:</a:t>
            </a:r>
          </a:p>
          <a:p>
            <a:pPr lvl="1"/>
            <a:r>
              <a:rPr lang="en-US" b="1" dirty="0"/>
              <a:t>System introduction</a:t>
            </a:r>
            <a:endParaRPr lang="en-US" dirty="0"/>
          </a:p>
          <a:p>
            <a:pPr lvl="1"/>
            <a:r>
              <a:rPr lang="en-US" b="1" dirty="0"/>
              <a:t>System manual or user guide</a:t>
            </a:r>
            <a:endParaRPr lang="en-US" dirty="0"/>
          </a:p>
          <a:p>
            <a:endParaRPr lang="en-MY" dirty="0"/>
          </a:p>
        </p:txBody>
      </p:sp>
    </p:spTree>
    <p:extLst>
      <p:ext uri="{BB962C8B-B14F-4D97-AF65-F5344CB8AC3E}">
        <p14:creationId xmlns:p14="http://schemas.microsoft.com/office/powerpoint/2010/main" val="2268080075"/>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61</TotalTime>
  <Words>2235</Words>
  <Application>Microsoft Office PowerPoint</Application>
  <PresentationFormat>Widescreen</PresentationFormat>
  <Paragraphs>242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Grandview Display</vt:lpstr>
      <vt:lpstr>Tahoma</vt:lpstr>
      <vt:lpstr>DashVTI</vt:lpstr>
      <vt:lpstr>Chapter 7</vt:lpstr>
      <vt:lpstr>The purpose of system implementation is  - to build a properly working system,  - install it in organization,  - replace and old systems,  - preparing system and user documentation and  -train users.   </vt:lpstr>
      <vt:lpstr>Terminology</vt:lpstr>
      <vt:lpstr>OVERVIEW OF SYSTEM IMPLEMENTATION </vt:lpstr>
      <vt:lpstr>Five Activities in the System Implementation Phase</vt:lpstr>
      <vt:lpstr>Coding</vt:lpstr>
      <vt:lpstr>Coding (Coding)-sub activities</vt:lpstr>
      <vt:lpstr>Coding (Coding)-sub activities</vt:lpstr>
      <vt:lpstr>PowerPoint Presentation</vt:lpstr>
      <vt:lpstr>SYSTEM TESTING  </vt:lpstr>
      <vt:lpstr>Unit Testing</vt:lpstr>
      <vt:lpstr>Integration Testing</vt:lpstr>
      <vt:lpstr>System Testing</vt:lpstr>
      <vt:lpstr>Exercise</vt:lpstr>
      <vt:lpstr>Installation</vt:lpstr>
      <vt:lpstr>Direct Installation</vt:lpstr>
      <vt:lpstr>Parallel Installation</vt:lpstr>
      <vt:lpstr>Single-location Installation</vt:lpstr>
      <vt:lpstr>Phased Installation </vt:lpstr>
      <vt:lpstr>System Acceptance Test</vt:lpstr>
      <vt:lpstr>PowerPoint Presentation</vt:lpstr>
      <vt:lpstr>Exercise</vt:lpstr>
      <vt:lpstr>DOCUMENTING THE SYSTEM </vt:lpstr>
      <vt:lpstr>System documentation </vt:lpstr>
      <vt:lpstr>User Documentation</vt:lpstr>
      <vt:lpstr>Exercises</vt:lpstr>
      <vt:lpstr>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AINITA BINTI BAN</dc:creator>
  <cp:lastModifiedBy>AINITA BINTI BAN</cp:lastModifiedBy>
  <cp:revision>2</cp:revision>
  <dcterms:created xsi:type="dcterms:W3CDTF">2025-06-20T07:10:04Z</dcterms:created>
  <dcterms:modified xsi:type="dcterms:W3CDTF">2025-06-20T08:11:05Z</dcterms:modified>
</cp:coreProperties>
</file>