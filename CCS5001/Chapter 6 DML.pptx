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97"/>
  </p:notesMasterIdLst>
  <p:handoutMasterIdLst>
    <p:handoutMasterId r:id="rId98"/>
  </p:handoutMasterIdLst>
  <p:sldIdLst>
    <p:sldId id="313" r:id="rId2"/>
    <p:sldId id="429" r:id="rId3"/>
    <p:sldId id="257" r:id="rId4"/>
    <p:sldId id="258" r:id="rId5"/>
    <p:sldId id="259" r:id="rId6"/>
    <p:sldId id="260" r:id="rId7"/>
    <p:sldId id="261" r:id="rId8"/>
    <p:sldId id="314" r:id="rId9"/>
    <p:sldId id="317" r:id="rId10"/>
    <p:sldId id="318" r:id="rId11"/>
    <p:sldId id="319" r:id="rId12"/>
    <p:sldId id="320" r:id="rId13"/>
    <p:sldId id="315" r:id="rId14"/>
    <p:sldId id="316" r:id="rId15"/>
    <p:sldId id="321" r:id="rId16"/>
    <p:sldId id="322" r:id="rId17"/>
    <p:sldId id="365" r:id="rId18"/>
    <p:sldId id="323" r:id="rId19"/>
    <p:sldId id="324" r:id="rId20"/>
    <p:sldId id="325" r:id="rId21"/>
    <p:sldId id="262" r:id="rId22"/>
    <p:sldId id="263" r:id="rId23"/>
    <p:sldId id="326" r:id="rId24"/>
    <p:sldId id="328" r:id="rId25"/>
    <p:sldId id="327" r:id="rId26"/>
    <p:sldId id="330" r:id="rId27"/>
    <p:sldId id="331" r:id="rId28"/>
    <p:sldId id="334" r:id="rId29"/>
    <p:sldId id="332" r:id="rId30"/>
    <p:sldId id="333" r:id="rId31"/>
    <p:sldId id="335" r:id="rId32"/>
    <p:sldId id="336" r:id="rId33"/>
    <p:sldId id="337" r:id="rId34"/>
    <p:sldId id="338" r:id="rId35"/>
    <p:sldId id="339" r:id="rId36"/>
    <p:sldId id="340" r:id="rId37"/>
    <p:sldId id="341" r:id="rId38"/>
    <p:sldId id="342" r:id="rId39"/>
    <p:sldId id="344" r:id="rId40"/>
    <p:sldId id="345" r:id="rId41"/>
    <p:sldId id="343" r:id="rId42"/>
    <p:sldId id="346" r:id="rId43"/>
    <p:sldId id="347" r:id="rId44"/>
    <p:sldId id="348" r:id="rId45"/>
    <p:sldId id="349" r:id="rId46"/>
    <p:sldId id="350" r:id="rId47"/>
    <p:sldId id="351" r:id="rId48"/>
    <p:sldId id="353" r:id="rId49"/>
    <p:sldId id="354" r:id="rId50"/>
    <p:sldId id="355" r:id="rId51"/>
    <p:sldId id="356" r:id="rId52"/>
    <p:sldId id="357" r:id="rId53"/>
    <p:sldId id="358" r:id="rId54"/>
    <p:sldId id="359" r:id="rId55"/>
    <p:sldId id="360" r:id="rId56"/>
    <p:sldId id="361" r:id="rId57"/>
    <p:sldId id="362" r:id="rId58"/>
    <p:sldId id="363" r:id="rId59"/>
    <p:sldId id="426" r:id="rId60"/>
    <p:sldId id="364" r:id="rId61"/>
    <p:sldId id="367" r:id="rId62"/>
    <p:sldId id="399" r:id="rId63"/>
    <p:sldId id="368" r:id="rId64"/>
    <p:sldId id="400" r:id="rId65"/>
    <p:sldId id="401" r:id="rId66"/>
    <p:sldId id="403" r:id="rId67"/>
    <p:sldId id="404" r:id="rId68"/>
    <p:sldId id="405" r:id="rId69"/>
    <p:sldId id="406" r:id="rId70"/>
    <p:sldId id="407" r:id="rId71"/>
    <p:sldId id="409" r:id="rId72"/>
    <p:sldId id="410" r:id="rId73"/>
    <p:sldId id="425" r:id="rId74"/>
    <p:sldId id="411" r:id="rId75"/>
    <p:sldId id="412" r:id="rId76"/>
    <p:sldId id="413" r:id="rId77"/>
    <p:sldId id="414" r:id="rId78"/>
    <p:sldId id="416" r:id="rId79"/>
    <p:sldId id="417" r:id="rId80"/>
    <p:sldId id="418" r:id="rId81"/>
    <p:sldId id="419" r:id="rId82"/>
    <p:sldId id="420" r:id="rId83"/>
    <p:sldId id="421" r:id="rId84"/>
    <p:sldId id="422" r:id="rId85"/>
    <p:sldId id="423" r:id="rId86"/>
    <p:sldId id="424" r:id="rId87"/>
    <p:sldId id="385" r:id="rId88"/>
    <p:sldId id="388" r:id="rId89"/>
    <p:sldId id="389" r:id="rId90"/>
    <p:sldId id="430" r:id="rId91"/>
    <p:sldId id="390" r:id="rId92"/>
    <p:sldId id="392" r:id="rId93"/>
    <p:sldId id="394" r:id="rId94"/>
    <p:sldId id="395" r:id="rId95"/>
    <p:sldId id="427" r:id="rId96"/>
  </p:sldIdLst>
  <p:sldSz cx="9144000" cy="6858000" type="screen4x3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47" autoAdjust="0"/>
  </p:normalViewPr>
  <p:slideViewPr>
    <p:cSldViewPr>
      <p:cViewPr varScale="1">
        <p:scale>
          <a:sx n="60" d="100"/>
          <a:sy n="60" d="100"/>
        </p:scale>
        <p:origin x="138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902C7F-2A24-4BB3-F107-7BBF7548CF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12C5A-8102-E486-A894-4BBA02AB08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5A93E5C-8C7F-4525-9490-EED7D9B9ACD4}" type="datetimeFigureOut">
              <a:rPr lang="en-US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01693-7BFE-9B21-CA15-FD8C9A63CE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D21CC7-45D0-F29A-7744-7EAD6E96B3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54A18C7-F47B-4310-A237-25D369AEB2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9A57F3-5679-BAC3-8DC8-874707BA7E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FC1BF2-6131-870F-312B-8836F580AE5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89B77566-95F8-4F47-8C55-24333346CE02}" type="datetimeFigureOut">
              <a:rPr lang="en-US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EE3177C-5AB8-0A9E-F6A0-21DD858AEC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672532C-C33E-AFAA-1C7B-772C85A1E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F4A0D-19FC-D1FE-5631-4C1EC0C54A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62AE6-1C3E-2E5B-E45A-F304B2241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8B93FD9-588E-4E57-A93D-CD2CFDCEE2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A66C3B-E2AE-4DD6-A7B6-E7FE45E73878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D4C3E7-6E20-4148-BB2F-FC4E20332FD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761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9688CE-D5A5-4E75-80DA-6CF14B246DBB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E618D4-B9D5-4408-8992-3F35244A955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46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35F07D-3696-4840-A5BB-2CB9D63AD192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AD3793-803B-47C4-9146-DA2F9988599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98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C74379-35C8-4E03-BB40-C0C30F3B4CA1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D79707-DE88-40EC-BFF0-25C8622434E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752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0CD616-1860-4AAF-8A02-E9A47F178EE1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BFF3D8-EF7D-4517-9B58-2E2CEB0F91E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7715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C422F8-EF95-4893-A32A-036AFF5E88E2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824E2E-16FD-431F-83B9-4DCA6E69522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7429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A71C47-6C23-4310-B382-B5E28676A255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6A9B36-9B53-44C8-A53D-9FED1331136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0059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0C0713E-9BCB-4C7E-98A7-302FF02D83A8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5825AEF-BA5F-4FF7-AE31-70EAD1D0F10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8658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F4C6C2-A5C0-4FB0-85C7-D6628F25A59B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801DFA-6DDC-44B7-A664-6C336797F9C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8735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24CBA2-A3B6-479C-A84E-6E6EE0116F58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607035-B3C2-46E1-9A08-34BA32560BD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0684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DFC8A6-5CB3-43E7-86C9-41F5DE5BF54A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C0E8C0-3770-453A-8079-F9E8AAAF6E9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3574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9DEAEB8-0160-42E8-91BC-4A31F938F5B8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4B520A8-4721-4159-8524-D3961715249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339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C3C7DD94-FCFA-8D91-4428-4527917741D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203848" y="3573016"/>
            <a:ext cx="5756275" cy="2206625"/>
          </a:xfrm>
        </p:spPr>
        <p:txBody>
          <a:bodyPr lIns="92075" tIns="46038" rIns="92075" bIns="46038" anchor="ctr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Chapter 6</a:t>
            </a:r>
            <a:b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Data Manipulation Language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F585F587-6B6A-9A8C-6AC7-760E765B4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428750"/>
            <a:ext cx="276979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Database </a:t>
            </a:r>
            <a:br>
              <a:rPr lang="en-US" sz="4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</a:br>
            <a:r>
              <a:rPr lang="en-US" sz="4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CCS5001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03" name="Rectangle 12302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304" name="Rectangle 12303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0" name="Title 5">
            <a:extLst>
              <a:ext uri="{FF2B5EF4-FFF2-40B4-BE49-F238E27FC236}">
                <a16:creationId xmlns:a16="http://schemas.microsoft.com/office/drawing/2014/main" id="{CC99FAAF-D7D9-2E24-F4B9-4B9FA8178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0" y="634946"/>
            <a:ext cx="4776107" cy="145075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Learning Objectives </a:t>
            </a:r>
          </a:p>
        </p:txBody>
      </p:sp>
      <p:pic>
        <p:nvPicPr>
          <p:cNvPr id="12305" name="Picture 12304" descr="Pen placed on top of a signature line">
            <a:extLst>
              <a:ext uri="{FF2B5EF4-FFF2-40B4-BE49-F238E27FC236}">
                <a16:creationId xmlns:a16="http://schemas.microsoft.com/office/drawing/2014/main" id="{0BB64B81-A01E-0B2A-0392-18DCCD0CB9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988" r="8097" b="1"/>
          <a:stretch/>
        </p:blipFill>
        <p:spPr>
          <a:xfrm>
            <a:off x="20" y="-12128"/>
            <a:ext cx="3490702" cy="6870127"/>
          </a:xfrm>
          <a:prstGeom prst="rect">
            <a:avLst/>
          </a:prstGeom>
        </p:spPr>
      </p:pic>
      <p:cxnSp>
        <p:nvCxnSpPr>
          <p:cNvPr id="12306" name="Straight Connector 12305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65712" y="2085703"/>
            <a:ext cx="462801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7" name="Rectangle 3">
            <a:extLst>
              <a:ext uri="{FF2B5EF4-FFF2-40B4-BE49-F238E27FC236}">
                <a16:creationId xmlns:a16="http://schemas.microsoft.com/office/drawing/2014/main" id="{00B2D8AE-0159-2254-FE6F-11854988C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6200" y="2198914"/>
            <a:ext cx="4776107" cy="367018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Define key terms: join, equijoin, self-join, </a:t>
            </a:r>
            <a:r>
              <a:rPr lang="en-US" altLang="en-US" err="1"/>
              <a:t>nonequijoin</a:t>
            </a:r>
            <a:r>
              <a:rPr lang="en-US" altLang="en-US"/>
              <a:t>, natural join, outer join, set operators and subquery. </a:t>
            </a:r>
          </a:p>
          <a:p>
            <a:pPr eaLnBrk="1" hangingPunct="1"/>
            <a:r>
              <a:rPr lang="en-US" altLang="en-US"/>
              <a:t>Applying the DML command to insert, update and delete data from table.</a:t>
            </a:r>
          </a:p>
          <a:p>
            <a:pPr eaLnBrk="1" hangingPunct="1"/>
            <a:r>
              <a:rPr lang="en-US" altLang="en-US"/>
              <a:t>Write single and multiple table queries using SQL commands</a:t>
            </a:r>
          </a:p>
          <a:p>
            <a:pPr eaLnBrk="1" hangingPunct="1"/>
            <a:r>
              <a:rPr lang="en-US" altLang="en-US"/>
              <a:t>Write queries using subqueries.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2"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3">
            <a:extLst>
              <a:ext uri="{FF2B5EF4-FFF2-40B4-BE49-F238E27FC236}">
                <a16:creationId xmlns:a16="http://schemas.microsoft.com/office/drawing/2014/main" id="{76D254DD-776D-7B52-8F11-041AB7A6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Data Manipulation Language (DML)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572D656C-FA14-672D-710D-6BE311DC4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905000"/>
            <a:ext cx="7558608" cy="4191000"/>
          </a:xfrm>
        </p:spPr>
        <p:txBody>
          <a:bodyPr lIns="92075" tIns="46038" rIns="92075" bIns="46038">
            <a:normAutofit/>
          </a:bodyPr>
          <a:lstStyle/>
          <a:p>
            <a:pPr eaLnBrk="1" hangingPunct="1">
              <a:spcAft>
                <a:spcPct val="20000"/>
              </a:spcAft>
              <a:buFontTx/>
              <a:buNone/>
            </a:pPr>
            <a:r>
              <a:rPr lang="en-US" altLang="en-US" sz="2400" dirty="0">
                <a:solidFill>
                  <a:srgbClr val="030305"/>
                </a:solidFill>
              </a:rPr>
              <a:t>Used to create, modify and retrieve data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>
                <a:solidFill>
                  <a:srgbClr val="030305"/>
                </a:solidFill>
              </a:rPr>
              <a:t>Insert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>
                <a:solidFill>
                  <a:srgbClr val="030305"/>
                </a:solidFill>
              </a:rPr>
              <a:t>Select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>
                <a:solidFill>
                  <a:srgbClr val="030305"/>
                </a:solidFill>
              </a:rPr>
              <a:t>Update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>
                <a:solidFill>
                  <a:srgbClr val="030305"/>
                </a:solidFill>
              </a:rPr>
              <a:t>Delete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3">
            <a:extLst>
              <a:ext uri="{FF2B5EF4-FFF2-40B4-BE49-F238E27FC236}">
                <a16:creationId xmlns:a16="http://schemas.microsoft.com/office/drawing/2014/main" id="{AFDADF13-C640-0BA3-116E-DE987350D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DML – Adding Data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CB8FAE6C-A9D1-F587-DBBC-83109A324F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7240" y="1916832"/>
            <a:ext cx="7772400" cy="3600400"/>
          </a:xfrm>
        </p:spPr>
        <p:txBody>
          <a:bodyPr lIns="92075" tIns="46038" rIns="92075" bIns="46038"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>
                <a:solidFill>
                  <a:srgbClr val="030305"/>
                </a:solidFill>
              </a:rPr>
              <a:t>Use the Insert keyword and specify:</a:t>
            </a:r>
          </a:p>
          <a:p>
            <a:pPr marL="640080" lvl="1" indent="-274320" eaLnBrk="1" fontAlgn="auto" hangingPunct="1">
              <a:spcBef>
                <a:spcPct val="15000"/>
              </a:spcBef>
              <a:spcAft>
                <a:spcPts val="0"/>
              </a:spcAft>
              <a:buFont typeface="Wingdings 2"/>
              <a:buChar char=""/>
              <a:defRPr/>
            </a:pPr>
            <a:r>
              <a:rPr lang="en-US" dirty="0">
                <a:solidFill>
                  <a:srgbClr val="030305"/>
                </a:solidFill>
              </a:rPr>
              <a:t>table name</a:t>
            </a:r>
          </a:p>
          <a:p>
            <a:pPr marL="640080" lvl="1" indent="-274320" eaLnBrk="1" fontAlgn="auto" hangingPunct="1">
              <a:spcBef>
                <a:spcPct val="15000"/>
              </a:spcBef>
              <a:spcAft>
                <a:spcPts val="0"/>
              </a:spcAft>
              <a:buFont typeface="Wingdings 2"/>
              <a:buChar char=""/>
              <a:defRPr/>
            </a:pPr>
            <a:r>
              <a:rPr lang="en-US" dirty="0">
                <a:solidFill>
                  <a:srgbClr val="030305"/>
                </a:solidFill>
              </a:rPr>
              <a:t>field names - optional</a:t>
            </a:r>
          </a:p>
          <a:p>
            <a:pPr marL="640080" lvl="1" indent="-274320" eaLnBrk="1" fontAlgn="auto" hangingPunct="1">
              <a:spcBef>
                <a:spcPct val="15000"/>
              </a:spcBef>
              <a:spcAft>
                <a:spcPts val="0"/>
              </a:spcAft>
              <a:buFont typeface="Wingdings 2"/>
              <a:buChar char=""/>
              <a:defRPr/>
            </a:pPr>
            <a:r>
              <a:rPr lang="en-US" dirty="0">
                <a:solidFill>
                  <a:srgbClr val="030305"/>
                </a:solidFill>
              </a:rPr>
              <a:t>values for each field</a:t>
            </a:r>
          </a:p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600" dirty="0">
              <a:solidFill>
                <a:srgbClr val="030305"/>
              </a:solidFill>
            </a:endParaRPr>
          </a:p>
          <a:p>
            <a:pPr marL="640080" lvl="1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cap="all" dirty="0">
                <a:solidFill>
                  <a:srgbClr val="030305"/>
                </a:solidFill>
                <a:latin typeface="Courier New" pitchFamily="49" charset="0"/>
              </a:rPr>
              <a:t>insert into </a:t>
            </a:r>
            <a:r>
              <a:rPr lang="en-US" sz="1800" b="1" dirty="0">
                <a:solidFill>
                  <a:srgbClr val="030305"/>
                </a:solidFill>
                <a:latin typeface="Courier New" pitchFamily="49" charset="0"/>
              </a:rPr>
              <a:t>customer </a:t>
            </a:r>
            <a:r>
              <a:rPr lang="en-US" sz="1800" b="1" cap="all" dirty="0">
                <a:solidFill>
                  <a:srgbClr val="030305"/>
                </a:solidFill>
                <a:latin typeface="Courier New" pitchFamily="49" charset="0"/>
              </a:rPr>
              <a:t>values</a:t>
            </a:r>
            <a:r>
              <a:rPr lang="en-US" sz="1800" b="1" dirty="0">
                <a:solidFill>
                  <a:srgbClr val="030305"/>
                </a:solidFill>
                <a:latin typeface="Courier New" pitchFamily="49" charset="0"/>
              </a:rPr>
              <a:t>(‘Teplow’,’MA’,23445.67);</a:t>
            </a:r>
          </a:p>
          <a:p>
            <a:pPr marL="640080" lvl="1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b="1" dirty="0">
                <a:solidFill>
                  <a:srgbClr val="030305"/>
                </a:solidFill>
                <a:latin typeface="Courier New" pitchFamily="49" charset="0"/>
              </a:rPr>
              <a:t>OR</a:t>
            </a:r>
          </a:p>
          <a:p>
            <a:pPr marL="640080" lvl="1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cap="all" dirty="0">
                <a:solidFill>
                  <a:srgbClr val="030305"/>
                </a:solidFill>
                <a:latin typeface="Courier New" pitchFamily="49" charset="0"/>
              </a:rPr>
              <a:t>insert into </a:t>
            </a:r>
            <a:r>
              <a:rPr lang="en-US" sz="1800" b="1" dirty="0">
                <a:solidFill>
                  <a:srgbClr val="030305"/>
                </a:solidFill>
                <a:latin typeface="Courier New" pitchFamily="49" charset="0"/>
              </a:rPr>
              <a:t>customer (</a:t>
            </a:r>
            <a:r>
              <a:rPr lang="en-US" sz="1800" b="1" dirty="0" err="1">
                <a:solidFill>
                  <a:srgbClr val="030305"/>
                </a:solidFill>
                <a:latin typeface="Courier New" pitchFamily="49" charset="0"/>
              </a:rPr>
              <a:t>last_name</a:t>
            </a:r>
            <a:r>
              <a:rPr lang="en-US" sz="1800" b="1" dirty="0">
                <a:solidFill>
                  <a:srgbClr val="030305"/>
                </a:solidFill>
                <a:latin typeface="Courier New" pitchFamily="49" charset="0"/>
              </a:rPr>
              <a:t>, </a:t>
            </a:r>
            <a:r>
              <a:rPr lang="en-US" sz="1800" b="1" dirty="0" err="1">
                <a:solidFill>
                  <a:srgbClr val="030305"/>
                </a:solidFill>
                <a:latin typeface="Courier New" pitchFamily="49" charset="0"/>
              </a:rPr>
              <a:t>state_cd</a:t>
            </a:r>
            <a:r>
              <a:rPr lang="en-US" sz="1800" b="1" dirty="0">
                <a:solidFill>
                  <a:srgbClr val="030305"/>
                </a:solidFill>
                <a:latin typeface="Courier New" pitchFamily="49" charset="0"/>
              </a:rPr>
              <a:t>, sales) </a:t>
            </a:r>
            <a:r>
              <a:rPr lang="en-US" sz="1800" b="1" cap="all" dirty="0">
                <a:solidFill>
                  <a:srgbClr val="030305"/>
                </a:solidFill>
                <a:latin typeface="Courier New" pitchFamily="49" charset="0"/>
              </a:rPr>
              <a:t>values</a:t>
            </a:r>
            <a:r>
              <a:rPr lang="en-US" sz="1800" b="1" dirty="0">
                <a:solidFill>
                  <a:srgbClr val="030305"/>
                </a:solidFill>
                <a:latin typeface="Courier New" pitchFamily="49" charset="0"/>
              </a:rPr>
              <a:t> (‘</a:t>
            </a:r>
            <a:r>
              <a:rPr lang="en-US" sz="1800" b="1" dirty="0" err="1">
                <a:solidFill>
                  <a:srgbClr val="030305"/>
                </a:solidFill>
                <a:latin typeface="Courier New" pitchFamily="49" charset="0"/>
              </a:rPr>
              <a:t>Teplow</a:t>
            </a:r>
            <a:r>
              <a:rPr lang="en-US" sz="1800" b="1" dirty="0">
                <a:solidFill>
                  <a:srgbClr val="030305"/>
                </a:solidFill>
                <a:latin typeface="Courier New" pitchFamily="49" charset="0"/>
              </a:rPr>
              <a:t>’ ,’MA’,23445.67);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3">
            <a:extLst>
              <a:ext uri="{FF2B5EF4-FFF2-40B4-BE49-F238E27FC236}">
                <a16:creationId xmlns:a16="http://schemas.microsoft.com/office/drawing/2014/main" id="{7946A2D2-5B4E-0217-FAB6-8AED64F0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DML – Update Data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560D24E-C2D7-2874-03BC-128ED08F42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7240" y="1916832"/>
            <a:ext cx="7772400" cy="4343400"/>
          </a:xfrm>
        </p:spPr>
        <p:txBody>
          <a:bodyPr lIns="92075" tIns="46038" rIns="92075" bIns="46038">
            <a:normAutofit/>
          </a:bodyPr>
          <a:lstStyle/>
          <a:p>
            <a:pPr marL="320040" indent="-32004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dirty="0">
                <a:solidFill>
                  <a:srgbClr val="030305"/>
                </a:solidFill>
              </a:rPr>
              <a:t>Use the Update and Set keywords and specify:</a:t>
            </a:r>
          </a:p>
          <a:p>
            <a:pPr marL="640080" lvl="1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 2"/>
              <a:buChar char=""/>
              <a:defRPr/>
            </a:pPr>
            <a:r>
              <a:rPr lang="en-US" dirty="0">
                <a:solidFill>
                  <a:srgbClr val="030305"/>
                </a:solidFill>
              </a:rPr>
              <a:t>table name</a:t>
            </a:r>
          </a:p>
          <a:p>
            <a:pPr marL="640080" lvl="1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 2"/>
              <a:buChar char=""/>
              <a:defRPr/>
            </a:pPr>
            <a:r>
              <a:rPr lang="en-US" dirty="0">
                <a:solidFill>
                  <a:srgbClr val="030305"/>
                </a:solidFill>
              </a:rPr>
              <a:t>field name(s)</a:t>
            </a:r>
          </a:p>
          <a:p>
            <a:pPr marL="640080" lvl="1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 2"/>
              <a:buChar char=""/>
              <a:defRPr/>
            </a:pPr>
            <a:r>
              <a:rPr lang="en-US" dirty="0">
                <a:solidFill>
                  <a:srgbClr val="030305"/>
                </a:solidFill>
              </a:rPr>
              <a:t>where clause (optional)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endParaRPr lang="en-US" sz="2000" dirty="0">
              <a:solidFill>
                <a:srgbClr val="030305"/>
              </a:solidFill>
              <a:latin typeface="Courier New" pitchFamily="49" charset="0"/>
            </a:endParaRPr>
          </a:p>
          <a:p>
            <a:pPr marL="640080" lvl="1" indent="-27432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cap="all" dirty="0">
                <a:solidFill>
                  <a:srgbClr val="030305"/>
                </a:solidFill>
                <a:latin typeface="Courier New" pitchFamily="49" charset="0"/>
              </a:rPr>
              <a:t>update</a:t>
            </a:r>
            <a:r>
              <a:rPr lang="en-US" sz="2000" b="1" dirty="0">
                <a:solidFill>
                  <a:srgbClr val="030305"/>
                </a:solidFill>
                <a:latin typeface="Courier New" pitchFamily="49" charset="0"/>
              </a:rPr>
              <a:t> inventory </a:t>
            </a:r>
          </a:p>
          <a:p>
            <a:pPr marL="640080" lvl="1" indent="-27432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cap="all" dirty="0">
                <a:solidFill>
                  <a:srgbClr val="030305"/>
                </a:solidFill>
                <a:latin typeface="Courier New" pitchFamily="49" charset="0"/>
              </a:rPr>
              <a:t>set</a:t>
            </a:r>
            <a:r>
              <a:rPr lang="en-US" sz="2000" b="1" dirty="0">
                <a:solidFill>
                  <a:srgbClr val="030305"/>
                </a:solidFill>
                <a:latin typeface="Courier New" pitchFamily="49" charset="0"/>
              </a:rPr>
              <a:t> price = price*1.05;</a:t>
            </a:r>
          </a:p>
          <a:p>
            <a:pPr marL="640080" lvl="1" indent="-27432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endParaRPr lang="en-US" sz="2000" b="1" dirty="0">
              <a:solidFill>
                <a:srgbClr val="030305"/>
              </a:solidFill>
              <a:latin typeface="Courier New" pitchFamily="49" charset="0"/>
            </a:endParaRPr>
          </a:p>
          <a:p>
            <a:pPr marL="640080" lvl="1" indent="-27432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cap="all" dirty="0">
                <a:solidFill>
                  <a:srgbClr val="030305"/>
                </a:solidFill>
                <a:latin typeface="Courier New" pitchFamily="49" charset="0"/>
              </a:rPr>
              <a:t>update</a:t>
            </a:r>
            <a:r>
              <a:rPr lang="en-US" sz="2000" b="1" dirty="0">
                <a:solidFill>
                  <a:srgbClr val="030305"/>
                </a:solidFill>
                <a:latin typeface="Courier New" pitchFamily="49" charset="0"/>
              </a:rPr>
              <a:t> inventory</a:t>
            </a:r>
          </a:p>
          <a:p>
            <a:pPr marL="640080" lvl="1" indent="-27432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cap="all" dirty="0">
                <a:solidFill>
                  <a:srgbClr val="030305"/>
                </a:solidFill>
                <a:latin typeface="Courier New" pitchFamily="49" charset="0"/>
              </a:rPr>
              <a:t>set</a:t>
            </a:r>
            <a:r>
              <a:rPr lang="en-US" sz="2000" b="1" dirty="0">
                <a:solidFill>
                  <a:srgbClr val="030305"/>
                </a:solidFill>
                <a:latin typeface="Courier New" pitchFamily="49" charset="0"/>
              </a:rPr>
              <a:t> price = price*1.05</a:t>
            </a:r>
          </a:p>
          <a:p>
            <a:pPr marL="640080" lvl="1" indent="-27432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cap="all" dirty="0">
                <a:solidFill>
                  <a:srgbClr val="030305"/>
                </a:solidFill>
                <a:latin typeface="Courier New" pitchFamily="49" charset="0"/>
              </a:rPr>
              <a:t>where</a:t>
            </a:r>
            <a:r>
              <a:rPr lang="en-US" sz="2000" b="1" dirty="0">
                <a:solidFill>
                  <a:srgbClr val="030305"/>
                </a:solidFill>
                <a:latin typeface="Courier New" pitchFamily="49" charset="0"/>
              </a:rPr>
              <a:t> </a:t>
            </a:r>
            <a:r>
              <a:rPr lang="en-US" sz="2000" b="1" dirty="0" err="1">
                <a:solidFill>
                  <a:srgbClr val="030305"/>
                </a:solidFill>
                <a:latin typeface="Courier New" pitchFamily="49" charset="0"/>
              </a:rPr>
              <a:t>product_id</a:t>
            </a:r>
            <a:r>
              <a:rPr lang="en-US" sz="2000" b="1" dirty="0">
                <a:solidFill>
                  <a:srgbClr val="030305"/>
                </a:solidFill>
                <a:latin typeface="Courier New" pitchFamily="49" charset="0"/>
              </a:rPr>
              <a:t> = 'P103';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itle 3">
            <a:extLst>
              <a:ext uri="{FF2B5EF4-FFF2-40B4-BE49-F238E27FC236}">
                <a16:creationId xmlns:a16="http://schemas.microsoft.com/office/drawing/2014/main" id="{B5DA01E6-1217-8418-6E6C-46461AFB2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DML – Remove Data</a:t>
            </a:r>
          </a:p>
        </p:txBody>
      </p:sp>
      <p:sp>
        <p:nvSpPr>
          <p:cNvPr id="86019" name="Rectangle 2051">
            <a:extLst>
              <a:ext uri="{FF2B5EF4-FFF2-40B4-BE49-F238E27FC236}">
                <a16:creationId xmlns:a16="http://schemas.microsoft.com/office/drawing/2014/main" id="{DB5CA6AF-2960-60A7-BD35-80241A059F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4427" y="1916832"/>
            <a:ext cx="7772400" cy="4267200"/>
          </a:xfrm>
        </p:spPr>
        <p:txBody>
          <a:bodyPr lIns="92075" tIns="46038" rIns="92075" bIns="46038"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>
                <a:solidFill>
                  <a:srgbClr val="030305"/>
                </a:solidFill>
              </a:rPr>
              <a:t>Use the Delete From keywords and specify: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dirty="0">
                <a:solidFill>
                  <a:srgbClr val="030305"/>
                </a:solidFill>
              </a:rPr>
              <a:t>table name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dirty="0">
                <a:solidFill>
                  <a:srgbClr val="030305"/>
                </a:solidFill>
              </a:rPr>
              <a:t>where clause (optional)</a:t>
            </a:r>
          </a:p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dirty="0">
              <a:solidFill>
                <a:srgbClr val="030305"/>
              </a:solidFill>
            </a:endParaRPr>
          </a:p>
          <a:p>
            <a:pPr marL="640080" lvl="1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b="1" cap="all" dirty="0">
                <a:solidFill>
                  <a:srgbClr val="030305"/>
                </a:solidFill>
                <a:latin typeface="Courier New" pitchFamily="49" charset="0"/>
              </a:rPr>
              <a:t>delete from </a:t>
            </a:r>
            <a:r>
              <a:rPr lang="en-US" sz="2400" b="1" dirty="0">
                <a:solidFill>
                  <a:srgbClr val="030305"/>
                </a:solidFill>
                <a:latin typeface="Courier New" pitchFamily="49" charset="0"/>
              </a:rPr>
              <a:t>customer;</a:t>
            </a:r>
          </a:p>
          <a:p>
            <a:pPr marL="640080" lvl="1" indent="-27432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400" b="1" dirty="0">
              <a:solidFill>
                <a:srgbClr val="030305"/>
              </a:solidFill>
              <a:latin typeface="Courier New" pitchFamily="49" charset="0"/>
            </a:endParaRPr>
          </a:p>
          <a:p>
            <a:pPr marL="640080" lvl="1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b="1" cap="all" dirty="0">
                <a:solidFill>
                  <a:srgbClr val="030305"/>
                </a:solidFill>
                <a:latin typeface="Courier New" pitchFamily="49" charset="0"/>
              </a:rPr>
              <a:t>delete from </a:t>
            </a:r>
            <a:r>
              <a:rPr lang="en-US" sz="2400" b="1" dirty="0">
                <a:solidFill>
                  <a:srgbClr val="030305"/>
                </a:solidFill>
                <a:latin typeface="Courier New" pitchFamily="49" charset="0"/>
              </a:rPr>
              <a:t>customer </a:t>
            </a:r>
          </a:p>
          <a:p>
            <a:pPr marL="640080" lvl="1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b="1" cap="all" dirty="0">
                <a:solidFill>
                  <a:srgbClr val="030305"/>
                </a:solidFill>
                <a:latin typeface="Courier New" pitchFamily="49" charset="0"/>
              </a:rPr>
              <a:t>where</a:t>
            </a:r>
            <a:r>
              <a:rPr lang="en-US" sz="2400" b="1" dirty="0">
                <a:solidFill>
                  <a:srgbClr val="030305"/>
                </a:solidFill>
                <a:latin typeface="Courier New" pitchFamily="49" charset="0"/>
              </a:rPr>
              <a:t> sales &lt; 10000;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D1DBF86-D73C-D1AF-27E9-DCBAD475B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DML – Select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709149-ECE0-3E1B-FB26-C6E8AF7CD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81352"/>
            <a:ext cx="8153400" cy="1185863"/>
          </a:xfrm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dirty="0"/>
              <a:t>Select statement retrieves information from the databases.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dirty="0"/>
              <a:t>Capabilities of SQL Select Statements: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endParaRPr lang="en-US" dirty="0"/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902F75-FF66-473E-106A-2EFE2CC43F7E}"/>
              </a:ext>
            </a:extLst>
          </p:cNvPr>
          <p:cNvGraphicFramePr>
            <a:graphicFrameLocks noGrp="1"/>
          </p:cNvGraphicFramePr>
          <p:nvPr/>
        </p:nvGraphicFramePr>
        <p:xfrm>
          <a:off x="642938" y="3298825"/>
          <a:ext cx="1643062" cy="2560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9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80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26" marB="45726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E28CD0-B659-1C3D-B6F5-B2C77852BAC7}"/>
              </a:ext>
            </a:extLst>
          </p:cNvPr>
          <p:cNvGraphicFramePr>
            <a:graphicFrameLocks noGrp="1"/>
          </p:cNvGraphicFramePr>
          <p:nvPr/>
        </p:nvGraphicFramePr>
        <p:xfrm>
          <a:off x="2786063" y="3298825"/>
          <a:ext cx="1643060" cy="259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8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512" name="TextBox 7">
            <a:extLst>
              <a:ext uri="{FF2B5EF4-FFF2-40B4-BE49-F238E27FC236}">
                <a16:creationId xmlns:a16="http://schemas.microsoft.com/office/drawing/2014/main" id="{7F0EF788-372D-3E6D-9CAA-3B20C6DBA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928938"/>
            <a:ext cx="1073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Projection</a:t>
            </a:r>
          </a:p>
        </p:txBody>
      </p:sp>
      <p:sp>
        <p:nvSpPr>
          <p:cNvPr id="17513" name="TextBox 8">
            <a:extLst>
              <a:ext uri="{FF2B5EF4-FFF2-40B4-BE49-F238E27FC236}">
                <a16:creationId xmlns:a16="http://schemas.microsoft.com/office/drawing/2014/main" id="{87BE399F-7DC1-D197-49D6-FD4426960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2941638"/>
            <a:ext cx="10334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1AD875C-D6D2-54DE-1E52-40C7A6F74829}"/>
              </a:ext>
            </a:extLst>
          </p:cNvPr>
          <p:cNvGraphicFramePr>
            <a:graphicFrameLocks noGrp="1"/>
          </p:cNvGraphicFramePr>
          <p:nvPr/>
        </p:nvGraphicFramePr>
        <p:xfrm>
          <a:off x="4786313" y="3298825"/>
          <a:ext cx="1571625" cy="259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94D2E3E-B4F6-90EE-8CD6-1856E1F2E2E8}"/>
              </a:ext>
            </a:extLst>
          </p:cNvPr>
          <p:cNvGraphicFramePr>
            <a:graphicFrameLocks noGrp="1"/>
          </p:cNvGraphicFramePr>
          <p:nvPr/>
        </p:nvGraphicFramePr>
        <p:xfrm>
          <a:off x="7215188" y="3298825"/>
          <a:ext cx="1571625" cy="259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05D09E-4D20-7FFD-F76B-F2DCD093B534}"/>
              </a:ext>
            </a:extLst>
          </p:cNvPr>
          <p:cNvCxnSpPr/>
          <p:nvPr/>
        </p:nvCxnSpPr>
        <p:spPr>
          <a:xfrm>
            <a:off x="6357938" y="4656138"/>
            <a:ext cx="857250" cy="1587"/>
          </a:xfrm>
          <a:prstGeom prst="straightConnector1">
            <a:avLst/>
          </a:prstGeom>
          <a:ln w="34925" cmpd="sng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15" name="TextBox 15">
            <a:extLst>
              <a:ext uri="{FF2B5EF4-FFF2-40B4-BE49-F238E27FC236}">
                <a16:creationId xmlns:a16="http://schemas.microsoft.com/office/drawing/2014/main" id="{1DE67EFC-1482-18E0-F2A0-10C380BC9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813" y="4227513"/>
            <a:ext cx="538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Join</a:t>
            </a:r>
          </a:p>
        </p:txBody>
      </p:sp>
      <p:sp>
        <p:nvSpPr>
          <p:cNvPr id="17616" name="TextBox 16">
            <a:extLst>
              <a:ext uri="{FF2B5EF4-FFF2-40B4-BE49-F238E27FC236}">
                <a16:creationId xmlns:a16="http://schemas.microsoft.com/office/drawing/2014/main" id="{34C6091A-05E8-4B22-DAD1-F5E9A92C4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5838825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Table 1</a:t>
            </a:r>
          </a:p>
        </p:txBody>
      </p:sp>
      <p:sp>
        <p:nvSpPr>
          <p:cNvPr id="17617" name="TextBox 17">
            <a:extLst>
              <a:ext uri="{FF2B5EF4-FFF2-40B4-BE49-F238E27FC236}">
                <a16:creationId xmlns:a16="http://schemas.microsoft.com/office/drawing/2014/main" id="{C381BFBE-0C39-0D07-868B-842CD2B84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5870575"/>
            <a:ext cx="8778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Table 2</a:t>
            </a:r>
          </a:p>
        </p:txBody>
      </p:sp>
      <p:sp>
        <p:nvSpPr>
          <p:cNvPr id="17618" name="TextBox 18">
            <a:extLst>
              <a:ext uri="{FF2B5EF4-FFF2-40B4-BE49-F238E27FC236}">
                <a16:creationId xmlns:a16="http://schemas.microsoft.com/office/drawing/2014/main" id="{57E2DC1C-97CA-CF1F-3EEE-65368AD4B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5870575"/>
            <a:ext cx="8778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Table 1</a:t>
            </a:r>
          </a:p>
        </p:txBody>
      </p:sp>
      <p:sp>
        <p:nvSpPr>
          <p:cNvPr id="17619" name="TextBox 19">
            <a:extLst>
              <a:ext uri="{FF2B5EF4-FFF2-40B4-BE49-F238E27FC236}">
                <a16:creationId xmlns:a16="http://schemas.microsoft.com/office/drawing/2014/main" id="{E418CD05-3CDB-0CAA-22A4-04C4C69BE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0" y="5870575"/>
            <a:ext cx="8778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Table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ADEADB83-F9C6-57D5-229D-C4CD924D0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Select Statement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0D4487E8-DBD1-3620-1B92-1E7F4C7DB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452" y="1978818"/>
            <a:ext cx="8153400" cy="1185863"/>
          </a:xfrm>
        </p:spPr>
        <p:txBody>
          <a:bodyPr/>
          <a:lstStyle/>
          <a:p>
            <a:pPr eaLnBrk="1" hangingPunct="1"/>
            <a:r>
              <a:rPr lang="en-US" altLang="en-US" dirty="0"/>
              <a:t>SELECT identifies the columns to be displayed</a:t>
            </a:r>
          </a:p>
          <a:p>
            <a:pPr eaLnBrk="1" hangingPunct="1"/>
            <a:r>
              <a:rPr lang="en-US" altLang="en-US" dirty="0"/>
              <a:t>FROM identifies the table containing those columns.</a:t>
            </a:r>
          </a:p>
        </p:txBody>
      </p:sp>
      <p:sp>
        <p:nvSpPr>
          <p:cNvPr id="18436" name="TextBox 3">
            <a:extLst>
              <a:ext uri="{FF2B5EF4-FFF2-40B4-BE49-F238E27FC236}">
                <a16:creationId xmlns:a16="http://schemas.microsoft.com/office/drawing/2014/main" id="{814A8506-BCD8-111F-A8E9-0AE15F8DE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3143250"/>
            <a:ext cx="7693025" cy="83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*|{[DISTINCT] column_name | expression [alias],…..}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table_name; </a:t>
            </a:r>
          </a:p>
        </p:txBody>
      </p:sp>
      <p:sp>
        <p:nvSpPr>
          <p:cNvPr id="18437" name="Content Placeholder 2">
            <a:extLst>
              <a:ext uri="{FF2B5EF4-FFF2-40B4-BE49-F238E27FC236}">
                <a16:creationId xmlns:a16="http://schemas.microsoft.com/office/drawing/2014/main" id="{80D67F31-51C7-FFFB-6D6A-02BFD873AA43}"/>
              </a:ext>
            </a:extLst>
          </p:cNvPr>
          <p:cNvSpPr txBox="1">
            <a:spLocks/>
          </p:cNvSpPr>
          <p:nvPr/>
        </p:nvSpPr>
        <p:spPr bwMode="auto">
          <a:xfrm>
            <a:off x="642938" y="4286250"/>
            <a:ext cx="81534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9088" indent="-319088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/>
            <a:r>
              <a:rPr lang="en-US" altLang="en-US"/>
              <a:t>DISTINCT suppresses duplicates</a:t>
            </a:r>
          </a:p>
          <a:p>
            <a:pPr eaLnBrk="1" hangingPunct="1"/>
            <a:r>
              <a:rPr lang="en-US" altLang="en-US"/>
              <a:t>* select all columns</a:t>
            </a:r>
          </a:p>
          <a:p>
            <a:pPr eaLnBrk="1" hangingPunct="1"/>
            <a:r>
              <a:rPr lang="en-US" altLang="en-US"/>
              <a:t>alias gives the selected columns different headings</a:t>
            </a:r>
          </a:p>
          <a:p>
            <a:pPr eaLnBrk="1" hangingPunct="1"/>
            <a:r>
              <a:rPr lang="en-US" altLang="en-US"/>
              <a:t>FROM identifies the table containing those columns.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08A07993-D8FA-9F90-2B6E-12E0AD988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Expressions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B9EB8014-7616-551F-D6AF-2A34769B2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775" y="1988840"/>
            <a:ext cx="8153400" cy="4440535"/>
          </a:xfrm>
        </p:spPr>
        <p:txBody>
          <a:bodyPr/>
          <a:lstStyle/>
          <a:p>
            <a:pPr eaLnBrk="1" hangingPunct="1"/>
            <a:r>
              <a:rPr lang="en-US" altLang="en-US" dirty="0"/>
              <a:t>Create expression with number and date by using arithmetic operators (i.e. +, -, *, /).</a:t>
            </a:r>
          </a:p>
          <a:p>
            <a:pPr eaLnBrk="1" hangingPunct="1"/>
            <a:r>
              <a:rPr lang="en-US" altLang="en-US" dirty="0"/>
              <a:t>If an expression contains more than one operator, * and / are evaluated first. If operators in an expression are of the same priority, evaluation is done from left to right.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9460" name="TextBox 3">
            <a:extLst>
              <a:ext uri="{FF2B5EF4-FFF2-40B4-BE49-F238E27FC236}">
                <a16:creationId xmlns:a16="http://schemas.microsoft.com/office/drawing/2014/main" id="{27ADA3FC-31DD-6C28-3CEB-D124A2F8B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4643438"/>
            <a:ext cx="4649787" cy="8302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last_name, salary, salary*12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employee;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073CA4-8CA3-E842-3FCB-BEBA9B34AC67}"/>
              </a:ext>
            </a:extLst>
          </p:cNvPr>
          <p:cNvGraphicFramePr>
            <a:graphicFrameLocks noGrp="1"/>
          </p:cNvGraphicFramePr>
          <p:nvPr/>
        </p:nvGraphicFramePr>
        <p:xfrm>
          <a:off x="5286375" y="4643438"/>
          <a:ext cx="3357563" cy="1357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7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SALARY*12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12000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7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14400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9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18000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6671EA2-3A8C-1FC0-3072-3096E8E7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Expressions ..</a:t>
            </a:r>
            <a:r>
              <a:rPr lang="en-US" altLang="en-US" i="1"/>
              <a:t>cont.</a:t>
            </a:r>
          </a:p>
        </p:txBody>
      </p:sp>
      <p:sp>
        <p:nvSpPr>
          <p:cNvPr id="20483" name="TextBox 3">
            <a:extLst>
              <a:ext uri="{FF2B5EF4-FFF2-40B4-BE49-F238E27FC236}">
                <a16:creationId xmlns:a16="http://schemas.microsoft.com/office/drawing/2014/main" id="{E9B632AE-5EFE-D443-C8BA-F1CB1C1EE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1714500"/>
            <a:ext cx="5572125" cy="83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last_name, salary, 12*salary+100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employee;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9199EF-ABE2-2FC8-F656-960FBA7FE597}"/>
              </a:ext>
            </a:extLst>
          </p:cNvPr>
          <p:cNvGraphicFramePr>
            <a:graphicFrameLocks noGrp="1"/>
          </p:cNvGraphicFramePr>
          <p:nvPr/>
        </p:nvGraphicFramePr>
        <p:xfrm>
          <a:off x="5857875" y="1714500"/>
          <a:ext cx="3071814" cy="1357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7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SALARY*12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12100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7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14500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9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18100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506" name="TextBox 5">
            <a:extLst>
              <a:ext uri="{FF2B5EF4-FFF2-40B4-BE49-F238E27FC236}">
                <a16:creationId xmlns:a16="http://schemas.microsoft.com/office/drawing/2014/main" id="{1BCB69EC-D82C-0C29-5101-81572A898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3429000"/>
            <a:ext cx="5572125" cy="83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last_name, salary, 12*(salary+100)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employee;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A8018AC-D492-9004-9E20-8462FF7AD790}"/>
              </a:ext>
            </a:extLst>
          </p:cNvPr>
          <p:cNvGraphicFramePr>
            <a:graphicFrameLocks noGrp="1"/>
          </p:cNvGraphicFramePr>
          <p:nvPr/>
        </p:nvGraphicFramePr>
        <p:xfrm>
          <a:off x="5857875" y="3429000"/>
          <a:ext cx="3071814" cy="1357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7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SALARY*12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13200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7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15600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9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19200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FBF535D5-57C7-D70F-FB68-25A53C8B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Defining a Null Value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3D251EBF-AE38-8DC8-63C6-5A40BD715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943894"/>
            <a:ext cx="8153400" cy="1685925"/>
          </a:xfrm>
        </p:spPr>
        <p:txBody>
          <a:bodyPr/>
          <a:lstStyle/>
          <a:p>
            <a:pPr eaLnBrk="1" hangingPunct="1"/>
            <a:r>
              <a:rPr lang="en-US" altLang="en-US" dirty="0"/>
              <a:t>Null is a value that is unavailable, unassigned, unknown, or inapplicable.</a:t>
            </a:r>
          </a:p>
          <a:p>
            <a:pPr eaLnBrk="1" hangingPunct="1"/>
            <a:r>
              <a:rPr lang="en-US" altLang="en-US" dirty="0"/>
              <a:t>Null is not the same as zero or a blank space.</a:t>
            </a:r>
          </a:p>
        </p:txBody>
      </p:sp>
      <p:sp>
        <p:nvSpPr>
          <p:cNvPr id="21508" name="TextBox 3">
            <a:extLst>
              <a:ext uri="{FF2B5EF4-FFF2-40B4-BE49-F238E27FC236}">
                <a16:creationId xmlns:a16="http://schemas.microsoft.com/office/drawing/2014/main" id="{F373F652-7EF0-315D-11BC-19C3408D7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214688"/>
            <a:ext cx="5357813" cy="8302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last_name,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employee;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F2E38B-789E-72CB-DF33-5FD75CFACB10}"/>
              </a:ext>
            </a:extLst>
          </p:cNvPr>
          <p:cNvGraphicFramePr>
            <a:graphicFrameLocks noGrp="1"/>
          </p:cNvGraphicFramePr>
          <p:nvPr/>
        </p:nvGraphicFramePr>
        <p:xfrm>
          <a:off x="571500" y="4143375"/>
          <a:ext cx="3714750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2A1728EE-CA5C-449A-4588-BF985D12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Defining a Null Value ..</a:t>
            </a:r>
            <a:r>
              <a:rPr lang="en-US" altLang="en-US" i="1"/>
              <a:t>cont.</a:t>
            </a:r>
          </a:p>
        </p:txBody>
      </p:sp>
      <p:sp>
        <p:nvSpPr>
          <p:cNvPr id="22531" name="TextBox 3">
            <a:extLst>
              <a:ext uri="{FF2B5EF4-FFF2-40B4-BE49-F238E27FC236}">
                <a16:creationId xmlns:a16="http://schemas.microsoft.com/office/drawing/2014/main" id="{E529B484-D3CC-0031-EAC7-8BB3CA760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1785938"/>
            <a:ext cx="7358062" cy="8302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last_name, salary, commission, salary*commission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employee;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937108-AFD1-F6E1-07C6-9E540247513F}"/>
              </a:ext>
            </a:extLst>
          </p:cNvPr>
          <p:cNvGraphicFramePr>
            <a:graphicFrameLocks noGrp="1"/>
          </p:cNvGraphicFramePr>
          <p:nvPr/>
        </p:nvGraphicFramePr>
        <p:xfrm>
          <a:off x="1643063" y="3000375"/>
          <a:ext cx="5929313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53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SALARY*COMMISSION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43D6FC55-884A-59CD-5C47-5E9872E71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Column Heading Default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5CAF14A0-5C3B-ADBD-168C-79B9C4244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844824"/>
            <a:ext cx="8153400" cy="35433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dirty="0"/>
              <a:t>Uppercase, however can be override the column heading with heading display with an alias.</a:t>
            </a:r>
          </a:p>
          <a:p>
            <a:pPr eaLnBrk="1" hangingPunct="1"/>
            <a:r>
              <a:rPr lang="en-US" altLang="en-US" sz="2400" dirty="0"/>
              <a:t>A column alias:</a:t>
            </a:r>
          </a:p>
          <a:p>
            <a:pPr lvl="1" eaLnBrk="1" hangingPunct="1"/>
            <a:r>
              <a:rPr lang="en-US" altLang="en-US" sz="2000" dirty="0"/>
              <a:t>Is useful with calculations</a:t>
            </a:r>
          </a:p>
          <a:p>
            <a:pPr lvl="1" eaLnBrk="1" hangingPunct="1"/>
            <a:r>
              <a:rPr lang="en-US" altLang="en-US" sz="2000" dirty="0"/>
              <a:t>Immediately follows the column name (There can be also the optional AS keyword between column name and the alias.)</a:t>
            </a:r>
          </a:p>
          <a:p>
            <a:pPr lvl="1" eaLnBrk="1" hangingPunct="1"/>
            <a:r>
              <a:rPr lang="en-US" altLang="en-US" sz="2000" dirty="0"/>
              <a:t>Requires double quotation marks if it contains spaces of special characters, or if it is case-sensitive.</a:t>
            </a:r>
          </a:p>
          <a:p>
            <a:pPr eaLnBrk="1" hangingPunct="1"/>
            <a:r>
              <a:rPr lang="en-US" altLang="en-US" sz="2400" dirty="0"/>
              <a:t>Example:</a:t>
            </a:r>
            <a:br>
              <a:rPr lang="en-US" altLang="en-US" sz="2400" dirty="0"/>
            </a:br>
            <a:endParaRPr lang="en-US" altLang="en-US" sz="2400" dirty="0"/>
          </a:p>
        </p:txBody>
      </p:sp>
      <p:sp>
        <p:nvSpPr>
          <p:cNvPr id="23556" name="TextBox 3">
            <a:extLst>
              <a:ext uri="{FF2B5EF4-FFF2-40B4-BE49-F238E27FC236}">
                <a16:creationId xmlns:a16="http://schemas.microsoft.com/office/drawing/2014/main" id="{69FC3529-CD6A-F74E-4A24-6839447FE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5143500"/>
            <a:ext cx="6096000" cy="83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last_name as name, nokp as identityno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employee;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9DE03C-1BC9-C7B1-2F1D-8892FA3DDD59}"/>
              </a:ext>
            </a:extLst>
          </p:cNvPr>
          <p:cNvGraphicFramePr>
            <a:graphicFrameLocks noGrp="1"/>
          </p:cNvGraphicFramePr>
          <p:nvPr/>
        </p:nvGraphicFramePr>
        <p:xfrm>
          <a:off x="6500813" y="5143500"/>
          <a:ext cx="2428875" cy="1443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7"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IDENTITYNO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790120-14-6222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7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800828-10-6323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9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870401-12-6087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A9941C84-5051-DA75-CAF5-717F4E89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781488" cy="1450757"/>
          </a:xfrm>
        </p:spPr>
        <p:txBody>
          <a:bodyPr/>
          <a:lstStyle/>
          <a:p>
            <a:pPr eaLnBrk="1" hangingPunct="1"/>
            <a:r>
              <a:rPr lang="en-US" altLang="en-US" dirty="0"/>
              <a:t>Column Heading Default ..</a:t>
            </a:r>
            <a:r>
              <a:rPr lang="en-US" altLang="en-US" i="1" dirty="0"/>
              <a:t>cont.</a:t>
            </a:r>
          </a:p>
        </p:txBody>
      </p:sp>
      <p:sp>
        <p:nvSpPr>
          <p:cNvPr id="24579" name="TextBox 3">
            <a:extLst>
              <a:ext uri="{FF2B5EF4-FFF2-40B4-BE49-F238E27FC236}">
                <a16:creationId xmlns:a16="http://schemas.microsoft.com/office/drawing/2014/main" id="{45BFF79E-0003-0702-71BB-3BD6A8CCE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069" y="1865310"/>
            <a:ext cx="6653212" cy="8302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SELECT </a:t>
            </a:r>
            <a:r>
              <a:rPr lang="en-US" altLang="en-US" sz="2400" dirty="0" err="1"/>
              <a:t>last_name</a:t>
            </a:r>
            <a:r>
              <a:rPr lang="en-US" altLang="en-US" sz="2400" dirty="0"/>
              <a:t> as “</a:t>
            </a:r>
            <a:r>
              <a:rPr lang="en-US" altLang="en-US" sz="2400" dirty="0" err="1"/>
              <a:t>NaMe</a:t>
            </a:r>
            <a:r>
              <a:rPr lang="en-US" altLang="en-US" sz="2400" dirty="0"/>
              <a:t>”, </a:t>
            </a:r>
            <a:r>
              <a:rPr lang="en-US" altLang="en-US" sz="2400" dirty="0" err="1"/>
              <a:t>nokp</a:t>
            </a:r>
            <a:r>
              <a:rPr lang="en-US" altLang="en-US" sz="2400" dirty="0"/>
              <a:t> as “identity no”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FROM employee;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8AC691-783A-65F2-CF69-14820DCE8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432828"/>
              </p:ext>
            </p:extLst>
          </p:nvPr>
        </p:nvGraphicFramePr>
        <p:xfrm>
          <a:off x="3850365" y="2529837"/>
          <a:ext cx="2428875" cy="1443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7">
                <a:tc>
                  <a:txBody>
                    <a:bodyPr/>
                    <a:lstStyle/>
                    <a:p>
                      <a:r>
                        <a:rPr lang="en-US" sz="1200" dirty="0" err="1"/>
                        <a:t>NaMe</a:t>
                      </a:r>
                      <a:endParaRPr lang="en-US" sz="12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Identity no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790120-14-6222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7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800828-10-6323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9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870401-12-6087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597" name="TextBox 5">
            <a:extLst>
              <a:ext uri="{FF2B5EF4-FFF2-40B4-BE49-F238E27FC236}">
                <a16:creationId xmlns:a16="http://schemas.microsoft.com/office/drawing/2014/main" id="{83A1827D-FF45-DFD2-DE39-71D52F50A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4143375"/>
            <a:ext cx="7327900" cy="83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last_name as “**Name**”, nokp as “#identityno”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employee;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10A027-9B4D-034C-4063-1F5F1144B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640341"/>
              </p:ext>
            </p:extLst>
          </p:nvPr>
        </p:nvGraphicFramePr>
        <p:xfrm>
          <a:off x="3850365" y="4869160"/>
          <a:ext cx="2428875" cy="1443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7">
                <a:tc>
                  <a:txBody>
                    <a:bodyPr/>
                    <a:lstStyle/>
                    <a:p>
                      <a:r>
                        <a:rPr lang="en-US" sz="1200" dirty="0"/>
                        <a:t>**Name**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#</a:t>
                      </a:r>
                      <a:r>
                        <a:rPr lang="en-US" sz="1200" dirty="0" err="1"/>
                        <a:t>identityno</a:t>
                      </a:r>
                      <a:endParaRPr lang="en-US" sz="12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790120-14-6222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7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800828-10-6323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9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870401-12-6087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C0FF7173-D8EE-108C-CCB0-3DED79B9E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Concatenation Operator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FB044976-0760-C581-BEC9-5A0D139CD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907223"/>
            <a:ext cx="8153400" cy="2257425"/>
          </a:xfrm>
        </p:spPr>
        <p:txBody>
          <a:bodyPr/>
          <a:lstStyle/>
          <a:p>
            <a:pPr eaLnBrk="1" hangingPunct="1"/>
            <a:r>
              <a:rPr lang="en-US" altLang="en-US" dirty="0"/>
              <a:t>Links columns or character strings to other columns</a:t>
            </a:r>
          </a:p>
          <a:p>
            <a:pPr eaLnBrk="1" hangingPunct="1"/>
            <a:r>
              <a:rPr lang="en-US" altLang="en-US" dirty="0"/>
              <a:t>Is represented by two vertical bars (||)</a:t>
            </a:r>
          </a:p>
          <a:p>
            <a:pPr eaLnBrk="1" hangingPunct="1"/>
            <a:r>
              <a:rPr lang="en-US" altLang="en-US" dirty="0"/>
              <a:t>Create a resultant column that is a character expression</a:t>
            </a:r>
          </a:p>
        </p:txBody>
      </p:sp>
      <p:sp>
        <p:nvSpPr>
          <p:cNvPr id="25604" name="TextBox 3">
            <a:extLst>
              <a:ext uri="{FF2B5EF4-FFF2-40B4-BE49-F238E27FC236}">
                <a16:creationId xmlns:a16="http://schemas.microsoft.com/office/drawing/2014/main" id="{DC087BEC-7EAB-89C3-08CF-7367850B1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3714750"/>
            <a:ext cx="6715125" cy="83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last_name || first_name as “employeeName”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employee;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7D2BDE-883B-BA92-D62A-39A67769E085}"/>
              </a:ext>
            </a:extLst>
          </p:cNvPr>
          <p:cNvGraphicFramePr>
            <a:graphicFrameLocks noGrp="1"/>
          </p:cNvGraphicFramePr>
          <p:nvPr/>
        </p:nvGraphicFramePr>
        <p:xfrm>
          <a:off x="7000875" y="3714750"/>
          <a:ext cx="1785938" cy="229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 err="1"/>
                        <a:t>employeeName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r>
                        <a:rPr lang="en-US" sz="1200" dirty="0"/>
                        <a:t> 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529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623" name="Content Placeholder 2">
            <a:extLst>
              <a:ext uri="{FF2B5EF4-FFF2-40B4-BE49-F238E27FC236}">
                <a16:creationId xmlns:a16="http://schemas.microsoft.com/office/drawing/2014/main" id="{260FA666-709F-564B-64D2-6ED2241DECF1}"/>
              </a:ext>
            </a:extLst>
          </p:cNvPr>
          <p:cNvSpPr txBox="1">
            <a:spLocks/>
          </p:cNvSpPr>
          <p:nvPr/>
        </p:nvSpPr>
        <p:spPr bwMode="auto">
          <a:xfrm>
            <a:off x="214313" y="4714875"/>
            <a:ext cx="671512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9088" indent="-319088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/>
            <a:r>
              <a:rPr lang="en-US" altLang="en-US" sz="2400"/>
              <a:t>If a null value with a character string, the result is a character string.</a:t>
            </a:r>
          </a:p>
          <a:p>
            <a:pPr eaLnBrk="1" hangingPunct="1">
              <a:buFontTx/>
              <a:buNone/>
            </a:pPr>
            <a:r>
              <a:rPr lang="en-US" altLang="en-US" sz="2400"/>
              <a:t>	e.g: last_name || null </a:t>
            </a:r>
            <a:r>
              <a:rPr lang="en-US" altLang="en-US" sz="2400">
                <a:sym typeface="Wingdings" panose="05000000000000000000" pitchFamily="2" charset="2"/>
              </a:rPr>
              <a:t> last_name</a:t>
            </a:r>
            <a:endParaRPr lang="en-US" altLang="en-US" sz="2400"/>
          </a:p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AF0770D5-949E-BBA7-E937-0AAAA7C40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Using Literal Character Strings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70C3CBB4-C0A5-A922-2240-80B13B334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408" y="2132856"/>
            <a:ext cx="8153400" cy="38290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Literal is a character, a number, or a date that is included in the select statement.</a:t>
            </a:r>
          </a:p>
          <a:p>
            <a:pPr eaLnBrk="1" hangingPunct="1"/>
            <a:r>
              <a:rPr lang="en-US" altLang="en-US" sz="2800" dirty="0"/>
              <a:t>It is not a column name or a column alias.</a:t>
            </a:r>
          </a:p>
          <a:p>
            <a:pPr eaLnBrk="1" hangingPunct="1"/>
            <a:r>
              <a:rPr lang="en-US" altLang="en-US" sz="2800" dirty="0"/>
              <a:t>Date and character literal values must be enclosed within single quotation marks; number literals need not be enclosed in a similar manner;</a:t>
            </a:r>
          </a:p>
          <a:p>
            <a:pPr eaLnBrk="1" hangingPunct="1"/>
            <a:r>
              <a:rPr lang="en-US" altLang="en-US" sz="2800" dirty="0"/>
              <a:t>Each character string is output once for each row returned.</a:t>
            </a:r>
          </a:p>
          <a:p>
            <a:pPr eaLnBrk="1" hangingPunct="1"/>
            <a:endParaRPr lang="en-US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723CC-86AE-F8AB-1CD6-B495B4C3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Using Literal Character Strings ..</a:t>
            </a:r>
            <a:r>
              <a:rPr lang="en-US" i="1" dirty="0"/>
              <a:t>cont.</a:t>
            </a:r>
          </a:p>
        </p:txBody>
      </p:sp>
      <p:sp>
        <p:nvSpPr>
          <p:cNvPr id="27651" name="TextBox 3">
            <a:extLst>
              <a:ext uri="{FF2B5EF4-FFF2-40B4-BE49-F238E27FC236}">
                <a16:creationId xmlns:a16="http://schemas.microsoft.com/office/drawing/2014/main" id="{84FADD1F-D053-0128-3FFB-1C5050CFB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641" y="1882299"/>
            <a:ext cx="8072438" cy="83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last_name ||’:s 1 month salary =‘||salary Monthly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employee;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120B44-B674-CF7A-0D50-4FC8E216758B}"/>
              </a:ext>
            </a:extLst>
          </p:cNvPr>
          <p:cNvGraphicFramePr>
            <a:graphicFrameLocks noGrp="1"/>
          </p:cNvGraphicFramePr>
          <p:nvPr/>
        </p:nvGraphicFramePr>
        <p:xfrm>
          <a:off x="2214563" y="2857500"/>
          <a:ext cx="3500437" cy="229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MONTHLY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r>
                        <a:rPr lang="en-US" sz="1200" baseline="0" dirty="0"/>
                        <a:t> :1 month salary = 1000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529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Ahmad: </a:t>
                      </a:r>
                      <a:r>
                        <a:rPr lang="en-US" sz="1200" baseline="0" dirty="0"/>
                        <a:t>1 month salary = 1200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 : 1 month salary = 1500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r>
                        <a:rPr lang="en-US" sz="1200" dirty="0"/>
                        <a:t>: </a:t>
                      </a:r>
                      <a:r>
                        <a:rPr lang="en-US" sz="1200" baseline="0" dirty="0"/>
                        <a:t>1 month salary = 1800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r>
                        <a:rPr lang="en-US" sz="1200" baseline="0" dirty="0"/>
                        <a:t>: 1 month salary = 1230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Duff: </a:t>
                      </a:r>
                      <a:r>
                        <a:rPr lang="en-US" sz="1200" baseline="0" dirty="0"/>
                        <a:t>1 month salary = 2500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11411-D31E-2706-7EE0-668D62A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Using Literal Character Strings ..</a:t>
            </a:r>
            <a:r>
              <a:rPr lang="en-US" i="1" dirty="0"/>
              <a:t>cont.</a:t>
            </a:r>
          </a:p>
        </p:txBody>
      </p:sp>
      <p:sp>
        <p:nvSpPr>
          <p:cNvPr id="28675" name="TextBox 3">
            <a:extLst>
              <a:ext uri="{FF2B5EF4-FFF2-40B4-BE49-F238E27FC236}">
                <a16:creationId xmlns:a16="http://schemas.microsoft.com/office/drawing/2014/main" id="{5C1F8D2D-7E59-CF8D-AC0C-EA6D6B79B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916906"/>
            <a:ext cx="8072438" cy="83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last_name ||’’’s 1 month salary =‘||salary Monthly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employee;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F54043-7B5D-9256-9E97-430CB478509B}"/>
              </a:ext>
            </a:extLst>
          </p:cNvPr>
          <p:cNvGraphicFramePr>
            <a:graphicFrameLocks noGrp="1"/>
          </p:cNvGraphicFramePr>
          <p:nvPr/>
        </p:nvGraphicFramePr>
        <p:xfrm>
          <a:off x="1000125" y="2786063"/>
          <a:ext cx="3500438" cy="2293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MONTHLY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r>
                        <a:rPr lang="en-US" sz="1200" baseline="0" dirty="0"/>
                        <a:t> ‘s1 month salary = 1000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528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Ahmad’s </a:t>
                      </a:r>
                      <a:r>
                        <a:rPr lang="en-US" sz="1200" baseline="0" dirty="0"/>
                        <a:t>1 month salary = 1200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 ‘s 1 month salary = 1500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r>
                        <a:rPr lang="en-US" sz="1200" dirty="0"/>
                        <a:t> ‘s </a:t>
                      </a:r>
                      <a:r>
                        <a:rPr lang="en-US" sz="1200" baseline="0" dirty="0"/>
                        <a:t>1 month salary = 1800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Shahizan’s</a:t>
                      </a:r>
                      <a:r>
                        <a:rPr lang="en-US" sz="1200" baseline="0" dirty="0"/>
                        <a:t> 1 month salary = 1230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 ‘s </a:t>
                      </a:r>
                      <a:r>
                        <a:rPr lang="en-US" sz="1200" baseline="0" dirty="0"/>
                        <a:t>1 month salary = 2500</a:t>
                      </a:r>
                      <a:endParaRPr lang="en-US" sz="1200" dirty="0"/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694" name="TextBox 7">
            <a:extLst>
              <a:ext uri="{FF2B5EF4-FFF2-40B4-BE49-F238E27FC236}">
                <a16:creationId xmlns:a16="http://schemas.microsoft.com/office/drawing/2014/main" id="{8D4C1895-CD42-8A62-DE8F-CC20435D3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5643563"/>
            <a:ext cx="8072438" cy="8302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last_name ||</a:t>
            </a:r>
            <a:r>
              <a:rPr lang="en-US" altLang="en-US" sz="2400" b="1">
                <a:solidFill>
                  <a:srgbClr val="FF0000"/>
                </a:solidFill>
              </a:rPr>
              <a:t>q</a:t>
            </a:r>
            <a:r>
              <a:rPr lang="en-US" altLang="en-US" sz="2400"/>
              <a:t>’[‘s 1 month salary =]’||salary Monthly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employee; </a:t>
            </a:r>
          </a:p>
        </p:txBody>
      </p:sp>
      <p:sp>
        <p:nvSpPr>
          <p:cNvPr id="28695" name="TextBox 8">
            <a:extLst>
              <a:ext uri="{FF2B5EF4-FFF2-40B4-BE49-F238E27FC236}">
                <a16:creationId xmlns:a16="http://schemas.microsoft.com/office/drawing/2014/main" id="{1E5C261F-594A-DEA2-D1EF-BB6A1D510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3786188"/>
            <a:ext cx="38084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Or you can use Quote (</a:t>
            </a:r>
            <a:r>
              <a:rPr lang="en-US" altLang="en-US" sz="2000" b="1">
                <a:solidFill>
                  <a:srgbClr val="FF0000"/>
                </a:solidFill>
              </a:rPr>
              <a:t>q</a:t>
            </a:r>
            <a:r>
              <a:rPr lang="en-US" altLang="en-US" sz="2000"/>
              <a:t>) Operator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[ ],&lt; &gt;,{ }, ( ) are allowed 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DADCA92A-583D-5330-9B3D-291001F3E196}"/>
              </a:ext>
            </a:extLst>
          </p:cNvPr>
          <p:cNvSpPr/>
          <p:nvPr/>
        </p:nvSpPr>
        <p:spPr>
          <a:xfrm>
            <a:off x="5857875" y="4572000"/>
            <a:ext cx="714375" cy="928688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FACE5B68-69AC-BCD9-6B86-74A1E0FE1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Duplicate Rows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B92589F3-2FCA-229F-2197-F3BC2F320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135932"/>
            <a:ext cx="8153400" cy="1185863"/>
          </a:xfrm>
        </p:spPr>
        <p:txBody>
          <a:bodyPr/>
          <a:lstStyle/>
          <a:p>
            <a:pPr eaLnBrk="1" hangingPunct="1"/>
            <a:r>
              <a:rPr lang="en-US" altLang="en-US"/>
              <a:t>The default display of queries is all rows, including duplicate rows.</a:t>
            </a:r>
          </a:p>
        </p:txBody>
      </p:sp>
      <p:sp>
        <p:nvSpPr>
          <p:cNvPr id="29700" name="TextBox 3">
            <a:extLst>
              <a:ext uri="{FF2B5EF4-FFF2-40B4-BE49-F238E27FC236}">
                <a16:creationId xmlns:a16="http://schemas.microsoft.com/office/drawing/2014/main" id="{3EC8998E-4876-E538-99EF-23C30250D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313" y="2857500"/>
            <a:ext cx="241300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department_id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employee; </a:t>
            </a:r>
          </a:p>
        </p:txBody>
      </p:sp>
      <p:sp>
        <p:nvSpPr>
          <p:cNvPr id="29701" name="TextBox 4">
            <a:extLst>
              <a:ext uri="{FF2B5EF4-FFF2-40B4-BE49-F238E27FC236}">
                <a16:creationId xmlns:a16="http://schemas.microsoft.com/office/drawing/2014/main" id="{3045D6C3-213A-A3F2-BB58-0A7885EA3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2857500"/>
            <a:ext cx="3241675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DISTINCT department_id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employee;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E23D57-9F31-FA44-976F-B64A1A458399}"/>
              </a:ext>
            </a:extLst>
          </p:cNvPr>
          <p:cNvGraphicFramePr>
            <a:graphicFrameLocks noGrp="1"/>
          </p:cNvGraphicFramePr>
          <p:nvPr/>
        </p:nvGraphicFramePr>
        <p:xfrm>
          <a:off x="1643063" y="3786188"/>
          <a:ext cx="1571625" cy="2293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DEPARTMENT_ID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528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5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91ECF3-E70B-67F9-E882-04FCD3BA7043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3786188"/>
          <a:ext cx="1571625" cy="1270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5">
                <a:tc>
                  <a:txBody>
                    <a:bodyPr/>
                    <a:lstStyle/>
                    <a:p>
                      <a:r>
                        <a:rPr lang="en-US" sz="1200" dirty="0"/>
                        <a:t>DEPARTMENT_ID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530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8"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732" name="TextBox 8">
            <a:extLst>
              <a:ext uri="{FF2B5EF4-FFF2-40B4-BE49-F238E27FC236}">
                <a16:creationId xmlns:a16="http://schemas.microsoft.com/office/drawing/2014/main" id="{AE9F3115-A687-B203-C995-C86701062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313" y="5214938"/>
            <a:ext cx="53673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Note: </a:t>
            </a:r>
            <a:r>
              <a:rPr lang="en-US" altLang="en-US" sz="1800"/>
              <a:t>If you specify multiple columns after the DISTINCT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qualifier, the result is every distinct combination of the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columns.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55D95630-8285-CB3B-DEEA-92E0C2D6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Displaying the Table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BC9BA-5571-5953-26A3-20981D7E6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636" y="1815677"/>
            <a:ext cx="8153400" cy="4757738"/>
          </a:xfrm>
        </p:spPr>
        <p:txBody>
          <a:bodyPr>
            <a:normAutofit lnSpcReduction="10000"/>
          </a:bodyPr>
          <a:lstStyle/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dirty="0"/>
              <a:t>Use DESCRIBE command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err="1"/>
              <a:t>e.g</a:t>
            </a:r>
            <a:r>
              <a:rPr lang="en-US" dirty="0"/>
              <a:t>:	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err="1"/>
              <a:t>desc</a:t>
            </a:r>
            <a:r>
              <a:rPr lang="en-US" dirty="0"/>
              <a:t> faculty;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400" dirty="0"/>
              <a:t>Name                       	Null             	Type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400" dirty="0"/>
              <a:t>------------------------- 	-------------- 	-----------------------------------------------------------------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400" dirty="0"/>
              <a:t>FACULTYID               	NOT NULL 	NUMBER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400" dirty="0"/>
              <a:t>LNAME                    	NOT NULL 	VARCHAR2(30) 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400" dirty="0"/>
              <a:t>FNAME                      	NOT NULL	VARCHAR2(20) 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400" dirty="0"/>
              <a:t>DEPT                         	                	VARCHAR2(5) 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400" dirty="0"/>
              <a:t>OFFICEID                   	                	NUMBER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400" dirty="0"/>
              <a:t>PHONE                      	                 	VARCHAR2(15) 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400" dirty="0"/>
              <a:t>EMAIL                         		VARCHAR2(75) 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400" dirty="0"/>
              <a:t>RANK                        	 	CHAR(4) 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400" dirty="0"/>
              <a:t>8 rows selected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6E6F142-ADDC-66CD-A580-00E2AC224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Quiz</a:t>
            </a:r>
          </a:p>
        </p:txBody>
      </p:sp>
      <p:sp>
        <p:nvSpPr>
          <p:cNvPr id="31747" name="Content Placeholder 3">
            <a:extLst>
              <a:ext uri="{FF2B5EF4-FFF2-40B4-BE49-F238E27FC236}">
                <a16:creationId xmlns:a16="http://schemas.microsoft.com/office/drawing/2014/main" id="{2E21194D-0A69-DDA3-55D0-E74713D56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667" y="1885950"/>
            <a:ext cx="8153400" cy="6143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Identify the SELECT statements that execute successfully.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1748" name="TextBox 4">
            <a:extLst>
              <a:ext uri="{FF2B5EF4-FFF2-40B4-BE49-F238E27FC236}">
                <a16:creationId xmlns:a16="http://schemas.microsoft.com/office/drawing/2014/main" id="{783AB98A-8D6C-B851-FD68-2E9D7616D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428875"/>
            <a:ext cx="8072438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SELECT </a:t>
            </a:r>
            <a:r>
              <a:rPr lang="en-US" altLang="en-US" sz="2000" dirty="0" err="1"/>
              <a:t>first_name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last_name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job_id</a:t>
            </a:r>
            <a:r>
              <a:rPr lang="en-US" altLang="en-US" sz="2000" dirty="0"/>
              <a:t>, salary*12 as yearly salary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FROM employees; </a:t>
            </a:r>
          </a:p>
        </p:txBody>
      </p:sp>
      <p:sp>
        <p:nvSpPr>
          <p:cNvPr id="31749" name="TextBox 5">
            <a:extLst>
              <a:ext uri="{FF2B5EF4-FFF2-40B4-BE49-F238E27FC236}">
                <a16:creationId xmlns:a16="http://schemas.microsoft.com/office/drawing/2014/main" id="{8E155256-EE8A-7916-6AD8-CDD9093C1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500313"/>
            <a:ext cx="361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1.</a:t>
            </a:r>
          </a:p>
        </p:txBody>
      </p:sp>
      <p:sp>
        <p:nvSpPr>
          <p:cNvPr id="31750" name="TextBox 6">
            <a:extLst>
              <a:ext uri="{FF2B5EF4-FFF2-40B4-BE49-F238E27FC236}">
                <a16:creationId xmlns:a16="http://schemas.microsoft.com/office/drawing/2014/main" id="{D0B6A33B-E283-81D7-4C82-013C95FE6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357563"/>
            <a:ext cx="8072438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SELECT first_name, last_name, job_id, salary*12 “yearly salary”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FROM employees; </a:t>
            </a:r>
          </a:p>
        </p:txBody>
      </p:sp>
      <p:sp>
        <p:nvSpPr>
          <p:cNvPr id="31751" name="TextBox 7">
            <a:extLst>
              <a:ext uri="{FF2B5EF4-FFF2-40B4-BE49-F238E27FC236}">
                <a16:creationId xmlns:a16="http://schemas.microsoft.com/office/drawing/2014/main" id="{C46A6982-104A-3FB9-394E-05AA5D634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4286250"/>
            <a:ext cx="8072438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SELECT first_name, last_name, job_id, salary*12 as “yearly salary”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FROM employees; </a:t>
            </a:r>
          </a:p>
        </p:txBody>
      </p:sp>
      <p:sp>
        <p:nvSpPr>
          <p:cNvPr id="31752" name="TextBox 8">
            <a:extLst>
              <a:ext uri="{FF2B5EF4-FFF2-40B4-BE49-F238E27FC236}">
                <a16:creationId xmlns:a16="http://schemas.microsoft.com/office/drawing/2014/main" id="{999E4D41-0F58-A1A0-00D6-19E8C6826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5143500"/>
            <a:ext cx="8072438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SELECT first_name || last_name name||’q{‘s total salary is}’||salary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FROM employees; </a:t>
            </a:r>
          </a:p>
        </p:txBody>
      </p:sp>
      <p:sp>
        <p:nvSpPr>
          <p:cNvPr id="31753" name="TextBox 9">
            <a:extLst>
              <a:ext uri="{FF2B5EF4-FFF2-40B4-BE49-F238E27FC236}">
                <a16:creationId xmlns:a16="http://schemas.microsoft.com/office/drawing/2014/main" id="{E8D95473-D1F7-5DAA-5E2B-481ECBACB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3500438"/>
            <a:ext cx="361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2.</a:t>
            </a:r>
          </a:p>
        </p:txBody>
      </p:sp>
      <p:sp>
        <p:nvSpPr>
          <p:cNvPr id="31754" name="TextBox 10">
            <a:extLst>
              <a:ext uri="{FF2B5EF4-FFF2-40B4-BE49-F238E27FC236}">
                <a16:creationId xmlns:a16="http://schemas.microsoft.com/office/drawing/2014/main" id="{DAFFFC54-45C4-A4DC-FAED-A8FA16B9A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4500563"/>
            <a:ext cx="361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3.</a:t>
            </a:r>
          </a:p>
        </p:txBody>
      </p:sp>
      <p:sp>
        <p:nvSpPr>
          <p:cNvPr id="31755" name="TextBox 11">
            <a:extLst>
              <a:ext uri="{FF2B5EF4-FFF2-40B4-BE49-F238E27FC236}">
                <a16:creationId xmlns:a16="http://schemas.microsoft.com/office/drawing/2014/main" id="{77A81292-1DBB-2A4D-2BD6-73CA698D0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5357813"/>
            <a:ext cx="361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0CBCB7D-1AF5-8F4F-E1F5-1E753CA1E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Limiting Rows using a Selection</a:t>
            </a: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51F66F02-AE93-502E-7250-6832B7F44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787" y="2121693"/>
            <a:ext cx="8153400" cy="1042988"/>
          </a:xfrm>
        </p:spPr>
        <p:txBody>
          <a:bodyPr/>
          <a:lstStyle/>
          <a:p>
            <a:pPr eaLnBrk="1" hangingPunct="1"/>
            <a:r>
              <a:rPr lang="en-US" altLang="en-US" dirty="0"/>
              <a:t>Restrict the rows that are returned by using the WHERE clause:</a:t>
            </a:r>
          </a:p>
        </p:txBody>
      </p:sp>
      <p:sp>
        <p:nvSpPr>
          <p:cNvPr id="32772" name="TextBox 4">
            <a:extLst>
              <a:ext uri="{FF2B5EF4-FFF2-40B4-BE49-F238E27FC236}">
                <a16:creationId xmlns:a16="http://schemas.microsoft.com/office/drawing/2014/main" id="{A9AC1850-D660-8429-B768-3AB63F2B6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2786063"/>
            <a:ext cx="7693025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*|{[DISTINCT] column_name | expression [alias],…..}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table_name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[WHERE conditon(s)]; </a:t>
            </a:r>
          </a:p>
        </p:txBody>
      </p:sp>
      <p:sp>
        <p:nvSpPr>
          <p:cNvPr id="32773" name="Content Placeholder 3">
            <a:extLst>
              <a:ext uri="{FF2B5EF4-FFF2-40B4-BE49-F238E27FC236}">
                <a16:creationId xmlns:a16="http://schemas.microsoft.com/office/drawing/2014/main" id="{6658CBA4-39E4-D5B1-9F2F-BF72645967F2}"/>
              </a:ext>
            </a:extLst>
          </p:cNvPr>
          <p:cNvSpPr txBox="1">
            <a:spLocks/>
          </p:cNvSpPr>
          <p:nvPr/>
        </p:nvSpPr>
        <p:spPr bwMode="auto">
          <a:xfrm>
            <a:off x="714375" y="4214813"/>
            <a:ext cx="81534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9088" indent="-319088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76288" indent="-319088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/>
            <a:r>
              <a:rPr lang="en-US" altLang="en-US"/>
              <a:t>WHERE clause consists of three elements:</a:t>
            </a:r>
          </a:p>
          <a:p>
            <a:pPr lvl="1"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</a:pPr>
            <a:r>
              <a:rPr lang="en-US" altLang="en-US" sz="2000"/>
              <a:t>column name</a:t>
            </a:r>
          </a:p>
          <a:p>
            <a:pPr lvl="1"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</a:pPr>
            <a:r>
              <a:rPr lang="en-US" altLang="en-US" sz="2000"/>
              <a:t>comparison condition</a:t>
            </a:r>
          </a:p>
          <a:p>
            <a:pPr lvl="1"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</a:pPr>
            <a:r>
              <a:rPr lang="en-US" altLang="en-US" sz="2000"/>
              <a:t>column name, constant or list of values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B3957-648B-5FDA-116E-8526DF6D0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8069520" cy="1166218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Limiting Rows using a Selection ..</a:t>
            </a:r>
            <a:r>
              <a:rPr lang="en-US" i="1" dirty="0"/>
              <a:t>cont.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C3768C-C6DB-B2FB-FDC8-08AD921EBC12}"/>
              </a:ext>
            </a:extLst>
          </p:cNvPr>
          <p:cNvGraphicFramePr>
            <a:graphicFrameLocks noGrp="1"/>
          </p:cNvGraphicFramePr>
          <p:nvPr/>
        </p:nvGraphicFramePr>
        <p:xfrm>
          <a:off x="642938" y="1571625"/>
          <a:ext cx="580548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6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SALARY*COMMISSION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845" name="TextBox 4">
            <a:extLst>
              <a:ext uri="{FF2B5EF4-FFF2-40B4-BE49-F238E27FC236}">
                <a16:creationId xmlns:a16="http://schemas.microsoft.com/office/drawing/2014/main" id="{25B523D7-EB7F-EB54-A6F6-834177314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143375"/>
            <a:ext cx="4429125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WHERE dept_id = 20;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65C2B6-99F9-BF9A-70AB-6B1E9A621DA1}"/>
              </a:ext>
            </a:extLst>
          </p:cNvPr>
          <p:cNvGraphicFramePr>
            <a:graphicFrameLocks noGrp="1"/>
          </p:cNvGraphicFramePr>
          <p:nvPr/>
        </p:nvGraphicFramePr>
        <p:xfrm>
          <a:off x="2500313" y="5214938"/>
          <a:ext cx="3989387" cy="1423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52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8" marR="91448" marT="45709" marB="4570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8" marR="91448" marT="45709" marB="4570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8" marR="91448" marT="45709" marB="4570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8" marR="91448" marT="45709" marB="4570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52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8" marR="91448" marT="45709" marB="4570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09" marB="4570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8" marR="91448" marT="45709" marB="4570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8" marR="91448" marT="45709" marB="457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41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8" marR="91448" marT="45709" marB="4570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09" marB="4570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8" marR="91448" marT="45709" marB="4570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8" marR="91448" marT="45709" marB="457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241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8" marR="91448" marT="45709" marB="4570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09" marB="4570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8" marR="91448" marT="45709" marB="4570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8" marR="91448" marT="45709" marB="4570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7A48D2FB-D118-C092-6D57-D7A0EC46ABD5}"/>
              </a:ext>
            </a:extLst>
          </p:cNvPr>
          <p:cNvSpPr/>
          <p:nvPr/>
        </p:nvSpPr>
        <p:spPr>
          <a:xfrm rot="20383790">
            <a:off x="6281738" y="4381500"/>
            <a:ext cx="714375" cy="928688"/>
          </a:xfrm>
          <a:prstGeom prst="curvedLeftArrow">
            <a:avLst>
              <a:gd name="adj1" fmla="val 25000"/>
              <a:gd name="adj2" fmla="val 48706"/>
              <a:gd name="adj3" fmla="val 28840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F391-1EC0-CA21-ACA0-1F4A26E44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47049"/>
            <a:ext cx="7925504" cy="1450757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Limiting Rows using a Selection ..</a:t>
            </a:r>
            <a:r>
              <a:rPr lang="en-US" i="1" dirty="0"/>
              <a:t>cont.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F9E402-57D1-D9E0-058E-D604A91E3542}"/>
              </a:ext>
            </a:extLst>
          </p:cNvPr>
          <p:cNvGraphicFramePr>
            <a:graphicFrameLocks noGrp="1"/>
          </p:cNvGraphicFramePr>
          <p:nvPr/>
        </p:nvGraphicFramePr>
        <p:xfrm>
          <a:off x="142875" y="1571625"/>
          <a:ext cx="580548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6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SALARY*COMMISSION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869" name="TextBox 4">
            <a:extLst>
              <a:ext uri="{FF2B5EF4-FFF2-40B4-BE49-F238E27FC236}">
                <a16:creationId xmlns:a16="http://schemas.microsoft.com/office/drawing/2014/main" id="{DF5E5009-D3C5-1C44-16DB-7FCFE38E6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143375"/>
            <a:ext cx="4429125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WHERE last_name = ‘Siti Razilah’;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96694F-4FB7-0368-D8F6-88910E365C05}"/>
              </a:ext>
            </a:extLst>
          </p:cNvPr>
          <p:cNvGraphicFramePr>
            <a:graphicFrameLocks noGrp="1"/>
          </p:cNvGraphicFramePr>
          <p:nvPr/>
        </p:nvGraphicFramePr>
        <p:xfrm>
          <a:off x="2500313" y="5214938"/>
          <a:ext cx="3989387" cy="74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8" marR="9144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8" marR="9144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C90D6CA6-4639-250D-6222-DC4593369AD1}"/>
              </a:ext>
            </a:extLst>
          </p:cNvPr>
          <p:cNvSpPr/>
          <p:nvPr/>
        </p:nvSpPr>
        <p:spPr>
          <a:xfrm rot="20383790">
            <a:off x="6281738" y="4381500"/>
            <a:ext cx="714375" cy="928688"/>
          </a:xfrm>
          <a:prstGeom prst="curvedLeftArrow">
            <a:avLst>
              <a:gd name="adj1" fmla="val 25000"/>
              <a:gd name="adj2" fmla="val 48706"/>
              <a:gd name="adj3" fmla="val 28840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592B6-7219-2F05-1138-8CD6A6A3990C}"/>
              </a:ext>
            </a:extLst>
          </p:cNvPr>
          <p:cNvSpPr txBox="1"/>
          <p:nvPr/>
        </p:nvSpPr>
        <p:spPr>
          <a:xfrm>
            <a:off x="6072188" y="2357438"/>
            <a:ext cx="2900362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1600" dirty="0">
                <a:latin typeface="+mn-lt"/>
              </a:rPr>
              <a:t>Character strings and data values are enclosed with single quotation marks.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1600" dirty="0">
              <a:latin typeface="+mn-lt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1600" dirty="0">
                <a:latin typeface="+mn-lt"/>
              </a:rPr>
              <a:t>Character values are case-sensitive and date value are format-sensitive.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42A4484F-0BB6-3E82-55EB-D3F05A3E1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Comparison 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6203CB-6EC4-E734-2A64-13C87DA94B07}"/>
              </a:ext>
            </a:extLst>
          </p:cNvPr>
          <p:cNvGraphicFramePr>
            <a:graphicFrameLocks noGrp="1"/>
          </p:cNvGraphicFramePr>
          <p:nvPr/>
        </p:nvGraphicFramePr>
        <p:xfrm>
          <a:off x="1785938" y="1785938"/>
          <a:ext cx="5429250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8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Operator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Meaning</a:t>
                      </a: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=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Equal</a:t>
                      </a:r>
                      <a:r>
                        <a:rPr lang="en-US" sz="1800" baseline="0" dirty="0"/>
                        <a:t> to</a:t>
                      </a:r>
                      <a:endParaRPr lang="en-US" sz="1800" dirty="0"/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&gt;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Greater than</a:t>
                      </a: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&gt;=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Greater</a:t>
                      </a:r>
                      <a:r>
                        <a:rPr lang="en-US" sz="1800" baseline="0" dirty="0"/>
                        <a:t> than or equal to</a:t>
                      </a:r>
                      <a:endParaRPr lang="en-US" sz="1800" dirty="0"/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&lt;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Less than</a:t>
                      </a: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&lt;=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Less than</a:t>
                      </a:r>
                      <a:r>
                        <a:rPr lang="en-US" sz="1800" baseline="0" dirty="0"/>
                        <a:t> or equal to</a:t>
                      </a:r>
                      <a:endParaRPr lang="en-US" sz="1800" dirty="0"/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&lt;&gt;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Not equal to</a:t>
                      </a: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BETWEEN…AND…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Between two</a:t>
                      </a:r>
                      <a:r>
                        <a:rPr lang="en-US" sz="1800" baseline="0" dirty="0"/>
                        <a:t> values (inclusive)</a:t>
                      </a:r>
                      <a:endParaRPr lang="en-US" sz="1800" dirty="0"/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IN(set)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Many any</a:t>
                      </a:r>
                      <a:r>
                        <a:rPr lang="en-US" sz="1800" baseline="0" dirty="0"/>
                        <a:t> of a list of values</a:t>
                      </a:r>
                      <a:endParaRPr lang="en-US" sz="1800" dirty="0"/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LIKE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Match a character pattern</a:t>
                      </a: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IS</a:t>
                      </a:r>
                      <a:r>
                        <a:rPr lang="en-US" sz="1800" baseline="0" dirty="0"/>
                        <a:t> NULL</a:t>
                      </a:r>
                      <a:endParaRPr lang="en-US" sz="1800" dirty="0"/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Is a Null</a:t>
                      </a:r>
                      <a:r>
                        <a:rPr lang="en-US" sz="1800" baseline="0" dirty="0"/>
                        <a:t> value</a:t>
                      </a:r>
                      <a:endParaRPr lang="en-US" sz="1800" dirty="0"/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49858-3E51-AD95-6791-86F4B2B5C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6" y="57706"/>
            <a:ext cx="7853496" cy="1450757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Limiting Rows using a Selection ..</a:t>
            </a:r>
            <a:r>
              <a:rPr lang="en-US" i="1" dirty="0"/>
              <a:t>cont.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87880B-DFFA-6326-3FF7-240C7AF9B01E}"/>
              </a:ext>
            </a:extLst>
          </p:cNvPr>
          <p:cNvGraphicFramePr>
            <a:graphicFrameLocks noGrp="1"/>
          </p:cNvGraphicFramePr>
          <p:nvPr/>
        </p:nvGraphicFramePr>
        <p:xfrm>
          <a:off x="642938" y="1571625"/>
          <a:ext cx="580548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6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SALARY*COMMISSION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917" name="TextBox 4">
            <a:extLst>
              <a:ext uri="{FF2B5EF4-FFF2-40B4-BE49-F238E27FC236}">
                <a16:creationId xmlns:a16="http://schemas.microsoft.com/office/drawing/2014/main" id="{1BED815C-A1EA-3C91-042D-291DCF632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000500"/>
            <a:ext cx="4429125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WHERE dept_id between 10 and 20 ;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ECE0B5-3F40-9B79-014F-D453C39E69B0}"/>
              </a:ext>
            </a:extLst>
          </p:cNvPr>
          <p:cNvGraphicFramePr>
            <a:graphicFrameLocks noGrp="1"/>
          </p:cNvGraphicFramePr>
          <p:nvPr/>
        </p:nvGraphicFramePr>
        <p:xfrm>
          <a:off x="5000625" y="4572000"/>
          <a:ext cx="3989389" cy="2106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78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8" marR="91448"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7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8" marR="91448"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64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8" marR="91448" marT="45712" marB="457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264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8" marR="91448" marT="45712" marB="4571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264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8" marR="91448" marT="45712" marB="4571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64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8" marR="91448" marT="45712" marB="4571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191CF60C-8F81-C891-8144-2618F8BA1152}"/>
              </a:ext>
            </a:extLst>
          </p:cNvPr>
          <p:cNvSpPr/>
          <p:nvPr/>
        </p:nvSpPr>
        <p:spPr>
          <a:xfrm rot="17984225" flipH="1">
            <a:off x="3459957" y="4991894"/>
            <a:ext cx="1246187" cy="1616075"/>
          </a:xfrm>
          <a:prstGeom prst="curvedLeftArrow">
            <a:avLst>
              <a:gd name="adj1" fmla="val 25000"/>
              <a:gd name="adj2" fmla="val 48706"/>
              <a:gd name="adj3" fmla="val 28840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836B7-1807-F412-CD11-DAD75F1E4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73241"/>
            <a:ext cx="7678102" cy="1450757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Limiting Rows using a Selection ..</a:t>
            </a:r>
            <a:r>
              <a:rPr lang="en-US" i="1" dirty="0"/>
              <a:t>cont.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DD8483-B5A0-D9E6-4468-CD3E9C399044}"/>
              </a:ext>
            </a:extLst>
          </p:cNvPr>
          <p:cNvGraphicFramePr>
            <a:graphicFrameLocks noGrp="1"/>
          </p:cNvGraphicFramePr>
          <p:nvPr/>
        </p:nvGraphicFramePr>
        <p:xfrm>
          <a:off x="642938" y="1571625"/>
          <a:ext cx="580548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6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SALARY*COMMISSION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941" name="TextBox 4">
            <a:extLst>
              <a:ext uri="{FF2B5EF4-FFF2-40B4-BE49-F238E27FC236}">
                <a16:creationId xmlns:a16="http://schemas.microsoft.com/office/drawing/2014/main" id="{8F7698E7-2D56-AD5A-E156-CAE3E72C3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000500"/>
            <a:ext cx="4429125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WHERE last_name like ‘M%’ ;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DD3969-7714-38CC-6C37-5C551F806E0F}"/>
              </a:ext>
            </a:extLst>
          </p:cNvPr>
          <p:cNvGraphicFramePr>
            <a:graphicFrameLocks noGrp="1"/>
          </p:cNvGraphicFramePr>
          <p:nvPr/>
        </p:nvGraphicFramePr>
        <p:xfrm>
          <a:off x="4929188" y="5214938"/>
          <a:ext cx="3989387" cy="1082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28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8" marR="91448" marT="45706" marB="4570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28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8" marR="91448" marT="45706" marB="4570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19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48" marR="91448" marT="45706" marB="4570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4C9A52EA-FDEC-E7C4-A0DE-EEA3359263BA}"/>
              </a:ext>
            </a:extLst>
          </p:cNvPr>
          <p:cNvSpPr/>
          <p:nvPr/>
        </p:nvSpPr>
        <p:spPr>
          <a:xfrm rot="17984225" flipH="1">
            <a:off x="3459957" y="4991894"/>
            <a:ext cx="1246187" cy="1616075"/>
          </a:xfrm>
          <a:prstGeom prst="curvedLeftArrow">
            <a:avLst>
              <a:gd name="adj1" fmla="val 25000"/>
              <a:gd name="adj2" fmla="val 48706"/>
              <a:gd name="adj3" fmla="val 28840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DE1C-40DC-C54F-9F02-97BAEB7E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805" y="73241"/>
            <a:ext cx="7781488" cy="1450757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Limiting Rows using a Selection ..</a:t>
            </a:r>
            <a:r>
              <a:rPr lang="en-US" i="1" dirty="0"/>
              <a:t>cont.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268684-5FC0-F9D6-F147-7121F2022536}"/>
              </a:ext>
            </a:extLst>
          </p:cNvPr>
          <p:cNvGraphicFramePr>
            <a:graphicFrameLocks noGrp="1"/>
          </p:cNvGraphicFramePr>
          <p:nvPr/>
        </p:nvGraphicFramePr>
        <p:xfrm>
          <a:off x="642938" y="1571625"/>
          <a:ext cx="580548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6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SALARY*COMMISSION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8965" name="TextBox 4">
            <a:extLst>
              <a:ext uri="{FF2B5EF4-FFF2-40B4-BE49-F238E27FC236}">
                <a16:creationId xmlns:a16="http://schemas.microsoft.com/office/drawing/2014/main" id="{CAB67755-69D2-825D-5423-9C23E5A15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4000500"/>
            <a:ext cx="4429125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WHERE last_name like ‘_a%’ ;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599BB5-03BD-7F50-E15E-752A0E23BFA5}"/>
              </a:ext>
            </a:extLst>
          </p:cNvPr>
          <p:cNvGraphicFramePr>
            <a:graphicFrameLocks noGrp="1"/>
          </p:cNvGraphicFramePr>
          <p:nvPr/>
        </p:nvGraphicFramePr>
        <p:xfrm>
          <a:off x="4857750" y="5143500"/>
          <a:ext cx="3989389" cy="1082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28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8" marR="91448" marT="45706" marB="4570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28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48" marR="91448" marT="45706" marB="4570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19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8" marR="91448" marT="45706" marB="4570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6ECE10E5-149F-5563-91B3-CF00245B7623}"/>
              </a:ext>
            </a:extLst>
          </p:cNvPr>
          <p:cNvSpPr/>
          <p:nvPr/>
        </p:nvSpPr>
        <p:spPr>
          <a:xfrm rot="17984225" flipH="1">
            <a:off x="3459957" y="4991894"/>
            <a:ext cx="1246187" cy="1616075"/>
          </a:xfrm>
          <a:prstGeom prst="curvedLeftArrow">
            <a:avLst>
              <a:gd name="adj1" fmla="val 25000"/>
              <a:gd name="adj2" fmla="val 48706"/>
              <a:gd name="adj3" fmla="val 28840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1F079-98E8-49D7-2103-C396F0A7D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1" y="13679"/>
            <a:ext cx="8321040" cy="1450757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Limiting Rows using a Selection ..</a:t>
            </a:r>
            <a:r>
              <a:rPr lang="en-US" i="1" dirty="0"/>
              <a:t>cont.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60B1B4-4571-113C-D49A-2D881162D35F}"/>
              </a:ext>
            </a:extLst>
          </p:cNvPr>
          <p:cNvGraphicFramePr>
            <a:graphicFrameLocks noGrp="1"/>
          </p:cNvGraphicFramePr>
          <p:nvPr/>
        </p:nvGraphicFramePr>
        <p:xfrm>
          <a:off x="642938" y="1571625"/>
          <a:ext cx="580548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6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SALARY*COMMISSION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989" name="TextBox 4">
            <a:extLst>
              <a:ext uri="{FF2B5EF4-FFF2-40B4-BE49-F238E27FC236}">
                <a16:creationId xmlns:a16="http://schemas.microsoft.com/office/drawing/2014/main" id="{9D1FDA82-F70A-377F-ECDB-65A212410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4071938"/>
            <a:ext cx="4429125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WHERE dept_id in (10, 20) ;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E59139-07C1-F8EE-DB5C-D8CD3333E262}"/>
              </a:ext>
            </a:extLst>
          </p:cNvPr>
          <p:cNvGraphicFramePr>
            <a:graphicFrameLocks noGrp="1"/>
          </p:cNvGraphicFramePr>
          <p:nvPr/>
        </p:nvGraphicFramePr>
        <p:xfrm>
          <a:off x="5000625" y="4572000"/>
          <a:ext cx="3989389" cy="2106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78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8" marR="91448"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7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8" marR="91448"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64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8" marR="91448" marT="45712" marB="457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264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8" marR="91448" marT="45712" marB="4571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264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8" marR="91448" marT="45712" marB="4571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64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8" marR="91448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8" marR="91448" marT="45712" marB="4571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ACC6B992-CF2A-0820-5C0B-10EF1953C84D}"/>
              </a:ext>
            </a:extLst>
          </p:cNvPr>
          <p:cNvSpPr/>
          <p:nvPr/>
        </p:nvSpPr>
        <p:spPr>
          <a:xfrm rot="17984225" flipH="1">
            <a:off x="3459957" y="4991894"/>
            <a:ext cx="1246187" cy="1616075"/>
          </a:xfrm>
          <a:prstGeom prst="curvedLeftArrow">
            <a:avLst>
              <a:gd name="adj1" fmla="val 25000"/>
              <a:gd name="adj2" fmla="val 48706"/>
              <a:gd name="adj3" fmla="val 28840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FBC52-9DA3-CB84-8D11-773BC2A26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0"/>
            <a:ext cx="8321040" cy="1450757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Limiting Rows using a Selection ..</a:t>
            </a:r>
            <a:r>
              <a:rPr lang="en-US" i="1" dirty="0"/>
              <a:t>cont.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A08FE2-666B-DD6F-1D74-A5694CCC6C27}"/>
              </a:ext>
            </a:extLst>
          </p:cNvPr>
          <p:cNvGraphicFramePr>
            <a:graphicFrameLocks noGrp="1"/>
          </p:cNvGraphicFramePr>
          <p:nvPr/>
        </p:nvGraphicFramePr>
        <p:xfrm>
          <a:off x="642938" y="1571625"/>
          <a:ext cx="580548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6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SALARY*COMMISSION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013" name="TextBox 4">
            <a:extLst>
              <a:ext uri="{FF2B5EF4-FFF2-40B4-BE49-F238E27FC236}">
                <a16:creationId xmlns:a16="http://schemas.microsoft.com/office/drawing/2014/main" id="{DEACF444-D366-72F8-0251-C354EBCB2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000500"/>
            <a:ext cx="4429125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WHERE commission is null;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54647F-EBC4-4549-75A6-6A20C6A13C4F}"/>
              </a:ext>
            </a:extLst>
          </p:cNvPr>
          <p:cNvGraphicFramePr>
            <a:graphicFrameLocks noGrp="1"/>
          </p:cNvGraphicFramePr>
          <p:nvPr/>
        </p:nvGraphicFramePr>
        <p:xfrm>
          <a:off x="4857750" y="5214938"/>
          <a:ext cx="3989389" cy="1082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28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8" marR="91448" marT="45706" marB="4570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2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8" marR="91448" marT="45706" marB="4570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19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8" marR="91448" marT="45706" marB="4570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E3DDCC7E-EB8B-FDBB-A304-AB13144DDF84}"/>
              </a:ext>
            </a:extLst>
          </p:cNvPr>
          <p:cNvSpPr/>
          <p:nvPr/>
        </p:nvSpPr>
        <p:spPr>
          <a:xfrm rot="17984225" flipH="1">
            <a:off x="3459957" y="4991894"/>
            <a:ext cx="1246187" cy="1616075"/>
          </a:xfrm>
          <a:prstGeom prst="curvedLeftArrow">
            <a:avLst>
              <a:gd name="adj1" fmla="val 25000"/>
              <a:gd name="adj2" fmla="val 48706"/>
              <a:gd name="adj3" fmla="val 28840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2CC78E26-B184-C72E-76F3-405F70650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Conditions Using the Logical 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849AF7-D421-30F8-62A5-2B66843B461E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2000250"/>
          <a:ext cx="6643688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6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Operator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Meaning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AND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Return</a:t>
                      </a:r>
                      <a:r>
                        <a:rPr lang="en-US" sz="1800" baseline="0" dirty="0"/>
                        <a:t> TRUE If both component conditions are true</a:t>
                      </a:r>
                      <a:endParaRPr lang="en-US" sz="1800" dirty="0"/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OR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Return</a:t>
                      </a:r>
                      <a:r>
                        <a:rPr lang="en-US" sz="1800" baseline="0" dirty="0"/>
                        <a:t> TRUE If either component condition is true</a:t>
                      </a:r>
                      <a:endParaRPr lang="en-US" sz="1800" dirty="0"/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NOT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Return</a:t>
                      </a:r>
                      <a:r>
                        <a:rPr lang="en-US" sz="1800" baseline="0" dirty="0"/>
                        <a:t> TRUE If the condition is true</a:t>
                      </a:r>
                      <a:endParaRPr lang="en-US" sz="1800" dirty="0"/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C862EFEB-7EDD-35B1-8C94-6E9BA01BC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56" y="23810"/>
            <a:ext cx="7543800" cy="1450757"/>
          </a:xfrm>
        </p:spPr>
        <p:txBody>
          <a:bodyPr/>
          <a:lstStyle/>
          <a:p>
            <a:pPr eaLnBrk="1" hangingPunct="1"/>
            <a:r>
              <a:rPr lang="en-US" altLang="en-US" dirty="0"/>
              <a:t>AND Logical Operator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F1CEC7-AB58-ADD6-AC33-3470C9FA962F}"/>
              </a:ext>
            </a:extLst>
          </p:cNvPr>
          <p:cNvGraphicFramePr>
            <a:graphicFrameLocks noGrp="1"/>
          </p:cNvGraphicFramePr>
          <p:nvPr/>
        </p:nvGraphicFramePr>
        <p:xfrm>
          <a:off x="642938" y="1571625"/>
          <a:ext cx="580548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6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SALARY*COMMISSION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3061" name="TextBox 4">
            <a:extLst>
              <a:ext uri="{FF2B5EF4-FFF2-40B4-BE49-F238E27FC236}">
                <a16:creationId xmlns:a16="http://schemas.microsoft.com/office/drawing/2014/main" id="{CDC17A26-D6EE-10E6-19F4-FD54035AA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000500"/>
            <a:ext cx="4429125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WHERE last_name like ‘M%’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AND dept_id = 20;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1111B5-582F-7C3E-FAB7-5F7DAB456D13}"/>
              </a:ext>
            </a:extLst>
          </p:cNvPr>
          <p:cNvGraphicFramePr>
            <a:graphicFrameLocks noGrp="1"/>
          </p:cNvGraphicFramePr>
          <p:nvPr/>
        </p:nvGraphicFramePr>
        <p:xfrm>
          <a:off x="4929188" y="5500688"/>
          <a:ext cx="3989387" cy="74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8" marR="9144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8" marR="9144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618B088A-E474-E5FC-3A13-ABE40E7A6717}"/>
              </a:ext>
            </a:extLst>
          </p:cNvPr>
          <p:cNvSpPr/>
          <p:nvPr/>
        </p:nvSpPr>
        <p:spPr>
          <a:xfrm rot="17984225" flipH="1">
            <a:off x="3530601" y="5114925"/>
            <a:ext cx="1098550" cy="1692275"/>
          </a:xfrm>
          <a:prstGeom prst="curvedLeftArrow">
            <a:avLst>
              <a:gd name="adj1" fmla="val 25000"/>
              <a:gd name="adj2" fmla="val 48706"/>
              <a:gd name="adj3" fmla="val 25562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E1878FC7-B4D2-260C-B7A8-C34229B17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AND Truth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8C839C-8D81-58CC-F1A6-2531E11FC6C7}"/>
              </a:ext>
            </a:extLst>
          </p:cNvPr>
          <p:cNvGraphicFramePr>
            <a:graphicFrameLocks noGrp="1"/>
          </p:cNvGraphicFramePr>
          <p:nvPr/>
        </p:nvGraphicFramePr>
        <p:xfrm>
          <a:off x="1357313" y="1857375"/>
          <a:ext cx="6096000" cy="2000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D9DF45F6-1CF5-6A1D-ABBC-569200B47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0"/>
            <a:ext cx="7543800" cy="1450757"/>
          </a:xfrm>
        </p:spPr>
        <p:txBody>
          <a:bodyPr/>
          <a:lstStyle/>
          <a:p>
            <a:pPr eaLnBrk="1" hangingPunct="1"/>
            <a:r>
              <a:rPr lang="en-US" altLang="en-US" dirty="0"/>
              <a:t>OR Logical Operator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7476B-14E5-712B-3D6F-82F3981EB59A}"/>
              </a:ext>
            </a:extLst>
          </p:cNvPr>
          <p:cNvGraphicFramePr>
            <a:graphicFrameLocks noGrp="1"/>
          </p:cNvGraphicFramePr>
          <p:nvPr/>
        </p:nvGraphicFramePr>
        <p:xfrm>
          <a:off x="642938" y="1571625"/>
          <a:ext cx="580548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6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SALARY*COMMISSION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5109" name="TextBox 4">
            <a:extLst>
              <a:ext uri="{FF2B5EF4-FFF2-40B4-BE49-F238E27FC236}">
                <a16:creationId xmlns:a16="http://schemas.microsoft.com/office/drawing/2014/main" id="{30C72285-2CAC-39F8-C6BE-C957AB71A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000500"/>
            <a:ext cx="4429125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WHERE last_name like ‘M%’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OR dept_id = 20;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103C3D-AD63-C870-98C6-2FABB396381F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581525"/>
          <a:ext cx="398938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8" marR="9144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8" marR="9144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48" marR="9144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8" marR="9144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8" marR="9144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8" marR="9144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5678E03C-DC6B-283D-5EBD-1BB8B5A8B1F3}"/>
              </a:ext>
            </a:extLst>
          </p:cNvPr>
          <p:cNvSpPr/>
          <p:nvPr/>
        </p:nvSpPr>
        <p:spPr>
          <a:xfrm rot="17984225" flipH="1">
            <a:off x="3316288" y="5114925"/>
            <a:ext cx="1098550" cy="1692275"/>
          </a:xfrm>
          <a:prstGeom prst="curvedLeftArrow">
            <a:avLst>
              <a:gd name="adj1" fmla="val 25000"/>
              <a:gd name="adj2" fmla="val 48706"/>
              <a:gd name="adj3" fmla="val 25562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C85764E8-8CCD-A450-9E55-FD0BD280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OR Truth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326988-C24D-72FA-77BB-E0BAC5F00D28}"/>
              </a:ext>
            </a:extLst>
          </p:cNvPr>
          <p:cNvGraphicFramePr>
            <a:graphicFrameLocks noGrp="1"/>
          </p:cNvGraphicFramePr>
          <p:nvPr/>
        </p:nvGraphicFramePr>
        <p:xfrm>
          <a:off x="1357313" y="1857375"/>
          <a:ext cx="6096000" cy="2000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B2E039AC-4622-0681-5C1D-0D06D1388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811" y="11330"/>
            <a:ext cx="7543800" cy="1450757"/>
          </a:xfrm>
        </p:spPr>
        <p:txBody>
          <a:bodyPr/>
          <a:lstStyle/>
          <a:p>
            <a:pPr eaLnBrk="1" hangingPunct="1"/>
            <a:r>
              <a:rPr lang="en-US" altLang="en-US" dirty="0"/>
              <a:t>NOT Operator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0B4BF1-BFBF-2E88-042C-F0FCCCD22F44}"/>
              </a:ext>
            </a:extLst>
          </p:cNvPr>
          <p:cNvGraphicFramePr>
            <a:graphicFrameLocks noGrp="1"/>
          </p:cNvGraphicFramePr>
          <p:nvPr/>
        </p:nvGraphicFramePr>
        <p:xfrm>
          <a:off x="642938" y="1571625"/>
          <a:ext cx="580548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6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SALARY*COMMISSION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157" name="TextBox 4">
            <a:extLst>
              <a:ext uri="{FF2B5EF4-FFF2-40B4-BE49-F238E27FC236}">
                <a16:creationId xmlns:a16="http://schemas.microsoft.com/office/drawing/2014/main" id="{0FDBBECF-6C65-2585-876D-28D3364B1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000500"/>
            <a:ext cx="4429125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WHERE dept_id NOT IN (‘10’,’30’);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EF5B5C-6C1D-6332-21D1-0A958EF6CFDB}"/>
              </a:ext>
            </a:extLst>
          </p:cNvPr>
          <p:cNvGraphicFramePr>
            <a:graphicFrameLocks noGrp="1"/>
          </p:cNvGraphicFramePr>
          <p:nvPr/>
        </p:nvGraphicFramePr>
        <p:xfrm>
          <a:off x="4929188" y="5143500"/>
          <a:ext cx="3989387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8" marR="9144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8" marR="9144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8" marR="91448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8" marR="91448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933D362F-2F4A-293D-A7ED-CC01A124EE90}"/>
              </a:ext>
            </a:extLst>
          </p:cNvPr>
          <p:cNvSpPr/>
          <p:nvPr/>
        </p:nvSpPr>
        <p:spPr>
          <a:xfrm rot="17984225" flipH="1">
            <a:off x="3530601" y="5114925"/>
            <a:ext cx="1098550" cy="1692275"/>
          </a:xfrm>
          <a:prstGeom prst="curvedLeftArrow">
            <a:avLst>
              <a:gd name="adj1" fmla="val 25000"/>
              <a:gd name="adj2" fmla="val 48706"/>
              <a:gd name="adj3" fmla="val 25562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4B7FEB48-F34D-A970-FA2C-5F7A8D7BD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Sorting Rows 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66C92251-DFB4-7F41-49B7-2E4548695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1737361"/>
            <a:ext cx="8153400" cy="15430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Sort the retrieved rows with the ORDER BY clause:</a:t>
            </a:r>
          </a:p>
          <a:p>
            <a:pPr lvl="1" eaLnBrk="1" hangingPunct="1"/>
            <a:r>
              <a:rPr lang="en-US" altLang="en-US" sz="2000" dirty="0"/>
              <a:t>ASC: Ascending order, default</a:t>
            </a:r>
          </a:p>
          <a:p>
            <a:pPr lvl="1" eaLnBrk="1" hangingPunct="1"/>
            <a:r>
              <a:rPr lang="en-US" altLang="en-US" sz="2000" dirty="0"/>
              <a:t>DESC: Descending order</a:t>
            </a:r>
          </a:p>
          <a:p>
            <a:pPr lvl="1" eaLnBrk="1" hangingPunct="1">
              <a:buFont typeface="Wingdings 2" panose="05020102010507070707" pitchFamily="18" charset="2"/>
              <a:buNone/>
            </a:pPr>
            <a:endParaRPr lang="en-US" alt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3DABF9-523E-99DC-4C30-C1D998C8C76E}"/>
              </a:ext>
            </a:extLst>
          </p:cNvPr>
          <p:cNvGraphicFramePr>
            <a:graphicFrameLocks noGrp="1"/>
          </p:cNvGraphicFramePr>
          <p:nvPr/>
        </p:nvGraphicFramePr>
        <p:xfrm>
          <a:off x="142875" y="2786063"/>
          <a:ext cx="521493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0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COMMISSION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SALARY*COMMISSION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182" name="TextBox 4">
            <a:extLst>
              <a:ext uri="{FF2B5EF4-FFF2-40B4-BE49-F238E27FC236}">
                <a16:creationId xmlns:a16="http://schemas.microsoft.com/office/drawing/2014/main" id="{784BCD4B-6CB0-46E4-05B7-B5FA19603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5500688"/>
            <a:ext cx="4429125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ORDER BY dept_id;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6CC36F-8A7A-FA32-4FAC-CC77F3F4860F}"/>
              </a:ext>
            </a:extLst>
          </p:cNvPr>
          <p:cNvGraphicFramePr>
            <a:graphicFrameLocks noGrp="1"/>
          </p:cNvGraphicFramePr>
          <p:nvPr/>
        </p:nvGraphicFramePr>
        <p:xfrm>
          <a:off x="5500688" y="4000500"/>
          <a:ext cx="3489326" cy="259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LAST_NAME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DEPT_ID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SALARY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COMMISSION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ight Arrow 6">
            <a:extLst>
              <a:ext uri="{FF2B5EF4-FFF2-40B4-BE49-F238E27FC236}">
                <a16:creationId xmlns:a16="http://schemas.microsoft.com/office/drawing/2014/main" id="{D7452AC6-9B30-A0E9-4613-2BDBC6B2A1A1}"/>
              </a:ext>
            </a:extLst>
          </p:cNvPr>
          <p:cNvSpPr/>
          <p:nvPr/>
        </p:nvSpPr>
        <p:spPr>
          <a:xfrm>
            <a:off x="4714875" y="5715000"/>
            <a:ext cx="714375" cy="428625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5247EAA0-2CA5-7BDA-3B62-C4AB405B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Sorting Rows ..</a:t>
            </a:r>
            <a:r>
              <a:rPr lang="en-US" altLang="en-US" i="1"/>
              <a:t>cont.</a:t>
            </a:r>
            <a:r>
              <a:rPr lang="en-US" altLang="en-US"/>
              <a:t> 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AC9EDAED-35EA-C7D3-A9A4-6731EA7E2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1760645"/>
            <a:ext cx="8153400" cy="15430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Sort the retrieved rows with the ORDER BY clause:</a:t>
            </a:r>
          </a:p>
          <a:p>
            <a:pPr lvl="1" eaLnBrk="1" hangingPunct="1"/>
            <a:r>
              <a:rPr lang="en-US" altLang="en-US" sz="2000" dirty="0"/>
              <a:t>ASC: Ascending order, default</a:t>
            </a:r>
          </a:p>
          <a:p>
            <a:pPr lvl="1" eaLnBrk="1" hangingPunct="1"/>
            <a:r>
              <a:rPr lang="en-US" altLang="en-US" sz="2000" dirty="0"/>
              <a:t>DESC: Descending order</a:t>
            </a:r>
          </a:p>
          <a:p>
            <a:pPr lvl="1" eaLnBrk="1" hangingPunct="1">
              <a:buFont typeface="Wingdings 2" panose="05020102010507070707" pitchFamily="18" charset="2"/>
              <a:buNone/>
            </a:pPr>
            <a:endParaRPr lang="en-US" alt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5C03F0-0A2E-B893-B057-910C570CFBEE}"/>
              </a:ext>
            </a:extLst>
          </p:cNvPr>
          <p:cNvGraphicFramePr>
            <a:graphicFrameLocks noGrp="1"/>
          </p:cNvGraphicFramePr>
          <p:nvPr/>
        </p:nvGraphicFramePr>
        <p:xfrm>
          <a:off x="142875" y="2786063"/>
          <a:ext cx="521493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0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COMMISSION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SALARY*COMMISSION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9206" name="TextBox 4">
            <a:extLst>
              <a:ext uri="{FF2B5EF4-FFF2-40B4-BE49-F238E27FC236}">
                <a16:creationId xmlns:a16="http://schemas.microsoft.com/office/drawing/2014/main" id="{54F5BA61-21C9-22D7-AAED-D2D276DAC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5500688"/>
            <a:ext cx="4429125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ORDER BY dept_id DESC;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249DE2-C8A8-13CF-A781-E9EEC9B98757}"/>
              </a:ext>
            </a:extLst>
          </p:cNvPr>
          <p:cNvGraphicFramePr>
            <a:graphicFrameLocks noGrp="1"/>
          </p:cNvGraphicFramePr>
          <p:nvPr/>
        </p:nvGraphicFramePr>
        <p:xfrm>
          <a:off x="5500688" y="4000500"/>
          <a:ext cx="3489326" cy="259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LAST_NAME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DEPT_ID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SALARY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COMMISSION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ight Arrow 6">
            <a:extLst>
              <a:ext uri="{FF2B5EF4-FFF2-40B4-BE49-F238E27FC236}">
                <a16:creationId xmlns:a16="http://schemas.microsoft.com/office/drawing/2014/main" id="{7B29B46F-AA04-6A46-280E-392BBF91C2C8}"/>
              </a:ext>
            </a:extLst>
          </p:cNvPr>
          <p:cNvSpPr/>
          <p:nvPr/>
        </p:nvSpPr>
        <p:spPr>
          <a:xfrm>
            <a:off x="4714875" y="5715000"/>
            <a:ext cx="714375" cy="428625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0A9E2F0C-226F-ADDF-70C3-8A40FF097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Sorting Rows ..</a:t>
            </a:r>
            <a:r>
              <a:rPr lang="en-US" altLang="en-US" i="1"/>
              <a:t>cont.</a:t>
            </a:r>
            <a:r>
              <a:rPr lang="en-US" altLang="en-US"/>
              <a:t> 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55CCF5EC-D9BB-FD17-F4E5-860F18D78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1709902"/>
            <a:ext cx="8153400" cy="15430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Sort the retrieved rows with the ORDER BY clause:</a:t>
            </a:r>
          </a:p>
          <a:p>
            <a:pPr lvl="1" eaLnBrk="1" hangingPunct="1"/>
            <a:r>
              <a:rPr lang="en-US" altLang="en-US" sz="2000" dirty="0"/>
              <a:t>ASC: Ascending order, default</a:t>
            </a:r>
          </a:p>
          <a:p>
            <a:pPr lvl="1" eaLnBrk="1" hangingPunct="1"/>
            <a:r>
              <a:rPr lang="en-US" altLang="en-US" sz="2000" dirty="0"/>
              <a:t>DESC: Descending order</a:t>
            </a:r>
          </a:p>
          <a:p>
            <a:pPr lvl="1" eaLnBrk="1" hangingPunct="1">
              <a:buFont typeface="Wingdings 2" panose="05020102010507070707" pitchFamily="18" charset="2"/>
              <a:buNone/>
            </a:pPr>
            <a:endParaRPr lang="en-US" alt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9AE82D-AB43-C889-8921-E644DDBFD4D1}"/>
              </a:ext>
            </a:extLst>
          </p:cNvPr>
          <p:cNvGraphicFramePr>
            <a:graphicFrameLocks noGrp="1"/>
          </p:cNvGraphicFramePr>
          <p:nvPr/>
        </p:nvGraphicFramePr>
        <p:xfrm>
          <a:off x="142875" y="2786063"/>
          <a:ext cx="521493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0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COMMISSION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SALARY*COMMISSION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230" name="TextBox 4">
            <a:extLst>
              <a:ext uri="{FF2B5EF4-FFF2-40B4-BE49-F238E27FC236}">
                <a16:creationId xmlns:a16="http://schemas.microsoft.com/office/drawing/2014/main" id="{C1F25A29-9C8F-54AC-5041-07520E309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5500688"/>
            <a:ext cx="4429125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ORDER BY 2 DESC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493784-33D8-E243-126D-C8B56C23D339}"/>
              </a:ext>
            </a:extLst>
          </p:cNvPr>
          <p:cNvGraphicFramePr>
            <a:graphicFrameLocks noGrp="1"/>
          </p:cNvGraphicFramePr>
          <p:nvPr/>
        </p:nvGraphicFramePr>
        <p:xfrm>
          <a:off x="5500688" y="4000500"/>
          <a:ext cx="3489326" cy="259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LAST_NAME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DEPT_ID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SALARY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COMMISSION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ight Arrow 6">
            <a:extLst>
              <a:ext uri="{FF2B5EF4-FFF2-40B4-BE49-F238E27FC236}">
                <a16:creationId xmlns:a16="http://schemas.microsoft.com/office/drawing/2014/main" id="{A5CB8E0E-37B7-78A6-73A3-EF77669A3C79}"/>
              </a:ext>
            </a:extLst>
          </p:cNvPr>
          <p:cNvSpPr/>
          <p:nvPr/>
        </p:nvSpPr>
        <p:spPr>
          <a:xfrm>
            <a:off x="4714875" y="5715000"/>
            <a:ext cx="714375" cy="428625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B9A10EC2-E7EE-3EA0-1102-C60352D1B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Sorting Rows ..</a:t>
            </a:r>
            <a:r>
              <a:rPr lang="en-US" altLang="en-US" i="1"/>
              <a:t>cont.</a:t>
            </a:r>
            <a:r>
              <a:rPr lang="en-US" altLang="en-US"/>
              <a:t> 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9AB3C4E2-F48F-237B-BFB8-6A00C764F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1737361"/>
            <a:ext cx="8153400" cy="15430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Sort the retrieved rows with the ORDER BY clause:</a:t>
            </a:r>
          </a:p>
          <a:p>
            <a:pPr lvl="1" eaLnBrk="1" hangingPunct="1"/>
            <a:r>
              <a:rPr lang="en-US" altLang="en-US" sz="2000" dirty="0"/>
              <a:t>ASC: Ascending order, default</a:t>
            </a:r>
          </a:p>
          <a:p>
            <a:pPr lvl="1" eaLnBrk="1" hangingPunct="1"/>
            <a:r>
              <a:rPr lang="en-US" altLang="en-US" sz="2000" dirty="0"/>
              <a:t>DESC: Descending order</a:t>
            </a:r>
          </a:p>
          <a:p>
            <a:pPr lvl="1" eaLnBrk="1" hangingPunct="1">
              <a:buFont typeface="Wingdings 2" panose="05020102010507070707" pitchFamily="18" charset="2"/>
              <a:buNone/>
            </a:pPr>
            <a:endParaRPr lang="en-US" alt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316996-72D0-EAA8-4B90-011503262F90}"/>
              </a:ext>
            </a:extLst>
          </p:cNvPr>
          <p:cNvGraphicFramePr>
            <a:graphicFrameLocks noGrp="1"/>
          </p:cNvGraphicFramePr>
          <p:nvPr/>
        </p:nvGraphicFramePr>
        <p:xfrm>
          <a:off x="142875" y="2786063"/>
          <a:ext cx="521493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0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COMMISSION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SALARY*COMMISSION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1254" name="TextBox 4">
            <a:extLst>
              <a:ext uri="{FF2B5EF4-FFF2-40B4-BE49-F238E27FC236}">
                <a16:creationId xmlns:a16="http://schemas.microsoft.com/office/drawing/2014/main" id="{30020C5B-9543-0F9F-2D57-C89E14313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5500688"/>
            <a:ext cx="4429125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ORDER BY dept_id, salary desc;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2CAAAE-4D23-FCE4-ABA2-F77940C11687}"/>
              </a:ext>
            </a:extLst>
          </p:cNvPr>
          <p:cNvGraphicFramePr>
            <a:graphicFrameLocks noGrp="1"/>
          </p:cNvGraphicFramePr>
          <p:nvPr/>
        </p:nvGraphicFramePr>
        <p:xfrm>
          <a:off x="5508625" y="4005263"/>
          <a:ext cx="3489326" cy="259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LAST_NAME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DEPT_ID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SALARY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COMMISSION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50" marR="91450" marT="45714" marB="4571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50" marR="91450"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ight Arrow 6">
            <a:extLst>
              <a:ext uri="{FF2B5EF4-FFF2-40B4-BE49-F238E27FC236}">
                <a16:creationId xmlns:a16="http://schemas.microsoft.com/office/drawing/2014/main" id="{6560C24A-0D82-2AA3-02EF-CEB1E5E4836C}"/>
              </a:ext>
            </a:extLst>
          </p:cNvPr>
          <p:cNvSpPr/>
          <p:nvPr/>
        </p:nvSpPr>
        <p:spPr>
          <a:xfrm>
            <a:off x="4714875" y="5715000"/>
            <a:ext cx="714375" cy="428625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3B6AD7DF-B1F3-E7E0-1218-555BB494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Substitution Variables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AB9DF6B0-24C5-99DF-E6A4-5FA0628D4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a variable prefixed with an ampersand (&amp;) to prompt the user for a value:</a:t>
            </a:r>
          </a:p>
          <a:p>
            <a:pPr eaLnBrk="1" hangingPunct="1"/>
            <a:endParaRPr lang="en-US" altLang="en-US"/>
          </a:p>
        </p:txBody>
      </p:sp>
      <p:sp>
        <p:nvSpPr>
          <p:cNvPr id="52228" name="TextBox 3">
            <a:extLst>
              <a:ext uri="{FF2B5EF4-FFF2-40B4-BE49-F238E27FC236}">
                <a16:creationId xmlns:a16="http://schemas.microsoft.com/office/drawing/2014/main" id="{E50AE2C6-FEF2-1BFE-60EA-CF51BA19D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2857500"/>
            <a:ext cx="4429125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dept_id, salary, commission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WHERE dept_id = &amp;dept_id;</a:t>
            </a:r>
          </a:p>
        </p:txBody>
      </p:sp>
      <p:pic>
        <p:nvPicPr>
          <p:cNvPr id="52229" name="Picture 3">
            <a:extLst>
              <a:ext uri="{FF2B5EF4-FFF2-40B4-BE49-F238E27FC236}">
                <a16:creationId xmlns:a16="http://schemas.microsoft.com/office/drawing/2014/main" id="{3850CBAD-A7A2-FFBE-16B6-3FDA8A248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3857625"/>
            <a:ext cx="264795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4386BA-3D8E-825B-D715-0B3DC23EADDA}"/>
              </a:ext>
            </a:extLst>
          </p:cNvPr>
          <p:cNvGraphicFramePr>
            <a:graphicFrameLocks noGrp="1"/>
          </p:cNvGraphicFramePr>
          <p:nvPr/>
        </p:nvGraphicFramePr>
        <p:xfrm>
          <a:off x="4143375" y="4929188"/>
          <a:ext cx="3989389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8" marR="9144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8" marR="9144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8" marR="91448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8" marR="91448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8" marR="91448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257" name="TextBox 7">
            <a:extLst>
              <a:ext uri="{FF2B5EF4-FFF2-40B4-BE49-F238E27FC236}">
                <a16:creationId xmlns:a16="http://schemas.microsoft.com/office/drawing/2014/main" id="{EC6AE849-AC33-A586-2705-D26FCFD6F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5702300"/>
            <a:ext cx="438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701133-E44C-CB41-AC92-046AF837AF4A}"/>
              </a:ext>
            </a:extLst>
          </p:cNvPr>
          <p:cNvCxnSpPr/>
          <p:nvPr/>
        </p:nvCxnSpPr>
        <p:spPr>
          <a:xfrm rot="5400000" flipH="1" flipV="1">
            <a:off x="1035844" y="5179219"/>
            <a:ext cx="1071563" cy="142875"/>
          </a:xfrm>
          <a:prstGeom prst="straightConnector1">
            <a:avLst/>
          </a:prstGeom>
          <a:ln w="22225" cmpd="sng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own Arrow 10">
            <a:extLst>
              <a:ext uri="{FF2B5EF4-FFF2-40B4-BE49-F238E27FC236}">
                <a16:creationId xmlns:a16="http://schemas.microsoft.com/office/drawing/2014/main" id="{F865DB0B-064A-03AF-D421-4A73F1C47EF3}"/>
              </a:ext>
            </a:extLst>
          </p:cNvPr>
          <p:cNvSpPr/>
          <p:nvPr/>
        </p:nvSpPr>
        <p:spPr>
          <a:xfrm>
            <a:off x="4500563" y="3929063"/>
            <a:ext cx="642937" cy="85725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C74A3034-03EF-15BC-9275-D001E7AB9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Using Functions to Customize Output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366FB3-79AE-46BE-EE7A-DF196967C255}"/>
              </a:ext>
            </a:extLst>
          </p:cNvPr>
          <p:cNvSpPr/>
          <p:nvPr/>
        </p:nvSpPr>
        <p:spPr>
          <a:xfrm>
            <a:off x="3429000" y="2000250"/>
            <a:ext cx="1857375" cy="928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FUNCTIONS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DC5FD2-238A-FC81-7344-E73153C1F067}"/>
              </a:ext>
            </a:extLst>
          </p:cNvPr>
          <p:cNvCxnSpPr>
            <a:stCxn id="4" idx="2"/>
          </p:cNvCxnSpPr>
          <p:nvPr/>
        </p:nvCxnSpPr>
        <p:spPr>
          <a:xfrm rot="5400000">
            <a:off x="4034631" y="3250407"/>
            <a:ext cx="644525" cy="1588"/>
          </a:xfrm>
          <a:prstGeom prst="line">
            <a:avLst/>
          </a:prstGeom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3C20D7-0080-08EF-F76D-58C9157F88AC}"/>
              </a:ext>
            </a:extLst>
          </p:cNvPr>
          <p:cNvCxnSpPr/>
          <p:nvPr/>
        </p:nvCxnSpPr>
        <p:spPr>
          <a:xfrm>
            <a:off x="2214563" y="3571875"/>
            <a:ext cx="4429125" cy="1588"/>
          </a:xfrm>
          <a:prstGeom prst="line">
            <a:avLst/>
          </a:prstGeom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B4644B-7CEF-1C11-807F-42584419CA22}"/>
              </a:ext>
            </a:extLst>
          </p:cNvPr>
          <p:cNvCxnSpPr/>
          <p:nvPr/>
        </p:nvCxnSpPr>
        <p:spPr>
          <a:xfrm rot="5400000">
            <a:off x="2070894" y="3715544"/>
            <a:ext cx="285750" cy="1588"/>
          </a:xfrm>
          <a:prstGeom prst="line">
            <a:avLst/>
          </a:prstGeom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34B430-463C-9D82-FDA3-472146C6BBCD}"/>
              </a:ext>
            </a:extLst>
          </p:cNvPr>
          <p:cNvCxnSpPr/>
          <p:nvPr/>
        </p:nvCxnSpPr>
        <p:spPr>
          <a:xfrm rot="5400000">
            <a:off x="6501607" y="3715544"/>
            <a:ext cx="285750" cy="1587"/>
          </a:xfrm>
          <a:prstGeom prst="line">
            <a:avLst/>
          </a:prstGeom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A533C81-5EB8-BF8B-4A2D-BEC6C22FD355}"/>
              </a:ext>
            </a:extLst>
          </p:cNvPr>
          <p:cNvSpPr/>
          <p:nvPr/>
        </p:nvSpPr>
        <p:spPr>
          <a:xfrm>
            <a:off x="1285875" y="3857625"/>
            <a:ext cx="1857375" cy="928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SINGLE-ROW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FUNCTIONS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664F1E-8A10-0983-CDCE-33958CF44AD7}"/>
              </a:ext>
            </a:extLst>
          </p:cNvPr>
          <p:cNvSpPr/>
          <p:nvPr/>
        </p:nvSpPr>
        <p:spPr>
          <a:xfrm>
            <a:off x="5715000" y="3857625"/>
            <a:ext cx="1857375" cy="928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MULTIPLE-ROW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FUNCTIONS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6C9D92-E2D7-F5F1-0254-6626FCD45DF0}"/>
              </a:ext>
            </a:extLst>
          </p:cNvPr>
          <p:cNvCxnSpPr/>
          <p:nvPr/>
        </p:nvCxnSpPr>
        <p:spPr>
          <a:xfrm>
            <a:off x="357188" y="4357688"/>
            <a:ext cx="928687" cy="158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267DC9-5E80-5A7A-E06A-D66B2CC735D2}"/>
              </a:ext>
            </a:extLst>
          </p:cNvPr>
          <p:cNvCxnSpPr/>
          <p:nvPr/>
        </p:nvCxnSpPr>
        <p:spPr>
          <a:xfrm>
            <a:off x="3143250" y="4357688"/>
            <a:ext cx="928688" cy="158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2512CE0-139B-B390-9355-6AD7973223BF}"/>
              </a:ext>
            </a:extLst>
          </p:cNvPr>
          <p:cNvCxnSpPr/>
          <p:nvPr/>
        </p:nvCxnSpPr>
        <p:spPr>
          <a:xfrm>
            <a:off x="4714875" y="4071938"/>
            <a:ext cx="928688" cy="158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B0A3F7-65A0-3C6A-5D2A-C578D35ED9EA}"/>
              </a:ext>
            </a:extLst>
          </p:cNvPr>
          <p:cNvCxnSpPr/>
          <p:nvPr/>
        </p:nvCxnSpPr>
        <p:spPr>
          <a:xfrm>
            <a:off x="4714875" y="4357688"/>
            <a:ext cx="928688" cy="158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F5F6E28-DD7D-96F8-48B0-9C1A0C212933}"/>
              </a:ext>
            </a:extLst>
          </p:cNvPr>
          <p:cNvCxnSpPr/>
          <p:nvPr/>
        </p:nvCxnSpPr>
        <p:spPr>
          <a:xfrm>
            <a:off x="4714875" y="4643438"/>
            <a:ext cx="928688" cy="158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AF6356A-5263-C939-752E-C65B485632E9}"/>
              </a:ext>
            </a:extLst>
          </p:cNvPr>
          <p:cNvCxnSpPr/>
          <p:nvPr/>
        </p:nvCxnSpPr>
        <p:spPr>
          <a:xfrm>
            <a:off x="7572375" y="4357688"/>
            <a:ext cx="928688" cy="158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64" name="TextBox 23">
            <a:extLst>
              <a:ext uri="{FF2B5EF4-FFF2-40B4-BE49-F238E27FC236}">
                <a16:creationId xmlns:a16="http://schemas.microsoft.com/office/drawing/2014/main" id="{553D4D7F-F0DF-F132-895E-2DD159B86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313" y="4857750"/>
            <a:ext cx="16986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Return one result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per row</a:t>
            </a:r>
          </a:p>
        </p:txBody>
      </p:sp>
      <p:sp>
        <p:nvSpPr>
          <p:cNvPr id="53265" name="TextBox 24">
            <a:extLst>
              <a:ext uri="{FF2B5EF4-FFF2-40B4-BE49-F238E27FC236}">
                <a16:creationId xmlns:a16="http://schemas.microsoft.com/office/drawing/2014/main" id="{AFA4EBC8-2780-12C4-1AE0-F683E9E87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6438" y="4857750"/>
            <a:ext cx="16986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Return one result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per set of rows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41CDB794-C0C6-0BC5-B69D-32F941C86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Single Row Functions – Character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C45E5-EE15-140D-C35A-FDF3D3DB8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dirty="0"/>
              <a:t>L</a:t>
            </a:r>
            <a:r>
              <a:rPr lang="en-US" cap="all" dirty="0"/>
              <a:t>ower</a:t>
            </a:r>
            <a:r>
              <a:rPr lang="en-US" dirty="0"/>
              <a:t>(column/expression)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cap="all" dirty="0"/>
              <a:t>Upper</a:t>
            </a:r>
            <a:r>
              <a:rPr lang="en-US" dirty="0"/>
              <a:t>(column/expression)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cap="all" dirty="0" err="1"/>
              <a:t>INITcap</a:t>
            </a:r>
            <a:r>
              <a:rPr lang="en-US" dirty="0"/>
              <a:t>(column/expression)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cap="all" dirty="0"/>
              <a:t>Concat</a:t>
            </a:r>
            <a:r>
              <a:rPr lang="en-US" dirty="0"/>
              <a:t>(column/expression, column/expression)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cap="all" dirty="0"/>
              <a:t>Substr</a:t>
            </a:r>
            <a:r>
              <a:rPr lang="en-US" dirty="0"/>
              <a:t>(column/expression, m[,n])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2400" dirty="0"/>
              <a:t>m – character position (if m is negative, the count starts from the end of the character value.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2400" dirty="0"/>
              <a:t>n – character long (if n is omitted, all characters to the end of the string are returned)  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dirty="0"/>
              <a:t>LENGTH(column/expression)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dirty="0"/>
              <a:t>INSTR(column/expression, ‘string’ [, m] , [n])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AF202701-F0CA-3361-9EEC-F52882DE8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E7E513-C1E4-A7A8-C918-505F4B492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571180"/>
              </p:ext>
            </p:extLst>
          </p:nvPr>
        </p:nvGraphicFramePr>
        <p:xfrm>
          <a:off x="899592" y="2132856"/>
          <a:ext cx="657225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LOWER(‘Database</a:t>
                      </a:r>
                      <a:r>
                        <a:rPr lang="en-US" baseline="0" dirty="0"/>
                        <a:t> application’)</a:t>
                      </a:r>
                      <a:endParaRPr lang="en-US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 application 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UPPER(‘Database application’)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 APPLICATION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INITCAP(‘Database</a:t>
                      </a:r>
                      <a:r>
                        <a:rPr lang="en-US" baseline="0" dirty="0"/>
                        <a:t> application’)</a:t>
                      </a:r>
                      <a:endParaRPr lang="en-US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  <a:r>
                        <a:rPr lang="en-US" baseline="0" dirty="0"/>
                        <a:t> Application</a:t>
                      </a:r>
                      <a:endParaRPr lang="en-US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CONCAT(‘Hello’, ’World’)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HelloWorld</a:t>
                      </a:r>
                      <a:endParaRPr lang="en-US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SUBSTR(‘HelloWorld’,2,5)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elloW</a:t>
                      </a:r>
                      <a:endParaRPr lang="en-US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INSTR(‘</a:t>
                      </a:r>
                      <a:r>
                        <a:rPr lang="en-US" dirty="0" err="1"/>
                        <a:t>HelloWorld</a:t>
                      </a:r>
                      <a:r>
                        <a:rPr lang="en-US" dirty="0"/>
                        <a:t>’, ’W’)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LPAD(salary,10,’*’)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*****24000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RPAD(salary,10,’*’)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24000*****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REPLACE(‘JACK AND JUE’, ’J’, ’BL’)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BLACK AND BLUE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15314FFB-F0B0-1039-9E57-C29721CF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Single Row Functions – Number Data Type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72AC82FC-B90A-F1DE-C4D5-00B5E2C5A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060" y="1909234"/>
            <a:ext cx="8153400" cy="1757363"/>
          </a:xfrm>
        </p:spPr>
        <p:txBody>
          <a:bodyPr/>
          <a:lstStyle/>
          <a:p>
            <a:pPr eaLnBrk="1" hangingPunct="1"/>
            <a:r>
              <a:rPr lang="en-US" altLang="en-US" dirty="0"/>
              <a:t>ROUND: Rounds value to a special decimal</a:t>
            </a:r>
          </a:p>
          <a:p>
            <a:pPr eaLnBrk="1" hangingPunct="1"/>
            <a:r>
              <a:rPr lang="en-US" altLang="en-US" dirty="0"/>
              <a:t>TRUNC: Truncates value to specified decimal</a:t>
            </a:r>
          </a:p>
          <a:p>
            <a:pPr eaLnBrk="1" hangingPunct="1"/>
            <a:r>
              <a:rPr lang="en-US" altLang="en-US" dirty="0"/>
              <a:t>MOD: Returns remainder of division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49D4C9-4840-BCA3-B352-1B852F6E41F2}"/>
              </a:ext>
            </a:extLst>
          </p:cNvPr>
          <p:cNvGraphicFramePr>
            <a:graphicFrameLocks noGrp="1"/>
          </p:cNvGraphicFramePr>
          <p:nvPr/>
        </p:nvGraphicFramePr>
        <p:xfrm>
          <a:off x="1285875" y="3643313"/>
          <a:ext cx="6096000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FUNCTION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RESULT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ROUND(45.926, 2)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45.93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TRUNC(45.926, 2)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45.92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MOD(1600, 300)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12F2EC6-2EAB-D9C3-7C4D-E31DA00FF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25617"/>
            <a:ext cx="7543800" cy="1450757"/>
          </a:xfrm>
        </p:spPr>
        <p:txBody>
          <a:bodyPr/>
          <a:lstStyle/>
          <a:p>
            <a:pPr eaLnBrk="1" hangingPunct="1"/>
            <a:r>
              <a:rPr lang="en-US" altLang="en-US" dirty="0"/>
              <a:t>Nesting Functions</a:t>
            </a:r>
          </a:p>
        </p:txBody>
      </p:sp>
      <p:sp>
        <p:nvSpPr>
          <p:cNvPr id="57347" name="TextBox 3">
            <a:extLst>
              <a:ext uri="{FF2B5EF4-FFF2-40B4-BE49-F238E27FC236}">
                <a16:creationId xmlns:a16="http://schemas.microsoft.com/office/drawing/2014/main" id="{321205D1-F07D-4031-50A4-A34808D4F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4143375"/>
            <a:ext cx="5214937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last_name, UPPER(CONCAT(SUBSTR(last_name,1,8), ‘_US’)) 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employee;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49A30A-9777-8442-B1A7-2D6F3B2CFD09}"/>
              </a:ext>
            </a:extLst>
          </p:cNvPr>
          <p:cNvGraphicFramePr>
            <a:graphicFrameLocks noGrp="1"/>
          </p:cNvGraphicFramePr>
          <p:nvPr/>
        </p:nvGraphicFramePr>
        <p:xfrm>
          <a:off x="214313" y="1571625"/>
          <a:ext cx="5805488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6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COMMISSION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SALARY*COMMISSION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540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2000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C33901-7258-71DF-126B-881AD8E85C57}"/>
              </a:ext>
            </a:extLst>
          </p:cNvPr>
          <p:cNvGraphicFramePr>
            <a:graphicFrameLocks noGrp="1"/>
          </p:cNvGraphicFramePr>
          <p:nvPr/>
        </p:nvGraphicFramePr>
        <p:xfrm>
          <a:off x="5500688" y="4071938"/>
          <a:ext cx="3119438" cy="259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9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r>
                        <a:rPr lang="en-US" sz="1800" dirty="0"/>
                        <a:t>LAST_NAME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NAME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200" cap="all" dirty="0" err="1"/>
                        <a:t>Siti</a:t>
                      </a:r>
                      <a:r>
                        <a:rPr lang="en-US" sz="1200" cap="all" dirty="0"/>
                        <a:t> </a:t>
                      </a:r>
                      <a:r>
                        <a:rPr lang="en-US" sz="1200" cap="all" dirty="0" err="1"/>
                        <a:t>Raz_us</a:t>
                      </a:r>
                      <a:endParaRPr lang="en-US" sz="1200" cap="all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200" cap="all" dirty="0"/>
                        <a:t>Musa </a:t>
                      </a:r>
                      <a:r>
                        <a:rPr lang="en-US" sz="1200" cap="all" dirty="0" err="1"/>
                        <a:t>Ahm_us</a:t>
                      </a:r>
                      <a:endParaRPr lang="en-US" sz="1200" cap="all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200" cap="all" dirty="0"/>
                        <a:t>Martin</a:t>
                      </a:r>
                      <a:r>
                        <a:rPr lang="en-US" sz="1200" cap="all" baseline="0" dirty="0"/>
                        <a:t> </a:t>
                      </a:r>
                      <a:r>
                        <a:rPr lang="en-US" sz="1200" cap="all" baseline="0" dirty="0" err="1"/>
                        <a:t>L_us</a:t>
                      </a:r>
                      <a:endParaRPr lang="en-US" sz="1200" cap="all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200" cap="all" dirty="0" err="1"/>
                        <a:t>Ammar</a:t>
                      </a:r>
                      <a:r>
                        <a:rPr lang="en-US" sz="1200" cap="all" dirty="0"/>
                        <a:t> </a:t>
                      </a:r>
                      <a:r>
                        <a:rPr lang="en-US" sz="1200" cap="all" dirty="0" err="1"/>
                        <a:t>Fa_us</a:t>
                      </a:r>
                      <a:endParaRPr lang="en-US" sz="1200" cap="all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200" cap="all" dirty="0" err="1"/>
                        <a:t>Safiyah</a:t>
                      </a:r>
                      <a:r>
                        <a:rPr lang="en-US" sz="1200" cap="all" baseline="0" dirty="0"/>
                        <a:t> _us</a:t>
                      </a:r>
                      <a:endParaRPr lang="en-US" sz="1200" cap="all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200" cap="all" dirty="0"/>
                        <a:t>Taylor </a:t>
                      </a:r>
                      <a:r>
                        <a:rPr lang="en-US" sz="1200" cap="all" dirty="0" err="1"/>
                        <a:t>D_us</a:t>
                      </a:r>
                      <a:endParaRPr lang="en-US" sz="1200" cap="all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D3D4198F-9D2D-FE47-3527-505F04472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NVL FUNCTION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4EB91E62-67F8-8BF9-9B04-3D6147453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Convert a null value to an actual value:</a:t>
            </a:r>
          </a:p>
          <a:p>
            <a:pPr lvl="1" eaLnBrk="1" hangingPunct="1"/>
            <a:r>
              <a:rPr lang="en-US" altLang="en-US"/>
              <a:t>Data types that can be used are date, character and number.</a:t>
            </a:r>
          </a:p>
          <a:p>
            <a:pPr lvl="1" eaLnBrk="1" hangingPunct="1"/>
            <a:r>
              <a:rPr lang="en-US" altLang="en-US"/>
              <a:t>Data types must match:</a:t>
            </a:r>
          </a:p>
          <a:p>
            <a:pPr lvl="2" eaLnBrk="1" hangingPunct="1"/>
            <a:r>
              <a:rPr lang="en-US" altLang="en-US"/>
              <a:t>NVL(commission, 0)</a:t>
            </a:r>
          </a:p>
          <a:p>
            <a:pPr lvl="2" eaLnBrk="1" hangingPunct="1"/>
            <a:r>
              <a:rPr lang="en-US" altLang="en-US"/>
              <a:t>NVL(hire_date, ‘01-JAN-10’)</a:t>
            </a:r>
          </a:p>
          <a:p>
            <a:pPr lvl="2" eaLnBrk="1" hangingPunct="1"/>
            <a:r>
              <a:rPr lang="en-US" altLang="en-US"/>
              <a:t>NVL(job, ‘No Job Yet’)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64669FA9-E803-1AF3-82EF-CDD2B7C58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3556"/>
            <a:ext cx="7543800" cy="1450757"/>
          </a:xfrm>
        </p:spPr>
        <p:txBody>
          <a:bodyPr/>
          <a:lstStyle/>
          <a:p>
            <a:pPr eaLnBrk="1" hangingPunct="1"/>
            <a:r>
              <a:rPr lang="en-US" altLang="en-US" dirty="0"/>
              <a:t>CASE EXPRESSION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54B7F68-DAF6-F8C1-0645-6F29B27CB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684713"/>
            <a:ext cx="8686800" cy="217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Tx/>
              <a:buSzPct val="90000"/>
              <a:buFontTx/>
              <a:buBlip>
                <a:blip r:embed="rId2"/>
              </a:buBlip>
            </a:pPr>
            <a:r>
              <a:rPr lang="en-US" altLang="en-US" sz="1800">
                <a:solidFill>
                  <a:srgbClr val="030305"/>
                </a:solidFill>
                <a:latin typeface="Tahoma" panose="020B0604030504040204" pitchFamily="34" charset="0"/>
              </a:rPr>
              <a:t>Used to change data to a different context.</a:t>
            </a:r>
          </a:p>
          <a:p>
            <a:pPr eaLnBrk="1" hangingPunct="1">
              <a:spcBef>
                <a:spcPct val="20000"/>
              </a:spcBef>
              <a:buClrTx/>
              <a:buSzPct val="90000"/>
              <a:buFontTx/>
              <a:buBlip>
                <a:blip r:embed="rId2"/>
              </a:buBlip>
            </a:pPr>
            <a:r>
              <a:rPr lang="en-US" altLang="en-US" sz="1800">
                <a:solidFill>
                  <a:srgbClr val="030305"/>
                </a:solidFill>
                <a:latin typeface="Tahoma" panose="020B0604030504040204" pitchFamily="34" charset="0"/>
              </a:rPr>
              <a:t>Example: Define age categories for the animals.</a:t>
            </a:r>
          </a:p>
          <a:p>
            <a:pPr lvl="1" eaLnBrk="1" hangingPunct="1">
              <a:spcBef>
                <a:spcPct val="2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en-US" altLang="en-US" sz="2000">
                <a:solidFill>
                  <a:srgbClr val="030305"/>
                </a:solidFill>
                <a:latin typeface="Tahoma" panose="020B0604030504040204" pitchFamily="34" charset="0"/>
              </a:rPr>
              <a:t>Less than 3 months</a:t>
            </a:r>
          </a:p>
          <a:p>
            <a:pPr lvl="1" eaLnBrk="1" hangingPunct="1">
              <a:spcBef>
                <a:spcPct val="2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en-US" altLang="en-US" sz="2000">
                <a:solidFill>
                  <a:srgbClr val="030305"/>
                </a:solidFill>
                <a:latin typeface="Tahoma" panose="020B0604030504040204" pitchFamily="34" charset="0"/>
              </a:rPr>
              <a:t>Between 3 months and 9 months</a:t>
            </a:r>
          </a:p>
          <a:p>
            <a:pPr lvl="1" eaLnBrk="1" hangingPunct="1">
              <a:spcBef>
                <a:spcPct val="2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en-US" altLang="en-US" sz="2000">
                <a:solidFill>
                  <a:srgbClr val="030305"/>
                </a:solidFill>
                <a:latin typeface="Tahoma" panose="020B0604030504040204" pitchFamily="34" charset="0"/>
              </a:rPr>
              <a:t>Between 9 months and 1 year</a:t>
            </a:r>
          </a:p>
          <a:p>
            <a:pPr lvl="1" eaLnBrk="1" hangingPunct="1">
              <a:spcBef>
                <a:spcPct val="2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en-US" altLang="en-US" sz="2000">
                <a:solidFill>
                  <a:srgbClr val="030305"/>
                </a:solidFill>
                <a:latin typeface="Tahoma" panose="020B0604030504040204" pitchFamily="34" charset="0"/>
              </a:rPr>
              <a:t>Over 1 year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40D341D7-C613-EF41-9A63-7B0572F30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865313"/>
            <a:ext cx="6248400" cy="2851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tabLst>
                <a:tab pos="463550" algn="l"/>
                <a:tab pos="914400" algn="l"/>
              </a:tabLst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tabLst>
                <a:tab pos="463550" algn="l"/>
                <a:tab pos="914400" algn="l"/>
              </a:tabLst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tabLst>
                <a:tab pos="463550" algn="l"/>
                <a:tab pos="914400" algn="l"/>
              </a:tabLst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tabLst>
                <a:tab pos="463550" algn="l"/>
                <a:tab pos="914400" algn="l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463550" algn="l"/>
                <a:tab pos="914400" algn="l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463550" algn="l"/>
                <a:tab pos="914400" algn="l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463550" algn="l"/>
                <a:tab pos="914400" algn="l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463550" algn="l"/>
                <a:tab pos="914400" algn="l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463550" algn="l"/>
                <a:tab pos="914400" algn="l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30305"/>
                </a:solidFill>
                <a:latin typeface="Arial" panose="020B0604020202020204" pitchFamily="34" charset="0"/>
              </a:rPr>
              <a:t>Select AnimalID,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30305"/>
                </a:solidFill>
                <a:latin typeface="Arial" panose="020B0604020202020204" pitchFamily="34" charset="0"/>
              </a:rPr>
              <a:t>	CASE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30305"/>
                </a:solidFill>
                <a:latin typeface="Arial" panose="020B0604020202020204" pitchFamily="34" charset="0"/>
              </a:rPr>
              <a:t>		WHEN Date()-DateBorn &lt; 90 Then ‘Baby’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30305"/>
                </a:solidFill>
                <a:latin typeface="Arial" panose="020B0604020202020204" pitchFamily="34" charset="0"/>
              </a:rPr>
              <a:t>		WHEN Date()-DateBorn &gt;= 90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30305"/>
                </a:solidFill>
                <a:latin typeface="Arial" panose="020B0604020202020204" pitchFamily="34" charset="0"/>
              </a:rPr>
              <a:t>		   AND Date()-DateBorn &lt; 270 Then ‘Young’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30305"/>
                </a:solidFill>
                <a:latin typeface="Arial" panose="020B0604020202020204" pitchFamily="34" charset="0"/>
              </a:rPr>
              <a:t>		WHEN Date()-DateBorn &gt;= 270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30305"/>
                </a:solidFill>
                <a:latin typeface="Arial" panose="020B0604020202020204" pitchFamily="34" charset="0"/>
              </a:rPr>
              <a:t>		   AND Date()-DateBorn &lt; 365 Then ‘Grown’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30305"/>
                </a:solidFill>
                <a:latin typeface="Arial" panose="020B0604020202020204" pitchFamily="34" charset="0"/>
              </a:rPr>
              <a:t>		ELSE ‘Experienced’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30305"/>
                </a:solidFill>
                <a:latin typeface="Arial" panose="020B0604020202020204" pitchFamily="34" charset="0"/>
              </a:rPr>
              <a:t>	END “STATUS”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30305"/>
                </a:solidFill>
                <a:latin typeface="Arial" panose="020B0604020202020204" pitchFamily="34" charset="0"/>
              </a:rPr>
              <a:t>FROM Animal;</a:t>
            </a:r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14C2D67B-B679-7929-21F2-07AE2967D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84313"/>
            <a:ext cx="6450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Not available in Microsoft Access. It is in SQL Server and Oracle.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DEAA108F-597B-1205-0F86-48B8997BE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Multiple-Row Functions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695704A6-DE74-72B4-AF97-9F585D0B2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Group functions operate on sets of rows to give one result per group.</a:t>
            </a:r>
          </a:p>
          <a:p>
            <a:pPr eaLnBrk="1" hangingPunct="1"/>
            <a:endParaRPr lang="en-US" alt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299934-76AB-FECD-AB53-4B539D02B62F}"/>
              </a:ext>
            </a:extLst>
          </p:cNvPr>
          <p:cNvGraphicFramePr>
            <a:graphicFrameLocks noGrp="1"/>
          </p:cNvGraphicFramePr>
          <p:nvPr/>
        </p:nvGraphicFramePr>
        <p:xfrm>
          <a:off x="1000125" y="2928938"/>
          <a:ext cx="2879726" cy="2106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77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62" marR="91462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62" marR="91462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62" marR="91462"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77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62" marR="91462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62" marR="91462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62" marR="91462"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64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62" marR="91462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62" marR="91462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62" marR="91462" marT="45712" marB="457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264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62" marR="91462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62" marR="91462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62" marR="91462" marT="45712" marB="4571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264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62" marR="91462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62" marR="91462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62" marR="91462" marT="45712" marB="4571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64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62" marR="91462" marT="45712" marB="45712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62" marR="91462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62" marR="91462" marT="45712" marB="4571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99DBEB1-0BAA-780C-A69F-8E08D5F7C0B8}"/>
              </a:ext>
            </a:extLst>
          </p:cNvPr>
          <p:cNvSpPr/>
          <p:nvPr/>
        </p:nvSpPr>
        <p:spPr>
          <a:xfrm>
            <a:off x="3143250" y="2786063"/>
            <a:ext cx="785813" cy="23574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ADB5731E-BF01-D6A5-BDBC-2AFB2F2E2604}"/>
              </a:ext>
            </a:extLst>
          </p:cNvPr>
          <p:cNvSpPr/>
          <p:nvPr/>
        </p:nvSpPr>
        <p:spPr>
          <a:xfrm rot="5400000">
            <a:off x="3929063" y="2786063"/>
            <a:ext cx="2357437" cy="235743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Maximum salary in EMPLOYEES table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ED1920-D1F3-BB68-040B-CA2CD9973FB7}"/>
              </a:ext>
            </a:extLst>
          </p:cNvPr>
          <p:cNvGraphicFramePr>
            <a:graphicFrameLocks noGrp="1"/>
          </p:cNvGraphicFramePr>
          <p:nvPr/>
        </p:nvGraphicFramePr>
        <p:xfrm>
          <a:off x="6357938" y="3643313"/>
          <a:ext cx="1714500" cy="74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MAX(SALARY)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2500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0035D5CD-DF35-7E13-17B2-588651379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107680" cy="1450757"/>
          </a:xfrm>
        </p:spPr>
        <p:txBody>
          <a:bodyPr/>
          <a:lstStyle/>
          <a:p>
            <a:pPr eaLnBrk="1" hangingPunct="1"/>
            <a:r>
              <a:rPr lang="en-US" altLang="en-US" dirty="0"/>
              <a:t>Type of Multiple Row Functions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E427A35E-01A7-B6EF-11EA-0D2EE2669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916832"/>
            <a:ext cx="8153400" cy="39719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AVG(column)</a:t>
            </a:r>
          </a:p>
          <a:p>
            <a:pPr eaLnBrk="1" hangingPunct="1"/>
            <a:r>
              <a:rPr lang="en-US" altLang="en-US" sz="2400" dirty="0"/>
              <a:t>MAX(column)</a:t>
            </a:r>
          </a:p>
          <a:p>
            <a:pPr eaLnBrk="1" hangingPunct="1"/>
            <a:r>
              <a:rPr lang="en-US" altLang="en-US" sz="2400" dirty="0"/>
              <a:t>MIN(column)</a:t>
            </a:r>
          </a:p>
          <a:p>
            <a:pPr eaLnBrk="1" hangingPunct="1"/>
            <a:r>
              <a:rPr lang="en-US" altLang="en-US" sz="2400" dirty="0"/>
              <a:t>SUM(column)</a:t>
            </a:r>
          </a:p>
          <a:p>
            <a:pPr eaLnBrk="1" hangingPunct="1"/>
            <a:r>
              <a:rPr lang="en-US" altLang="en-US" sz="2400" dirty="0"/>
              <a:t>COUNT(*) or COUNT(column) or COUNT(DISTINCT column)</a:t>
            </a:r>
          </a:p>
          <a:p>
            <a:pPr lvl="1" eaLnBrk="1" hangingPunct="1"/>
            <a:r>
              <a:rPr lang="en-US" altLang="en-US" sz="2000" dirty="0"/>
              <a:t>COUNT(*) returns the number of rows in a table.</a:t>
            </a:r>
          </a:p>
          <a:p>
            <a:pPr lvl="1" eaLnBrk="1" hangingPunct="1"/>
            <a:r>
              <a:rPr lang="en-US" altLang="en-US" sz="2000" dirty="0"/>
              <a:t>COUNT(commission) returns the number of rows with non-null values.</a:t>
            </a:r>
          </a:p>
          <a:p>
            <a:pPr lvl="1" eaLnBrk="1" hangingPunct="1"/>
            <a:r>
              <a:rPr lang="en-US" altLang="en-US" sz="2000" dirty="0"/>
              <a:t>COUNT(DISTINCT commission) returns the number of distinct commission values.</a:t>
            </a:r>
          </a:p>
          <a:p>
            <a:pPr eaLnBrk="1" hangingPunct="1"/>
            <a:endParaRPr lang="en-US" alt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843D-86DC-4982-1542-E8A0395CC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Multiple-Row Functions and Null Values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58DB71BF-ED73-744F-941B-7DFE199E8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Group functions ignore null values in the column: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The NVL function forces group functions to include null values:</a:t>
            </a:r>
          </a:p>
        </p:txBody>
      </p:sp>
      <p:sp>
        <p:nvSpPr>
          <p:cNvPr id="62468" name="TextBox 3">
            <a:extLst>
              <a:ext uri="{FF2B5EF4-FFF2-40B4-BE49-F238E27FC236}">
                <a16:creationId xmlns:a16="http://schemas.microsoft.com/office/drawing/2014/main" id="{A2B4AA78-D80A-8224-34FA-09FE9482E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2357438"/>
            <a:ext cx="2643187" cy="646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AVG(commission)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employee;</a:t>
            </a:r>
          </a:p>
        </p:txBody>
      </p:sp>
      <p:sp>
        <p:nvSpPr>
          <p:cNvPr id="62469" name="TextBox 4">
            <a:extLst>
              <a:ext uri="{FF2B5EF4-FFF2-40B4-BE49-F238E27FC236}">
                <a16:creationId xmlns:a16="http://schemas.microsoft.com/office/drawing/2014/main" id="{714A3F0C-0C05-0C45-B9AA-2DB7D6227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2" y="4221088"/>
            <a:ext cx="3500438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AVG(NVL(commission,0))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7E8EF5-11DB-8954-BABE-6033641C71C7}"/>
              </a:ext>
            </a:extLst>
          </p:cNvPr>
          <p:cNvGraphicFramePr>
            <a:graphicFrameLocks noGrp="1"/>
          </p:cNvGraphicFramePr>
          <p:nvPr/>
        </p:nvGraphicFramePr>
        <p:xfrm>
          <a:off x="785813" y="1785938"/>
          <a:ext cx="5618162" cy="3187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5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810">
                <a:tc>
                  <a:txBody>
                    <a:bodyPr/>
                    <a:lstStyle/>
                    <a:p>
                      <a:r>
                        <a:rPr lang="en-US" sz="2000" dirty="0"/>
                        <a:t>LAST_NAME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DEPT_ID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SALARY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COMMISSION</a:t>
                      </a:r>
                    </a:p>
                  </a:txBody>
                  <a:tcPr marL="91432" marR="91432" marT="45701" marB="457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48">
                <a:tc>
                  <a:txBody>
                    <a:bodyPr/>
                    <a:lstStyle/>
                    <a:p>
                      <a:r>
                        <a:rPr lang="en-US" sz="1600" dirty="0" err="1"/>
                        <a:t>Siti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Razilah</a:t>
                      </a:r>
                      <a:endParaRPr lang="en-US" sz="1600" dirty="0"/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1000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(null)</a:t>
                      </a:r>
                    </a:p>
                  </a:txBody>
                  <a:tcPr marL="91432" marR="91432" marT="45701" marB="457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48">
                <a:tc>
                  <a:txBody>
                    <a:bodyPr/>
                    <a:lstStyle/>
                    <a:p>
                      <a:r>
                        <a:rPr lang="en-US" sz="1600" dirty="0"/>
                        <a:t>Musa Ahmad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20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1200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0.2</a:t>
                      </a:r>
                    </a:p>
                  </a:txBody>
                  <a:tcPr marL="91432" marR="91432" marT="45701" marB="457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48">
                <a:tc>
                  <a:txBody>
                    <a:bodyPr/>
                    <a:lstStyle/>
                    <a:p>
                      <a:r>
                        <a:rPr lang="en-US" sz="1600" dirty="0"/>
                        <a:t>Martin</a:t>
                      </a:r>
                      <a:r>
                        <a:rPr lang="en-US" sz="1600" baseline="0" dirty="0"/>
                        <a:t> Luke</a:t>
                      </a:r>
                      <a:endParaRPr lang="en-US" sz="1600" dirty="0"/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30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1500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0.6</a:t>
                      </a:r>
                    </a:p>
                  </a:txBody>
                  <a:tcPr marL="91432" marR="91432" marT="45701" marB="457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48">
                <a:tc>
                  <a:txBody>
                    <a:bodyPr/>
                    <a:lstStyle/>
                    <a:p>
                      <a:r>
                        <a:rPr lang="en-US" sz="1600" dirty="0" err="1"/>
                        <a:t>Ammar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Faizul</a:t>
                      </a:r>
                      <a:endParaRPr lang="en-US" sz="1600" dirty="0"/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20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1800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0.3</a:t>
                      </a:r>
                    </a:p>
                  </a:txBody>
                  <a:tcPr marL="91432" marR="91432" marT="45701" marB="457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48">
                <a:tc>
                  <a:txBody>
                    <a:bodyPr/>
                    <a:lstStyle/>
                    <a:p>
                      <a:r>
                        <a:rPr lang="en-US" sz="1600" dirty="0" err="1"/>
                        <a:t>Safiyah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Shahizan</a:t>
                      </a:r>
                      <a:endParaRPr lang="en-US" sz="1600" dirty="0"/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1230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(null)</a:t>
                      </a:r>
                    </a:p>
                  </a:txBody>
                  <a:tcPr marL="91432" marR="91432" marT="45701" marB="457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48">
                <a:tc>
                  <a:txBody>
                    <a:bodyPr/>
                    <a:lstStyle/>
                    <a:p>
                      <a:r>
                        <a:rPr lang="en-US" sz="1600" dirty="0"/>
                        <a:t>Taylor Duff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20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2500</a:t>
                      </a:r>
                    </a:p>
                  </a:txBody>
                  <a:tcPr marL="91432" marR="91432" marT="45701" marB="45701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0.8</a:t>
                      </a:r>
                    </a:p>
                  </a:txBody>
                  <a:tcPr marL="91432" marR="91432" marT="45701" marB="457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3532" name="Picture 3" descr="C:\Documents and Settings\Admin\Local Settings\Temporary Internet Files\Content.IE5\OO1I1JBV\MC900434411[1].wmf">
            <a:extLst>
              <a:ext uri="{FF2B5EF4-FFF2-40B4-BE49-F238E27FC236}">
                <a16:creationId xmlns:a16="http://schemas.microsoft.com/office/drawing/2014/main" id="{E73401B8-9358-72A9-E3A8-6A44360B2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688" y="4357688"/>
            <a:ext cx="16256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9EC70471-33C4-9CF7-C73D-C5154B0BC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GROUP BY clause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36CD227D-2CE7-0D58-A246-EF3678AC6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Group functions operate on sets of rows to give one result per group.</a:t>
            </a:r>
          </a:p>
          <a:p>
            <a:pPr eaLnBrk="1" hangingPunct="1"/>
            <a:endParaRPr lang="en-US" alt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8A6E6E-E686-677C-46AD-5F495C66567D}"/>
              </a:ext>
            </a:extLst>
          </p:cNvPr>
          <p:cNvGraphicFramePr>
            <a:graphicFrameLocks noGrp="1"/>
          </p:cNvGraphicFramePr>
          <p:nvPr/>
        </p:nvGraphicFramePr>
        <p:xfrm>
          <a:off x="857250" y="3143250"/>
          <a:ext cx="2879726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647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62" marR="91462"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647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62" marR="91462"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130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62" marR="91462"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85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1500</a:t>
                      </a:r>
                    </a:p>
                    <a:p>
                      <a:pPr algn="r"/>
                      <a:endParaRPr lang="en-US" sz="1200" dirty="0"/>
                    </a:p>
                  </a:txBody>
                  <a:tcPr marL="91462" marR="91462" marT="45713" marB="457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130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62" marR="91462" marT="45713" marB="4571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130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62" marR="91462" marT="45713" marB="4571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130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62" marR="91462" marT="45713" marB="4571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D7A5A73-BF5A-5ECC-C4A5-CB39F1414B6B}"/>
              </a:ext>
            </a:extLst>
          </p:cNvPr>
          <p:cNvSpPr/>
          <p:nvPr/>
        </p:nvSpPr>
        <p:spPr>
          <a:xfrm>
            <a:off x="2955925" y="3571875"/>
            <a:ext cx="785813" cy="2481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EC087A94-FD9A-A60F-6968-B4DBD16BD667}"/>
              </a:ext>
            </a:extLst>
          </p:cNvPr>
          <p:cNvSpPr/>
          <p:nvPr/>
        </p:nvSpPr>
        <p:spPr>
          <a:xfrm rot="5400000">
            <a:off x="3714750" y="3643313"/>
            <a:ext cx="2500313" cy="235743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/>
              <a:t>Maximum salary for each department in EMPLOYEES table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A7A306-993D-7321-1406-5EBA17E44F93}"/>
              </a:ext>
            </a:extLst>
          </p:cNvPr>
          <p:cNvGraphicFramePr>
            <a:graphicFrameLocks noGrp="1"/>
          </p:cNvGraphicFramePr>
          <p:nvPr/>
        </p:nvGraphicFramePr>
        <p:xfrm>
          <a:off x="6215063" y="4000500"/>
          <a:ext cx="2428875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MAX(SALARY)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10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1230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20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2500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30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1500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8F051996-E0EF-3B68-5E85-6260FD096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Creating Groups of Data</a:t>
            </a: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ACFDE2AA-9096-187F-6414-5C6D35E2B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775" y="1988840"/>
            <a:ext cx="8153400" cy="1154410"/>
          </a:xfrm>
        </p:spPr>
        <p:txBody>
          <a:bodyPr/>
          <a:lstStyle/>
          <a:p>
            <a:pPr eaLnBrk="1" hangingPunct="1"/>
            <a:r>
              <a:rPr lang="en-US" altLang="en-US" dirty="0"/>
              <a:t>To divide rows in a table into smaller groups by using GROUP BY clause.</a:t>
            </a:r>
          </a:p>
        </p:txBody>
      </p:sp>
      <p:sp>
        <p:nvSpPr>
          <p:cNvPr id="65540" name="TextBox 3">
            <a:extLst>
              <a:ext uri="{FF2B5EF4-FFF2-40B4-BE49-F238E27FC236}">
                <a16:creationId xmlns:a16="http://schemas.microsoft.com/office/drawing/2014/main" id="{3D1B01E4-7A31-B244-7AD4-FEA8336C4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3214688"/>
            <a:ext cx="7693025" cy="1938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*|{[DISTINCT] column_name | expression [alias],…..}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table_name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[WHERE conditon(s)];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[GROUP BY group_by_expression]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[ORDER BY column];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A5537778-5A51-395A-838F-02C9A1D44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Using the GROUP BY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18142-EA2D-B2DD-D2C4-02AB010D6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48" y="1883207"/>
            <a:ext cx="8153400" cy="1400175"/>
          </a:xfrm>
        </p:spPr>
        <p:txBody>
          <a:bodyPr>
            <a:normAutofit fontScale="85000" lnSpcReduction="20000"/>
          </a:bodyPr>
          <a:lstStyle/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800" dirty="0"/>
              <a:t>All the columns in the SELECT list that are not in group functions must be in the GROUP BY clause.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800" dirty="0"/>
              <a:t>However, the GROUP BY column does not have to be in the SELECT list.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endParaRPr lang="en-US" sz="2000" dirty="0"/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endParaRPr lang="en-US" sz="2800" dirty="0"/>
          </a:p>
        </p:txBody>
      </p:sp>
      <p:sp>
        <p:nvSpPr>
          <p:cNvPr id="66564" name="TextBox 4">
            <a:extLst>
              <a:ext uri="{FF2B5EF4-FFF2-40B4-BE49-F238E27FC236}">
                <a16:creationId xmlns:a16="http://schemas.microsoft.com/office/drawing/2014/main" id="{612CB95D-E707-06B1-9E19-B8D66686D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3357563"/>
            <a:ext cx="3071812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dept_id,  MAX(salary)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GROUP BY dept_id;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315198-03B2-B348-D969-70FD6E09597C}"/>
              </a:ext>
            </a:extLst>
          </p:cNvPr>
          <p:cNvGraphicFramePr>
            <a:graphicFrameLocks noGrp="1"/>
          </p:cNvGraphicFramePr>
          <p:nvPr/>
        </p:nvGraphicFramePr>
        <p:xfrm>
          <a:off x="1071563" y="4357688"/>
          <a:ext cx="2428875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MAX(SALARY)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10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1230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20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2500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30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1500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6582" name="TextBox 6">
            <a:extLst>
              <a:ext uri="{FF2B5EF4-FFF2-40B4-BE49-F238E27FC236}">
                <a16:creationId xmlns:a16="http://schemas.microsoft.com/office/drawing/2014/main" id="{22BA0453-0042-6791-3166-ADBB5C464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3357563"/>
            <a:ext cx="3071812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MAX(salary)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GROUP BY dept_id;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53F17A8-C41E-A3B5-E3BF-B53E006239AF}"/>
              </a:ext>
            </a:extLst>
          </p:cNvPr>
          <p:cNvGraphicFramePr>
            <a:graphicFrameLocks noGrp="1"/>
          </p:cNvGraphicFramePr>
          <p:nvPr/>
        </p:nvGraphicFramePr>
        <p:xfrm>
          <a:off x="5357813" y="4357688"/>
          <a:ext cx="1428750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200" dirty="0"/>
                        <a:t>MAX(SALARY)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1230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2500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1500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1EC16582-8AD6-1264-6DE0-2C685B6A0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Group Functions in ORDER BY</a:t>
            </a:r>
          </a:p>
        </p:txBody>
      </p:sp>
      <p:sp>
        <p:nvSpPr>
          <p:cNvPr id="67587" name="TextBox 3">
            <a:extLst>
              <a:ext uri="{FF2B5EF4-FFF2-40B4-BE49-F238E27FC236}">
                <a16:creationId xmlns:a16="http://schemas.microsoft.com/office/drawing/2014/main" id="{C654CDDE-A8DA-D746-7D3E-13BF151A2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1785938"/>
            <a:ext cx="3214687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dept_id,  MAX(salary)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GROUP BY dept_id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ORDER BY MAX(salary);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5A82B3-4BBC-522C-1391-50FB44B82AA3}"/>
              </a:ext>
            </a:extLst>
          </p:cNvPr>
          <p:cNvGraphicFramePr>
            <a:graphicFrameLocks noGrp="1"/>
          </p:cNvGraphicFramePr>
          <p:nvPr/>
        </p:nvGraphicFramePr>
        <p:xfrm>
          <a:off x="4429125" y="2643188"/>
          <a:ext cx="2428875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MAX(SALARY)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20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2500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30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1500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10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1230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476DAC01-80A5-35E3-4995-AEB9D523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Restricting Group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A0450F-6039-FA84-C7F7-4BB84E3BAFF5}"/>
              </a:ext>
            </a:extLst>
          </p:cNvPr>
          <p:cNvGraphicFramePr>
            <a:graphicFrameLocks noGrp="1"/>
          </p:cNvGraphicFramePr>
          <p:nvPr/>
        </p:nvGraphicFramePr>
        <p:xfrm>
          <a:off x="785813" y="1857375"/>
          <a:ext cx="2879726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647">
                <a:tc>
                  <a:txBody>
                    <a:bodyPr/>
                    <a:lstStyle/>
                    <a:p>
                      <a:r>
                        <a:rPr lang="en-US" sz="1200" dirty="0"/>
                        <a:t>LAST_NAME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62" marR="91462"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647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62" marR="91462"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130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62" marR="91462"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85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1500</a:t>
                      </a:r>
                    </a:p>
                    <a:p>
                      <a:pPr algn="r"/>
                      <a:endParaRPr lang="en-US" sz="1200" dirty="0"/>
                    </a:p>
                  </a:txBody>
                  <a:tcPr marL="91462" marR="91462" marT="45713" marB="457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130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62" marR="91462" marT="45713" marB="4571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130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62" marR="91462" marT="45713" marB="4571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130">
                <a:tc>
                  <a:txBody>
                    <a:bodyPr/>
                    <a:lstStyle/>
                    <a:p>
                      <a:r>
                        <a:rPr lang="en-US" sz="1200" dirty="0"/>
                        <a:t>Taylor Duff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62" marR="9146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62" marR="91462" marT="45713" marB="4571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3BE7A76-22A3-1304-F171-A430FCCED5AE}"/>
              </a:ext>
            </a:extLst>
          </p:cNvPr>
          <p:cNvSpPr/>
          <p:nvPr/>
        </p:nvSpPr>
        <p:spPr>
          <a:xfrm>
            <a:off x="2884488" y="2071688"/>
            <a:ext cx="785812" cy="2695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F63B3188-61E5-751F-A388-361EF629B9DF}"/>
              </a:ext>
            </a:extLst>
          </p:cNvPr>
          <p:cNvSpPr/>
          <p:nvPr/>
        </p:nvSpPr>
        <p:spPr>
          <a:xfrm rot="5400000">
            <a:off x="3536156" y="2250282"/>
            <a:ext cx="2714625" cy="235743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/>
              <a:t>Maximum salary for each department BUT only for those who average salary is  greater than 1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/>
              <a:t>1300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8B5A2A-DA3A-0154-225C-96261C6946E8}"/>
              </a:ext>
            </a:extLst>
          </p:cNvPr>
          <p:cNvGraphicFramePr>
            <a:graphicFrameLocks noGrp="1"/>
          </p:cNvGraphicFramePr>
          <p:nvPr/>
        </p:nvGraphicFramePr>
        <p:xfrm>
          <a:off x="6143625" y="2857500"/>
          <a:ext cx="2428875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200" dirty="0"/>
                        <a:t>DEPT_ID</a:t>
                      </a: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MAX(SALARY)</a:t>
                      </a:r>
                    </a:p>
                  </a:txBody>
                  <a:tcPr marL="91439" marR="91439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20</a:t>
                      </a: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2500</a:t>
                      </a:r>
                    </a:p>
                  </a:txBody>
                  <a:tcPr marL="91439" marR="91439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30</a:t>
                      </a: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1500</a:t>
                      </a:r>
                    </a:p>
                  </a:txBody>
                  <a:tcPr marL="91439" marR="91439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ADCE6-BBD5-C335-3762-52C8CFE3F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Restricting Group with HAVING clause</a:t>
            </a:r>
          </a:p>
        </p:txBody>
      </p:sp>
      <p:sp>
        <p:nvSpPr>
          <p:cNvPr id="69635" name="TextBox 3">
            <a:extLst>
              <a:ext uri="{FF2B5EF4-FFF2-40B4-BE49-F238E27FC236}">
                <a16:creationId xmlns:a16="http://schemas.microsoft.com/office/drawing/2014/main" id="{FCD6B576-01BF-115B-56A0-FAC547F48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071688"/>
            <a:ext cx="7693025" cy="2308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*|{[DISTINCT] column_name | expression [alias],…..}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table_name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[WHERE conditon(s)];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[GROUP BY group_by_expression]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[HAVING group_coundition]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[ORDER BY column];</a:t>
            </a:r>
          </a:p>
        </p:txBody>
      </p:sp>
      <p:sp>
        <p:nvSpPr>
          <p:cNvPr id="69636" name="TextBox 4">
            <a:extLst>
              <a:ext uri="{FF2B5EF4-FFF2-40B4-BE49-F238E27FC236}">
                <a16:creationId xmlns:a16="http://schemas.microsoft.com/office/drawing/2014/main" id="{23FD20D4-907A-9EAE-F483-A95DC635A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4786313"/>
            <a:ext cx="5357812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SELECT dept_id,  MAX(salary)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GROUP BY dept_id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HAVING MAX(salary) &gt; 1300;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Title 3">
            <a:extLst>
              <a:ext uri="{FF2B5EF4-FFF2-40B4-BE49-F238E27FC236}">
                <a16:creationId xmlns:a16="http://schemas.microsoft.com/office/drawing/2014/main" id="{6353C826-E95B-40B9-C8A8-F0B853E2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End with… displaying data from a table</a:t>
            </a:r>
          </a:p>
        </p:txBody>
      </p:sp>
      <p:sp>
        <p:nvSpPr>
          <p:cNvPr id="70658" name="Text Placeholder 4">
            <a:extLst>
              <a:ext uri="{FF2B5EF4-FFF2-40B4-BE49-F238E27FC236}">
                <a16:creationId xmlns:a16="http://schemas.microsoft.com/office/drawing/2014/main" id="{F5E1679C-00CC-114C-48E8-1A62952FE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/>
              <a:t>Then, we continue with displaying data from multiple tables or known as join tables.</a:t>
            </a:r>
          </a:p>
          <a:p>
            <a:pPr algn="r" eaLnBrk="1" hangingPunct="1"/>
            <a:r>
              <a:rPr lang="en-US" altLang="en-US"/>
              <a:t>Shall we start?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BB6DF4-54CE-961C-3219-697FB4B455D7}"/>
              </a:ext>
            </a:extLst>
          </p:cNvPr>
          <p:cNvGraphicFramePr>
            <a:graphicFrameLocks noGrp="1"/>
          </p:cNvGraphicFramePr>
          <p:nvPr/>
        </p:nvGraphicFramePr>
        <p:xfrm>
          <a:off x="428625" y="1143000"/>
          <a:ext cx="4052888" cy="2072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720">
                <a:tc>
                  <a:txBody>
                    <a:bodyPr/>
                    <a:lstStyle/>
                    <a:p>
                      <a:r>
                        <a:rPr lang="en-US" sz="1100" dirty="0"/>
                        <a:t>EMPID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COMMISSION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97F141-0F3B-9401-6499-E9607116F436}"/>
              </a:ext>
            </a:extLst>
          </p:cNvPr>
          <p:cNvGraphicFramePr>
            <a:graphicFrameLocks noGrp="1"/>
          </p:cNvGraphicFramePr>
          <p:nvPr/>
        </p:nvGraphicFramePr>
        <p:xfrm>
          <a:off x="4857750" y="928688"/>
          <a:ext cx="3857625" cy="2684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3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9002">
                <a:tc>
                  <a:txBody>
                    <a:bodyPr/>
                    <a:lstStyle/>
                    <a:p>
                      <a:r>
                        <a:rPr lang="en-US" sz="1100" dirty="0"/>
                        <a:t>DEPID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NAME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DOB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STATUS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EMPID</a:t>
                      </a:r>
                    </a:p>
                  </a:txBody>
                  <a:tcPr marL="91439" marR="91439" marT="45729" marB="4572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6">
                <a:tc>
                  <a:txBody>
                    <a:bodyPr/>
                    <a:lstStyle/>
                    <a:p>
                      <a:r>
                        <a:rPr lang="en-US" sz="1000" dirty="0"/>
                        <a:t>101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Muhammad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12-10-1960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Suami</a:t>
                      </a:r>
                      <a:endParaRPr lang="en-US" sz="1000" dirty="0"/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1</a:t>
                      </a:r>
                    </a:p>
                  </a:txBody>
                  <a:tcPr marL="91439" marR="91439" marT="45729" marB="457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6">
                <a:tc>
                  <a:txBody>
                    <a:bodyPr/>
                    <a:lstStyle/>
                    <a:p>
                      <a:r>
                        <a:rPr lang="en-US" sz="1000" dirty="0"/>
                        <a:t>102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Sarah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03-03-1990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Anak</a:t>
                      </a:r>
                      <a:endParaRPr lang="en-US" sz="1000" dirty="0"/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1</a:t>
                      </a:r>
                    </a:p>
                  </a:txBody>
                  <a:tcPr marL="91439" marR="91439" marT="45729" marB="457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6">
                <a:tc>
                  <a:txBody>
                    <a:bodyPr/>
                    <a:lstStyle/>
                    <a:p>
                      <a:r>
                        <a:rPr lang="en-US" sz="1000" dirty="0"/>
                        <a:t>103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Linda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12-06-1993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Anak</a:t>
                      </a:r>
                      <a:endParaRPr lang="en-US" sz="1000" dirty="0"/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1</a:t>
                      </a:r>
                    </a:p>
                  </a:txBody>
                  <a:tcPr marL="91439" marR="91439" marT="45729" marB="4572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6">
                <a:tc>
                  <a:txBody>
                    <a:bodyPr/>
                    <a:lstStyle/>
                    <a:p>
                      <a:r>
                        <a:rPr lang="en-US" sz="1000" dirty="0"/>
                        <a:t>104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Ali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27-09-1997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Anak</a:t>
                      </a:r>
                      <a:endParaRPr lang="en-US" sz="1000" dirty="0"/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1</a:t>
                      </a:r>
                    </a:p>
                  </a:txBody>
                  <a:tcPr marL="91439" marR="91439" marT="45729" marB="4572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6">
                <a:tc>
                  <a:txBody>
                    <a:bodyPr/>
                    <a:lstStyle/>
                    <a:p>
                      <a:r>
                        <a:rPr lang="en-US" sz="1000" dirty="0"/>
                        <a:t>105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Sarimah</a:t>
                      </a:r>
                      <a:endParaRPr lang="en-US" sz="1000" dirty="0"/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11-08-1976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Isteri</a:t>
                      </a:r>
                      <a:endParaRPr lang="en-US" sz="1000" dirty="0"/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2</a:t>
                      </a:r>
                    </a:p>
                  </a:txBody>
                  <a:tcPr marL="91439" marR="91439" marT="45729" marB="4572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6">
                <a:tc>
                  <a:txBody>
                    <a:bodyPr/>
                    <a:lstStyle/>
                    <a:p>
                      <a:r>
                        <a:rPr lang="en-US" sz="1000" dirty="0"/>
                        <a:t>106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Adibah</a:t>
                      </a:r>
                      <a:endParaRPr lang="en-US" sz="1000" dirty="0"/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24-07-2003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Anak</a:t>
                      </a:r>
                      <a:endParaRPr lang="en-US" sz="1000" dirty="0"/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2</a:t>
                      </a:r>
                    </a:p>
                  </a:txBody>
                  <a:tcPr marL="91439" marR="91439" marT="45729" marB="4572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6">
                <a:tc>
                  <a:txBody>
                    <a:bodyPr/>
                    <a:lstStyle/>
                    <a:p>
                      <a:r>
                        <a:rPr lang="en-US" sz="1000" dirty="0"/>
                        <a:t>107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Haziq</a:t>
                      </a:r>
                      <a:endParaRPr lang="en-US" sz="1000" dirty="0"/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06-03-2005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Anak</a:t>
                      </a:r>
                      <a:endParaRPr lang="en-US" sz="1000" dirty="0"/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2</a:t>
                      </a:r>
                    </a:p>
                  </a:txBody>
                  <a:tcPr marL="91439" marR="91439" marT="45729" marB="4572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424">
                <a:tc>
                  <a:txBody>
                    <a:bodyPr/>
                    <a:lstStyle/>
                    <a:p>
                      <a:r>
                        <a:rPr lang="en-US" sz="1000" dirty="0"/>
                        <a:t>108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Elizabeth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04-04-1973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Isteri</a:t>
                      </a:r>
                      <a:endParaRPr lang="en-US" sz="1000" dirty="0"/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6</a:t>
                      </a:r>
                    </a:p>
                  </a:txBody>
                  <a:tcPr marL="91439" marR="91439" marT="45729" marB="4572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835">
                <a:tc>
                  <a:txBody>
                    <a:bodyPr/>
                    <a:lstStyle/>
                    <a:p>
                      <a:r>
                        <a:rPr lang="en-US" sz="1000" dirty="0"/>
                        <a:t>109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Ridzuan</a:t>
                      </a:r>
                      <a:endParaRPr lang="en-US" sz="1000" dirty="0"/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09-02-1990</a:t>
                      </a:r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Anak</a:t>
                      </a:r>
                      <a:endParaRPr lang="en-US" sz="1000" dirty="0"/>
                    </a:p>
                  </a:txBody>
                  <a:tcPr marL="91439" marR="91439" marT="45729" marB="4572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4</a:t>
                      </a:r>
                    </a:p>
                  </a:txBody>
                  <a:tcPr marL="91439" marR="91439" marT="45729" marB="45729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732165D-AB07-E471-0753-3FBB59CB9F18}"/>
              </a:ext>
            </a:extLst>
          </p:cNvPr>
          <p:cNvSpPr/>
          <p:nvPr/>
        </p:nvSpPr>
        <p:spPr>
          <a:xfrm>
            <a:off x="1000125" y="1143000"/>
            <a:ext cx="1071563" cy="200025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E757D3-A3B7-767F-2675-755745B9E03A}"/>
              </a:ext>
            </a:extLst>
          </p:cNvPr>
          <p:cNvSpPr/>
          <p:nvPr/>
        </p:nvSpPr>
        <p:spPr>
          <a:xfrm>
            <a:off x="5429250" y="928688"/>
            <a:ext cx="1071563" cy="271462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9ED673-DF32-8BFA-B6D4-2CBDF295D571}"/>
              </a:ext>
            </a:extLst>
          </p:cNvPr>
          <p:cNvSpPr/>
          <p:nvPr/>
        </p:nvSpPr>
        <p:spPr>
          <a:xfrm>
            <a:off x="2695575" y="1143000"/>
            <a:ext cx="857250" cy="200025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77EFEFD-A0EA-A97E-3C0B-34F35342ED81}"/>
              </a:ext>
            </a:extLst>
          </p:cNvPr>
          <p:cNvGraphicFramePr>
            <a:graphicFrameLocks noGrp="1"/>
          </p:cNvGraphicFramePr>
          <p:nvPr/>
        </p:nvGraphicFramePr>
        <p:xfrm>
          <a:off x="857250" y="3643313"/>
          <a:ext cx="3484563" cy="2894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217"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NAME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STATUS</a:t>
                      </a:r>
                    </a:p>
                  </a:txBody>
                  <a:tcPr marL="91422" marR="91422"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8">
                <a:tc>
                  <a:txBody>
                    <a:bodyPr/>
                    <a:lstStyle/>
                    <a:p>
                      <a:r>
                        <a:rPr lang="en-US" sz="1100" dirty="0" err="1"/>
                        <a:t>Siti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Razilah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1000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Muhammad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/>
                        <a:t>Suami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8">
                <a:tc>
                  <a:txBody>
                    <a:bodyPr/>
                    <a:lstStyle/>
                    <a:p>
                      <a:r>
                        <a:rPr lang="en-US" sz="1100" dirty="0" err="1"/>
                        <a:t>Siti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Razilah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1000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Sarah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/>
                        <a:t>Anak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8">
                <a:tc>
                  <a:txBody>
                    <a:bodyPr/>
                    <a:lstStyle/>
                    <a:p>
                      <a:r>
                        <a:rPr lang="en-US" sz="1100" dirty="0" err="1"/>
                        <a:t>Siti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Razilah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1000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Linda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/>
                        <a:t>Anak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8">
                <a:tc>
                  <a:txBody>
                    <a:bodyPr/>
                    <a:lstStyle/>
                    <a:p>
                      <a:r>
                        <a:rPr lang="en-US" sz="1100" dirty="0" err="1"/>
                        <a:t>Siti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Razilah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1000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Ali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/>
                        <a:t>Anak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8">
                <a:tc>
                  <a:txBody>
                    <a:bodyPr/>
                    <a:lstStyle/>
                    <a:p>
                      <a:r>
                        <a:rPr lang="en-US" sz="1100" dirty="0"/>
                        <a:t>Musa Ahmad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1200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/>
                        <a:t>Sarimah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/>
                        <a:t>Isteri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8">
                <a:tc>
                  <a:txBody>
                    <a:bodyPr/>
                    <a:lstStyle/>
                    <a:p>
                      <a:r>
                        <a:rPr lang="en-US" sz="1100" dirty="0"/>
                        <a:t>Musa Ahmad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1200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/>
                        <a:t>Adibah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/>
                        <a:t>Anak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358">
                <a:tc>
                  <a:txBody>
                    <a:bodyPr/>
                    <a:lstStyle/>
                    <a:p>
                      <a:r>
                        <a:rPr lang="en-US" sz="1100" dirty="0"/>
                        <a:t>Musa Ahmad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1200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/>
                        <a:t>Haziq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/>
                        <a:t>Anak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358">
                <a:tc>
                  <a:txBody>
                    <a:bodyPr/>
                    <a:lstStyle/>
                    <a:p>
                      <a:r>
                        <a:rPr lang="en-US" sz="1100" dirty="0" err="1"/>
                        <a:t>Ammar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Faizul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1800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/>
                        <a:t>Ridzuan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/>
                        <a:t>Anak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358">
                <a:tc>
                  <a:txBody>
                    <a:bodyPr/>
                    <a:lstStyle/>
                    <a:p>
                      <a:r>
                        <a:rPr lang="en-US" sz="1100" dirty="0"/>
                        <a:t>Taylor Duff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2500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Elizabeth</a:t>
                      </a:r>
                    </a:p>
                  </a:txBody>
                  <a:tcPr marL="91422" marR="91422" marT="45712" marB="4571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/>
                        <a:t>Isteri</a:t>
                      </a:r>
                      <a:endParaRPr lang="en-US" sz="1100" dirty="0"/>
                    </a:p>
                  </a:txBody>
                  <a:tcPr marL="91422" marR="91422" marT="45712" marB="45712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1860" name="TextBox 9">
            <a:extLst>
              <a:ext uri="{FF2B5EF4-FFF2-40B4-BE49-F238E27FC236}">
                <a16:creationId xmlns:a16="http://schemas.microsoft.com/office/drawing/2014/main" id="{A8DED43D-8B12-D644-0B21-B50B02442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714375"/>
            <a:ext cx="1211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EMPLOYEE</a:t>
            </a:r>
          </a:p>
        </p:txBody>
      </p:sp>
      <p:sp>
        <p:nvSpPr>
          <p:cNvPr id="71861" name="TextBox 10">
            <a:extLst>
              <a:ext uri="{FF2B5EF4-FFF2-40B4-BE49-F238E27FC236}">
                <a16:creationId xmlns:a16="http://schemas.microsoft.com/office/drawing/2014/main" id="{D6520C0E-90D1-9CEA-5E7C-8473E8939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642938"/>
            <a:ext cx="13573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DEPENDENT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4043FE-3026-EED6-4A5C-255871EC2073}"/>
              </a:ext>
            </a:extLst>
          </p:cNvPr>
          <p:cNvSpPr/>
          <p:nvPr/>
        </p:nvSpPr>
        <p:spPr>
          <a:xfrm>
            <a:off x="7383463" y="928688"/>
            <a:ext cx="642937" cy="271462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43925BB-1012-EA7B-0005-E513906A2419}"/>
              </a:ext>
            </a:extLst>
          </p:cNvPr>
          <p:cNvCxnSpPr>
            <a:stCxn id="6" idx="2"/>
          </p:cNvCxnSpPr>
          <p:nvPr/>
        </p:nvCxnSpPr>
        <p:spPr>
          <a:xfrm rot="5400000">
            <a:off x="1267619" y="3375819"/>
            <a:ext cx="500063" cy="3492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48A9C30-49D4-8E6A-AA1F-9ACA2A128CE1}"/>
              </a:ext>
            </a:extLst>
          </p:cNvPr>
          <p:cNvCxnSpPr>
            <a:stCxn id="8" idx="2"/>
          </p:cNvCxnSpPr>
          <p:nvPr/>
        </p:nvCxnSpPr>
        <p:spPr>
          <a:xfrm rot="5400000">
            <a:off x="2455068" y="2974182"/>
            <a:ext cx="500063" cy="83820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6F528D-16B8-EC13-C005-7755EFAFD987}"/>
              </a:ext>
            </a:extLst>
          </p:cNvPr>
          <p:cNvCxnSpPr/>
          <p:nvPr/>
        </p:nvCxnSpPr>
        <p:spPr>
          <a:xfrm rot="10800000" flipV="1">
            <a:off x="3143250" y="3357563"/>
            <a:ext cx="2286000" cy="28575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4885983-DB29-EAAB-2F2F-E11199EFFEAF}"/>
              </a:ext>
            </a:extLst>
          </p:cNvPr>
          <p:cNvCxnSpPr>
            <a:stCxn id="12" idx="2"/>
          </p:cNvCxnSpPr>
          <p:nvPr/>
        </p:nvCxnSpPr>
        <p:spPr>
          <a:xfrm rot="5400000">
            <a:off x="5960269" y="2040732"/>
            <a:ext cx="142875" cy="334803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867" name="Picture 3" descr="C:\Documents and Settings\Admin\Local Settings\Temporary Internet Files\Content.IE5\OO1I1JBV\MC900434411[1].wmf">
            <a:extLst>
              <a:ext uri="{FF2B5EF4-FFF2-40B4-BE49-F238E27FC236}">
                <a16:creationId xmlns:a16="http://schemas.microsoft.com/office/drawing/2014/main" id="{BCF56F66-9F72-227A-CBA1-C44888D4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4214813"/>
            <a:ext cx="1785938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636C2617-DE20-AC5D-4759-9DE0B019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Table Joins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6E8930E-2BD8-075A-C193-A15AF371A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75" y="1714500"/>
            <a:ext cx="8001000" cy="4929188"/>
          </a:xfrm>
        </p:spPr>
        <p:txBody>
          <a:bodyPr lIns="92075" tIns="46038" rIns="92075" bIns="46038">
            <a:normAutofit/>
          </a:bodyPr>
          <a:lstStyle/>
          <a:p>
            <a:pPr eaLnBrk="1" hangingPunct="1">
              <a:spcAft>
                <a:spcPct val="20000"/>
              </a:spcAft>
            </a:pPr>
            <a:r>
              <a:rPr lang="en-US" altLang="en-US" sz="1800">
                <a:solidFill>
                  <a:srgbClr val="030305"/>
                </a:solidFill>
              </a:rPr>
              <a:t>Process of combining data from two or more tables, normally using primary and/or foreign keys.</a:t>
            </a:r>
          </a:p>
          <a:p>
            <a:pPr eaLnBrk="1" hangingPunct="1">
              <a:spcAft>
                <a:spcPct val="20000"/>
              </a:spcAft>
            </a:pPr>
            <a:r>
              <a:rPr lang="en-US" altLang="en-US" sz="1800">
                <a:solidFill>
                  <a:srgbClr val="030305"/>
                </a:solidFill>
              </a:rPr>
              <a:t>Basic types of joins: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1600">
                <a:solidFill>
                  <a:srgbClr val="030305"/>
                </a:solidFill>
              </a:rPr>
              <a:t>Natural Joins:</a:t>
            </a:r>
          </a:p>
          <a:p>
            <a:pPr lvl="2" eaLnBrk="1" hangingPunct="1">
              <a:spcAft>
                <a:spcPct val="20000"/>
              </a:spcAft>
            </a:pPr>
            <a:r>
              <a:rPr lang="en-US" altLang="en-US" sz="1400">
                <a:solidFill>
                  <a:srgbClr val="030305"/>
                </a:solidFill>
              </a:rPr>
              <a:t>NATURAL JOIN clause</a:t>
            </a:r>
          </a:p>
          <a:p>
            <a:pPr lvl="2" eaLnBrk="1" hangingPunct="1">
              <a:spcAft>
                <a:spcPct val="20000"/>
              </a:spcAft>
            </a:pPr>
            <a:r>
              <a:rPr lang="en-US" altLang="en-US" sz="1400">
                <a:solidFill>
                  <a:srgbClr val="030305"/>
                </a:solidFill>
              </a:rPr>
              <a:t>USING clause</a:t>
            </a:r>
          </a:p>
          <a:p>
            <a:pPr lvl="2" eaLnBrk="1" hangingPunct="1">
              <a:spcAft>
                <a:spcPct val="20000"/>
              </a:spcAft>
            </a:pPr>
            <a:r>
              <a:rPr lang="en-US" altLang="en-US" sz="1400">
                <a:solidFill>
                  <a:srgbClr val="030305"/>
                </a:solidFill>
              </a:rPr>
              <a:t>ON clause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1600">
                <a:solidFill>
                  <a:srgbClr val="030305"/>
                </a:solidFill>
              </a:rPr>
              <a:t>Self-Joins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1600">
                <a:solidFill>
                  <a:srgbClr val="030305"/>
                </a:solidFill>
              </a:rPr>
              <a:t>Nonequijoins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1600">
                <a:solidFill>
                  <a:srgbClr val="030305"/>
                </a:solidFill>
              </a:rPr>
              <a:t>Outer Joins:</a:t>
            </a:r>
          </a:p>
          <a:p>
            <a:pPr lvl="2" eaLnBrk="1" hangingPunct="1">
              <a:spcAft>
                <a:spcPct val="20000"/>
              </a:spcAft>
            </a:pPr>
            <a:r>
              <a:rPr lang="en-US" altLang="en-US" sz="1400">
                <a:solidFill>
                  <a:srgbClr val="030305"/>
                </a:solidFill>
              </a:rPr>
              <a:t>LEFT OUTER JOIN clause</a:t>
            </a:r>
          </a:p>
          <a:p>
            <a:pPr lvl="2" eaLnBrk="1" hangingPunct="1">
              <a:spcAft>
                <a:spcPct val="20000"/>
              </a:spcAft>
            </a:pPr>
            <a:r>
              <a:rPr lang="en-US" altLang="en-US" sz="1400">
                <a:solidFill>
                  <a:srgbClr val="030305"/>
                </a:solidFill>
              </a:rPr>
              <a:t>RIGHT OUTER JOIN clause</a:t>
            </a:r>
          </a:p>
          <a:p>
            <a:pPr lvl="2" eaLnBrk="1" hangingPunct="1">
              <a:spcAft>
                <a:spcPct val="20000"/>
              </a:spcAft>
            </a:pPr>
            <a:r>
              <a:rPr lang="en-US" altLang="en-US" sz="1400">
                <a:solidFill>
                  <a:srgbClr val="030305"/>
                </a:solidFill>
              </a:rPr>
              <a:t>FULL OUTER JOIN clause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1600">
                <a:solidFill>
                  <a:srgbClr val="030305"/>
                </a:solidFill>
              </a:rPr>
              <a:t>CROSS JOIN clause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BD9094-6766-7DE1-DE23-7087B33576FE}"/>
              </a:ext>
            </a:extLst>
          </p:cNvPr>
          <p:cNvSpPr/>
          <p:nvPr/>
        </p:nvSpPr>
        <p:spPr>
          <a:xfrm>
            <a:off x="71438" y="2214563"/>
            <a:ext cx="9001125" cy="32146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100D-5336-13DA-35AD-782E46F5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Joining Tables Using SQL:1999 syntax</a:t>
            </a:r>
          </a:p>
        </p:txBody>
      </p:sp>
      <p:sp>
        <p:nvSpPr>
          <p:cNvPr id="73732" name="TextBox 3">
            <a:extLst>
              <a:ext uri="{FF2B5EF4-FFF2-40B4-BE49-F238E27FC236}">
                <a16:creationId xmlns:a16="http://schemas.microsoft.com/office/drawing/2014/main" id="{2E16092E-3E3A-078E-DBFB-D679D8F46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" y="2559050"/>
            <a:ext cx="8786813" cy="25542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SELECT table1.column, table2.column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FROM table1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[NATURAL JOIN table2] |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[JOIN table2 USING (column_name)] |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[JOIN table2 on (table1.column_name = table2.column_name)] |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[LEFT | RIGHT | FULL OUTER JOIN table2 on table1.column_name = table2.column_name)]|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[CROSS JOIN table2];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083D64C-8FD7-DE1F-B891-56AD0C9E7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Creating NATURAL JOIN clause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DE92571D-C804-1AC2-A26A-DE99DE4C0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085975"/>
            <a:ext cx="8153400" cy="2686050"/>
          </a:xfrm>
        </p:spPr>
        <p:txBody>
          <a:bodyPr lIns="92075" tIns="46038" rIns="92075" bIns="46038">
            <a:normAutofit/>
          </a:bodyPr>
          <a:lstStyle/>
          <a:p>
            <a:pPr eaLnBrk="1" hangingPunct="1">
              <a:spcAft>
                <a:spcPct val="20000"/>
              </a:spcAft>
            </a:pPr>
            <a:r>
              <a:rPr lang="en-US" altLang="en-US" sz="2400" dirty="0">
                <a:solidFill>
                  <a:srgbClr val="030305"/>
                </a:solidFill>
              </a:rPr>
              <a:t>The NATURAL JOIN clause is based on all the columns in the two tables that have the same name.</a:t>
            </a:r>
          </a:p>
          <a:p>
            <a:pPr eaLnBrk="1" hangingPunct="1">
              <a:spcAft>
                <a:spcPct val="20000"/>
              </a:spcAft>
            </a:pPr>
            <a:r>
              <a:rPr lang="en-US" altLang="en-US" sz="2400" dirty="0">
                <a:solidFill>
                  <a:srgbClr val="030305"/>
                </a:solidFill>
              </a:rPr>
              <a:t>It selects rows from the two tables that have equal values in all matched columns.</a:t>
            </a:r>
          </a:p>
          <a:p>
            <a:pPr eaLnBrk="1" hangingPunct="1">
              <a:spcAft>
                <a:spcPct val="20000"/>
              </a:spcAft>
            </a:pPr>
            <a:r>
              <a:rPr lang="en-US" altLang="en-US" sz="2400" dirty="0">
                <a:solidFill>
                  <a:srgbClr val="030305"/>
                </a:solidFill>
              </a:rPr>
              <a:t>If the columns having same name but different data type, an error is returned.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EB315566-020B-B2DC-EF7F-573CF26E8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760681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Example of Using NATURAL JOIN clause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B268AA-7C47-A0A7-D9A0-3ACA478AF2EB}"/>
              </a:ext>
            </a:extLst>
          </p:cNvPr>
          <p:cNvGraphicFramePr>
            <a:graphicFrameLocks noGrp="1"/>
          </p:cNvGraphicFramePr>
          <p:nvPr/>
        </p:nvGraphicFramePr>
        <p:xfrm>
          <a:off x="214313" y="1928813"/>
          <a:ext cx="4052887" cy="2072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720">
                <a:tc>
                  <a:txBody>
                    <a:bodyPr/>
                    <a:lstStyle/>
                    <a:p>
                      <a:r>
                        <a:rPr lang="en-US" sz="1100" dirty="0"/>
                        <a:t>EMPID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COMMISSION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5829" name="TextBox 4">
            <a:extLst>
              <a:ext uri="{FF2B5EF4-FFF2-40B4-BE49-F238E27FC236}">
                <a16:creationId xmlns:a16="http://schemas.microsoft.com/office/drawing/2014/main" id="{388BAABB-E5C1-B5F8-089D-5079FE715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3" y="1546225"/>
            <a:ext cx="12112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EMPLOYEE</a:t>
            </a:r>
          </a:p>
        </p:txBody>
      </p:sp>
      <p:sp>
        <p:nvSpPr>
          <p:cNvPr id="75830" name="TextBox 5">
            <a:extLst>
              <a:ext uri="{FF2B5EF4-FFF2-40B4-BE49-F238E27FC236}">
                <a16:creationId xmlns:a16="http://schemas.microsoft.com/office/drawing/2014/main" id="{B0D4F367-A5B4-1262-5975-F3544FDD6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1571625"/>
            <a:ext cx="1511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DEPARTMENT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C4ACD2-78D1-A8D0-D2FD-A31299902F8D}"/>
              </a:ext>
            </a:extLst>
          </p:cNvPr>
          <p:cNvGraphicFramePr>
            <a:graphicFrameLocks noGrp="1"/>
          </p:cNvGraphicFramePr>
          <p:nvPr/>
        </p:nvGraphicFramePr>
        <p:xfrm>
          <a:off x="4857750" y="1928813"/>
          <a:ext cx="3000375" cy="2138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720"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DEPT_NAME</a:t>
                      </a:r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Networking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 of Info.</a:t>
                      </a:r>
                      <a:r>
                        <a:rPr lang="en-US" sz="1200" baseline="0" dirty="0"/>
                        <a:t> Science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 of Multimedia</a:t>
                      </a:r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200" dirty="0"/>
                        <a:t>40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Computer Science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200" dirty="0"/>
                        <a:t>50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 of Applied</a:t>
                      </a:r>
                      <a:r>
                        <a:rPr lang="en-US" sz="1200" baseline="0" dirty="0"/>
                        <a:t> Science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200" dirty="0"/>
                        <a:t>60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 of Robotics</a:t>
                      </a:r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5857" name="Rectangle 7">
            <a:extLst>
              <a:ext uri="{FF2B5EF4-FFF2-40B4-BE49-F238E27FC236}">
                <a16:creationId xmlns:a16="http://schemas.microsoft.com/office/drawing/2014/main" id="{FE6EF74E-343B-FBE4-8147-DD0BCD6C3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4500563"/>
            <a:ext cx="36433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SELECT last_name, salary, dept_name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NATURAL JOIN department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1021CF1-3643-445B-6FCA-3A9621B88653}"/>
              </a:ext>
            </a:extLst>
          </p:cNvPr>
          <p:cNvGraphicFramePr>
            <a:graphicFrameLocks noGrp="1"/>
          </p:cNvGraphicFramePr>
          <p:nvPr/>
        </p:nvGraphicFramePr>
        <p:xfrm>
          <a:off x="4214813" y="4214813"/>
          <a:ext cx="4071937" cy="1955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720"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DEPT_NAME</a:t>
                      </a:r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Networking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Department of Info.</a:t>
                      </a:r>
                      <a:r>
                        <a:rPr lang="en-US" sz="1200" baseline="0" dirty="0"/>
                        <a:t> Science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Department of Multimedia</a:t>
                      </a:r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Department of Info.</a:t>
                      </a:r>
                      <a:r>
                        <a:rPr lang="en-US" sz="1200" baseline="0" dirty="0"/>
                        <a:t> Science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Networking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Department of Info.</a:t>
                      </a:r>
                      <a:r>
                        <a:rPr lang="en-US" sz="1200" baseline="0" dirty="0"/>
                        <a:t> Science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ight Arrow 9">
            <a:extLst>
              <a:ext uri="{FF2B5EF4-FFF2-40B4-BE49-F238E27FC236}">
                <a16:creationId xmlns:a16="http://schemas.microsoft.com/office/drawing/2014/main" id="{C9BCDCDE-5C64-E6BD-A754-99E3565D07C1}"/>
              </a:ext>
            </a:extLst>
          </p:cNvPr>
          <p:cNvSpPr/>
          <p:nvPr/>
        </p:nvSpPr>
        <p:spPr>
          <a:xfrm>
            <a:off x="3071813" y="4929188"/>
            <a:ext cx="928687" cy="35718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14745900-DEBB-3B99-FC0C-D2EF255B6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Creating join with the USING clause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EB7341A-DE5F-C0E1-6A7E-B6B707F7B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132856"/>
            <a:ext cx="8153400" cy="2686050"/>
          </a:xfrm>
        </p:spPr>
        <p:txBody>
          <a:bodyPr lIns="92075" tIns="46038" rIns="92075" bIns="46038"/>
          <a:lstStyle/>
          <a:p>
            <a:pPr eaLnBrk="1" hangingPunct="1">
              <a:spcAft>
                <a:spcPct val="20000"/>
              </a:spcAft>
            </a:pPr>
            <a:r>
              <a:rPr lang="en-US" altLang="en-US" sz="2400" dirty="0">
                <a:solidFill>
                  <a:srgbClr val="030305"/>
                </a:solidFill>
              </a:rPr>
              <a:t>If several columns have same name but different data type then use the USING clause to specify the columns for the equijoin.</a:t>
            </a:r>
          </a:p>
          <a:p>
            <a:pPr eaLnBrk="1" hangingPunct="1">
              <a:spcAft>
                <a:spcPct val="20000"/>
              </a:spcAft>
            </a:pPr>
            <a:r>
              <a:rPr lang="en-US" altLang="en-US" sz="2400" dirty="0">
                <a:solidFill>
                  <a:srgbClr val="030305"/>
                </a:solidFill>
              </a:rPr>
              <a:t>Or, use the USING clause when wanted to match only one column of many column matches.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0C6E120C-C165-E086-EBCB-610FA606D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83814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Example of Using NATURAL JOIN clause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D30BD5-7D56-C8B7-7B0D-118A625BBFC0}"/>
              </a:ext>
            </a:extLst>
          </p:cNvPr>
          <p:cNvGraphicFramePr>
            <a:graphicFrameLocks noGrp="1"/>
          </p:cNvGraphicFramePr>
          <p:nvPr/>
        </p:nvGraphicFramePr>
        <p:xfrm>
          <a:off x="214313" y="1928813"/>
          <a:ext cx="4052887" cy="2072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720">
                <a:tc>
                  <a:txBody>
                    <a:bodyPr/>
                    <a:lstStyle/>
                    <a:p>
                      <a:r>
                        <a:rPr lang="en-US" sz="1100" dirty="0"/>
                        <a:t>EMPID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COMMISSION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0" marR="9143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30" marR="91430"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7877" name="TextBox 4">
            <a:extLst>
              <a:ext uri="{FF2B5EF4-FFF2-40B4-BE49-F238E27FC236}">
                <a16:creationId xmlns:a16="http://schemas.microsoft.com/office/drawing/2014/main" id="{DFA51A95-3582-C7DC-D800-3F823070D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3" y="1546225"/>
            <a:ext cx="12112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EMPLOYEE</a:t>
            </a:r>
          </a:p>
        </p:txBody>
      </p:sp>
      <p:sp>
        <p:nvSpPr>
          <p:cNvPr id="77878" name="TextBox 5">
            <a:extLst>
              <a:ext uri="{FF2B5EF4-FFF2-40B4-BE49-F238E27FC236}">
                <a16:creationId xmlns:a16="http://schemas.microsoft.com/office/drawing/2014/main" id="{D83EE1CC-23EE-8C6A-7C5D-378691450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1571625"/>
            <a:ext cx="1511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DEPARTMENT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D0FBF2-8B40-160F-9B90-4B2EEB4581D4}"/>
              </a:ext>
            </a:extLst>
          </p:cNvPr>
          <p:cNvGraphicFramePr>
            <a:graphicFrameLocks noGrp="1"/>
          </p:cNvGraphicFramePr>
          <p:nvPr/>
        </p:nvGraphicFramePr>
        <p:xfrm>
          <a:off x="4857750" y="1928813"/>
          <a:ext cx="3000375" cy="2138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720"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DEPT_NAME</a:t>
                      </a:r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Networking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 of Info.</a:t>
                      </a:r>
                      <a:r>
                        <a:rPr lang="en-US" sz="1200" baseline="0" dirty="0"/>
                        <a:t> Science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 of Multimedia</a:t>
                      </a:r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200" dirty="0"/>
                        <a:t>40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Computer Science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200" dirty="0"/>
                        <a:t>50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 of Applied</a:t>
                      </a:r>
                      <a:r>
                        <a:rPr lang="en-US" sz="1200" baseline="0" dirty="0"/>
                        <a:t> Science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200" dirty="0"/>
                        <a:t>60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 of Robotics</a:t>
                      </a:r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7905" name="Rectangle 7">
            <a:extLst>
              <a:ext uri="{FF2B5EF4-FFF2-40B4-BE49-F238E27FC236}">
                <a16:creationId xmlns:a16="http://schemas.microsoft.com/office/drawing/2014/main" id="{AC631EB4-BBDE-4373-0B83-7E4EE9AFC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4286250"/>
            <a:ext cx="36433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SELECT last_name, salary, dept_name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JOIN department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USING (dept_id)	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F674027-8839-41F6-F859-50B9749AFFB6}"/>
              </a:ext>
            </a:extLst>
          </p:cNvPr>
          <p:cNvGraphicFramePr>
            <a:graphicFrameLocks noGrp="1"/>
          </p:cNvGraphicFramePr>
          <p:nvPr/>
        </p:nvGraphicFramePr>
        <p:xfrm>
          <a:off x="4214813" y="4214813"/>
          <a:ext cx="4071937" cy="1955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720"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DEPT_NAME</a:t>
                      </a:r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Networking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Department of Info.</a:t>
                      </a:r>
                      <a:r>
                        <a:rPr lang="en-US" sz="1200" baseline="0" dirty="0"/>
                        <a:t> Science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Department of Multimedia</a:t>
                      </a:r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Department of Info.</a:t>
                      </a:r>
                      <a:r>
                        <a:rPr lang="en-US" sz="1200" baseline="0" dirty="0"/>
                        <a:t> Science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Networking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9" marR="91439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Department of Info.</a:t>
                      </a:r>
                      <a:r>
                        <a:rPr lang="en-US" sz="1200" baseline="0" dirty="0"/>
                        <a:t> Science</a:t>
                      </a:r>
                      <a:endParaRPr lang="en-US" sz="1200" dirty="0"/>
                    </a:p>
                  </a:txBody>
                  <a:tcPr marL="91439" marR="91439"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ight Arrow 9">
            <a:extLst>
              <a:ext uri="{FF2B5EF4-FFF2-40B4-BE49-F238E27FC236}">
                <a16:creationId xmlns:a16="http://schemas.microsoft.com/office/drawing/2014/main" id="{5373DA00-E997-BF30-27E8-BDFBA493F4D7}"/>
              </a:ext>
            </a:extLst>
          </p:cNvPr>
          <p:cNvSpPr/>
          <p:nvPr/>
        </p:nvSpPr>
        <p:spPr>
          <a:xfrm>
            <a:off x="3071813" y="4929188"/>
            <a:ext cx="928687" cy="35718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D305034E-EEA8-620C-BF49-A9F8397DE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Using Table Aliases with the USING clause</a:t>
            </a:r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71EC8234-7D0C-45C4-935F-2AA5FC59F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934870"/>
            <a:ext cx="8153400" cy="1042988"/>
          </a:xfrm>
        </p:spPr>
        <p:txBody>
          <a:bodyPr/>
          <a:lstStyle/>
          <a:p>
            <a:pPr eaLnBrk="1" hangingPunct="1"/>
            <a:r>
              <a:rPr lang="en-US" altLang="en-US" dirty="0"/>
              <a:t>Do not qualify a column that is used in the USING clause.</a:t>
            </a:r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20BA741A-E5B9-8A2B-FDB0-BB4AE00B1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2786063"/>
            <a:ext cx="45720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SELECT e.last_name, e.salary, d.dept_name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FROM employee 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JOIN department 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USING (dept_id)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WHERE d.dept_id in (‘10’,’20’);</a:t>
            </a:r>
            <a:endParaRPr lang="en-US" altLang="en-US" sz="1800"/>
          </a:p>
        </p:txBody>
      </p:sp>
      <p:sp>
        <p:nvSpPr>
          <p:cNvPr id="78853" name="TextBox 6">
            <a:extLst>
              <a:ext uri="{FF2B5EF4-FFF2-40B4-BE49-F238E27FC236}">
                <a16:creationId xmlns:a16="http://schemas.microsoft.com/office/drawing/2014/main" id="{2F773900-5D22-07C3-B381-6F0CF0688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1571625"/>
            <a:ext cx="1643063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9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78854" name="Rectangle 7">
            <a:extLst>
              <a:ext uri="{FF2B5EF4-FFF2-40B4-BE49-F238E27FC236}">
                <a16:creationId xmlns:a16="http://schemas.microsoft.com/office/drawing/2014/main" id="{C47B3302-11FB-8FD1-D63A-EC3F08B15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857750"/>
            <a:ext cx="45720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SELECT e.last_name, e.salary, d.dept_name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FROM employee 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JOIN department 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USING (dept_id)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Narrow" panose="020B0606020202030204" pitchFamily="34" charset="0"/>
              </a:rPr>
              <a:t>WHERE dept_id in (‘10’,’20’);</a:t>
            </a:r>
            <a:endParaRPr lang="en-US" altLang="en-US" sz="1800"/>
          </a:p>
        </p:txBody>
      </p:sp>
      <p:pic>
        <p:nvPicPr>
          <p:cNvPr id="78855" name="Picture 3" descr="C:\Documents and Settings\Admin\Local Settings\Temporary Internet Files\Content.IE5\T32APBUG\MC900441310[1].png">
            <a:extLst>
              <a:ext uri="{FF2B5EF4-FFF2-40B4-BE49-F238E27FC236}">
                <a16:creationId xmlns:a16="http://schemas.microsoft.com/office/drawing/2014/main" id="{97717C01-E9F4-6086-6AE1-2AE854622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3" y="4286250"/>
            <a:ext cx="27432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2E04DB70-DC4B-9DF2-72B4-9FCC16741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Creating Joins with the ON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350A-8433-B722-778D-02F9DF8A3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220" y="2132856"/>
            <a:ext cx="8153400" cy="2185988"/>
          </a:xfrm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dirty="0"/>
              <a:t>NATURAL JOIN is basically equijoin of all columns with the same name.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dirty="0"/>
              <a:t>For arbitrary conditions (selected columns) use the ON clause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dirty="0"/>
              <a:t>Example: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endParaRPr lang="en-US" dirty="0"/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660D8B02-98A1-C605-281E-42F359D6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000500"/>
            <a:ext cx="5715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Arial Narrow" panose="020B0606020202030204" pitchFamily="34" charset="0"/>
              </a:rPr>
              <a:t>SELECT e.last_name, e.salary, d.dept_name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Arial Narrow" panose="020B0606020202030204" pitchFamily="34" charset="0"/>
              </a:rPr>
              <a:t>FROM employee 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Arial Narrow" panose="020B0606020202030204" pitchFamily="34" charset="0"/>
              </a:rPr>
              <a:t>JOIN department 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Arial Narrow" panose="020B0606020202030204" pitchFamily="34" charset="0"/>
              </a:rPr>
              <a:t>ON (e.dept_id = d.dept_id);</a:t>
            </a:r>
            <a:endParaRPr lang="en-US" altLang="en-US" sz="24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DCBF64-08C0-F70F-5B89-A23D5ECB83FA}"/>
              </a:ext>
            </a:extLst>
          </p:cNvPr>
          <p:cNvSpPr/>
          <p:nvPr/>
        </p:nvSpPr>
        <p:spPr>
          <a:xfrm>
            <a:off x="4214813" y="6286500"/>
            <a:ext cx="2786062" cy="28575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1C0299-31D0-9A51-00BF-1A517E9D031B}"/>
              </a:ext>
            </a:extLst>
          </p:cNvPr>
          <p:cNvSpPr/>
          <p:nvPr/>
        </p:nvSpPr>
        <p:spPr>
          <a:xfrm>
            <a:off x="928688" y="4500563"/>
            <a:ext cx="2286000" cy="28575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0900" name="Title 1">
            <a:extLst>
              <a:ext uri="{FF2B5EF4-FFF2-40B4-BE49-F238E27FC236}">
                <a16:creationId xmlns:a16="http://schemas.microsoft.com/office/drawing/2014/main" id="{70F9644D-BDB9-F574-F9F0-C32206A6B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Applying Additional Conditions to a Join</a:t>
            </a:r>
          </a:p>
        </p:txBody>
      </p:sp>
      <p:sp>
        <p:nvSpPr>
          <p:cNvPr id="80901" name="Content Placeholder 2">
            <a:extLst>
              <a:ext uri="{FF2B5EF4-FFF2-40B4-BE49-F238E27FC236}">
                <a16:creationId xmlns:a16="http://schemas.microsoft.com/office/drawing/2014/main" id="{918288A1-24D7-ACF9-DA32-15B0228EE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288" y="2147412"/>
            <a:ext cx="8153400" cy="1614488"/>
          </a:xfrm>
        </p:spPr>
        <p:txBody>
          <a:bodyPr/>
          <a:lstStyle/>
          <a:p>
            <a:pPr eaLnBrk="1" hangingPunct="1"/>
            <a:r>
              <a:rPr lang="en-US" altLang="en-US" dirty="0"/>
              <a:t>Use the AND clause or the WHERE clause to specify additional conditions.</a:t>
            </a:r>
          </a:p>
          <a:p>
            <a:pPr eaLnBrk="1" hangingPunct="1"/>
            <a:r>
              <a:rPr lang="en-US" altLang="en-US" dirty="0"/>
              <a:t>Example:</a:t>
            </a:r>
          </a:p>
        </p:txBody>
      </p:sp>
      <p:sp>
        <p:nvSpPr>
          <p:cNvPr id="80902" name="Rectangle 3">
            <a:extLst>
              <a:ext uri="{FF2B5EF4-FFF2-40B4-BE49-F238E27FC236}">
                <a16:creationId xmlns:a16="http://schemas.microsoft.com/office/drawing/2014/main" id="{2D3303F4-4F4D-5C00-52A8-98B1A8262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3214688"/>
            <a:ext cx="57150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SELECT e.last_name, e.salary, d.dept_name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FROM employee 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JOIN department 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ON (e.dept_id = d.dept_id)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AND e.salary &gt; 1000;</a:t>
            </a:r>
            <a:endParaRPr lang="en-US" altLang="en-US" sz="2000"/>
          </a:p>
        </p:txBody>
      </p:sp>
      <p:sp>
        <p:nvSpPr>
          <p:cNvPr id="80903" name="Rectangle 4">
            <a:extLst>
              <a:ext uri="{FF2B5EF4-FFF2-40B4-BE49-F238E27FC236}">
                <a16:creationId xmlns:a16="http://schemas.microsoft.com/office/drawing/2014/main" id="{1F92AB77-D1AA-6C6D-23F8-2913CC13E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5000625"/>
            <a:ext cx="4643438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SELECT e.last_name, e.salary, d.dept_name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FROM employee 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JOIN department 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ON (e.dept_id = d.dept_id)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WHERE e.salary &gt; 1000;</a:t>
            </a:r>
            <a:endParaRPr lang="en-US" altLang="en-US" sz="20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891E6B4B-C6A7-CE70-F489-63A5E479A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SELF-JOIN</a:t>
            </a:r>
          </a:p>
        </p:txBody>
      </p:sp>
      <p:sp>
        <p:nvSpPr>
          <p:cNvPr id="81923" name="Content Placeholder 2">
            <a:extLst>
              <a:ext uri="{FF2B5EF4-FFF2-40B4-BE49-F238E27FC236}">
                <a16:creationId xmlns:a16="http://schemas.microsoft.com/office/drawing/2014/main" id="{6D3F2903-D1E6-D1A4-8FE5-EA5CD48CE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Joining a table to itself.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AC75AE-04C2-87C0-6EF8-37903D4A2EE7}"/>
              </a:ext>
            </a:extLst>
          </p:cNvPr>
          <p:cNvGraphicFramePr>
            <a:graphicFrameLocks noGrp="1"/>
          </p:cNvGraphicFramePr>
          <p:nvPr/>
        </p:nvGraphicFramePr>
        <p:xfrm>
          <a:off x="428625" y="2428875"/>
          <a:ext cx="4846639" cy="1955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720">
                <a:tc>
                  <a:txBody>
                    <a:bodyPr/>
                    <a:lstStyle/>
                    <a:p>
                      <a:r>
                        <a:rPr lang="en-US" sz="1100" dirty="0"/>
                        <a:t>EMPID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COMMISSION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MGR_ID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(null)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A5450B-00A9-067C-4EA9-EB9CB25F26E2}"/>
              </a:ext>
            </a:extLst>
          </p:cNvPr>
          <p:cNvGraphicFramePr>
            <a:graphicFrameLocks noGrp="1"/>
          </p:cNvGraphicFramePr>
          <p:nvPr/>
        </p:nvGraphicFramePr>
        <p:xfrm>
          <a:off x="3857625" y="4830763"/>
          <a:ext cx="4846639" cy="1955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720">
                <a:tc>
                  <a:txBody>
                    <a:bodyPr/>
                    <a:lstStyle/>
                    <a:p>
                      <a:r>
                        <a:rPr lang="en-US" sz="1100" dirty="0"/>
                        <a:t>EMPID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COMMISSION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MGR_ID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(null)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2040" name="TextBox 5">
            <a:extLst>
              <a:ext uri="{FF2B5EF4-FFF2-40B4-BE49-F238E27FC236}">
                <a16:creationId xmlns:a16="http://schemas.microsoft.com/office/drawing/2014/main" id="{48EDB7E1-EA08-A646-91B8-104C642AA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128838"/>
            <a:ext cx="2217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EMPLOYEE (WORKER)</a:t>
            </a:r>
          </a:p>
        </p:txBody>
      </p:sp>
      <p:sp>
        <p:nvSpPr>
          <p:cNvPr id="82041" name="TextBox 6">
            <a:extLst>
              <a:ext uri="{FF2B5EF4-FFF2-40B4-BE49-F238E27FC236}">
                <a16:creationId xmlns:a16="http://schemas.microsoft.com/office/drawing/2014/main" id="{D3D04709-C23B-BF84-77B5-81A288741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688" y="4500563"/>
            <a:ext cx="2352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EMPLOYEE (MANAGER)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EFBF1B-0662-8F86-DF2A-C4CD5608D88F}"/>
              </a:ext>
            </a:extLst>
          </p:cNvPr>
          <p:cNvCxnSpPr/>
          <p:nvPr/>
        </p:nvCxnSpPr>
        <p:spPr>
          <a:xfrm rot="10800000" flipV="1">
            <a:off x="4143375" y="4357688"/>
            <a:ext cx="857250" cy="428625"/>
          </a:xfrm>
          <a:prstGeom prst="straightConnector1">
            <a:avLst/>
          </a:prstGeom>
          <a:ln w="34925" cmpd="sng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>
            <a:extLst>
              <a:ext uri="{FF2B5EF4-FFF2-40B4-BE49-F238E27FC236}">
                <a16:creationId xmlns:a16="http://schemas.microsoft.com/office/drawing/2014/main" id="{E61C6DE6-4FF6-1152-98E8-EC1857101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Self-Join using the ON clause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ED261417-3A16-FCD8-72B6-EFD05D67D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857375"/>
            <a:ext cx="8715375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>
                <a:latin typeface="Arial Narrow" panose="020B0606020202030204" pitchFamily="34" charset="0"/>
              </a:rPr>
              <a:t>SELECT worker.last_name emp, worker.dept_id department,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>
                <a:latin typeface="Arial Narrow" panose="020B0606020202030204" pitchFamily="34" charset="0"/>
              </a:rPr>
              <a:t>               worker.salary salary, manager.last_name manager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>
                <a:latin typeface="Arial Narrow" panose="020B0606020202030204" pitchFamily="34" charset="0"/>
              </a:rPr>
              <a:t>FROM employee worker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>
                <a:latin typeface="Arial Narrow" panose="020B0606020202030204" pitchFamily="34" charset="0"/>
              </a:rPr>
              <a:t>JOIN employee manager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>
                <a:latin typeface="Arial Narrow" panose="020B0606020202030204" pitchFamily="34" charset="0"/>
              </a:rPr>
              <a:t>ON (worker.mgr_id = manager.empid);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6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8377C8-AD09-E8A4-96C8-03C4AA2A59CF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4572000"/>
          <a:ext cx="4110038" cy="1681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640">
                <a:tc>
                  <a:txBody>
                    <a:bodyPr/>
                    <a:lstStyle/>
                    <a:p>
                      <a:r>
                        <a:rPr lang="en-US" sz="1200" dirty="0"/>
                        <a:t>EMP</a:t>
                      </a:r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</a:t>
                      </a:r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MANAGER</a:t>
                      </a:r>
                    </a:p>
                  </a:txBody>
                  <a:tcPr marL="91429" marR="91429"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05">
                <a:tc>
                  <a:txBody>
                    <a:bodyPr/>
                    <a:lstStyle/>
                    <a:p>
                      <a:r>
                        <a:rPr lang="en-US" sz="1200" dirty="0" err="1"/>
                        <a:t>Safiyah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Shahizan</a:t>
                      </a:r>
                      <a:endParaRPr lang="en-US" sz="1200" dirty="0"/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/>
                        <a:t>Siti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aseline="0" dirty="0" err="1"/>
                        <a:t>Razilah</a:t>
                      </a:r>
                      <a:endParaRPr lang="en-US" sz="1200" dirty="0"/>
                    </a:p>
                  </a:txBody>
                  <a:tcPr marL="91429" marR="91429"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05">
                <a:tc>
                  <a:txBody>
                    <a:bodyPr/>
                    <a:lstStyle/>
                    <a:p>
                      <a:r>
                        <a:rPr lang="en-US" sz="1200" dirty="0"/>
                        <a:t>Musa Ahmad</a:t>
                      </a:r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Faizal</a:t>
                      </a:r>
                      <a:endParaRPr lang="en-US" sz="1200" dirty="0"/>
                    </a:p>
                  </a:txBody>
                  <a:tcPr marL="91429" marR="91429"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05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Ammar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Faizul</a:t>
                      </a:r>
                      <a:endParaRPr lang="en-US" sz="1200" dirty="0"/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Taylor Duff</a:t>
                      </a:r>
                    </a:p>
                  </a:txBody>
                  <a:tcPr marL="91429" marR="91429" marT="45713" marB="457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05">
                <a:tc>
                  <a:txBody>
                    <a:bodyPr/>
                    <a:lstStyle/>
                    <a:p>
                      <a:r>
                        <a:rPr lang="en-US" sz="1200" dirty="0" err="1"/>
                        <a:t>Siti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Razilah</a:t>
                      </a:r>
                      <a:endParaRPr lang="en-US" sz="1200" dirty="0"/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Taylor Duff</a:t>
                      </a:r>
                    </a:p>
                  </a:txBody>
                  <a:tcPr marL="91429" marR="91429" marT="45713" marB="4571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05">
                <a:tc>
                  <a:txBody>
                    <a:bodyPr/>
                    <a:lstStyle/>
                    <a:p>
                      <a:r>
                        <a:rPr lang="en-US" sz="1200" dirty="0"/>
                        <a:t>Martin</a:t>
                      </a:r>
                      <a:r>
                        <a:rPr lang="en-US" sz="1200" baseline="0" dirty="0"/>
                        <a:t> Luke</a:t>
                      </a:r>
                      <a:endParaRPr lang="en-US" sz="1200" dirty="0"/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29" marR="91429"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Taylor Duff</a:t>
                      </a:r>
                    </a:p>
                  </a:txBody>
                  <a:tcPr marL="91429" marR="91429" marT="45713" marB="4571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>
            <a:extLst>
              <a:ext uri="{FF2B5EF4-FFF2-40B4-BE49-F238E27FC236}">
                <a16:creationId xmlns:a16="http://schemas.microsoft.com/office/drawing/2014/main" id="{06BEBAD8-8501-B8C6-2637-CFE5E4118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Nonequijoins</a:t>
            </a:r>
          </a:p>
        </p:txBody>
      </p:sp>
      <p:sp>
        <p:nvSpPr>
          <p:cNvPr id="83971" name="Content Placeholder 2">
            <a:extLst>
              <a:ext uri="{FF2B5EF4-FFF2-40B4-BE49-F238E27FC236}">
                <a16:creationId xmlns:a16="http://schemas.microsoft.com/office/drawing/2014/main" id="{F36D1E85-9AC7-FB5A-F36A-0AD663C70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983" y="1920876"/>
            <a:ext cx="8153400" cy="1257300"/>
          </a:xfrm>
        </p:spPr>
        <p:txBody>
          <a:bodyPr/>
          <a:lstStyle/>
          <a:p>
            <a:pPr eaLnBrk="1" hangingPunct="1"/>
            <a:r>
              <a:rPr lang="en-US" altLang="en-US" dirty="0"/>
              <a:t>A join condition containing something other than an equality operator.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691348-7422-AAB3-24B6-F3171546A198}"/>
              </a:ext>
            </a:extLst>
          </p:cNvPr>
          <p:cNvGraphicFramePr>
            <a:graphicFrameLocks noGrp="1"/>
          </p:cNvGraphicFramePr>
          <p:nvPr/>
        </p:nvGraphicFramePr>
        <p:xfrm>
          <a:off x="357188" y="2714625"/>
          <a:ext cx="4846638" cy="1955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720">
                <a:tc>
                  <a:txBody>
                    <a:bodyPr/>
                    <a:lstStyle/>
                    <a:p>
                      <a:r>
                        <a:rPr lang="en-US" sz="1100" dirty="0"/>
                        <a:t>EMPID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COMMISSION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MGR_ID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(null)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7FBD873-229B-48B1-13FC-78B1F63CD4F3}"/>
              </a:ext>
            </a:extLst>
          </p:cNvPr>
          <p:cNvGraphicFramePr>
            <a:graphicFrameLocks noGrp="1"/>
          </p:cNvGraphicFramePr>
          <p:nvPr/>
        </p:nvGraphicFramePr>
        <p:xfrm>
          <a:off x="5786438" y="2786063"/>
          <a:ext cx="2846387" cy="1681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39">
                <a:tc>
                  <a:txBody>
                    <a:bodyPr/>
                    <a:lstStyle/>
                    <a:p>
                      <a:r>
                        <a:rPr lang="en-US" sz="1200" dirty="0"/>
                        <a:t>GRADE_LEVEL</a:t>
                      </a:r>
                    </a:p>
                  </a:txBody>
                  <a:tcPr marL="91452" marR="9145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LOW_SAL</a:t>
                      </a:r>
                    </a:p>
                  </a:txBody>
                  <a:tcPr marL="91452" marR="9145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MAX_SAL</a:t>
                      </a:r>
                    </a:p>
                  </a:txBody>
                  <a:tcPr marL="91452" marR="91452"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05">
                <a:tc>
                  <a:txBody>
                    <a:bodyPr/>
                    <a:lstStyle/>
                    <a:p>
                      <a:r>
                        <a:rPr lang="en-US" sz="1200" dirty="0"/>
                        <a:t>A</a:t>
                      </a:r>
                    </a:p>
                  </a:txBody>
                  <a:tcPr marL="91452" marR="9145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 marL="91452" marR="9145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999</a:t>
                      </a:r>
                    </a:p>
                  </a:txBody>
                  <a:tcPr marL="91452" marR="91452"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05">
                <a:tc>
                  <a:txBody>
                    <a:bodyPr/>
                    <a:lstStyle/>
                    <a:p>
                      <a:r>
                        <a:rPr lang="en-US" sz="1200" dirty="0"/>
                        <a:t>B</a:t>
                      </a:r>
                    </a:p>
                  </a:txBody>
                  <a:tcPr marL="91452" marR="9145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1000</a:t>
                      </a:r>
                    </a:p>
                  </a:txBody>
                  <a:tcPr marL="91452" marR="9145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1999</a:t>
                      </a:r>
                    </a:p>
                  </a:txBody>
                  <a:tcPr marL="91452" marR="91452"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05">
                <a:tc>
                  <a:txBody>
                    <a:bodyPr/>
                    <a:lstStyle/>
                    <a:p>
                      <a:r>
                        <a:rPr lang="en-US" sz="1200" dirty="0"/>
                        <a:t>C</a:t>
                      </a:r>
                    </a:p>
                  </a:txBody>
                  <a:tcPr marL="91452" marR="9145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2000</a:t>
                      </a:r>
                    </a:p>
                  </a:txBody>
                  <a:tcPr marL="91452" marR="9145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2999</a:t>
                      </a:r>
                    </a:p>
                  </a:txBody>
                  <a:tcPr marL="91452" marR="91452" marT="45713" marB="457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05">
                <a:tc>
                  <a:txBody>
                    <a:bodyPr/>
                    <a:lstStyle/>
                    <a:p>
                      <a:r>
                        <a:rPr lang="en-US" sz="1200" dirty="0"/>
                        <a:t>D</a:t>
                      </a:r>
                    </a:p>
                  </a:txBody>
                  <a:tcPr marL="91452" marR="9145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3000</a:t>
                      </a:r>
                    </a:p>
                  </a:txBody>
                  <a:tcPr marL="91452" marR="9145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3999</a:t>
                      </a:r>
                    </a:p>
                  </a:txBody>
                  <a:tcPr marL="91452" marR="91452" marT="45713" marB="4571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05">
                <a:tc>
                  <a:txBody>
                    <a:bodyPr/>
                    <a:lstStyle/>
                    <a:p>
                      <a:r>
                        <a:rPr lang="en-US" sz="1200" dirty="0"/>
                        <a:t>E</a:t>
                      </a:r>
                    </a:p>
                  </a:txBody>
                  <a:tcPr marL="91452" marR="91452" marT="45713" marB="4571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4000</a:t>
                      </a:r>
                    </a:p>
                  </a:txBody>
                  <a:tcPr marL="91452" marR="91452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10000</a:t>
                      </a:r>
                    </a:p>
                  </a:txBody>
                  <a:tcPr marL="91452" marR="91452" marT="45713" marB="4571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4060" name="TextBox 5">
            <a:extLst>
              <a:ext uri="{FF2B5EF4-FFF2-40B4-BE49-F238E27FC236}">
                <a16:creationId xmlns:a16="http://schemas.microsoft.com/office/drawing/2014/main" id="{00C5F427-6247-020C-0388-FDA28C093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357438"/>
            <a:ext cx="1228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EMPLOYEE </a:t>
            </a:r>
          </a:p>
        </p:txBody>
      </p:sp>
      <p:sp>
        <p:nvSpPr>
          <p:cNvPr id="84061" name="TextBox 6">
            <a:extLst>
              <a:ext uri="{FF2B5EF4-FFF2-40B4-BE49-F238E27FC236}">
                <a16:creationId xmlns:a16="http://schemas.microsoft.com/office/drawing/2014/main" id="{A041176D-D29A-C351-A985-AB9184F1F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6438" y="2428875"/>
            <a:ext cx="1354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JOB_GRADE</a:t>
            </a:r>
          </a:p>
        </p:txBody>
      </p:sp>
      <p:sp>
        <p:nvSpPr>
          <p:cNvPr id="84062" name="Rectangle 7">
            <a:extLst>
              <a:ext uri="{FF2B5EF4-FFF2-40B4-BE49-F238E27FC236}">
                <a16:creationId xmlns:a16="http://schemas.microsoft.com/office/drawing/2014/main" id="{8FD59FBA-2CE4-5551-6172-3CA7EE6B9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5000625"/>
            <a:ext cx="57150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SELECT e.last_name, e.salary, j.grade_level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FROM employee 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JOIN job_grade j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ON e.salary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      BETWEEN j.low_sal AND j.max_sal </a:t>
            </a:r>
            <a:endParaRPr lang="en-US" altLang="en-US" sz="20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3A2B90-C1B0-5C51-A02B-24A5DF33AF69}"/>
              </a:ext>
            </a:extLst>
          </p:cNvPr>
          <p:cNvGraphicFramePr>
            <a:graphicFrameLocks noGrp="1"/>
          </p:cNvGraphicFramePr>
          <p:nvPr/>
        </p:nvGraphicFramePr>
        <p:xfrm>
          <a:off x="5857875" y="4714875"/>
          <a:ext cx="2835275" cy="1955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720"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60" marR="91460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60" marR="91460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GRADE_LEVEL</a:t>
                      </a:r>
                    </a:p>
                  </a:txBody>
                  <a:tcPr marL="91460" marR="91460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60" marR="9146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60" marR="91460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</a:t>
                      </a:r>
                    </a:p>
                  </a:txBody>
                  <a:tcPr marL="91460" marR="91460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60" marR="9146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60" marR="91460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</a:t>
                      </a:r>
                    </a:p>
                  </a:txBody>
                  <a:tcPr marL="91460" marR="91460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60" marR="9146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60" marR="91460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</a:t>
                      </a:r>
                    </a:p>
                  </a:txBody>
                  <a:tcPr marL="91460" marR="91460"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60" marR="9146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60" marR="91460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</a:t>
                      </a:r>
                    </a:p>
                  </a:txBody>
                  <a:tcPr marL="91460" marR="91460"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60" marR="9146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60" marR="91460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</a:t>
                      </a:r>
                    </a:p>
                  </a:txBody>
                  <a:tcPr marL="91460" marR="91460"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60" marR="91460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60" marR="91460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</a:t>
                      </a:r>
                    </a:p>
                  </a:txBody>
                  <a:tcPr marL="91460" marR="91460"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9">
            <a:extLst>
              <a:ext uri="{FF2B5EF4-FFF2-40B4-BE49-F238E27FC236}">
                <a16:creationId xmlns:a16="http://schemas.microsoft.com/office/drawing/2014/main" id="{894085E8-255D-3D5B-2CD5-601781730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013" y="3161870"/>
            <a:ext cx="5365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30305"/>
                </a:solidFill>
                <a:latin typeface="Arial" panose="020B0604020202020204" pitchFamily="34" charset="0"/>
              </a:rPr>
              <a:t>AR(</a:t>
            </a:r>
            <a:r>
              <a:rPr lang="en-US" altLang="en-US" sz="1800" u="sng">
                <a:solidFill>
                  <a:srgbClr val="030305"/>
                </a:solidFill>
                <a:latin typeface="Arial" panose="020B0604020202020204" pitchFamily="34" charset="0"/>
              </a:rPr>
              <a:t>TransactionID</a:t>
            </a:r>
            <a:r>
              <a:rPr lang="en-US" altLang="en-US" sz="1800">
                <a:solidFill>
                  <a:srgbClr val="030305"/>
                </a:solidFill>
                <a:latin typeface="Arial" panose="020B0604020202020204" pitchFamily="34" charset="0"/>
              </a:rPr>
              <a:t>, CustomerID, Amount, DateDue)</a:t>
            </a:r>
          </a:p>
        </p:txBody>
      </p:sp>
      <p:sp>
        <p:nvSpPr>
          <p:cNvPr id="84995" name="Rectangle 10">
            <a:extLst>
              <a:ext uri="{FF2B5EF4-FFF2-40B4-BE49-F238E27FC236}">
                <a16:creationId xmlns:a16="http://schemas.microsoft.com/office/drawing/2014/main" id="{4BB35F71-B29B-3ECD-9F81-CDF8D3F56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1333501"/>
            <a:ext cx="7696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Tx/>
              <a:buSzPct val="90000"/>
              <a:buFontTx/>
              <a:buBlip>
                <a:blip r:embed="rId2"/>
              </a:buBlip>
            </a:pPr>
            <a:r>
              <a:rPr lang="en-US" altLang="en-US" sz="2000" dirty="0" err="1">
                <a:solidFill>
                  <a:srgbClr val="030305"/>
                </a:solidFill>
                <a:latin typeface="Tahoma" panose="020B0604030504040204" pitchFamily="34" charset="0"/>
              </a:rPr>
              <a:t>AccountsReceivable</a:t>
            </a:r>
            <a:endParaRPr lang="en-US" altLang="en-US" sz="2000" dirty="0">
              <a:solidFill>
                <a:srgbClr val="030305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20000"/>
              </a:spcBef>
              <a:buClrTx/>
              <a:buSzPct val="90000"/>
              <a:buFontTx/>
              <a:buBlip>
                <a:blip r:embed="rId2"/>
              </a:buBlip>
            </a:pPr>
            <a:r>
              <a:rPr lang="en-US" altLang="en-US" sz="2000" dirty="0">
                <a:solidFill>
                  <a:srgbClr val="030305"/>
                </a:solidFill>
                <a:latin typeface="Tahoma" panose="020B0604030504040204" pitchFamily="34" charset="0"/>
              </a:rPr>
              <a:t>Categorize by Days Late</a:t>
            </a:r>
          </a:p>
          <a:p>
            <a:pPr lvl="1" eaLnBrk="1" hangingPunct="1">
              <a:spcBef>
                <a:spcPct val="2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en-US" altLang="en-US" sz="2000" dirty="0">
                <a:solidFill>
                  <a:srgbClr val="030305"/>
                </a:solidFill>
                <a:latin typeface="Tahoma" panose="020B0604030504040204" pitchFamily="34" charset="0"/>
              </a:rPr>
              <a:t>30, 90, 120+</a:t>
            </a:r>
          </a:p>
          <a:p>
            <a:pPr eaLnBrk="1" hangingPunct="1">
              <a:spcBef>
                <a:spcPct val="20000"/>
              </a:spcBef>
              <a:buClrTx/>
              <a:buSzPct val="90000"/>
              <a:buFontTx/>
              <a:buBlip>
                <a:blip r:embed="rId2"/>
              </a:buBlip>
            </a:pPr>
            <a:r>
              <a:rPr lang="en-US" altLang="en-US" sz="2000" dirty="0">
                <a:solidFill>
                  <a:srgbClr val="030305"/>
                </a:solidFill>
                <a:latin typeface="Tahoma" panose="020B0604030504040204" pitchFamily="34" charset="0"/>
              </a:rPr>
              <a:t>Three queries?</a:t>
            </a:r>
          </a:p>
          <a:p>
            <a:pPr eaLnBrk="1" hangingPunct="1">
              <a:spcBef>
                <a:spcPct val="20000"/>
              </a:spcBef>
              <a:buClrTx/>
              <a:buSzPct val="90000"/>
              <a:buFontTx/>
              <a:buBlip>
                <a:blip r:embed="rId2"/>
              </a:buBlip>
            </a:pPr>
            <a:r>
              <a:rPr lang="en-US" altLang="en-US" sz="2000" dirty="0">
                <a:solidFill>
                  <a:srgbClr val="030305"/>
                </a:solidFill>
                <a:latin typeface="Tahoma" panose="020B0604030504040204" pitchFamily="34" charset="0"/>
              </a:rPr>
              <a:t>New table for business rules</a:t>
            </a:r>
          </a:p>
        </p:txBody>
      </p:sp>
      <p:sp>
        <p:nvSpPr>
          <p:cNvPr id="84996" name="Rectangle 11">
            <a:extLst>
              <a:ext uri="{FF2B5EF4-FFF2-40B4-BE49-F238E27FC236}">
                <a16:creationId xmlns:a16="http://schemas.microsoft.com/office/drawing/2014/main" id="{91225C1E-0509-DE44-DBC6-D1E43E24C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5213" y="3619070"/>
            <a:ext cx="596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 err="1">
                <a:solidFill>
                  <a:srgbClr val="030305"/>
                </a:solidFill>
                <a:latin typeface="Arial" panose="020B0604020202020204" pitchFamily="34" charset="0"/>
              </a:rPr>
              <a:t>LateCategory</a:t>
            </a:r>
            <a:r>
              <a:rPr lang="en-US" altLang="en-US" sz="1800" dirty="0">
                <a:solidFill>
                  <a:srgbClr val="030305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800" u="sng" dirty="0">
                <a:solidFill>
                  <a:srgbClr val="030305"/>
                </a:solidFill>
                <a:latin typeface="Arial" panose="020B0604020202020204" pitchFamily="34" charset="0"/>
              </a:rPr>
              <a:t>Category</a:t>
            </a:r>
            <a:r>
              <a:rPr lang="en-US" altLang="en-US" sz="1800" dirty="0">
                <a:solidFill>
                  <a:srgbClr val="030305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solidFill>
                  <a:srgbClr val="030305"/>
                </a:solidFill>
                <a:latin typeface="Arial" panose="020B0604020202020204" pitchFamily="34" charset="0"/>
              </a:rPr>
              <a:t>MinDays</a:t>
            </a:r>
            <a:r>
              <a:rPr lang="en-US" altLang="en-US" sz="1800" dirty="0">
                <a:solidFill>
                  <a:srgbClr val="030305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solidFill>
                  <a:srgbClr val="030305"/>
                </a:solidFill>
                <a:latin typeface="Arial" panose="020B0604020202020204" pitchFamily="34" charset="0"/>
              </a:rPr>
              <a:t>MaxDays</a:t>
            </a:r>
            <a:r>
              <a:rPr lang="en-US" altLang="en-US" sz="1800" dirty="0">
                <a:solidFill>
                  <a:srgbClr val="030305"/>
                </a:solidFill>
                <a:latin typeface="Arial" panose="020B0604020202020204" pitchFamily="34" charset="0"/>
              </a:rPr>
              <a:t>, Charge, …)</a:t>
            </a:r>
          </a:p>
        </p:txBody>
      </p:sp>
      <p:sp>
        <p:nvSpPr>
          <p:cNvPr id="84997" name="Text Box 12">
            <a:extLst>
              <a:ext uri="{FF2B5EF4-FFF2-40B4-BE49-F238E27FC236}">
                <a16:creationId xmlns:a16="http://schemas.microsoft.com/office/drawing/2014/main" id="{E8506DF3-D3ED-1660-EEC1-3C570457C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813" y="4152470"/>
            <a:ext cx="44958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tabLst>
                <a:tab pos="1719263" algn="r"/>
                <a:tab pos="2747963" algn="r"/>
                <a:tab pos="3711575" algn="r"/>
              </a:tabLst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tabLst>
                <a:tab pos="1719263" algn="r"/>
                <a:tab pos="2747963" algn="r"/>
                <a:tab pos="3711575" algn="r"/>
              </a:tabLst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tabLst>
                <a:tab pos="1719263" algn="r"/>
                <a:tab pos="2747963" algn="r"/>
                <a:tab pos="3711575" algn="r"/>
              </a:tabLst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tabLst>
                <a:tab pos="1719263" algn="r"/>
                <a:tab pos="2747963" algn="r"/>
                <a:tab pos="3711575" algn="r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1719263" algn="r"/>
                <a:tab pos="2747963" algn="r"/>
                <a:tab pos="3711575" algn="r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1719263" algn="r"/>
                <a:tab pos="2747963" algn="r"/>
                <a:tab pos="3711575" algn="r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1719263" algn="r"/>
                <a:tab pos="2747963" algn="r"/>
                <a:tab pos="3711575" algn="r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1719263" algn="r"/>
                <a:tab pos="2747963" algn="r"/>
                <a:tab pos="3711575" algn="r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1719263" algn="r"/>
                <a:tab pos="2747963" algn="r"/>
                <a:tab pos="3711575" algn="r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9900"/>
                </a:solidFill>
                <a:latin typeface="Arial" panose="020B0604020202020204" pitchFamily="34" charset="0"/>
              </a:rPr>
              <a:t>Month	30	90	3%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9900"/>
                </a:solidFill>
                <a:latin typeface="Arial" panose="020B0604020202020204" pitchFamily="34" charset="0"/>
              </a:rPr>
              <a:t>Quarter	90	120	5%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9900"/>
                </a:solidFill>
                <a:latin typeface="Arial" panose="020B0604020202020204" pitchFamily="34" charset="0"/>
              </a:rPr>
              <a:t>Overdue	120	9999	10%</a:t>
            </a:r>
          </a:p>
        </p:txBody>
      </p:sp>
      <p:sp>
        <p:nvSpPr>
          <p:cNvPr id="84998" name="Rectangle 13">
            <a:extLst>
              <a:ext uri="{FF2B5EF4-FFF2-40B4-BE49-F238E27FC236}">
                <a16:creationId xmlns:a16="http://schemas.microsoft.com/office/drawing/2014/main" id="{6FFCA363-E9B3-F226-9266-4A750BF72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413" y="5036707"/>
            <a:ext cx="7040563" cy="1323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SELECT *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FROM AR JOIN LateCategory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 ON ((Date() - AR.DateDue) &gt;= LateCategory.MinDays)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 AND ((Date() - AR.DateDue) &lt; LateCategory.MaxDays)</a:t>
            </a:r>
          </a:p>
        </p:txBody>
      </p:sp>
      <p:sp>
        <p:nvSpPr>
          <p:cNvPr id="84999" name="Title 1">
            <a:extLst>
              <a:ext uri="{FF2B5EF4-FFF2-40B4-BE49-F238E27FC236}">
                <a16:creationId xmlns:a16="http://schemas.microsoft.com/office/drawing/2014/main" id="{D4B3199A-EF43-9C53-1269-8801C31C2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46896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Nonequijoins</a:t>
            </a:r>
            <a:r>
              <a:rPr lang="en-US" altLang="en-US" dirty="0"/>
              <a:t> ..</a:t>
            </a:r>
            <a:r>
              <a:rPr lang="en-US" altLang="en-US" i="1" dirty="0"/>
              <a:t>cont.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B8FD-EB13-56E4-B152-7CE4A54EE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Returning Record with No Direct Match</a:t>
            </a:r>
          </a:p>
        </p:txBody>
      </p:sp>
      <p:sp>
        <p:nvSpPr>
          <p:cNvPr id="86019" name="Content Placeholder 2">
            <a:extLst>
              <a:ext uri="{FF2B5EF4-FFF2-40B4-BE49-F238E27FC236}">
                <a16:creationId xmlns:a16="http://schemas.microsoft.com/office/drawing/2014/main" id="{38AAF655-24DA-2BD1-C91E-2956C3B4F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OUTER joins.</a:t>
            </a:r>
          </a:p>
          <a:p>
            <a:pPr lvl="1" eaLnBrk="1" hangingPunct="1"/>
            <a:r>
              <a:rPr lang="en-US" altLang="en-US"/>
              <a:t>LEFT OUTER JOIN clause</a:t>
            </a:r>
          </a:p>
          <a:p>
            <a:pPr lvl="1" eaLnBrk="1" hangingPunct="1"/>
            <a:r>
              <a:rPr lang="en-US" altLang="en-US"/>
              <a:t>RIGHT OUTER JOIN clause</a:t>
            </a:r>
          </a:p>
          <a:p>
            <a:pPr lvl="1" eaLnBrk="1" hangingPunct="1"/>
            <a:r>
              <a:rPr lang="en-US" altLang="en-US"/>
              <a:t>FULL OUTER JOIN clause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C318646C-CBBB-4689-7796-F26CC1746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LEFT OUTER JOIN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19D7D358-64BA-50FD-7CF4-8262BD6F3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>
                <a:solidFill>
                  <a:srgbClr val="030305"/>
                </a:solidFill>
              </a:rPr>
              <a:t>Used when you may not have matching data in the secondary table, but still want to include the data you have in the primary table.</a:t>
            </a:r>
          </a:p>
          <a:p>
            <a:pPr eaLnBrk="1" hangingPunct="1">
              <a:buFontTx/>
              <a:buNone/>
            </a:pPr>
            <a:endParaRPr lang="en-US" altLang="en-US">
              <a:solidFill>
                <a:srgbClr val="030305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400">
                <a:solidFill>
                  <a:srgbClr val="030305"/>
                </a:solidFill>
              </a:rPr>
              <a:t>NOTE: The primary table is normally listed on the left side of the equation, the secondary on the right side.</a:t>
            </a:r>
            <a:endParaRPr lang="en-US" altLang="en-US">
              <a:solidFill>
                <a:srgbClr val="030305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Title 4">
            <a:extLst>
              <a:ext uri="{FF2B5EF4-FFF2-40B4-BE49-F238E27FC236}">
                <a16:creationId xmlns:a16="http://schemas.microsoft.com/office/drawing/2014/main" id="{F3BE944E-28D4-8DB2-3424-C2651C478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Example of Left Joins</a:t>
            </a:r>
          </a:p>
        </p:txBody>
      </p:sp>
      <p:sp>
        <p:nvSpPr>
          <p:cNvPr id="88066" name="Rectangle 3">
            <a:extLst>
              <a:ext uri="{FF2B5EF4-FFF2-40B4-BE49-F238E27FC236}">
                <a16:creationId xmlns:a16="http://schemas.microsoft.com/office/drawing/2014/main" id="{AC44358B-3552-912F-83EF-8E68B01C1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545" y="1916832"/>
            <a:ext cx="9001125" cy="28194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030305"/>
                </a:solidFill>
              </a:rPr>
              <a:t>Insert a new department in table dept (for example, </a:t>
            </a:r>
            <a:r>
              <a:rPr lang="en-US" altLang="en-US" dirty="0" err="1">
                <a:solidFill>
                  <a:srgbClr val="030305"/>
                </a:solidFill>
              </a:rPr>
              <a:t>dept_id</a:t>
            </a:r>
            <a:r>
              <a:rPr lang="en-US" altLang="en-US" dirty="0">
                <a:solidFill>
                  <a:srgbClr val="030305"/>
                </a:solidFill>
              </a:rPr>
              <a:t>=50).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000" dirty="0">
              <a:solidFill>
                <a:srgbClr val="030305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solidFill>
                  <a:srgbClr val="030305"/>
                </a:solidFill>
                <a:latin typeface="Courier"/>
              </a:rPr>
              <a:t>Select </a:t>
            </a:r>
            <a:r>
              <a:rPr lang="en-US" altLang="en-US" sz="2000" dirty="0" err="1">
                <a:solidFill>
                  <a:srgbClr val="030305"/>
                </a:solidFill>
                <a:latin typeface="Courier"/>
              </a:rPr>
              <a:t>d.dept_id</a:t>
            </a:r>
            <a:r>
              <a:rPr lang="en-US" altLang="en-US" sz="2000" dirty="0">
                <a:solidFill>
                  <a:srgbClr val="030305"/>
                </a:solidFill>
                <a:latin typeface="Courier"/>
              </a:rPr>
              <a:t>, </a:t>
            </a:r>
            <a:r>
              <a:rPr lang="en-US" altLang="en-US" sz="2000" dirty="0" err="1">
                <a:solidFill>
                  <a:srgbClr val="030305"/>
                </a:solidFill>
                <a:latin typeface="Courier"/>
              </a:rPr>
              <a:t>d.dept_name</a:t>
            </a:r>
            <a:r>
              <a:rPr lang="en-US" altLang="en-US" sz="2000" dirty="0">
                <a:solidFill>
                  <a:srgbClr val="030305"/>
                </a:solidFill>
                <a:latin typeface="Courier"/>
              </a:rPr>
              <a:t>, </a:t>
            </a:r>
            <a:r>
              <a:rPr lang="en-US" altLang="en-US" sz="2000" dirty="0" err="1">
                <a:solidFill>
                  <a:srgbClr val="030305"/>
                </a:solidFill>
                <a:latin typeface="Courier"/>
              </a:rPr>
              <a:t>e.dept_id</a:t>
            </a:r>
            <a:r>
              <a:rPr lang="en-US" altLang="en-US" sz="2000" dirty="0">
                <a:solidFill>
                  <a:srgbClr val="030305"/>
                </a:solidFill>
                <a:latin typeface="Courier"/>
              </a:rPr>
              <a:t>, </a:t>
            </a:r>
            <a:r>
              <a:rPr lang="en-US" altLang="en-US" sz="2000" dirty="0" err="1">
                <a:solidFill>
                  <a:srgbClr val="030305"/>
                </a:solidFill>
                <a:latin typeface="Courier"/>
              </a:rPr>
              <a:t>e.last_name</a:t>
            </a:r>
            <a:endParaRPr lang="en-US" altLang="en-US" sz="2000" dirty="0">
              <a:solidFill>
                <a:srgbClr val="030305"/>
              </a:solidFill>
              <a:latin typeface="Courier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solidFill>
                  <a:srgbClr val="030305"/>
                </a:solidFill>
                <a:latin typeface="Courier"/>
              </a:rPr>
              <a:t>FROM dept d LEFT OUTER JOIN employee 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solidFill>
                  <a:srgbClr val="030305"/>
                </a:solidFill>
                <a:latin typeface="Courier"/>
              </a:rPr>
              <a:t>ON </a:t>
            </a:r>
            <a:r>
              <a:rPr lang="en-US" altLang="en-US" sz="2000" dirty="0" err="1">
                <a:solidFill>
                  <a:srgbClr val="030305"/>
                </a:solidFill>
                <a:latin typeface="Courier"/>
              </a:rPr>
              <a:t>d.dept_id</a:t>
            </a:r>
            <a:r>
              <a:rPr lang="en-US" altLang="en-US" sz="2000" dirty="0">
                <a:solidFill>
                  <a:srgbClr val="030305"/>
                </a:solidFill>
                <a:latin typeface="Courier"/>
              </a:rPr>
              <a:t> = </a:t>
            </a:r>
            <a:r>
              <a:rPr lang="en-US" altLang="en-US" sz="2000" dirty="0" err="1">
                <a:solidFill>
                  <a:srgbClr val="030305"/>
                </a:solidFill>
                <a:latin typeface="Courier"/>
              </a:rPr>
              <a:t>e.dept_id</a:t>
            </a:r>
            <a:r>
              <a:rPr lang="en-US" altLang="en-US" sz="2000" dirty="0">
                <a:solidFill>
                  <a:srgbClr val="030305"/>
                </a:solidFill>
                <a:latin typeface="Courier"/>
              </a:rPr>
              <a:t>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FFA9DA-A80A-ABD6-8465-E2B7B2CE321A}"/>
              </a:ext>
            </a:extLst>
          </p:cNvPr>
          <p:cNvGraphicFramePr>
            <a:graphicFrameLocks noGrp="1"/>
          </p:cNvGraphicFramePr>
          <p:nvPr/>
        </p:nvGraphicFramePr>
        <p:xfrm>
          <a:off x="3143250" y="4143375"/>
          <a:ext cx="5143501" cy="2869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31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556"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DEPT_NAME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76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 of Networking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Siti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Razilah</a:t>
                      </a:r>
                      <a:endParaRPr lang="en-US" sz="1100" dirty="0"/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76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 of Info. Science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Musa</a:t>
                      </a:r>
                      <a:r>
                        <a:rPr lang="en-US" sz="1100" baseline="0" dirty="0"/>
                        <a:t> Ahmad</a:t>
                      </a:r>
                      <a:endParaRPr lang="en-US" sz="1100" dirty="0"/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76"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Multimedia</a:t>
                      </a:r>
                      <a:endParaRPr lang="en-US" sz="12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Martin Luke</a:t>
                      </a:r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76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 of Info. Science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Ammar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Faizul</a:t>
                      </a:r>
                      <a:endParaRPr lang="en-US" sz="1100" dirty="0"/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76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Networking</a:t>
                      </a:r>
                      <a:endParaRPr lang="en-US" sz="12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Safiyah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Shahizan</a:t>
                      </a:r>
                      <a:endParaRPr lang="en-US" sz="1100" dirty="0"/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276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Info. Science</a:t>
                      </a:r>
                      <a:endParaRPr lang="en-US" sz="12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Taylor Duff</a:t>
                      </a:r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14">
                <a:tc>
                  <a:txBody>
                    <a:bodyPr/>
                    <a:lstStyle/>
                    <a:p>
                      <a:r>
                        <a:rPr lang="en-US" sz="1200" dirty="0"/>
                        <a:t>50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 of Math</a:t>
                      </a:r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1" marR="91441" marT="45700" marB="457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9005BB9-C5EB-9566-F0E3-D8191BC12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RIGHT OUTER JOINS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1A489490-954F-AAEA-8AB0-0F93D2382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988840"/>
            <a:ext cx="8153400" cy="1757363"/>
          </a:xfrm>
        </p:spPr>
        <p:txBody>
          <a:bodyPr lIns="92075" tIns="46038" rIns="92075" bIns="46038">
            <a:normAutofit/>
          </a:bodyPr>
          <a:lstStyle/>
          <a:p>
            <a:pPr eaLnBrk="1" hangingPunct="1"/>
            <a:r>
              <a:rPr lang="en-US" altLang="en-US" sz="2800" dirty="0">
                <a:solidFill>
                  <a:srgbClr val="030305"/>
                </a:solidFill>
              </a:rPr>
              <a:t>Used when you may have data in the secondary table with no matching data in the primary table.</a:t>
            </a:r>
          </a:p>
          <a:p>
            <a:pPr eaLnBrk="1" hangingPunct="1"/>
            <a:r>
              <a:rPr lang="en-US" altLang="en-US" sz="2800" dirty="0">
                <a:solidFill>
                  <a:srgbClr val="030305"/>
                </a:solidFill>
              </a:rPr>
              <a:t>Example: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8D5CDA-B90B-F75E-3058-5EE0149600B2}"/>
              </a:ext>
            </a:extLst>
          </p:cNvPr>
          <p:cNvSpPr/>
          <p:nvPr/>
        </p:nvSpPr>
        <p:spPr>
          <a:xfrm>
            <a:off x="863632" y="3519951"/>
            <a:ext cx="8286750" cy="19002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030305"/>
                </a:solidFill>
                <a:latin typeface="+mn-lt"/>
              </a:rPr>
              <a:t>Insert a new employee in table employee (for example, </a:t>
            </a:r>
            <a:r>
              <a:rPr lang="en-US" sz="2400" dirty="0" err="1">
                <a:solidFill>
                  <a:srgbClr val="030305"/>
                </a:solidFill>
                <a:latin typeface="+mn-lt"/>
              </a:rPr>
              <a:t>empid</a:t>
            </a:r>
            <a:r>
              <a:rPr lang="en-US" sz="2400" dirty="0">
                <a:solidFill>
                  <a:srgbClr val="030305"/>
                </a:solidFill>
                <a:latin typeface="+mn-lt"/>
              </a:rPr>
              <a:t>=7).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050" dirty="0">
              <a:solidFill>
                <a:srgbClr val="030305"/>
              </a:solidFill>
              <a:latin typeface="+mn-lt"/>
            </a:endParaRP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solidFill>
                <a:srgbClr val="030305"/>
              </a:solidFill>
              <a:latin typeface="Courier" pitchFamily="49" charset="0"/>
            </a:endParaRP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Select </a:t>
            </a:r>
            <a:r>
              <a:rPr lang="en-US" sz="2400" dirty="0" err="1">
                <a:solidFill>
                  <a:srgbClr val="030305"/>
                </a:solidFill>
                <a:latin typeface="Arial Narrow" pitchFamily="34" charset="0"/>
              </a:rPr>
              <a:t>d.dept_id</a:t>
            </a: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, </a:t>
            </a:r>
            <a:r>
              <a:rPr lang="en-US" sz="2400" dirty="0" err="1">
                <a:solidFill>
                  <a:srgbClr val="030305"/>
                </a:solidFill>
                <a:latin typeface="Arial Narrow" pitchFamily="34" charset="0"/>
              </a:rPr>
              <a:t>d.dept_name</a:t>
            </a: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, </a:t>
            </a:r>
            <a:r>
              <a:rPr lang="en-US" sz="2400" dirty="0" err="1">
                <a:solidFill>
                  <a:srgbClr val="030305"/>
                </a:solidFill>
                <a:latin typeface="Arial Narrow" pitchFamily="34" charset="0"/>
              </a:rPr>
              <a:t>e.dept_id</a:t>
            </a: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, </a:t>
            </a:r>
            <a:r>
              <a:rPr lang="en-US" sz="2400" dirty="0" err="1">
                <a:solidFill>
                  <a:srgbClr val="030305"/>
                </a:solidFill>
                <a:latin typeface="Arial Narrow" pitchFamily="34" charset="0"/>
              </a:rPr>
              <a:t>e.last_name</a:t>
            </a:r>
            <a:endParaRPr lang="en-US" sz="2400" dirty="0">
              <a:solidFill>
                <a:srgbClr val="030305"/>
              </a:solidFill>
              <a:latin typeface="Arial Narrow" pitchFamily="34" charset="0"/>
            </a:endParaRP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FROM dept d RIGHT OUTER JOIN employee e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ON </a:t>
            </a:r>
            <a:r>
              <a:rPr lang="en-US" sz="2400" dirty="0" err="1">
                <a:solidFill>
                  <a:srgbClr val="030305"/>
                </a:solidFill>
                <a:latin typeface="Arial Narrow" pitchFamily="34" charset="0"/>
              </a:rPr>
              <a:t>d.dept_id</a:t>
            </a: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 = </a:t>
            </a:r>
            <a:r>
              <a:rPr lang="en-US" sz="2400" dirty="0" err="1">
                <a:solidFill>
                  <a:srgbClr val="030305"/>
                </a:solidFill>
                <a:latin typeface="Arial Narrow" pitchFamily="34" charset="0"/>
              </a:rPr>
              <a:t>e.dept_id</a:t>
            </a: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;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>
            <a:extLst>
              <a:ext uri="{FF2B5EF4-FFF2-40B4-BE49-F238E27FC236}">
                <a16:creationId xmlns:a16="http://schemas.microsoft.com/office/drawing/2014/main" id="{1DD9AF4D-B3E1-51F0-030E-286B3F959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RIGHT OUTER JOINS ..</a:t>
            </a:r>
            <a:r>
              <a:rPr lang="en-US" altLang="en-US" i="1"/>
              <a:t>cont.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4CA674-E396-20CA-FEBF-7A183E3DD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993411"/>
              </p:ext>
            </p:extLst>
          </p:nvPr>
        </p:nvGraphicFramePr>
        <p:xfrm>
          <a:off x="3635896" y="4079052"/>
          <a:ext cx="5143501" cy="2778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31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760"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DEPT_NAME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41" marR="91441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82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Gopal</a:t>
                      </a:r>
                      <a:endParaRPr lang="en-US" sz="1100" dirty="0"/>
                    </a:p>
                  </a:txBody>
                  <a:tcPr marL="91441" marR="91441"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82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 of Networking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Siti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Razilah</a:t>
                      </a:r>
                      <a:endParaRPr lang="en-US" sz="1100" dirty="0"/>
                    </a:p>
                  </a:txBody>
                  <a:tcPr marL="91441" marR="91441" marT="45730" marB="457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82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 of Info. Science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Musa</a:t>
                      </a:r>
                      <a:r>
                        <a:rPr lang="en-US" sz="1100" baseline="0" dirty="0"/>
                        <a:t> Ahmad</a:t>
                      </a:r>
                      <a:endParaRPr lang="en-US" sz="1100" dirty="0"/>
                    </a:p>
                  </a:txBody>
                  <a:tcPr marL="91441" marR="91441" marT="45730" marB="457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82"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Multimedia</a:t>
                      </a:r>
                      <a:endParaRPr lang="en-US" sz="1200" dirty="0"/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Martin Luke</a:t>
                      </a:r>
                    </a:p>
                  </a:txBody>
                  <a:tcPr marL="91441" marR="91441" marT="45730" marB="4573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82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 of Info. Science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Ammar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Faizul</a:t>
                      </a:r>
                      <a:endParaRPr lang="en-US" sz="1100" dirty="0"/>
                    </a:p>
                  </a:txBody>
                  <a:tcPr marL="91441" marR="91441" marT="45730" marB="4573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82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Networking</a:t>
                      </a:r>
                      <a:endParaRPr lang="en-US" sz="1200" dirty="0"/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Safiyah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Shahizan</a:t>
                      </a:r>
                      <a:endParaRPr lang="en-US" sz="1100" dirty="0"/>
                    </a:p>
                  </a:txBody>
                  <a:tcPr marL="91441" marR="91441" marT="45730" marB="4573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82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Info. Science</a:t>
                      </a:r>
                      <a:endParaRPr lang="en-US" sz="1200" dirty="0"/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730" marB="4573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Taylor Duff</a:t>
                      </a:r>
                    </a:p>
                  </a:txBody>
                  <a:tcPr marL="91441" marR="91441" marT="45730" marB="4573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F1F7DCB-6E57-FCFA-004D-A97595DE325E}"/>
              </a:ext>
            </a:extLst>
          </p:cNvPr>
          <p:cNvSpPr/>
          <p:nvPr/>
        </p:nvSpPr>
        <p:spPr>
          <a:xfrm>
            <a:off x="822960" y="1742752"/>
            <a:ext cx="8286750" cy="19002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030305"/>
                </a:solidFill>
                <a:latin typeface="+mn-lt"/>
              </a:rPr>
              <a:t>Insert a new employee in table employee (for example, </a:t>
            </a:r>
            <a:r>
              <a:rPr lang="en-US" sz="2400" dirty="0" err="1">
                <a:solidFill>
                  <a:srgbClr val="030305"/>
                </a:solidFill>
                <a:latin typeface="+mn-lt"/>
              </a:rPr>
              <a:t>empid</a:t>
            </a:r>
            <a:r>
              <a:rPr lang="en-US" sz="2400" dirty="0">
                <a:solidFill>
                  <a:srgbClr val="030305"/>
                </a:solidFill>
                <a:latin typeface="+mn-lt"/>
              </a:rPr>
              <a:t>=7).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050" dirty="0">
              <a:solidFill>
                <a:srgbClr val="030305"/>
              </a:solidFill>
              <a:latin typeface="+mn-lt"/>
            </a:endParaRP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solidFill>
                <a:srgbClr val="030305"/>
              </a:solidFill>
              <a:latin typeface="Courier" pitchFamily="49" charset="0"/>
            </a:endParaRP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Select </a:t>
            </a:r>
            <a:r>
              <a:rPr lang="en-US" sz="2400" dirty="0" err="1">
                <a:solidFill>
                  <a:srgbClr val="030305"/>
                </a:solidFill>
                <a:latin typeface="Arial Narrow" pitchFamily="34" charset="0"/>
              </a:rPr>
              <a:t>d.dept_id</a:t>
            </a: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, </a:t>
            </a:r>
            <a:r>
              <a:rPr lang="en-US" sz="2400" dirty="0" err="1">
                <a:solidFill>
                  <a:srgbClr val="030305"/>
                </a:solidFill>
                <a:latin typeface="Arial Narrow" pitchFamily="34" charset="0"/>
              </a:rPr>
              <a:t>d.dept_name</a:t>
            </a: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, </a:t>
            </a:r>
            <a:r>
              <a:rPr lang="en-US" sz="2400" dirty="0" err="1">
                <a:solidFill>
                  <a:srgbClr val="030305"/>
                </a:solidFill>
                <a:latin typeface="Arial Narrow" pitchFamily="34" charset="0"/>
              </a:rPr>
              <a:t>e.dept_id</a:t>
            </a: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, </a:t>
            </a:r>
            <a:r>
              <a:rPr lang="en-US" sz="2400" dirty="0" err="1">
                <a:solidFill>
                  <a:srgbClr val="030305"/>
                </a:solidFill>
                <a:latin typeface="Arial Narrow" pitchFamily="34" charset="0"/>
              </a:rPr>
              <a:t>e.last_name</a:t>
            </a:r>
            <a:endParaRPr lang="en-US" sz="2400" dirty="0">
              <a:solidFill>
                <a:srgbClr val="030305"/>
              </a:solidFill>
              <a:latin typeface="Arial Narrow" pitchFamily="34" charset="0"/>
            </a:endParaRP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FROM dept d RIGHT OUTER JOIN employee e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ON </a:t>
            </a:r>
            <a:r>
              <a:rPr lang="en-US" sz="2400" dirty="0" err="1">
                <a:solidFill>
                  <a:srgbClr val="030305"/>
                </a:solidFill>
                <a:latin typeface="Arial Narrow" pitchFamily="34" charset="0"/>
              </a:rPr>
              <a:t>d.dept_id</a:t>
            </a: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 = </a:t>
            </a:r>
            <a:r>
              <a:rPr lang="en-US" sz="2400" dirty="0" err="1">
                <a:solidFill>
                  <a:srgbClr val="030305"/>
                </a:solidFill>
                <a:latin typeface="Arial Narrow" pitchFamily="34" charset="0"/>
              </a:rPr>
              <a:t>e.dept_id</a:t>
            </a:r>
            <a:r>
              <a:rPr lang="en-US" sz="2400" dirty="0">
                <a:solidFill>
                  <a:srgbClr val="030305"/>
                </a:solidFill>
                <a:latin typeface="Arial Narrow" pitchFamily="34" charset="0"/>
              </a:rPr>
              <a:t>;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>
            <a:extLst>
              <a:ext uri="{FF2B5EF4-FFF2-40B4-BE49-F238E27FC236}">
                <a16:creationId xmlns:a16="http://schemas.microsoft.com/office/drawing/2014/main" id="{2E0C2329-0791-5A6C-390B-ECA05FFA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FULL OUTER JOIN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920E9557-F11D-EDE2-D459-48B64117F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1785938"/>
            <a:ext cx="8572500" cy="125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30305"/>
                </a:solidFill>
                <a:latin typeface="Arial Narrow" panose="020B0606020202030204" pitchFamily="34" charset="0"/>
              </a:rPr>
              <a:t>Select d.dept_id, d.dept_name, e.dept_id, e.last_name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30305"/>
                </a:solidFill>
                <a:latin typeface="Arial Narrow" panose="020B0606020202030204" pitchFamily="34" charset="0"/>
              </a:rPr>
              <a:t>FROM dept d RIGHT OUTER JOIN employee 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30305"/>
                </a:solidFill>
                <a:latin typeface="Arial Narrow" panose="020B0606020202030204" pitchFamily="34" charset="0"/>
              </a:rPr>
              <a:t>ON d.dept_id = e.dept_id;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6E2037-C3D5-8BE4-00F5-C6A31361E2C8}"/>
              </a:ext>
            </a:extLst>
          </p:cNvPr>
          <p:cNvGraphicFramePr>
            <a:graphicFrameLocks noGrp="1"/>
          </p:cNvGraphicFramePr>
          <p:nvPr/>
        </p:nvGraphicFramePr>
        <p:xfrm>
          <a:off x="1714500" y="3286125"/>
          <a:ext cx="5143501" cy="3052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31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481"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DEPT_NAME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41" marR="91441" marT="45688" marB="456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51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Gopal</a:t>
                      </a:r>
                      <a:endParaRPr lang="en-US" sz="1100" dirty="0"/>
                    </a:p>
                  </a:txBody>
                  <a:tcPr marL="91441" marR="91441" marT="45688" marB="456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51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 of Networking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Siti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Razilah</a:t>
                      </a:r>
                      <a:endParaRPr lang="en-US" sz="1100" dirty="0"/>
                    </a:p>
                  </a:txBody>
                  <a:tcPr marL="91441" marR="91441" marT="45688" marB="456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51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 of Info. Science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Musa</a:t>
                      </a:r>
                      <a:r>
                        <a:rPr lang="en-US" sz="1100" baseline="0" dirty="0"/>
                        <a:t> Ahmad</a:t>
                      </a:r>
                      <a:endParaRPr lang="en-US" sz="1100" dirty="0"/>
                    </a:p>
                  </a:txBody>
                  <a:tcPr marL="91441" marR="91441" marT="45688" marB="456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51"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Multimedia</a:t>
                      </a:r>
                      <a:endParaRPr lang="en-US" sz="1200" dirty="0"/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Martin Luke</a:t>
                      </a:r>
                    </a:p>
                  </a:txBody>
                  <a:tcPr marL="91441" marR="91441" marT="45688" marB="456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51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 of Info. Science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Ammar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Faizul</a:t>
                      </a:r>
                      <a:endParaRPr lang="en-US" sz="1100" dirty="0"/>
                    </a:p>
                  </a:txBody>
                  <a:tcPr marL="91441" marR="91441" marT="45688" marB="456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251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Networking</a:t>
                      </a:r>
                      <a:endParaRPr lang="en-US" sz="1200" dirty="0"/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Safiyah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Shahizan</a:t>
                      </a:r>
                      <a:endParaRPr lang="en-US" sz="1100" dirty="0"/>
                    </a:p>
                  </a:txBody>
                  <a:tcPr marL="91441" marR="91441" marT="45688" marB="4568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251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Info. Science</a:t>
                      </a:r>
                      <a:endParaRPr lang="en-US" sz="1200" dirty="0"/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Taylor Duff</a:t>
                      </a:r>
                    </a:p>
                  </a:txBody>
                  <a:tcPr marL="91441" marR="91441" marT="45688" marB="4568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251">
                <a:tc>
                  <a:txBody>
                    <a:bodyPr/>
                    <a:lstStyle/>
                    <a:p>
                      <a:r>
                        <a:rPr lang="en-US" sz="1200" dirty="0"/>
                        <a:t>50</a:t>
                      </a:r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Math</a:t>
                      </a:r>
                      <a:endParaRPr lang="en-US" sz="1200" dirty="0"/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91441" marR="91441" marT="45688" marB="45688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1441" marR="91441" marT="45688" marB="4568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>
            <a:extLst>
              <a:ext uri="{FF2B5EF4-FFF2-40B4-BE49-F238E27FC236}">
                <a16:creationId xmlns:a16="http://schemas.microsoft.com/office/drawing/2014/main" id="{A2E02B04-BC3C-A53F-5422-0939BD10F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925504" cy="1450757"/>
          </a:xfrm>
        </p:spPr>
        <p:txBody>
          <a:bodyPr/>
          <a:lstStyle/>
          <a:p>
            <a:pPr eaLnBrk="1" hangingPunct="1"/>
            <a:r>
              <a:rPr lang="en-US" altLang="en-US" dirty="0"/>
              <a:t>Generating a Cartesian Product</a:t>
            </a:r>
          </a:p>
        </p:txBody>
      </p:sp>
      <p:sp>
        <p:nvSpPr>
          <p:cNvPr id="92163" name="Content Placeholder 2">
            <a:extLst>
              <a:ext uri="{FF2B5EF4-FFF2-40B4-BE49-F238E27FC236}">
                <a16:creationId xmlns:a16="http://schemas.microsoft.com/office/drawing/2014/main" id="{A8D62AEA-2F08-4640-641D-CF26B0E44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47374"/>
            <a:ext cx="8153400" cy="614363"/>
          </a:xfrm>
        </p:spPr>
        <p:txBody>
          <a:bodyPr/>
          <a:lstStyle/>
          <a:p>
            <a:pPr eaLnBrk="1" hangingPunct="1"/>
            <a:r>
              <a:rPr lang="en-US" altLang="en-US" dirty="0"/>
              <a:t>Use CROSS JOIN clause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6554E4-95C9-51CA-901D-DEDAD4634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535642"/>
              </p:ext>
            </p:extLst>
          </p:nvPr>
        </p:nvGraphicFramePr>
        <p:xfrm>
          <a:off x="1066801" y="2925966"/>
          <a:ext cx="3505199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COMMISSION</a:t>
                      </a:r>
                    </a:p>
                  </a:txBody>
                  <a:tcPr marL="91459" marR="91459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59" marR="91459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59" marR="91459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59" marR="91459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59" marR="91459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59" marR="91459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59" marR="9145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59" marR="91459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9CF9B2-7291-3A87-148F-6B081B871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240219"/>
              </p:ext>
            </p:extLst>
          </p:nvPr>
        </p:nvGraphicFramePr>
        <p:xfrm>
          <a:off x="5638801" y="2997403"/>
          <a:ext cx="3000375" cy="1589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494"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9" marR="91439" marT="45691" marB="45691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DEPT_NAME</a:t>
                      </a:r>
                    </a:p>
                  </a:txBody>
                  <a:tcPr marL="91439" marR="91439" marT="45691" marB="4569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58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691" marB="4569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Networking</a:t>
                      </a:r>
                      <a:endParaRPr lang="en-US" sz="1200" dirty="0"/>
                    </a:p>
                  </a:txBody>
                  <a:tcPr marL="91439" marR="91439" marT="45691" marB="4569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58"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691" marB="4569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 of Info.</a:t>
                      </a:r>
                      <a:r>
                        <a:rPr lang="en-US" sz="1200" baseline="0" dirty="0"/>
                        <a:t> Science</a:t>
                      </a:r>
                      <a:endParaRPr lang="en-US" sz="1200" dirty="0"/>
                    </a:p>
                  </a:txBody>
                  <a:tcPr marL="91439" marR="91439" marT="45691" marB="4569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58"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9" marR="91439" marT="45691" marB="4569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 of Multimedia</a:t>
                      </a:r>
                    </a:p>
                  </a:txBody>
                  <a:tcPr marL="91439" marR="91439" marT="45691" marB="4569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58">
                <a:tc>
                  <a:txBody>
                    <a:bodyPr/>
                    <a:lstStyle/>
                    <a:p>
                      <a:r>
                        <a:rPr lang="en-US" sz="1200" dirty="0"/>
                        <a:t>40</a:t>
                      </a:r>
                    </a:p>
                  </a:txBody>
                  <a:tcPr marL="91439" marR="91439" marT="45691" marB="4569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Department</a:t>
                      </a:r>
                      <a:r>
                        <a:rPr lang="en-US" sz="1200" baseline="0" dirty="0"/>
                        <a:t> of Computer Science</a:t>
                      </a:r>
                      <a:endParaRPr lang="en-US" sz="1200" dirty="0"/>
                    </a:p>
                  </a:txBody>
                  <a:tcPr marL="91439" marR="91439" marT="45691" marB="4569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226" name="TextBox 6">
            <a:extLst>
              <a:ext uri="{FF2B5EF4-FFF2-40B4-BE49-F238E27FC236}">
                <a16:creationId xmlns:a16="http://schemas.microsoft.com/office/drawing/2014/main" id="{A06C7E5E-1905-EDD7-AF9E-83C6851E5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1" y="2568778"/>
            <a:ext cx="195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EMPLOYEE (6 rows)</a:t>
            </a:r>
          </a:p>
        </p:txBody>
      </p:sp>
      <p:sp>
        <p:nvSpPr>
          <p:cNvPr id="92227" name="TextBox 7">
            <a:extLst>
              <a:ext uri="{FF2B5EF4-FFF2-40B4-BE49-F238E27FC236}">
                <a16:creationId xmlns:a16="http://schemas.microsoft.com/office/drawing/2014/main" id="{99CC04EF-BEB0-C957-6EF2-D21877425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1" y="2568778"/>
            <a:ext cx="1670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DEPART (4 rows)</a:t>
            </a:r>
          </a:p>
        </p:txBody>
      </p:sp>
      <p:sp>
        <p:nvSpPr>
          <p:cNvPr id="92228" name="TextBox 8">
            <a:extLst>
              <a:ext uri="{FF2B5EF4-FFF2-40B4-BE49-F238E27FC236}">
                <a16:creationId xmlns:a16="http://schemas.microsoft.com/office/drawing/2014/main" id="{12FE6F6A-70F8-9576-26C8-56F8AC74C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1" y="5640591"/>
            <a:ext cx="34464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Cartesian Product: 6 X 4 = 24 rows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0B299-1238-B25C-4D93-B1EB794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Generating a Cartesian Product ..</a:t>
            </a:r>
            <a:r>
              <a:rPr lang="en-US" i="1" dirty="0"/>
              <a:t>cont.</a:t>
            </a:r>
          </a:p>
        </p:txBody>
      </p:sp>
      <p:pic>
        <p:nvPicPr>
          <p:cNvPr id="93187" name="Picture 2">
            <a:extLst>
              <a:ext uri="{FF2B5EF4-FFF2-40B4-BE49-F238E27FC236}">
                <a16:creationId xmlns:a16="http://schemas.microsoft.com/office/drawing/2014/main" id="{CC29277E-A4AA-6C70-34B2-88C10049B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643063"/>
            <a:ext cx="5924550" cy="507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>
            <a:extLst>
              <a:ext uri="{FF2B5EF4-FFF2-40B4-BE49-F238E27FC236}">
                <a16:creationId xmlns:a16="http://schemas.microsoft.com/office/drawing/2014/main" id="{75AC73CD-AF8D-1E52-A830-8BAD5D6FD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Using Subqueries to Solve Queries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12FB6C-30B3-E19D-831E-34B6822D3967}"/>
              </a:ext>
            </a:extLst>
          </p:cNvPr>
          <p:cNvSpPr/>
          <p:nvPr/>
        </p:nvSpPr>
        <p:spPr>
          <a:xfrm>
            <a:off x="642938" y="2000250"/>
            <a:ext cx="7858125" cy="4000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4212" name="TextBox 6">
            <a:extLst>
              <a:ext uri="{FF2B5EF4-FFF2-40B4-BE49-F238E27FC236}">
                <a16:creationId xmlns:a16="http://schemas.microsoft.com/office/drawing/2014/main" id="{C8EF358B-D905-1FBC-5695-FFFDC60A8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071688"/>
            <a:ext cx="1343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Main Query:</a:t>
            </a:r>
          </a:p>
        </p:txBody>
      </p:sp>
      <p:sp>
        <p:nvSpPr>
          <p:cNvPr id="94213" name="TextBox 7">
            <a:extLst>
              <a:ext uri="{FF2B5EF4-FFF2-40B4-BE49-F238E27FC236}">
                <a16:creationId xmlns:a16="http://schemas.microsoft.com/office/drawing/2014/main" id="{04062C05-3FA6-4C6C-B241-D3D8759CC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571750"/>
            <a:ext cx="6454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Which employees have salaries greater than Ammar Faizul’s salary?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C94A03-5267-A8C3-782A-7E387965586E}"/>
              </a:ext>
            </a:extLst>
          </p:cNvPr>
          <p:cNvSpPr/>
          <p:nvPr/>
        </p:nvSpPr>
        <p:spPr>
          <a:xfrm>
            <a:off x="2928938" y="3571875"/>
            <a:ext cx="4929187" cy="2286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4215" name="TextBox 9">
            <a:extLst>
              <a:ext uri="{FF2B5EF4-FFF2-40B4-BE49-F238E27FC236}">
                <a16:creationId xmlns:a16="http://schemas.microsoft.com/office/drawing/2014/main" id="{42FC4975-2C9F-B97D-6C08-27D24E7DA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3" y="3643313"/>
            <a:ext cx="1230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Sub Query:</a:t>
            </a:r>
          </a:p>
        </p:txBody>
      </p:sp>
      <p:sp>
        <p:nvSpPr>
          <p:cNvPr id="94216" name="TextBox 10">
            <a:extLst>
              <a:ext uri="{FF2B5EF4-FFF2-40B4-BE49-F238E27FC236}">
                <a16:creationId xmlns:a16="http://schemas.microsoft.com/office/drawing/2014/main" id="{ECAF2C38-FBF9-EE05-37E8-25CB0E7BA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938" y="4286250"/>
            <a:ext cx="36433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How much is Ammar Faizul’s salary?</a:t>
            </a:r>
          </a:p>
        </p:txBody>
      </p:sp>
      <p:pic>
        <p:nvPicPr>
          <p:cNvPr id="94217" name="Picture 2" descr="C:\Documents and Settings\Admin\Local Settings\Temporary Internet Files\Content.IE5\W0WOFA53\MC900059195[1].wmf">
            <a:extLst>
              <a:ext uri="{FF2B5EF4-FFF2-40B4-BE49-F238E27FC236}">
                <a16:creationId xmlns:a16="http://schemas.microsoft.com/office/drawing/2014/main" id="{694BD6FF-0EE9-BB17-AFFF-E2A1AFFC2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3071813"/>
            <a:ext cx="182562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8" name="Picture 3" descr="C:\Documents and Settings\Admin\Local Settings\Temporary Internet Files\Content.IE5\CMO6465M\MC900059180[1].wmf">
            <a:extLst>
              <a:ext uri="{FF2B5EF4-FFF2-40B4-BE49-F238E27FC236}">
                <a16:creationId xmlns:a16="http://schemas.microsoft.com/office/drawing/2014/main" id="{45BB7F78-7B25-91B9-241C-5E85CAFA8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4357688"/>
            <a:ext cx="1252538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Up Arrow 13">
            <a:extLst>
              <a:ext uri="{FF2B5EF4-FFF2-40B4-BE49-F238E27FC236}">
                <a16:creationId xmlns:a16="http://schemas.microsoft.com/office/drawing/2014/main" id="{162D34D9-6082-EA19-5470-3FBD60C96ECD}"/>
              </a:ext>
            </a:extLst>
          </p:cNvPr>
          <p:cNvSpPr/>
          <p:nvPr/>
        </p:nvSpPr>
        <p:spPr>
          <a:xfrm>
            <a:off x="6286500" y="2928938"/>
            <a:ext cx="642938" cy="857250"/>
          </a:xfrm>
          <a:prstGeom prst="up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>
            <a:extLst>
              <a:ext uri="{FF2B5EF4-FFF2-40B4-BE49-F238E27FC236}">
                <a16:creationId xmlns:a16="http://schemas.microsoft.com/office/drawing/2014/main" id="{E94093FC-0B92-17D7-2F5D-A64F93DC4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SubQuery Syntax</a:t>
            </a:r>
          </a:p>
        </p:txBody>
      </p:sp>
      <p:sp>
        <p:nvSpPr>
          <p:cNvPr id="95235" name="TextBox 3">
            <a:extLst>
              <a:ext uri="{FF2B5EF4-FFF2-40B4-BE49-F238E27FC236}">
                <a16:creationId xmlns:a16="http://schemas.microsoft.com/office/drawing/2014/main" id="{E4063F7B-7C66-3DED-D7C9-5197E6692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2000250"/>
            <a:ext cx="4800600" cy="1938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SELECT  </a:t>
            </a:r>
            <a:r>
              <a:rPr lang="en-US" altLang="en-US" sz="2400" i="1"/>
              <a:t>select_list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FROM table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WHERE expr operator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                          (Select select_list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		      FROM TABLE);	</a:t>
            </a:r>
          </a:p>
        </p:txBody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0401871C-9272-6E89-AF92-05EDC0210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4214813"/>
            <a:ext cx="8153400" cy="175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19088" indent="-319088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030305"/>
                </a:solidFill>
              </a:rPr>
              <a:t>The subquery (inner query) executes before the main query (outer query)</a:t>
            </a:r>
          </a:p>
          <a:p>
            <a:pPr eaLnBrk="1" hangingPunct="1"/>
            <a:r>
              <a:rPr lang="en-US" altLang="en-US" sz="2800">
                <a:solidFill>
                  <a:srgbClr val="030305"/>
                </a:solidFill>
              </a:rPr>
              <a:t>The result of subquery is used by the main query.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9D6F7FEF-0A3A-5E94-D2D8-795A51C87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Example of Subquery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945A880E-33D9-DD58-1E0E-35124EA68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643063"/>
            <a:ext cx="85725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SELECT </a:t>
            </a:r>
            <a:r>
              <a:rPr lang="en-US" altLang="en-US" sz="2800" dirty="0" err="1">
                <a:solidFill>
                  <a:srgbClr val="030305"/>
                </a:solidFill>
                <a:latin typeface="Arial Narrow" panose="020B0606020202030204" pitchFamily="34" charset="0"/>
              </a:rPr>
              <a:t>last_name</a:t>
            </a: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, salary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FROM employee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where salary &gt; (SELECT salary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                          FROM employee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                          WHERE </a:t>
            </a:r>
            <a:r>
              <a:rPr lang="en-US" altLang="en-US" sz="2800" dirty="0" err="1">
                <a:solidFill>
                  <a:srgbClr val="030305"/>
                </a:solidFill>
                <a:latin typeface="Arial Narrow" panose="020B0606020202030204" pitchFamily="34" charset="0"/>
              </a:rPr>
              <a:t>last_name</a:t>
            </a: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 = ‘Ammar Faizul’);         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596D79-6F2A-182A-1712-5ECB0FB7009D}"/>
              </a:ext>
            </a:extLst>
          </p:cNvPr>
          <p:cNvGraphicFramePr>
            <a:graphicFrameLocks noGrp="1"/>
          </p:cNvGraphicFramePr>
          <p:nvPr/>
        </p:nvGraphicFramePr>
        <p:xfrm>
          <a:off x="5857875" y="4000500"/>
          <a:ext cx="1801813" cy="58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791"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08" marR="91408" marT="45735" marB="45735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08" marR="91408" marT="45735" marB="457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09"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08" marR="91408" marT="45735" marB="4573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08" marR="91408" marT="45735" marB="4573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7672209-4170-5647-D317-E94EE9D7D567}"/>
              </a:ext>
            </a:extLst>
          </p:cNvPr>
          <p:cNvGraphicFramePr>
            <a:graphicFrameLocks noGrp="1"/>
          </p:cNvGraphicFramePr>
          <p:nvPr/>
        </p:nvGraphicFramePr>
        <p:xfrm>
          <a:off x="214313" y="3929063"/>
          <a:ext cx="2500312" cy="238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3"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8"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3"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6"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9" marR="91439" marT="45719" marB="45719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9" marR="91439"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Curved Down Arrow 7">
            <a:extLst>
              <a:ext uri="{FF2B5EF4-FFF2-40B4-BE49-F238E27FC236}">
                <a16:creationId xmlns:a16="http://schemas.microsoft.com/office/drawing/2014/main" id="{36E034B0-74BD-B47C-1832-5FAEB3F65906}"/>
              </a:ext>
            </a:extLst>
          </p:cNvPr>
          <p:cNvSpPr/>
          <p:nvPr/>
        </p:nvSpPr>
        <p:spPr>
          <a:xfrm rot="4101923">
            <a:off x="7552531" y="3356770"/>
            <a:ext cx="993775" cy="785812"/>
          </a:xfrm>
          <a:prstGeom prst="curved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28CC85-9A35-CA18-74BD-86F04509D729}"/>
              </a:ext>
            </a:extLst>
          </p:cNvPr>
          <p:cNvSpPr/>
          <p:nvPr/>
        </p:nvSpPr>
        <p:spPr>
          <a:xfrm>
            <a:off x="2143125" y="5286375"/>
            <a:ext cx="571500" cy="3571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77A318C0-9734-AEE6-6D9E-EC6B90C584FE}"/>
              </a:ext>
            </a:extLst>
          </p:cNvPr>
          <p:cNvSpPr/>
          <p:nvPr/>
        </p:nvSpPr>
        <p:spPr>
          <a:xfrm>
            <a:off x="1879600" y="2571750"/>
            <a:ext cx="3500438" cy="3000375"/>
          </a:xfrm>
          <a:prstGeom prst="arc">
            <a:avLst>
              <a:gd name="adj1" fmla="val 18042328"/>
              <a:gd name="adj2" fmla="val 7527257"/>
            </a:avLst>
          </a:prstGeom>
          <a:ln w="3810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>
            <a:extLst>
              <a:ext uri="{FF2B5EF4-FFF2-40B4-BE49-F238E27FC236}">
                <a16:creationId xmlns:a16="http://schemas.microsoft.com/office/drawing/2014/main" id="{BB0AA8A1-1494-524A-B062-BA7B1903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Subqueries</a:t>
            </a:r>
          </a:p>
        </p:txBody>
      </p:sp>
      <p:sp>
        <p:nvSpPr>
          <p:cNvPr id="97283" name="Content Placeholder 2">
            <a:extLst>
              <a:ext uri="{FF2B5EF4-FFF2-40B4-BE49-F238E27FC236}">
                <a16:creationId xmlns:a16="http://schemas.microsoft.com/office/drawing/2014/main" id="{B6557AD0-8D2A-C8A9-FE65-AD22A9EA5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Single-row subquery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Multiple-row subquery</a:t>
            </a:r>
          </a:p>
        </p:txBody>
      </p:sp>
      <p:grpSp>
        <p:nvGrpSpPr>
          <p:cNvPr id="97284" name="Group 6">
            <a:extLst>
              <a:ext uri="{FF2B5EF4-FFF2-40B4-BE49-F238E27FC236}">
                <a16:creationId xmlns:a16="http://schemas.microsoft.com/office/drawing/2014/main" id="{1148000D-78F9-AB9F-B68D-08347F573793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2286000"/>
            <a:ext cx="2786062" cy="1500188"/>
            <a:chOff x="1071538" y="2285992"/>
            <a:chExt cx="2786082" cy="150019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05CB2AE-3CD8-6BC9-5A99-C806A6E4666B}"/>
                </a:ext>
              </a:extLst>
            </p:cNvPr>
            <p:cNvSpPr/>
            <p:nvPr/>
          </p:nvSpPr>
          <p:spPr>
            <a:xfrm>
              <a:off x="1071538" y="2285992"/>
              <a:ext cx="2786082" cy="15001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793B7-76F9-DA01-E7A5-16D143701F62}"/>
                </a:ext>
              </a:extLst>
            </p:cNvPr>
            <p:cNvSpPr/>
            <p:nvPr/>
          </p:nvSpPr>
          <p:spPr>
            <a:xfrm>
              <a:off x="1517628" y="2714620"/>
              <a:ext cx="1878026" cy="7858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 err="1">
                  <a:solidFill>
                    <a:schemeClr val="tx1"/>
                  </a:solidFill>
                </a:rPr>
                <a:t>SubQuery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7297" name="TextBox 5">
              <a:extLst>
                <a:ext uri="{FF2B5EF4-FFF2-40B4-BE49-F238E27FC236}">
                  <a16:creationId xmlns:a16="http://schemas.microsoft.com/office/drawing/2014/main" id="{94698F04-48D6-A2FF-D561-8CA105468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976" y="2285992"/>
              <a:ext cx="129234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Main Query</a:t>
              </a:r>
            </a:p>
          </p:txBody>
        </p:sp>
      </p:grpSp>
      <p:sp>
        <p:nvSpPr>
          <p:cNvPr id="10" name="Right Arrow 9">
            <a:extLst>
              <a:ext uri="{FF2B5EF4-FFF2-40B4-BE49-F238E27FC236}">
                <a16:creationId xmlns:a16="http://schemas.microsoft.com/office/drawing/2014/main" id="{B76DAEDD-65F0-2476-75DD-5FAC989F476A}"/>
              </a:ext>
            </a:extLst>
          </p:cNvPr>
          <p:cNvSpPr/>
          <p:nvPr/>
        </p:nvSpPr>
        <p:spPr>
          <a:xfrm>
            <a:off x="3286125" y="3000375"/>
            <a:ext cx="2786063" cy="28575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7286" name="TextBox 10">
            <a:extLst>
              <a:ext uri="{FF2B5EF4-FFF2-40B4-BE49-F238E27FC236}">
                <a16:creationId xmlns:a16="http://schemas.microsoft.com/office/drawing/2014/main" id="{EEF84767-A590-A332-F633-213B4C919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2714625"/>
            <a:ext cx="800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returns</a:t>
            </a:r>
          </a:p>
        </p:txBody>
      </p:sp>
      <p:sp>
        <p:nvSpPr>
          <p:cNvPr id="97287" name="TextBox 11">
            <a:extLst>
              <a:ext uri="{FF2B5EF4-FFF2-40B4-BE49-F238E27FC236}">
                <a16:creationId xmlns:a16="http://schemas.microsoft.com/office/drawing/2014/main" id="{1CA2BF9D-B109-489D-BB61-BA82FF83D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000375"/>
            <a:ext cx="690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1000</a:t>
            </a:r>
          </a:p>
        </p:txBody>
      </p:sp>
      <p:grpSp>
        <p:nvGrpSpPr>
          <p:cNvPr id="97288" name="Group 19">
            <a:extLst>
              <a:ext uri="{FF2B5EF4-FFF2-40B4-BE49-F238E27FC236}">
                <a16:creationId xmlns:a16="http://schemas.microsoft.com/office/drawing/2014/main" id="{B0D16189-6BA2-A086-7E92-2BDC781636C2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4929188"/>
            <a:ext cx="2786062" cy="1500187"/>
            <a:chOff x="1071538" y="2285992"/>
            <a:chExt cx="2786082" cy="15001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4EE073C-2333-3C5A-F8C0-201A4A71E248}"/>
                </a:ext>
              </a:extLst>
            </p:cNvPr>
            <p:cNvSpPr/>
            <p:nvPr/>
          </p:nvSpPr>
          <p:spPr>
            <a:xfrm>
              <a:off x="1071538" y="2285992"/>
              <a:ext cx="2786082" cy="15001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341477E-3522-B02B-C399-3826A86F6A0F}"/>
                </a:ext>
              </a:extLst>
            </p:cNvPr>
            <p:cNvSpPr/>
            <p:nvPr/>
          </p:nvSpPr>
          <p:spPr>
            <a:xfrm>
              <a:off x="1517628" y="2714620"/>
              <a:ext cx="1878026" cy="7858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 err="1">
                  <a:solidFill>
                    <a:schemeClr val="tx1"/>
                  </a:solidFill>
                </a:rPr>
                <a:t>SubQuery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7294" name="TextBox 22">
              <a:extLst>
                <a:ext uri="{FF2B5EF4-FFF2-40B4-BE49-F238E27FC236}">
                  <a16:creationId xmlns:a16="http://schemas.microsoft.com/office/drawing/2014/main" id="{22E33BD7-7229-1856-81E9-76363C797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976" y="2285992"/>
              <a:ext cx="129234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Main Query</a:t>
              </a:r>
            </a:p>
          </p:txBody>
        </p:sp>
      </p:grpSp>
      <p:sp>
        <p:nvSpPr>
          <p:cNvPr id="24" name="Right Arrow 23">
            <a:extLst>
              <a:ext uri="{FF2B5EF4-FFF2-40B4-BE49-F238E27FC236}">
                <a16:creationId xmlns:a16="http://schemas.microsoft.com/office/drawing/2014/main" id="{ED4E5D6E-50D6-2FD4-CEB4-1B52D94A9D5A}"/>
              </a:ext>
            </a:extLst>
          </p:cNvPr>
          <p:cNvSpPr/>
          <p:nvPr/>
        </p:nvSpPr>
        <p:spPr>
          <a:xfrm>
            <a:off x="3286125" y="5643563"/>
            <a:ext cx="2786063" cy="28575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7290" name="TextBox 24">
            <a:extLst>
              <a:ext uri="{FF2B5EF4-FFF2-40B4-BE49-F238E27FC236}">
                <a16:creationId xmlns:a16="http://schemas.microsoft.com/office/drawing/2014/main" id="{6982B1EF-34D6-98EF-BD82-54C161A5D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357813"/>
            <a:ext cx="800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returns</a:t>
            </a:r>
          </a:p>
        </p:txBody>
      </p:sp>
      <p:sp>
        <p:nvSpPr>
          <p:cNvPr id="97291" name="TextBox 25">
            <a:extLst>
              <a:ext uri="{FF2B5EF4-FFF2-40B4-BE49-F238E27FC236}">
                <a16:creationId xmlns:a16="http://schemas.microsoft.com/office/drawing/2014/main" id="{D49F99F3-C943-DAE2-7F00-AD424FA1D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563" y="5357813"/>
            <a:ext cx="6905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1200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1800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2500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>
            <a:extLst>
              <a:ext uri="{FF2B5EF4-FFF2-40B4-BE49-F238E27FC236}">
                <a16:creationId xmlns:a16="http://schemas.microsoft.com/office/drawing/2014/main" id="{B7F5C4F4-028C-C5B8-6431-9C3ADA377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60436"/>
            <a:ext cx="7543800" cy="871428"/>
          </a:xfrm>
        </p:spPr>
        <p:txBody>
          <a:bodyPr/>
          <a:lstStyle/>
          <a:p>
            <a:pPr eaLnBrk="1" hangingPunct="1"/>
            <a:r>
              <a:rPr lang="en-US" altLang="en-US" dirty="0"/>
              <a:t>An Example</a:t>
            </a:r>
          </a:p>
        </p:txBody>
      </p:sp>
      <p:sp>
        <p:nvSpPr>
          <p:cNvPr id="98307" name="Rectangle 4">
            <a:extLst>
              <a:ext uri="{FF2B5EF4-FFF2-40B4-BE49-F238E27FC236}">
                <a16:creationId xmlns:a16="http://schemas.microsoft.com/office/drawing/2014/main" id="{80E4438B-4DA8-A63D-7CD2-47EB39E2D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968" y="962025"/>
            <a:ext cx="85725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SELECT </a:t>
            </a:r>
            <a:r>
              <a:rPr lang="en-US" altLang="en-US" sz="2800" dirty="0" err="1">
                <a:solidFill>
                  <a:srgbClr val="030305"/>
                </a:solidFill>
                <a:latin typeface="Arial Narrow" panose="020B0606020202030204" pitchFamily="34" charset="0"/>
              </a:rPr>
              <a:t>last_name</a:t>
            </a: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, salary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FROM employee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where salary = (SELECT salary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                          FROM employee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                          WHERE </a:t>
            </a:r>
            <a:r>
              <a:rPr lang="en-US" altLang="en-US" sz="2800" dirty="0" err="1">
                <a:solidFill>
                  <a:srgbClr val="030305"/>
                </a:solidFill>
                <a:latin typeface="Arial Narrow" panose="020B0606020202030204" pitchFamily="34" charset="0"/>
              </a:rPr>
              <a:t>dept_id</a:t>
            </a: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 = 20);           </a:t>
            </a:r>
          </a:p>
        </p:txBody>
      </p:sp>
      <p:sp>
        <p:nvSpPr>
          <p:cNvPr id="98308" name="Rectangle 5">
            <a:extLst>
              <a:ext uri="{FF2B5EF4-FFF2-40B4-BE49-F238E27FC236}">
                <a16:creationId xmlns:a16="http://schemas.microsoft.com/office/drawing/2014/main" id="{E2725013-A4EF-5B4C-E5F5-5E1D5A9B0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968" y="-1038226"/>
            <a:ext cx="2025650" cy="4508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7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98309" name="TextBox 6">
            <a:extLst>
              <a:ext uri="{FF2B5EF4-FFF2-40B4-BE49-F238E27FC236}">
                <a16:creationId xmlns:a16="http://schemas.microsoft.com/office/drawing/2014/main" id="{6194F506-EF8E-D796-E913-0F8732BC2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718" y="1319212"/>
            <a:ext cx="2571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Single-row operator with multiple-row subquery</a:t>
            </a:r>
          </a:p>
        </p:txBody>
      </p:sp>
      <p:sp>
        <p:nvSpPr>
          <p:cNvPr id="98310" name="Rectangle 7">
            <a:extLst>
              <a:ext uri="{FF2B5EF4-FFF2-40B4-BE49-F238E27FC236}">
                <a16:creationId xmlns:a16="http://schemas.microsoft.com/office/drawing/2014/main" id="{7EE964F0-B3A3-DD30-1299-570336DC1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4429125"/>
            <a:ext cx="85725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SELECT </a:t>
            </a:r>
            <a:r>
              <a:rPr lang="en-US" altLang="en-US" sz="2800" dirty="0" err="1">
                <a:solidFill>
                  <a:srgbClr val="030305"/>
                </a:solidFill>
                <a:latin typeface="Arial Narrow" panose="020B0606020202030204" pitchFamily="34" charset="0"/>
              </a:rPr>
              <a:t>last_name</a:t>
            </a: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, salary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FROM employee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where salary</a:t>
            </a:r>
            <a:r>
              <a:rPr lang="en-US" altLang="en-US" sz="2800" dirty="0">
                <a:solidFill>
                  <a:srgbClr val="030305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 in </a:t>
            </a: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(SELECT salary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                          FROM employee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                          WHERE </a:t>
            </a:r>
            <a:r>
              <a:rPr lang="en-US" altLang="en-US" sz="2800" dirty="0" err="1">
                <a:solidFill>
                  <a:srgbClr val="030305"/>
                </a:solidFill>
                <a:latin typeface="Arial Narrow" panose="020B0606020202030204" pitchFamily="34" charset="0"/>
              </a:rPr>
              <a:t>dept_id</a:t>
            </a:r>
            <a:r>
              <a:rPr lang="en-US" altLang="en-US" sz="2800" dirty="0">
                <a:solidFill>
                  <a:srgbClr val="030305"/>
                </a:solidFill>
                <a:latin typeface="Arial Narrow" panose="020B0606020202030204" pitchFamily="34" charset="0"/>
              </a:rPr>
              <a:t> = 20);           </a:t>
            </a:r>
          </a:p>
        </p:txBody>
      </p:sp>
      <p:pic>
        <p:nvPicPr>
          <p:cNvPr id="98311" name="Picture 3" descr="C:\Documents and Settings\Admin\Local Settings\Temporary Internet Files\Content.IE5\T32APBUG\MC900441310[1].png">
            <a:extLst>
              <a:ext uri="{FF2B5EF4-FFF2-40B4-BE49-F238E27FC236}">
                <a16:creationId xmlns:a16="http://schemas.microsoft.com/office/drawing/2014/main" id="{146F7A7C-38E5-6638-3581-CE15EF66A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3" y="4935538"/>
            <a:ext cx="2093912" cy="209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A9D5ECF-4EFB-1AE4-B7D1-71522387E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284816"/>
              </p:ext>
            </p:extLst>
          </p:nvPr>
        </p:nvGraphicFramePr>
        <p:xfrm>
          <a:off x="4297362" y="3019646"/>
          <a:ext cx="4846638" cy="1955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720">
                <a:tc>
                  <a:txBody>
                    <a:bodyPr/>
                    <a:lstStyle/>
                    <a:p>
                      <a:r>
                        <a:rPr lang="en-US" sz="1100" dirty="0"/>
                        <a:t>EMPID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LAST_NAME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DEPT_ID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COMMISSION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MGR_ID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Siti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Razilah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Musa Ahmad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Martin</a:t>
                      </a:r>
                      <a:r>
                        <a:rPr lang="en-US" sz="1000" baseline="0" dirty="0"/>
                        <a:t> Luke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1500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Ammar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Faizul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1800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Safiyah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baseline="0" dirty="0" err="1"/>
                        <a:t>Shahizan</a:t>
                      </a:r>
                      <a:endParaRPr lang="en-US" sz="1000" dirty="0"/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1230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(null)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Taylor Duff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(null)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B8DD51AB-9C0E-A180-7B20-F9D12AC4A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Subquery Characteristics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98367C75-8495-7D25-547C-A863C9CE8B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>
            <a:normAutofit/>
          </a:bodyPr>
          <a:lstStyle/>
          <a:p>
            <a:pPr marL="320040" indent="-320040" eaLnBrk="1" fontAlgn="auto" hangingPunct="1">
              <a:spcAft>
                <a:spcPct val="20000"/>
              </a:spcAft>
              <a:buFont typeface="Wingdings"/>
              <a:buChar char=""/>
              <a:defRPr/>
            </a:pPr>
            <a:r>
              <a:rPr lang="en-US" dirty="0">
                <a:solidFill>
                  <a:srgbClr val="030305"/>
                </a:solidFill>
              </a:rPr>
              <a:t>Can be used in the SELECT, CREATE, INSERT, UPDATE and DELETE statements</a:t>
            </a:r>
          </a:p>
          <a:p>
            <a:pPr marL="320040" indent="-320040" eaLnBrk="1" fontAlgn="auto" hangingPunct="1">
              <a:spcAft>
                <a:spcPct val="20000"/>
              </a:spcAft>
              <a:buFont typeface="Wingdings"/>
              <a:buChar char=""/>
              <a:defRPr/>
            </a:pPr>
            <a:r>
              <a:rPr lang="en-US" dirty="0">
                <a:solidFill>
                  <a:srgbClr val="030305"/>
                </a:solidFill>
              </a:rPr>
              <a:t>Can be used as part of a condition in the WHERE clause</a:t>
            </a:r>
          </a:p>
          <a:p>
            <a:pPr marL="320040" indent="-320040" eaLnBrk="1" fontAlgn="auto" hangingPunct="1">
              <a:spcAft>
                <a:spcPct val="20000"/>
              </a:spcAft>
              <a:buFont typeface="Wingdings"/>
              <a:buChar char=""/>
              <a:defRPr/>
            </a:pPr>
            <a:r>
              <a:rPr lang="en-US" dirty="0">
                <a:solidFill>
                  <a:srgbClr val="030305"/>
                </a:solidFill>
              </a:rPr>
              <a:t>Can be used in multiple AND or </a:t>
            </a:r>
            <a:r>
              <a:rPr lang="en-US" dirty="0" err="1">
                <a:solidFill>
                  <a:srgbClr val="030305"/>
                </a:solidFill>
              </a:rPr>
              <a:t>OR</a:t>
            </a:r>
            <a:r>
              <a:rPr lang="en-US" dirty="0">
                <a:solidFill>
                  <a:srgbClr val="030305"/>
                </a:solidFill>
              </a:rPr>
              <a:t> predicates of the same SQL statement </a:t>
            </a:r>
          </a:p>
          <a:p>
            <a:pPr marL="320040" indent="-320040" eaLnBrk="1" fontAlgn="auto" hangingPunct="1">
              <a:spcAft>
                <a:spcPct val="20000"/>
              </a:spcAft>
              <a:buFont typeface="Wingdings"/>
              <a:buChar char=""/>
              <a:defRPr/>
            </a:pPr>
            <a:r>
              <a:rPr lang="en-US" dirty="0">
                <a:solidFill>
                  <a:srgbClr val="030305"/>
                </a:solidFill>
              </a:rPr>
              <a:t>Is enclosed in parenthesis and must appear on the right in a WHERE clause condition</a:t>
            </a:r>
          </a:p>
          <a:p>
            <a:pPr marL="320040" indent="-320040" eaLnBrk="1" fontAlgn="auto" hangingPunct="1">
              <a:spcAft>
                <a:spcPct val="20000"/>
              </a:spcAft>
              <a:buFont typeface="Wingdings"/>
              <a:buChar char=""/>
              <a:defRPr/>
            </a:pPr>
            <a:r>
              <a:rPr lang="en-US" dirty="0">
                <a:solidFill>
                  <a:srgbClr val="030305"/>
                </a:solidFill>
              </a:rPr>
              <a:t>Cannot include an ORDER BY clause</a:t>
            </a:r>
          </a:p>
          <a:p>
            <a:pPr marL="320040" indent="-320040" eaLnBrk="1" fontAlgn="auto" hangingPunct="1">
              <a:spcAft>
                <a:spcPct val="20000"/>
              </a:spcAft>
              <a:buFont typeface="Wingdings"/>
              <a:buChar char=""/>
              <a:defRPr/>
            </a:pPr>
            <a:r>
              <a:rPr lang="en-US" dirty="0">
                <a:solidFill>
                  <a:srgbClr val="030305"/>
                </a:solidFill>
              </a:rPr>
              <a:t>The number of rows returned by the </a:t>
            </a:r>
            <a:r>
              <a:rPr lang="en-US" dirty="0" err="1">
                <a:solidFill>
                  <a:srgbClr val="030305"/>
                </a:solidFill>
              </a:rPr>
              <a:t>subquery</a:t>
            </a:r>
            <a:r>
              <a:rPr lang="en-US" dirty="0">
                <a:solidFill>
                  <a:srgbClr val="030305"/>
                </a:solidFill>
              </a:rPr>
              <a:t> must match the number expected by the main query</a:t>
            </a:r>
          </a:p>
          <a:p>
            <a:pPr marL="320040" indent="-320040" eaLnBrk="1" fontAlgn="auto" hangingPunct="1">
              <a:spcAft>
                <a:spcPct val="20000"/>
              </a:spcAft>
              <a:buFont typeface="Wingdings"/>
              <a:buChar char=""/>
              <a:defRPr/>
            </a:pPr>
            <a:endParaRPr lang="en-US" dirty="0">
              <a:solidFill>
                <a:srgbClr val="030305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7B6210E0-432D-8E05-CB20-BA6434D2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Combining Subqueries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0DF20764-B7B4-2AC9-2378-C85550E3D6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7240" y="1771277"/>
            <a:ext cx="8153400" cy="4757738"/>
          </a:xfrm>
        </p:spPr>
        <p:txBody>
          <a:bodyPr lIns="92075" tIns="46038" rIns="92075" bIns="46038">
            <a:normAutofit fontScale="62500" lnSpcReduction="20000"/>
          </a:bodyPr>
          <a:lstStyle/>
          <a:p>
            <a:pPr marL="320040" indent="-320040" eaLnBrk="1" fontAlgn="auto" hangingPunct="1">
              <a:spcAft>
                <a:spcPct val="20000"/>
              </a:spcAft>
              <a:buFont typeface="Wingdings"/>
              <a:buChar char=""/>
              <a:defRPr/>
            </a:pPr>
            <a:r>
              <a:rPr lang="en-US" sz="3800" dirty="0">
                <a:solidFill>
                  <a:srgbClr val="030305"/>
                </a:solidFill>
              </a:rPr>
              <a:t>Multiple </a:t>
            </a:r>
            <a:r>
              <a:rPr lang="en-US" sz="3800" dirty="0" err="1">
                <a:solidFill>
                  <a:srgbClr val="030305"/>
                </a:solidFill>
              </a:rPr>
              <a:t>subqueries</a:t>
            </a:r>
            <a:r>
              <a:rPr lang="en-US" sz="3800" dirty="0">
                <a:solidFill>
                  <a:srgbClr val="030305"/>
                </a:solidFill>
              </a:rPr>
              <a:t> can be used to check for more than one condition in a statement.</a:t>
            </a:r>
          </a:p>
          <a:p>
            <a:pPr marL="320040" indent="-320040" eaLnBrk="1" fontAlgn="auto" hangingPunct="1">
              <a:spcAft>
                <a:spcPct val="20000"/>
              </a:spcAft>
              <a:buFont typeface="Wingdings"/>
              <a:buChar char=""/>
              <a:defRPr/>
            </a:pPr>
            <a:r>
              <a:rPr lang="en-US" sz="2600" dirty="0">
                <a:solidFill>
                  <a:srgbClr val="030305"/>
                </a:solidFill>
              </a:rPr>
              <a:t>Example:</a:t>
            </a:r>
          </a:p>
          <a:p>
            <a:pPr marL="320040" indent="-32004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en-US" sz="2600" dirty="0">
                <a:solidFill>
                  <a:srgbClr val="030305"/>
                </a:solidFill>
              </a:rPr>
              <a:t>	</a:t>
            </a:r>
            <a:r>
              <a:rPr lang="en-US" sz="2600" dirty="0">
                <a:solidFill>
                  <a:srgbClr val="030305"/>
                </a:solidFill>
                <a:latin typeface="Arial Narrow" pitchFamily="34" charset="0"/>
              </a:rPr>
              <a:t>SELECT </a:t>
            </a:r>
            <a:r>
              <a:rPr lang="en-US" sz="2600" dirty="0" err="1">
                <a:solidFill>
                  <a:srgbClr val="030305"/>
                </a:solidFill>
                <a:latin typeface="Arial Narrow" pitchFamily="34" charset="0"/>
              </a:rPr>
              <a:t>last_name</a:t>
            </a:r>
            <a:r>
              <a:rPr lang="en-US" sz="2600" dirty="0">
                <a:solidFill>
                  <a:srgbClr val="030305"/>
                </a:solidFill>
                <a:latin typeface="Arial Narrow" pitchFamily="34" charset="0"/>
              </a:rPr>
              <a:t>, salary</a:t>
            </a:r>
          </a:p>
          <a:p>
            <a:pPr marL="320040" indent="-32004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en-US" sz="2600" dirty="0">
                <a:solidFill>
                  <a:srgbClr val="030305"/>
                </a:solidFill>
                <a:latin typeface="Arial Narrow" pitchFamily="34" charset="0"/>
              </a:rPr>
              <a:t>	FROM employees</a:t>
            </a:r>
          </a:p>
          <a:p>
            <a:pPr marL="320040" indent="-32004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en-US" sz="2600" dirty="0">
                <a:solidFill>
                  <a:srgbClr val="030305"/>
                </a:solidFill>
                <a:latin typeface="Arial Narrow" pitchFamily="34" charset="0"/>
              </a:rPr>
              <a:t>	WHERE </a:t>
            </a:r>
            <a:r>
              <a:rPr lang="en-US" sz="2600" dirty="0" err="1">
                <a:solidFill>
                  <a:srgbClr val="030305"/>
                </a:solidFill>
                <a:latin typeface="Arial Narrow" pitchFamily="34" charset="0"/>
              </a:rPr>
              <a:t>dept_id</a:t>
            </a:r>
            <a:r>
              <a:rPr lang="en-US" sz="2600" dirty="0">
                <a:solidFill>
                  <a:srgbClr val="030305"/>
                </a:solidFill>
                <a:latin typeface="Arial Narrow" pitchFamily="34" charset="0"/>
              </a:rPr>
              <a:t> = (SELECT </a:t>
            </a:r>
            <a:r>
              <a:rPr lang="en-US" sz="2600" dirty="0" err="1">
                <a:solidFill>
                  <a:srgbClr val="030305"/>
                </a:solidFill>
                <a:latin typeface="Arial Narrow" pitchFamily="34" charset="0"/>
              </a:rPr>
              <a:t>dept_id</a:t>
            </a:r>
            <a:r>
              <a:rPr lang="en-US" sz="2600" dirty="0">
                <a:solidFill>
                  <a:srgbClr val="030305"/>
                </a:solidFill>
                <a:latin typeface="Arial Narrow" pitchFamily="34" charset="0"/>
              </a:rPr>
              <a:t> </a:t>
            </a:r>
          </a:p>
          <a:p>
            <a:pPr marL="320040" indent="-32004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en-US" sz="2600" dirty="0">
                <a:solidFill>
                  <a:srgbClr val="030305"/>
                </a:solidFill>
                <a:latin typeface="Arial Narrow" pitchFamily="34" charset="0"/>
              </a:rPr>
              <a:t>			  FROM employee</a:t>
            </a:r>
          </a:p>
          <a:p>
            <a:pPr marL="320040" indent="-32004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en-US" sz="2600" dirty="0">
                <a:solidFill>
                  <a:srgbClr val="030305"/>
                </a:solidFill>
                <a:latin typeface="Arial Narrow" pitchFamily="34" charset="0"/>
              </a:rPr>
              <a:t> 			  WHERE </a:t>
            </a:r>
            <a:r>
              <a:rPr lang="en-US" sz="2600" dirty="0" err="1">
                <a:solidFill>
                  <a:srgbClr val="030305"/>
                </a:solidFill>
                <a:latin typeface="Arial Narrow" pitchFamily="34" charset="0"/>
              </a:rPr>
              <a:t>last_name</a:t>
            </a:r>
            <a:r>
              <a:rPr lang="en-US" sz="2600" dirty="0">
                <a:solidFill>
                  <a:srgbClr val="030305"/>
                </a:solidFill>
                <a:latin typeface="Arial Narrow" pitchFamily="34" charset="0"/>
              </a:rPr>
              <a:t> = ‘Taylor Duff’)</a:t>
            </a:r>
          </a:p>
          <a:p>
            <a:pPr marL="320040" indent="-32004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en-US" sz="2600" dirty="0">
                <a:solidFill>
                  <a:srgbClr val="030305"/>
                </a:solidFill>
                <a:latin typeface="Arial Narrow" pitchFamily="34" charset="0"/>
              </a:rPr>
              <a:t>	AND salary &gt; (SELECT salary </a:t>
            </a:r>
          </a:p>
          <a:p>
            <a:pPr marL="320040" indent="-32004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en-US" sz="2600" dirty="0">
                <a:solidFill>
                  <a:srgbClr val="030305"/>
                </a:solidFill>
                <a:latin typeface="Arial Narrow" pitchFamily="34" charset="0"/>
              </a:rPr>
              <a:t>			  FROM employee</a:t>
            </a:r>
          </a:p>
          <a:p>
            <a:pPr marL="320040" indent="-32004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en-US" sz="2600" dirty="0">
                <a:solidFill>
                  <a:srgbClr val="030305"/>
                </a:solidFill>
                <a:latin typeface="Arial Narrow" pitchFamily="34" charset="0"/>
              </a:rPr>
              <a:t> 			  WHERE </a:t>
            </a:r>
            <a:r>
              <a:rPr lang="en-US" sz="2600" dirty="0" err="1">
                <a:solidFill>
                  <a:srgbClr val="030305"/>
                </a:solidFill>
                <a:latin typeface="Arial Narrow" pitchFamily="34" charset="0"/>
              </a:rPr>
              <a:t>last_name</a:t>
            </a:r>
            <a:r>
              <a:rPr lang="en-US" sz="2600" dirty="0">
                <a:solidFill>
                  <a:srgbClr val="030305"/>
                </a:solidFill>
                <a:latin typeface="Arial Narrow" pitchFamily="34" charset="0"/>
              </a:rPr>
              <a:t> = ‘Taylor Duff’);</a:t>
            </a:r>
          </a:p>
          <a:p>
            <a:pPr marL="320040" indent="-320040" eaLnBrk="1" fontAlgn="auto" hangingPunct="1">
              <a:spcAft>
                <a:spcPct val="20000"/>
              </a:spcAft>
              <a:buFont typeface="Wingdings"/>
              <a:buChar char=""/>
              <a:defRPr/>
            </a:pPr>
            <a:r>
              <a:rPr lang="en-US" sz="3800" dirty="0">
                <a:solidFill>
                  <a:srgbClr val="030305"/>
                </a:solidFill>
              </a:rPr>
              <a:t>Same or different types can be nested. </a:t>
            </a:r>
          </a:p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400" dirty="0">
              <a:solidFill>
                <a:srgbClr val="030305"/>
              </a:solidFill>
            </a:endParaRPr>
          </a:p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400" dirty="0">
              <a:solidFill>
                <a:srgbClr val="030305"/>
              </a:solidFill>
            </a:endParaRPr>
          </a:p>
          <a:p>
            <a:pPr marL="320040" indent="-32004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solidFill>
                  <a:srgbClr val="030305"/>
                </a:solidFill>
              </a:rPr>
              <a:t>NOTE: Nested </a:t>
            </a:r>
            <a:r>
              <a:rPr lang="en-US" sz="2400" dirty="0" err="1">
                <a:solidFill>
                  <a:srgbClr val="030305"/>
                </a:solidFill>
              </a:rPr>
              <a:t>subqueries</a:t>
            </a:r>
            <a:r>
              <a:rPr lang="en-US" sz="2400" dirty="0">
                <a:solidFill>
                  <a:srgbClr val="030305"/>
                </a:solidFill>
              </a:rPr>
              <a:t> are executed from the most deeply nested to the least deeply nested    </a:t>
            </a:r>
          </a:p>
          <a:p>
            <a:pPr marL="320040" indent="-32004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solidFill>
                  <a:srgbClr val="030305"/>
                </a:solidFill>
              </a:rPr>
              <a:t>          </a:t>
            </a:r>
            <a:r>
              <a:rPr lang="en-US" sz="2400" dirty="0" err="1">
                <a:solidFill>
                  <a:srgbClr val="030305"/>
                </a:solidFill>
              </a:rPr>
              <a:t>subquery</a:t>
            </a:r>
            <a:r>
              <a:rPr lang="en-US" sz="2400" dirty="0">
                <a:solidFill>
                  <a:srgbClr val="030305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39271403-21CA-17D0-D2AE-29150FDF8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2022475"/>
            <a:ext cx="91440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Tx/>
              <a:buSzPct val="90000"/>
              <a:buFontTx/>
              <a:buNone/>
            </a:pPr>
            <a:r>
              <a:rPr lang="en-US" altLang="en-US" sz="2800">
                <a:solidFill>
                  <a:srgbClr val="030305"/>
                </a:solidFill>
                <a:latin typeface="Tahoma" panose="020B0604030504040204" pitchFamily="34" charset="0"/>
              </a:rPr>
              <a:t>Show all customers who have placed an order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Tx/>
              <a:buSzPct val="90000"/>
              <a:buFontTx/>
              <a:buNone/>
            </a:pPr>
            <a:endParaRPr lang="en-US" altLang="en-US" sz="2800">
              <a:solidFill>
                <a:srgbClr val="030305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Tx/>
              <a:buSzPct val="90000"/>
              <a:buFontTx/>
              <a:buNone/>
            </a:pPr>
            <a:r>
              <a:rPr lang="en-US" altLang="en-US" sz="2000">
                <a:solidFill>
                  <a:srgbClr val="030305"/>
                </a:solidFill>
                <a:latin typeface="Tahoma" panose="020B0604030504040204" pitchFamily="34" charset="0"/>
              </a:rPr>
              <a:t>SELECT customer_name FROM customer_t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Tx/>
              <a:buSzPct val="90000"/>
              <a:buFontTx/>
              <a:buNone/>
            </a:pPr>
            <a:r>
              <a:rPr lang="en-US" altLang="en-US" sz="2000">
                <a:solidFill>
                  <a:srgbClr val="030305"/>
                </a:solidFill>
                <a:latin typeface="Tahoma" panose="020B0604030504040204" pitchFamily="34" charset="0"/>
              </a:rPr>
              <a:t>WHERE customer_ID IN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Tx/>
              <a:buSzPct val="80000"/>
              <a:buFontTx/>
              <a:buNone/>
            </a:pPr>
            <a:r>
              <a:rPr lang="en-US" altLang="en-US" sz="1800">
                <a:solidFill>
                  <a:srgbClr val="030305"/>
                </a:solidFill>
                <a:latin typeface="Tahoma" panose="020B0604030504040204" pitchFamily="34" charset="0"/>
              </a:rPr>
              <a:t>			</a:t>
            </a:r>
            <a:r>
              <a:rPr lang="en-US" altLang="en-US" sz="1800" b="1">
                <a:solidFill>
                  <a:srgbClr val="030305"/>
                </a:solidFill>
                <a:latin typeface="Tahoma" panose="020B0604030504040204" pitchFamily="34" charset="0"/>
              </a:rPr>
              <a:t>(SELECT DISTINCT customer_ID FROM order_t);</a:t>
            </a:r>
          </a:p>
        </p:txBody>
      </p:sp>
      <p:grpSp>
        <p:nvGrpSpPr>
          <p:cNvPr id="101379" name="Group 4">
            <a:extLst>
              <a:ext uri="{FF2B5EF4-FFF2-40B4-BE49-F238E27FC236}">
                <a16:creationId xmlns:a16="http://schemas.microsoft.com/office/drawing/2014/main" id="{6E647305-5650-15A8-BB74-DC35CB9D4CFD}"/>
              </a:ext>
            </a:extLst>
          </p:cNvPr>
          <p:cNvGrpSpPr>
            <a:grpSpLocks/>
          </p:cNvGrpSpPr>
          <p:nvPr/>
        </p:nvGrpSpPr>
        <p:grpSpPr bwMode="auto">
          <a:xfrm>
            <a:off x="2119313" y="3571875"/>
            <a:ext cx="6400800" cy="2454275"/>
            <a:chOff x="864" y="2640"/>
            <a:chExt cx="4368" cy="1546"/>
          </a:xfrm>
        </p:grpSpPr>
        <p:sp>
          <p:nvSpPr>
            <p:cNvPr id="101381" name="Text Box 5">
              <a:extLst>
                <a:ext uri="{FF2B5EF4-FFF2-40B4-BE49-F238E27FC236}">
                  <a16:creationId xmlns:a16="http://schemas.microsoft.com/office/drawing/2014/main" id="{A1FA4B04-D7F2-1F4A-1789-F876F287A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168"/>
              <a:ext cx="2266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</a:rPr>
                <a:t>Subquery is embedded in parentheses. In this case it returns a list that will be used in the WHERE clause of the outer query</a:t>
              </a:r>
            </a:p>
          </p:txBody>
        </p:sp>
        <p:sp>
          <p:nvSpPr>
            <p:cNvPr id="101382" name="Rectangle 6">
              <a:extLst>
                <a:ext uri="{FF2B5EF4-FFF2-40B4-BE49-F238E27FC236}">
                  <a16:creationId xmlns:a16="http://schemas.microsoft.com/office/drawing/2014/main" id="{1C548955-954C-7DA0-EFB2-AFF74A988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640"/>
              <a:ext cx="4368" cy="240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01383" name="Line 7">
              <a:extLst>
                <a:ext uri="{FF2B5EF4-FFF2-40B4-BE49-F238E27FC236}">
                  <a16:creationId xmlns:a16="http://schemas.microsoft.com/office/drawing/2014/main" id="{96319EC8-EFAB-E394-5CCE-1F9CFD2F7B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2928"/>
              <a:ext cx="0" cy="288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</p:grpSp>
      <p:sp>
        <p:nvSpPr>
          <p:cNvPr id="101380" name="Title 9">
            <a:extLst>
              <a:ext uri="{FF2B5EF4-FFF2-40B4-BE49-F238E27FC236}">
                <a16:creationId xmlns:a16="http://schemas.microsoft.com/office/drawing/2014/main" id="{9C2BE009-BB0D-7D98-BA53-12F8278EA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9DF22992-8BD3-5FD1-35BB-56AAA76CD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Sally Pet Store</a:t>
            </a:r>
            <a:endParaRPr lang="en-MY" altLang="en-US"/>
          </a:p>
        </p:txBody>
      </p:sp>
      <p:pic>
        <p:nvPicPr>
          <p:cNvPr id="102403" name="Content Placeholder 3">
            <a:extLst>
              <a:ext uri="{FF2B5EF4-FFF2-40B4-BE49-F238E27FC236}">
                <a16:creationId xmlns:a16="http://schemas.microsoft.com/office/drawing/2014/main" id="{9AC84DBF-0655-E231-2CBA-F17A646B46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557338"/>
            <a:ext cx="8064500" cy="5240337"/>
          </a:xfr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3">
            <a:extLst>
              <a:ext uri="{FF2B5EF4-FFF2-40B4-BE49-F238E27FC236}">
                <a16:creationId xmlns:a16="http://schemas.microsoft.com/office/drawing/2014/main" id="{ADFB8232-044A-7BA1-1F5C-3CEEC87F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079908"/>
            <a:ext cx="899160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Tx/>
              <a:buSzPct val="90000"/>
              <a:buFontTx/>
              <a:buBlip>
                <a:blip r:embed="rId2"/>
              </a:buBlip>
            </a:pPr>
            <a:r>
              <a:rPr lang="en-US" altLang="en-US" sz="1800" dirty="0">
                <a:solidFill>
                  <a:srgbClr val="030305"/>
                </a:solidFill>
                <a:latin typeface="Tahoma" panose="020B0604030504040204" pitchFamily="34" charset="0"/>
              </a:rPr>
              <a:t>Which cats sold for more than the average sale price of cats?</a:t>
            </a:r>
          </a:p>
          <a:p>
            <a:pPr lvl="1" eaLnBrk="1" hangingPunct="1">
              <a:spcBef>
                <a:spcPct val="2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en-US" altLang="en-US" sz="1800" dirty="0">
                <a:solidFill>
                  <a:srgbClr val="030305"/>
                </a:solidFill>
                <a:latin typeface="Tahoma" panose="020B0604030504040204" pitchFamily="34" charset="0"/>
              </a:rPr>
              <a:t>Assume we know the average price is $170.</a:t>
            </a:r>
          </a:p>
          <a:p>
            <a:pPr lvl="1" eaLnBrk="1" hangingPunct="1">
              <a:spcBef>
                <a:spcPct val="2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en-US" altLang="en-US" sz="1800" dirty="0">
                <a:solidFill>
                  <a:srgbClr val="030305"/>
                </a:solidFill>
                <a:latin typeface="Tahoma" panose="020B0604030504040204" pitchFamily="34" charset="0"/>
              </a:rPr>
              <a:t>Usually we need to compute it first.</a:t>
            </a:r>
          </a:p>
        </p:txBody>
      </p:sp>
      <p:sp>
        <p:nvSpPr>
          <p:cNvPr id="103427" name="Rectangle 4">
            <a:extLst>
              <a:ext uri="{FF2B5EF4-FFF2-40B4-BE49-F238E27FC236}">
                <a16:creationId xmlns:a16="http://schemas.microsoft.com/office/drawing/2014/main" id="{9BCDF65E-BD87-E80F-0582-56922D9BC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20" y="2320295"/>
            <a:ext cx="6824662" cy="1327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SELECT SaleAnimal.AnimalID, Animal.Category, SaleAnimal.SalePrice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FROM Animal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SaleAnimal ON Animal.AnimalID = SaleAnimal.AnimalID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WHERE ((Animal.Category="Cat") AND (SaleAnimal.SalePrice&gt;170));</a:t>
            </a:r>
          </a:p>
        </p:txBody>
      </p:sp>
      <p:sp>
        <p:nvSpPr>
          <p:cNvPr id="103428" name="Rectangle 5">
            <a:extLst>
              <a:ext uri="{FF2B5EF4-FFF2-40B4-BE49-F238E27FC236}">
                <a16:creationId xmlns:a16="http://schemas.microsoft.com/office/drawing/2014/main" id="{7D15AD94-BCBF-766C-C00C-7A8EB5811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20" y="3768095"/>
            <a:ext cx="7378700" cy="2549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tabLst>
                <a:tab pos="463550" algn="l"/>
              </a:tabLst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tabLst>
                <a:tab pos="463550" algn="l"/>
              </a:tabLst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tabLst>
                <a:tab pos="463550" algn="l"/>
              </a:tabLst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tabLst>
                <a:tab pos="463550" algn="l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463550" algn="l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463550" algn="l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463550" algn="l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463550" algn="l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tabLst>
                <a:tab pos="463550" algn="l"/>
              </a:tabLst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SELECT SaleAnimal.AnimalID, Animal.Category, SaleAnimal.SalePrice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FROM Animal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JOIN SaleAnimal ON Animal.AnimalID = SaleAnimal.AnimalID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WHERE ((Animal.Category="Cat") AND (SaleAnimal.SalePrice&gt;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    (	SELECT AVG(SalePrice)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	FROM Animal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	JOIN SaleAnimal ON Animal.AnimalID = SaleAnimal.AnimalID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	WHERE (Animal.Category=“Cat”)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    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30305"/>
                </a:solidFill>
                <a:latin typeface="Arial" panose="020B0604020202020204" pitchFamily="34" charset="0"/>
              </a:rPr>
              <a:t>  )   );</a:t>
            </a:r>
          </a:p>
        </p:txBody>
      </p:sp>
      <p:sp>
        <p:nvSpPr>
          <p:cNvPr id="103429" name="Arc 6">
            <a:extLst>
              <a:ext uri="{FF2B5EF4-FFF2-40B4-BE49-F238E27FC236}">
                <a16:creationId xmlns:a16="http://schemas.microsoft.com/office/drawing/2014/main" id="{3A8135D9-9559-DD69-D9D4-01DCDEF6AC42}"/>
              </a:ext>
            </a:extLst>
          </p:cNvPr>
          <p:cNvSpPr>
            <a:spLocks/>
          </p:cNvSpPr>
          <p:nvPr/>
        </p:nvSpPr>
        <p:spPr bwMode="auto">
          <a:xfrm>
            <a:off x="3857625" y="3814763"/>
            <a:ext cx="3357563" cy="1471612"/>
          </a:xfrm>
          <a:custGeom>
            <a:avLst/>
            <a:gdLst>
              <a:gd name="T0" fmla="*/ 2147483646 w 21597"/>
              <a:gd name="T1" fmla="*/ 2147483646 h 21600"/>
              <a:gd name="T2" fmla="*/ 0 w 21597"/>
              <a:gd name="T3" fmla="*/ 2147483646 h 21600"/>
              <a:gd name="T4" fmla="*/ 0 w 21597"/>
              <a:gd name="T5" fmla="*/ 0 h 21600"/>
              <a:gd name="T6" fmla="*/ 0 60000 65536"/>
              <a:gd name="T7" fmla="*/ 0 60000 65536"/>
              <a:gd name="T8" fmla="*/ 0 60000 65536"/>
              <a:gd name="T9" fmla="*/ 0 w 21597"/>
              <a:gd name="T10" fmla="*/ 0 h 21600"/>
              <a:gd name="T11" fmla="*/ 21597 w 2159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97" h="21600" fill="none" extrusionOk="0">
                <a:moveTo>
                  <a:pt x="21597" y="346"/>
                </a:moveTo>
                <a:cubicBezTo>
                  <a:pt x="21408" y="12138"/>
                  <a:pt x="11794" y="21599"/>
                  <a:pt x="0" y="21600"/>
                </a:cubicBezTo>
              </a:path>
              <a:path w="21597" h="21600" stroke="0" extrusionOk="0">
                <a:moveTo>
                  <a:pt x="21597" y="346"/>
                </a:moveTo>
                <a:cubicBezTo>
                  <a:pt x="21408" y="12138"/>
                  <a:pt x="11794" y="21599"/>
                  <a:pt x="0" y="21600"/>
                </a:cubicBezTo>
                <a:lnTo>
                  <a:pt x="0" y="0"/>
                </a:lnTo>
                <a:lnTo>
                  <a:pt x="21597" y="346"/>
                </a:lnTo>
                <a:close/>
              </a:path>
            </a:pathLst>
          </a:custGeom>
          <a:noFill/>
          <a:ln w="38100" cap="rnd">
            <a:solidFill>
              <a:srgbClr val="C0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3430" name="Title 6">
            <a:extLst>
              <a:ext uri="{FF2B5EF4-FFF2-40B4-BE49-F238E27FC236}">
                <a16:creationId xmlns:a16="http://schemas.microsoft.com/office/drawing/2014/main" id="{DFEF19F9-19B8-15BF-F515-4E886A3C9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66132"/>
          </a:xfrm>
        </p:spPr>
        <p:txBody>
          <a:bodyPr/>
          <a:lstStyle/>
          <a:p>
            <a:pPr eaLnBrk="1" hangingPunct="1"/>
            <a:r>
              <a:rPr lang="en-US" altLang="en-US" dirty="0"/>
              <a:t>Subquery for Calculation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56E51146-D08C-A36F-23D5-A3D2CD3A8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" y="2119313"/>
            <a:ext cx="7772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Tx/>
              <a:buSzPct val="90000"/>
              <a:buFontTx/>
              <a:buBlip>
                <a:blip r:embed="rId2"/>
              </a:buBlip>
            </a:pPr>
            <a:r>
              <a:rPr lang="en-US" altLang="en-US" sz="1800">
                <a:solidFill>
                  <a:srgbClr val="030305"/>
                </a:solidFill>
                <a:latin typeface="Tahoma" panose="020B0604030504040204" pitchFamily="34" charset="0"/>
              </a:rPr>
              <a:t>Which animals have </a:t>
            </a:r>
            <a:r>
              <a:rPr lang="en-US" altLang="en-US" sz="1800" b="1">
                <a:solidFill>
                  <a:srgbClr val="030305"/>
                </a:solidFill>
                <a:latin typeface="Tahoma" panose="020B0604030504040204" pitchFamily="34" charset="0"/>
              </a:rPr>
              <a:t>not</a:t>
            </a:r>
            <a:r>
              <a:rPr lang="en-US" altLang="en-US" sz="1800">
                <a:solidFill>
                  <a:srgbClr val="030305"/>
                </a:solidFill>
                <a:latin typeface="Tahoma" panose="020B0604030504040204" pitchFamily="34" charset="0"/>
              </a:rPr>
              <a:t> been sold?</a:t>
            </a:r>
          </a:p>
          <a:p>
            <a:pPr lvl="1" eaLnBrk="1" hangingPunct="1">
              <a:spcBef>
                <a:spcPct val="2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en-US" altLang="en-US" sz="2000">
                <a:solidFill>
                  <a:srgbClr val="030305"/>
                </a:solidFill>
                <a:latin typeface="Tahoma" panose="020B0604030504040204" pitchFamily="34" charset="0"/>
              </a:rPr>
              <a:t>Start with list of all animals.</a:t>
            </a:r>
          </a:p>
          <a:p>
            <a:pPr lvl="1" eaLnBrk="1" hangingPunct="1">
              <a:spcBef>
                <a:spcPct val="2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en-US" altLang="en-US" sz="2000">
                <a:solidFill>
                  <a:srgbClr val="030305"/>
                </a:solidFill>
                <a:latin typeface="Tahoma" panose="020B0604030504040204" pitchFamily="34" charset="0"/>
              </a:rPr>
              <a:t>Subtract out list of those who were sold.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A8A37791-1796-DDEE-208F-940CBB88B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3643313"/>
            <a:ext cx="7072313" cy="13239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SELECT Animal.AnimalID, Animal.Name, Animal.Category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FROM Animal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WHERE (Animal.AnimalID Not In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                     (SELECT AnimalID From SaleAnimal));</a:t>
            </a:r>
          </a:p>
        </p:txBody>
      </p:sp>
      <p:sp>
        <p:nvSpPr>
          <p:cNvPr id="104452" name="Title 6">
            <a:extLst>
              <a:ext uri="{FF2B5EF4-FFF2-40B4-BE49-F238E27FC236}">
                <a16:creationId xmlns:a16="http://schemas.microsoft.com/office/drawing/2014/main" id="{B998337F-149C-544A-B7CE-1A7B939B6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Using NOT IN with a Subquery</a:t>
            </a:r>
            <a:endParaRPr lang="en-US" alt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3">
            <a:extLst>
              <a:ext uri="{FF2B5EF4-FFF2-40B4-BE49-F238E27FC236}">
                <a16:creationId xmlns:a16="http://schemas.microsoft.com/office/drawing/2014/main" id="{08C29094-E7D0-7A85-6D91-339C2DE58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088" y="1900238"/>
            <a:ext cx="28194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5475" name="Oval 4">
            <a:extLst>
              <a:ext uri="{FF2B5EF4-FFF2-40B4-BE49-F238E27FC236}">
                <a16:creationId xmlns:a16="http://schemas.microsoft.com/office/drawing/2014/main" id="{AEBC9CE3-9F24-01A8-579E-3F168D005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688" y="2128838"/>
            <a:ext cx="1447800" cy="1447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5476" name="Oval 5">
            <a:extLst>
              <a:ext uri="{FF2B5EF4-FFF2-40B4-BE49-F238E27FC236}">
                <a16:creationId xmlns:a16="http://schemas.microsoft.com/office/drawing/2014/main" id="{11A36635-4051-59AB-E3B2-0618C36FF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888" y="2128838"/>
            <a:ext cx="1447800" cy="14478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5477" name="Freeform 6">
            <a:extLst>
              <a:ext uri="{FF2B5EF4-FFF2-40B4-BE49-F238E27FC236}">
                <a16:creationId xmlns:a16="http://schemas.microsoft.com/office/drawing/2014/main" id="{08D36E72-7E6B-8FF4-C91E-3101A466C50D}"/>
              </a:ext>
            </a:extLst>
          </p:cNvPr>
          <p:cNvSpPr>
            <a:spLocks/>
          </p:cNvSpPr>
          <p:nvPr/>
        </p:nvSpPr>
        <p:spPr bwMode="auto">
          <a:xfrm>
            <a:off x="2147888" y="2244725"/>
            <a:ext cx="631825" cy="1198563"/>
          </a:xfrm>
          <a:custGeom>
            <a:avLst/>
            <a:gdLst>
              <a:gd name="T0" fmla="*/ 2147483646 w 398"/>
              <a:gd name="T1" fmla="*/ 2147483646 h 755"/>
              <a:gd name="T2" fmla="*/ 2147483646 w 398"/>
              <a:gd name="T3" fmla="*/ 2147483646 h 755"/>
              <a:gd name="T4" fmla="*/ 2147483646 w 398"/>
              <a:gd name="T5" fmla="*/ 2147483646 h 755"/>
              <a:gd name="T6" fmla="*/ 2147483646 w 398"/>
              <a:gd name="T7" fmla="*/ 2147483646 h 755"/>
              <a:gd name="T8" fmla="*/ 2147483646 w 398"/>
              <a:gd name="T9" fmla="*/ 2147483646 h 755"/>
              <a:gd name="T10" fmla="*/ 2147483646 w 398"/>
              <a:gd name="T11" fmla="*/ 2147483646 h 755"/>
              <a:gd name="T12" fmla="*/ 2147483646 w 398"/>
              <a:gd name="T13" fmla="*/ 2147483646 h 755"/>
              <a:gd name="T14" fmla="*/ 2147483646 w 398"/>
              <a:gd name="T15" fmla="*/ 2147483646 h 755"/>
              <a:gd name="T16" fmla="*/ 2147483646 w 398"/>
              <a:gd name="T17" fmla="*/ 2147483646 h 75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98"/>
              <a:gd name="T28" fmla="*/ 0 h 755"/>
              <a:gd name="T29" fmla="*/ 398 w 398"/>
              <a:gd name="T30" fmla="*/ 755 h 75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98" h="755">
                <a:moveTo>
                  <a:pt x="192" y="14"/>
                </a:moveTo>
                <a:cubicBezTo>
                  <a:pt x="154" y="28"/>
                  <a:pt x="78" y="95"/>
                  <a:pt x="48" y="170"/>
                </a:cubicBezTo>
                <a:cubicBezTo>
                  <a:pt x="18" y="245"/>
                  <a:pt x="0" y="382"/>
                  <a:pt x="9" y="464"/>
                </a:cubicBezTo>
                <a:cubicBezTo>
                  <a:pt x="18" y="546"/>
                  <a:pt x="69" y="615"/>
                  <a:pt x="99" y="662"/>
                </a:cubicBezTo>
                <a:cubicBezTo>
                  <a:pt x="129" y="709"/>
                  <a:pt x="151" y="755"/>
                  <a:pt x="189" y="746"/>
                </a:cubicBezTo>
                <a:cubicBezTo>
                  <a:pt x="227" y="737"/>
                  <a:pt x="296" y="675"/>
                  <a:pt x="330" y="605"/>
                </a:cubicBezTo>
                <a:cubicBezTo>
                  <a:pt x="364" y="535"/>
                  <a:pt x="398" y="409"/>
                  <a:pt x="390" y="323"/>
                </a:cubicBezTo>
                <a:cubicBezTo>
                  <a:pt x="382" y="237"/>
                  <a:pt x="313" y="139"/>
                  <a:pt x="279" y="86"/>
                </a:cubicBezTo>
                <a:cubicBezTo>
                  <a:pt x="245" y="33"/>
                  <a:pt x="230" y="0"/>
                  <a:pt x="192" y="14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MY"/>
          </a:p>
        </p:txBody>
      </p:sp>
      <p:sp>
        <p:nvSpPr>
          <p:cNvPr id="105478" name="Text Box 7">
            <a:extLst>
              <a:ext uri="{FF2B5EF4-FFF2-40B4-BE49-F238E27FC236}">
                <a16:creationId xmlns:a16="http://schemas.microsoft.com/office/drawing/2014/main" id="{FFD72277-FC41-6CF3-5BF2-289A74E35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888" y="3576638"/>
            <a:ext cx="450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30305"/>
                </a:solidFill>
                <a:latin typeface="Arial" panose="020B0604020202020204" pitchFamily="34" charset="0"/>
              </a:rPr>
              <a:t>T1</a:t>
            </a:r>
          </a:p>
        </p:txBody>
      </p:sp>
      <p:sp>
        <p:nvSpPr>
          <p:cNvPr id="105479" name="Text Box 8">
            <a:extLst>
              <a:ext uri="{FF2B5EF4-FFF2-40B4-BE49-F238E27FC236}">
                <a16:creationId xmlns:a16="http://schemas.microsoft.com/office/drawing/2014/main" id="{5257372F-0668-30EC-2512-423C48361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2400" y="3586163"/>
            <a:ext cx="450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30305"/>
                </a:solidFill>
                <a:latin typeface="Arial" panose="020B0604020202020204" pitchFamily="34" charset="0"/>
              </a:rPr>
              <a:t>T2</a:t>
            </a:r>
          </a:p>
        </p:txBody>
      </p:sp>
      <p:sp>
        <p:nvSpPr>
          <p:cNvPr id="105480" name="Text Box 9">
            <a:extLst>
              <a:ext uri="{FF2B5EF4-FFF2-40B4-BE49-F238E27FC236}">
                <a16:creationId xmlns:a16="http://schemas.microsoft.com/office/drawing/2014/main" id="{932B59E4-D089-DE28-711E-7A95017BB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488" y="258603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30305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05481" name="Text Box 10">
            <a:extLst>
              <a:ext uri="{FF2B5EF4-FFF2-40B4-BE49-F238E27FC236}">
                <a16:creationId xmlns:a16="http://schemas.microsoft.com/office/drawing/2014/main" id="{FADC8B8B-719D-D2CA-6CF2-D91D440C6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258603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30305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05482" name="Text Box 11">
            <a:extLst>
              <a:ext uri="{FF2B5EF4-FFF2-40B4-BE49-F238E27FC236}">
                <a16:creationId xmlns:a16="http://schemas.microsoft.com/office/drawing/2014/main" id="{3D1EC263-0E4E-A7B9-1E9E-D2B104017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258603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30305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05483" name="Text Box 12">
            <a:extLst>
              <a:ext uri="{FF2B5EF4-FFF2-40B4-BE49-F238E27FC236}">
                <a16:creationId xmlns:a16="http://schemas.microsoft.com/office/drawing/2014/main" id="{351A87DC-2FA1-BF9B-D1FD-0334FD002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4514850"/>
            <a:ext cx="3276600" cy="1628775"/>
          </a:xfrm>
          <a:prstGeom prst="rect">
            <a:avLst/>
          </a:prstGeom>
          <a:noFill/>
          <a:ln w="12700">
            <a:solidFill>
              <a:srgbClr val="008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30305"/>
                </a:solidFill>
                <a:latin typeface="Arial" panose="020B0604020202020204" pitchFamily="34" charset="0"/>
              </a:rPr>
              <a:t>SELECT EID, Name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30305"/>
                </a:solidFill>
                <a:latin typeface="Arial" panose="020B0604020202020204" pitchFamily="34" charset="0"/>
              </a:rPr>
              <a:t>FROM EmployeeEast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30305"/>
                </a:solidFill>
                <a:latin typeface="Arial" panose="020B0604020202020204" pitchFamily="34" charset="0"/>
              </a:rPr>
              <a:t>INTERSECT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30305"/>
                </a:solidFill>
                <a:latin typeface="Arial" panose="020B0604020202020204" pitchFamily="34" charset="0"/>
              </a:rPr>
              <a:t>SELECT EID, Name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30305"/>
                </a:solidFill>
                <a:latin typeface="Arial" panose="020B0604020202020204" pitchFamily="34" charset="0"/>
              </a:rPr>
              <a:t>FROM EmployeeWest</a:t>
            </a:r>
          </a:p>
        </p:txBody>
      </p:sp>
      <p:sp>
        <p:nvSpPr>
          <p:cNvPr id="105484" name="Text Box 13">
            <a:extLst>
              <a:ext uri="{FF2B5EF4-FFF2-40B4-BE49-F238E27FC236}">
                <a16:creationId xmlns:a16="http://schemas.microsoft.com/office/drawing/2014/main" id="{A4B7F8A2-0B28-A9DA-1138-89872F477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25" y="2443163"/>
            <a:ext cx="3810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30305"/>
                </a:solidFill>
                <a:latin typeface="Arial" panose="020B0604020202020204" pitchFamily="34" charset="0"/>
              </a:rPr>
              <a:t>List the name of any employee who has worked for both the East and West regions.</a:t>
            </a:r>
          </a:p>
        </p:txBody>
      </p:sp>
      <p:graphicFrame>
        <p:nvGraphicFramePr>
          <p:cNvPr id="105485" name="Object 2">
            <a:extLst>
              <a:ext uri="{FF2B5EF4-FFF2-40B4-BE49-F238E27FC236}">
                <a16:creationId xmlns:a16="http://schemas.microsoft.com/office/drawing/2014/main" id="{3F64E569-49A0-4949-68CB-B3D24ADF4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4872038"/>
          <a:ext cx="4038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32704" imgH="710184" progId="Word.Document.8">
                  <p:embed/>
                </p:oleObj>
              </mc:Choice>
              <mc:Fallback>
                <p:oleObj name="Document" r:id="rId2" imgW="5632704" imgH="71018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8073" b="24832"/>
                      <a:stretch>
                        <a:fillRect/>
                      </a:stretch>
                    </p:blipFill>
                    <p:spPr bwMode="auto">
                      <a:xfrm>
                        <a:off x="571500" y="4872038"/>
                        <a:ext cx="40386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86" name="Title 16">
            <a:extLst>
              <a:ext uri="{FF2B5EF4-FFF2-40B4-BE49-F238E27FC236}">
                <a16:creationId xmlns:a16="http://schemas.microsoft.com/office/drawing/2014/main" id="{4E433375-2DFD-18CC-738B-4DC88E32D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UNION, INTERSECT, MINUS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4">
            <a:extLst>
              <a:ext uri="{FF2B5EF4-FFF2-40B4-BE49-F238E27FC236}">
                <a16:creationId xmlns:a16="http://schemas.microsoft.com/office/drawing/2014/main" id="{935979AA-D992-5418-90BF-AE4F8DB40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78" y="4768203"/>
            <a:ext cx="7769225" cy="158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Tx/>
              <a:buSzPct val="90000"/>
              <a:buFontTx/>
              <a:buBlip>
                <a:blip r:embed="rId2"/>
              </a:buBlip>
            </a:pPr>
            <a:r>
              <a:rPr lang="en-US" altLang="en-US" sz="1800">
                <a:solidFill>
                  <a:srgbClr val="030305"/>
                </a:solidFill>
                <a:latin typeface="Tahoma" panose="020B0604030504040204" pitchFamily="34" charset="0"/>
              </a:rPr>
              <a:t>Offices in Los Angeles and New York.</a:t>
            </a:r>
          </a:p>
          <a:p>
            <a:pPr eaLnBrk="1" hangingPunct="1">
              <a:spcBef>
                <a:spcPct val="20000"/>
              </a:spcBef>
              <a:buClrTx/>
              <a:buSzPct val="90000"/>
              <a:buFontTx/>
              <a:buBlip>
                <a:blip r:embed="rId2"/>
              </a:buBlip>
            </a:pPr>
            <a:r>
              <a:rPr lang="en-US" altLang="en-US" sz="1800">
                <a:solidFill>
                  <a:srgbClr val="030305"/>
                </a:solidFill>
                <a:latin typeface="Tahoma" panose="020B0604030504040204" pitchFamily="34" charset="0"/>
              </a:rPr>
              <a:t>Each has an Employee table (East and West).</a:t>
            </a:r>
          </a:p>
          <a:p>
            <a:pPr eaLnBrk="1" hangingPunct="1">
              <a:spcBef>
                <a:spcPct val="20000"/>
              </a:spcBef>
              <a:buClrTx/>
              <a:buSzPct val="90000"/>
              <a:buFontTx/>
              <a:buBlip>
                <a:blip r:embed="rId2"/>
              </a:buBlip>
            </a:pPr>
            <a:r>
              <a:rPr lang="en-US" altLang="en-US" sz="1800">
                <a:solidFill>
                  <a:srgbClr val="030305"/>
                </a:solidFill>
                <a:latin typeface="Tahoma" panose="020B0604030504040204" pitchFamily="34" charset="0"/>
              </a:rPr>
              <a:t>Need to search data from both tables.</a:t>
            </a:r>
          </a:p>
          <a:p>
            <a:pPr eaLnBrk="1" hangingPunct="1">
              <a:spcBef>
                <a:spcPct val="20000"/>
              </a:spcBef>
              <a:buClrTx/>
              <a:buSzPct val="90000"/>
              <a:buFontTx/>
              <a:buBlip>
                <a:blip r:embed="rId2"/>
              </a:buBlip>
            </a:pPr>
            <a:r>
              <a:rPr lang="en-US" altLang="en-US" sz="1800">
                <a:solidFill>
                  <a:srgbClr val="030305"/>
                </a:solidFill>
                <a:latin typeface="Tahoma" panose="020B0604030504040204" pitchFamily="34" charset="0"/>
              </a:rPr>
              <a:t>Columns in the two SELECT lines must match the column number and column type</a:t>
            </a:r>
            <a:r>
              <a:rPr lang="en-US" altLang="en-US" sz="180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106499" name="Rectangle 5">
            <a:extLst>
              <a:ext uri="{FF2B5EF4-FFF2-40B4-BE49-F238E27FC236}">
                <a16:creationId xmlns:a16="http://schemas.microsoft.com/office/drawing/2014/main" id="{BACD9536-5008-07F8-2483-8529700A9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953" y="1172516"/>
            <a:ext cx="5683250" cy="1477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Arial" panose="020B0604020202020204" pitchFamily="34" charset="0"/>
              </a:rPr>
              <a:t>SELECT EID, Name, Phone, Salary, ‘East’ AS Office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Arial" panose="020B0604020202020204" pitchFamily="34" charset="0"/>
              </a:rPr>
              <a:t>FROM EmployeeEast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66"/>
                </a:solidFill>
                <a:latin typeface="Arial" panose="020B0604020202020204" pitchFamily="34" charset="0"/>
              </a:rPr>
              <a:t>UNION</a:t>
            </a:r>
            <a:endParaRPr lang="en-US" altLang="en-US" sz="180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Arial" panose="020B0604020202020204" pitchFamily="34" charset="0"/>
              </a:rPr>
              <a:t>SELECT EID, Name, Phone, Salary, ‘West’ AS Office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Arial" panose="020B0604020202020204" pitchFamily="34" charset="0"/>
              </a:rPr>
              <a:t>FROM EmployeeWest</a:t>
            </a:r>
          </a:p>
        </p:txBody>
      </p:sp>
      <p:sp>
        <p:nvSpPr>
          <p:cNvPr id="106500" name="Rectangle 6">
            <a:extLst>
              <a:ext uri="{FF2B5EF4-FFF2-40B4-BE49-F238E27FC236}">
                <a16:creationId xmlns:a16="http://schemas.microsoft.com/office/drawing/2014/main" id="{9D5B4E93-C1F2-E355-B2F3-BBB6B3277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778" y="2756841"/>
            <a:ext cx="4537075" cy="1816100"/>
          </a:xfrm>
          <a:prstGeom prst="rect">
            <a:avLst/>
          </a:prstGeom>
          <a:noFill/>
          <a:ln w="12700">
            <a:solidFill>
              <a:srgbClr val="0066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006633"/>
                </a:solidFill>
                <a:latin typeface="Arial" panose="020B0604020202020204" pitchFamily="34" charset="0"/>
              </a:rPr>
              <a:t>EID	Name	Phone	Salary	Office</a:t>
            </a:r>
            <a:endParaRPr lang="en-US" altLang="en-US" sz="1600" dirty="0">
              <a:solidFill>
                <a:srgbClr val="006633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6633"/>
                </a:solidFill>
                <a:latin typeface="Arial" panose="020B0604020202020204" pitchFamily="34" charset="0"/>
              </a:rPr>
              <a:t>352	Jones	3352	45,000	East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6633"/>
                </a:solidFill>
                <a:latin typeface="Arial" panose="020B0604020202020204" pitchFamily="34" charset="0"/>
              </a:rPr>
              <a:t>876	Inez	8736	47,000	East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6633"/>
                </a:solidFill>
                <a:latin typeface="Arial" panose="020B0604020202020204" pitchFamily="34" charset="0"/>
              </a:rPr>
              <a:t>372	</a:t>
            </a:r>
            <a:r>
              <a:rPr lang="en-US" altLang="en-US" sz="1600" dirty="0" err="1">
                <a:solidFill>
                  <a:srgbClr val="006633"/>
                </a:solidFill>
                <a:latin typeface="Arial" panose="020B0604020202020204" pitchFamily="34" charset="0"/>
              </a:rPr>
              <a:t>Stoiko</a:t>
            </a:r>
            <a:r>
              <a:rPr lang="en-US" altLang="en-US" sz="1600" dirty="0">
                <a:solidFill>
                  <a:srgbClr val="006633"/>
                </a:solidFill>
                <a:latin typeface="Arial" panose="020B0604020202020204" pitchFamily="34" charset="0"/>
              </a:rPr>
              <a:t>	7632	38,000	East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 dirty="0">
              <a:solidFill>
                <a:srgbClr val="006633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6633"/>
                </a:solidFill>
                <a:latin typeface="Arial" panose="020B0604020202020204" pitchFamily="34" charset="0"/>
              </a:rPr>
              <a:t>890	Smythe	9803	62,000	West</a:t>
            </a:r>
            <a:endParaRPr lang="en-US" altLang="en-US" sz="1600" b="1" dirty="0">
              <a:solidFill>
                <a:srgbClr val="006633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6633"/>
                </a:solidFill>
                <a:latin typeface="Arial" panose="020B0604020202020204" pitchFamily="34" charset="0"/>
              </a:rPr>
              <a:t>361	Kim	7736	73,000	West</a:t>
            </a:r>
          </a:p>
        </p:txBody>
      </p:sp>
      <p:sp>
        <p:nvSpPr>
          <p:cNvPr id="106501" name="Title 7">
            <a:extLst>
              <a:ext uri="{FF2B5EF4-FFF2-40B4-BE49-F238E27FC236}">
                <a16:creationId xmlns:a16="http://schemas.microsoft.com/office/drawing/2014/main" id="{96FBF7EA-95C3-F8A5-224E-EF8AA7EF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910148"/>
          </a:xfrm>
        </p:spPr>
        <p:txBody>
          <a:bodyPr/>
          <a:lstStyle/>
          <a:p>
            <a:pPr eaLnBrk="1" hangingPunct="1"/>
            <a:r>
              <a:rPr lang="en-US" altLang="en-US" dirty="0"/>
              <a:t>UNION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>
            <a:extLst>
              <a:ext uri="{FF2B5EF4-FFF2-40B4-BE49-F238E27FC236}">
                <a16:creationId xmlns:a16="http://schemas.microsoft.com/office/drawing/2014/main" id="{ACCA427B-C640-1835-25F4-3403D1A1B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107523" name="Content Placeholder 2">
            <a:extLst>
              <a:ext uri="{FF2B5EF4-FFF2-40B4-BE49-F238E27FC236}">
                <a16:creationId xmlns:a16="http://schemas.microsoft.com/office/drawing/2014/main" id="{3A873448-8397-9774-98E2-C6CD48661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this chapter you learned how to:</a:t>
            </a:r>
          </a:p>
          <a:p>
            <a:pPr lvl="1" eaLnBrk="1" hangingPunct="1"/>
            <a:r>
              <a:rPr lang="en-US" altLang="en-US"/>
              <a:t>Define key terms: join, equijoin, self-join, nonequijoin, natural join, outer join, set operators and subquery. </a:t>
            </a:r>
          </a:p>
          <a:p>
            <a:pPr lvl="1" eaLnBrk="1" hangingPunct="1"/>
            <a:r>
              <a:rPr lang="en-US" altLang="en-US"/>
              <a:t>Apply the DML command to insert, update and delete data from table.</a:t>
            </a:r>
          </a:p>
          <a:p>
            <a:pPr lvl="1" eaLnBrk="1" hangingPunct="1"/>
            <a:r>
              <a:rPr lang="en-US" altLang="en-US"/>
              <a:t>Write single and multiple table queries using SQL commands</a:t>
            </a:r>
          </a:p>
          <a:p>
            <a:pPr lvl="1" eaLnBrk="1" hangingPunct="1"/>
            <a:r>
              <a:rPr lang="en-US" altLang="en-US"/>
              <a:t>Write queries using subqueries.</a:t>
            </a:r>
          </a:p>
          <a:p>
            <a:pPr eaLnBrk="1" hangingPunct="1"/>
            <a:endParaRPr lang="en-US" altLang="en-US"/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2493</TotalTime>
  <Words>7551</Words>
  <Application>Microsoft Office PowerPoint</Application>
  <PresentationFormat>On-screen Show (4:3)</PresentationFormat>
  <Paragraphs>2484</Paragraphs>
  <Slides>95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7" baseType="lpstr">
      <vt:lpstr>Arial</vt:lpstr>
      <vt:lpstr>Arial Narrow</vt:lpstr>
      <vt:lpstr>Calibri</vt:lpstr>
      <vt:lpstr>Calibri Light</vt:lpstr>
      <vt:lpstr>Courier</vt:lpstr>
      <vt:lpstr>Courier New</vt:lpstr>
      <vt:lpstr>Garamond</vt:lpstr>
      <vt:lpstr>Tahoma</vt:lpstr>
      <vt:lpstr>Wingdings</vt:lpstr>
      <vt:lpstr>Wingdings 2</vt:lpstr>
      <vt:lpstr>Retrospect</vt:lpstr>
      <vt:lpstr>Document</vt:lpstr>
      <vt:lpstr>Chapter 6 Data Manipulation Language</vt:lpstr>
      <vt:lpstr>Learning Objectives </vt:lpstr>
      <vt:lpstr>Data Manipulation Language (DML)</vt:lpstr>
      <vt:lpstr>DML – Adding Data</vt:lpstr>
      <vt:lpstr>DML – Update Data</vt:lpstr>
      <vt:lpstr>DML – Remove Data</vt:lpstr>
      <vt:lpstr>DML – Select Data</vt:lpstr>
      <vt:lpstr>Basic Select Statement</vt:lpstr>
      <vt:lpstr>Expressions</vt:lpstr>
      <vt:lpstr>Expressions ..cont.</vt:lpstr>
      <vt:lpstr>Defining a Null Value</vt:lpstr>
      <vt:lpstr>Defining a Null Value ..cont.</vt:lpstr>
      <vt:lpstr>Column Heading Default</vt:lpstr>
      <vt:lpstr>Column Heading Default ..cont.</vt:lpstr>
      <vt:lpstr>Concatenation Operator</vt:lpstr>
      <vt:lpstr>Using Literal Character Strings</vt:lpstr>
      <vt:lpstr>Using Literal Character Strings ..cont.</vt:lpstr>
      <vt:lpstr>Using Literal Character Strings ..cont.</vt:lpstr>
      <vt:lpstr>Duplicate Rows</vt:lpstr>
      <vt:lpstr>Displaying the Table Structure</vt:lpstr>
      <vt:lpstr>Quiz</vt:lpstr>
      <vt:lpstr>Limiting Rows using a Selection</vt:lpstr>
      <vt:lpstr>Limiting Rows using a Selection ..cont.</vt:lpstr>
      <vt:lpstr>Limiting Rows using a Selection ..cont.</vt:lpstr>
      <vt:lpstr>Comparison Operators</vt:lpstr>
      <vt:lpstr>Limiting Rows using a Selection ..cont.</vt:lpstr>
      <vt:lpstr>Limiting Rows using a Selection ..cont.</vt:lpstr>
      <vt:lpstr>Limiting Rows using a Selection ..cont.</vt:lpstr>
      <vt:lpstr>Limiting Rows using a Selection ..cont.</vt:lpstr>
      <vt:lpstr>Limiting Rows using a Selection ..cont.</vt:lpstr>
      <vt:lpstr>Conditions Using the Logical Operators</vt:lpstr>
      <vt:lpstr>AND Logical Operator</vt:lpstr>
      <vt:lpstr>AND Truth Table</vt:lpstr>
      <vt:lpstr>OR Logical Operator</vt:lpstr>
      <vt:lpstr>OR Truth Table</vt:lpstr>
      <vt:lpstr>NOT Operator</vt:lpstr>
      <vt:lpstr>Sorting Rows </vt:lpstr>
      <vt:lpstr>Sorting Rows ..cont. </vt:lpstr>
      <vt:lpstr>Sorting Rows ..cont. </vt:lpstr>
      <vt:lpstr>Sorting Rows ..cont. </vt:lpstr>
      <vt:lpstr>Substitution Variables</vt:lpstr>
      <vt:lpstr>Using Functions to Customize Output</vt:lpstr>
      <vt:lpstr>Single Row Functions – Character Data Type</vt:lpstr>
      <vt:lpstr>An Example</vt:lpstr>
      <vt:lpstr>Single Row Functions – Number Data Type</vt:lpstr>
      <vt:lpstr>Nesting Functions</vt:lpstr>
      <vt:lpstr>NVL FUNCTION</vt:lpstr>
      <vt:lpstr>CASE EXPRESSION</vt:lpstr>
      <vt:lpstr>Multiple-Row Functions</vt:lpstr>
      <vt:lpstr>Type of Multiple Row Functions</vt:lpstr>
      <vt:lpstr>Multiple-Row Functions and Null Values</vt:lpstr>
      <vt:lpstr>PowerPoint Presentation</vt:lpstr>
      <vt:lpstr>GROUP BY clause</vt:lpstr>
      <vt:lpstr>Creating Groups of Data</vt:lpstr>
      <vt:lpstr>Using the GROUP BY clause</vt:lpstr>
      <vt:lpstr>Use Group Functions in ORDER BY</vt:lpstr>
      <vt:lpstr>Restricting Group Results</vt:lpstr>
      <vt:lpstr>Restricting Group with HAVING clause</vt:lpstr>
      <vt:lpstr>End with… displaying data from a table</vt:lpstr>
      <vt:lpstr>PowerPoint Presentation</vt:lpstr>
      <vt:lpstr>Table Joins</vt:lpstr>
      <vt:lpstr>Joining Tables Using SQL:1999 syntax</vt:lpstr>
      <vt:lpstr>Creating NATURAL JOIN clause</vt:lpstr>
      <vt:lpstr>Example of Using NATURAL JOIN clause</vt:lpstr>
      <vt:lpstr>Creating join with the USING clause</vt:lpstr>
      <vt:lpstr>Example of Using NATURAL JOIN clause</vt:lpstr>
      <vt:lpstr>Using Table Aliases with the USING clause</vt:lpstr>
      <vt:lpstr>Creating Joins with the ON clause</vt:lpstr>
      <vt:lpstr>Applying Additional Conditions to a Join</vt:lpstr>
      <vt:lpstr>SELF-JOIN</vt:lpstr>
      <vt:lpstr>Self-Join using the ON clause</vt:lpstr>
      <vt:lpstr>Nonequijoins</vt:lpstr>
      <vt:lpstr>Nonequijoins ..cont.</vt:lpstr>
      <vt:lpstr>Returning Record with No Direct Match</vt:lpstr>
      <vt:lpstr>LEFT OUTER JOIN</vt:lpstr>
      <vt:lpstr>An Example of Left Joins</vt:lpstr>
      <vt:lpstr>RIGHT OUTER JOINS</vt:lpstr>
      <vt:lpstr>RIGHT OUTER JOINS ..cont.</vt:lpstr>
      <vt:lpstr>FULL OUTER JOIN</vt:lpstr>
      <vt:lpstr>Generating a Cartesian Product</vt:lpstr>
      <vt:lpstr>Generating a Cartesian Product ..cont.</vt:lpstr>
      <vt:lpstr>Using Subqueries to Solve Queries </vt:lpstr>
      <vt:lpstr>SubQuery Syntax</vt:lpstr>
      <vt:lpstr>An Example of Subquery</vt:lpstr>
      <vt:lpstr>Types of Subqueries</vt:lpstr>
      <vt:lpstr>An Example</vt:lpstr>
      <vt:lpstr>Subquery Characteristics</vt:lpstr>
      <vt:lpstr>Combining Subqueries</vt:lpstr>
      <vt:lpstr>Example</vt:lpstr>
      <vt:lpstr>Sally Pet Store</vt:lpstr>
      <vt:lpstr>Subquery for Calculation</vt:lpstr>
      <vt:lpstr>Using NOT IN with a Subquery</vt:lpstr>
      <vt:lpstr>UNION, INTERSECT, MINUS</vt:lpstr>
      <vt:lpstr>UNION</vt:lpstr>
      <vt:lpstr>Summary</vt:lpstr>
    </vt:vector>
  </TitlesOfParts>
  <Company>UPM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Data Manipulation Language</dc:title>
  <dc:creator>user</dc:creator>
  <cp:lastModifiedBy>HAZLINA BINTI HAMDAN</cp:lastModifiedBy>
  <cp:revision>141</cp:revision>
  <dcterms:created xsi:type="dcterms:W3CDTF">2010-08-13T08:20:33Z</dcterms:created>
  <dcterms:modified xsi:type="dcterms:W3CDTF">2025-05-12T02:07:43Z</dcterms:modified>
</cp:coreProperties>
</file>