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4"/>
  </p:notesMasterIdLst>
  <p:sldIdLst>
    <p:sldId id="256" r:id="rId2"/>
    <p:sldId id="257" r:id="rId3"/>
    <p:sldId id="265" r:id="rId4"/>
    <p:sldId id="258" r:id="rId5"/>
    <p:sldId id="259" r:id="rId6"/>
    <p:sldId id="260" r:id="rId7"/>
    <p:sldId id="290" r:id="rId8"/>
    <p:sldId id="282" r:id="rId9"/>
    <p:sldId id="291" r:id="rId10"/>
    <p:sldId id="281" r:id="rId11"/>
    <p:sldId id="292" r:id="rId12"/>
    <p:sldId id="283" r:id="rId13"/>
    <p:sldId id="293" r:id="rId14"/>
    <p:sldId id="285" r:id="rId15"/>
    <p:sldId id="287" r:id="rId16"/>
    <p:sldId id="294" r:id="rId17"/>
    <p:sldId id="289" r:id="rId18"/>
    <p:sldId id="301" r:id="rId19"/>
    <p:sldId id="302" r:id="rId20"/>
    <p:sldId id="304" r:id="rId21"/>
    <p:sldId id="305" r:id="rId22"/>
    <p:sldId id="306" r:id="rId23"/>
    <p:sldId id="307" r:id="rId24"/>
    <p:sldId id="310" r:id="rId25"/>
    <p:sldId id="311" r:id="rId26"/>
    <p:sldId id="313" r:id="rId27"/>
    <p:sldId id="314" r:id="rId28"/>
    <p:sldId id="316" r:id="rId29"/>
    <p:sldId id="312" r:id="rId30"/>
    <p:sldId id="315" r:id="rId31"/>
    <p:sldId id="264" r:id="rId32"/>
    <p:sldId id="309" r:id="rId3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6247" autoAdjust="0"/>
  </p:normalViewPr>
  <p:slideViewPr>
    <p:cSldViewPr snapToGrid="0">
      <p:cViewPr varScale="1">
        <p:scale>
          <a:sx n="104" d="100"/>
          <a:sy n="104" d="100"/>
        </p:scale>
        <p:origin x="144" y="2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presProps" Target="presProps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MY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8F146BD-1FC2-498A-A8ED-B97955B6281D}" type="datetimeFigureOut">
              <a:rPr lang="en-MY" smtClean="0"/>
              <a:t>23/5/2025</a:t>
            </a:fld>
            <a:endParaRPr lang="en-MY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MY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MY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MY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A9C5941-C7F9-442C-AC2A-26536CCDA0C5}" type="slidenum">
              <a:rPr lang="en-MY" smtClean="0"/>
              <a:t>‹#›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142679849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MY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9C5941-C7F9-442C-AC2A-26536CCDA0C5}" type="slidenum">
              <a:rPr lang="en-MY" smtClean="0"/>
              <a:t>12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328278052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r>
              <a:rPr lang="en-MY" sz="1800" b="0" i="0" u="none" strike="noStrike" baseline="0" dirty="0">
                <a:latin typeface="NewBaskervilleITCPro-Roman"/>
              </a:rPr>
              <a:t>an </a:t>
            </a:r>
            <a:r>
              <a:rPr lang="en-MY" sz="1800" b="1" i="0" u="none" strike="noStrike" baseline="0" dirty="0">
                <a:latin typeface="NewBaskervilleITCPro-Bold"/>
              </a:rPr>
              <a:t>include </a:t>
            </a:r>
            <a:r>
              <a:rPr lang="en-US" sz="1800" b="1" i="0" u="none" strike="noStrike" baseline="0" dirty="0">
                <a:latin typeface="NewBaskervilleITCPro-Bold"/>
              </a:rPr>
              <a:t>relationship</a:t>
            </a:r>
            <a:r>
              <a:rPr lang="en-US" sz="1800" b="0" i="0" u="none" strike="noStrike" baseline="0" dirty="0">
                <a:latin typeface="NewBaskervilleITCPro-Roman"/>
              </a:rPr>
              <a:t>, which arises when one use case uses another use case, </a:t>
            </a:r>
          </a:p>
          <a:p>
            <a:pPr algn="l"/>
            <a:r>
              <a:rPr lang="en-US" sz="1800" b="0" i="0" u="none" strike="noStrike" baseline="0" dirty="0">
                <a:latin typeface="NewBaskervilleITCPro-Roman"/>
              </a:rPr>
              <a:t>-relationship is shown diagrammatically as a dotted-line arrow pointed toward the</a:t>
            </a:r>
          </a:p>
          <a:p>
            <a:pPr algn="l"/>
            <a:r>
              <a:rPr lang="en-US" sz="1800" b="0" i="0" u="none" strike="noStrike" baseline="0" dirty="0">
                <a:latin typeface="NewBaskervilleITCPro-Roman"/>
              </a:rPr>
              <a:t>use case that is being used. </a:t>
            </a:r>
          </a:p>
          <a:p>
            <a:pPr algn="l"/>
            <a:r>
              <a:rPr lang="en-US" sz="1800" b="0" i="0" u="none" strike="noStrike" baseline="0" dirty="0">
                <a:latin typeface="NewBaskervilleITCPro-Roman"/>
              </a:rPr>
              <a:t>-The line is labeled with the &lt;&lt;include&gt;&gt; symbol. The dotted-line arrow does not indicate any kind of data or process flow between use cases. </a:t>
            </a:r>
          </a:p>
          <a:p>
            <a:pPr algn="l"/>
            <a:r>
              <a:rPr lang="en-US" sz="1800" b="0" i="0" u="none" strike="noStrike" baseline="0" dirty="0">
                <a:latin typeface="NewBaskervilleITCPro-Roman"/>
              </a:rPr>
              <a:t>-An include relationship implies that the use case where the arrow originates uses the use case where the arrow ends while it is executing.</a:t>
            </a:r>
            <a:endParaRPr lang="en-MY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9C5941-C7F9-442C-AC2A-26536CCDA0C5}" type="slidenum">
              <a:rPr lang="en-MY" smtClean="0"/>
              <a:t>16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33288435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>
            <a:extLst>
              <a:ext uri="{FF2B5EF4-FFF2-40B4-BE49-F238E27FC236}">
                <a16:creationId xmlns:a16="http://schemas.microsoft.com/office/drawing/2014/main" id="{3E1DB350-8D05-09F5-7148-39FEDAD2E935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xfrm>
            <a:off x="1152525" y="692150"/>
            <a:ext cx="4554538" cy="3416300"/>
          </a:xfrm>
          <a:ln/>
        </p:spPr>
      </p:sp>
      <p:sp>
        <p:nvSpPr>
          <p:cNvPr id="38915" name="Rectangle 3">
            <a:extLst>
              <a:ext uri="{FF2B5EF4-FFF2-40B4-BE49-F238E27FC236}">
                <a16:creationId xmlns:a16="http://schemas.microsoft.com/office/drawing/2014/main" id="{80EB5EE1-7A67-2637-D08D-B59EBC21BFF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0" tIns="44446" rIns="90480" bIns="44446"/>
          <a:lstStyle/>
          <a:p>
            <a:endParaRPr lang="en-US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DD6CA6B-3417-6107-8E39-7F6F827CE57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MY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9277CE3-5D5E-1F30-3566-E2ACA56EF84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MY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4843575-AE41-975C-D9BA-DE3CA0607B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9C6DFC-2EB0-4803-A69B-43A7E4472A11}" type="datetimeFigureOut">
              <a:rPr lang="en-MY" smtClean="0"/>
              <a:t>23/5/2025</a:t>
            </a:fld>
            <a:endParaRPr lang="en-MY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12485A-0CF2-F3C7-2A87-178EEE2BE66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MY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6A95425-FFEC-2827-870D-37D12D0B12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D825610-DF9A-4485-ACB1-020116CC5AB5}" type="slidenum">
              <a:rPr lang="en-MY" smtClean="0"/>
              <a:t>‹#›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188317481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7FF8343-5FED-E0C6-16CC-C2BFB99C6D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MY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4D2E9E7-C095-897A-0184-E127B4E2B06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MY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C5FAA17-A88E-A619-E036-937BE289F9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9C6DFC-2EB0-4803-A69B-43A7E4472A11}" type="datetimeFigureOut">
              <a:rPr lang="en-MY" smtClean="0"/>
              <a:t>23/5/2025</a:t>
            </a:fld>
            <a:endParaRPr lang="en-MY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B0149D9-CD12-49C8-A975-7240A5DC4A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MY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029DD85-A235-9DCF-19A1-F71CDF1C2B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D825610-DF9A-4485-ACB1-020116CC5AB5}" type="slidenum">
              <a:rPr lang="en-MY" smtClean="0"/>
              <a:t>‹#›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245621889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2D23EE-09D3-0D6B-C97A-36E3DB4637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MY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F59C2F3-B097-F256-D533-FB7C507ECF7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93A597A-38BB-13D4-1A9A-2B8B75B475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9C6DFC-2EB0-4803-A69B-43A7E4472A11}" type="datetimeFigureOut">
              <a:rPr lang="en-MY" smtClean="0"/>
              <a:t>23/5/2025</a:t>
            </a:fld>
            <a:endParaRPr lang="en-MY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656CBCA-6A59-2CCD-1D92-4D0A47A946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MY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B2906E4-EF1C-F231-29A7-DB3AB425FC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D825610-DF9A-4485-ACB1-020116CC5AB5}" type="slidenum">
              <a:rPr lang="en-MY" smtClean="0"/>
              <a:t>‹#›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30737009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A073EB-5A18-A49D-A1E5-2A9151D0A1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MY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CAE8594-D990-EEE9-583E-2C43375E610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MY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DD957CD-E402-6D42-56C1-41ADE0591CF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MY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9CEF61D-C0AB-1A04-180F-21F69410C32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9C6DFC-2EB0-4803-A69B-43A7E4472A11}" type="datetimeFigureOut">
              <a:rPr lang="en-MY" smtClean="0"/>
              <a:t>23/5/2025</a:t>
            </a:fld>
            <a:endParaRPr lang="en-MY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28AE9CD-64CC-D40F-3AA8-07B8699963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MY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419ABF6-1C86-E721-06FE-6C5BB4E043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D825610-DF9A-4485-ACB1-020116CC5AB5}" type="slidenum">
              <a:rPr lang="en-MY" smtClean="0"/>
              <a:t>‹#›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358382550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5C684F-D445-C850-AA71-806978D672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MY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8BFBEEA-B037-CE85-5CA0-7637A038719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3457460-D416-5E4C-DE2F-AD275E2AC7E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MY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E9204B8-3B91-0CDF-1D54-DE0F7597A463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E2043E-9028-EEA7-7FF3-032E0041CFA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MY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5DB6185-637E-9530-8845-35D160E42DF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9C6DFC-2EB0-4803-A69B-43A7E4472A11}" type="datetimeFigureOut">
              <a:rPr lang="en-MY" smtClean="0"/>
              <a:t>23/5/2025</a:t>
            </a:fld>
            <a:endParaRPr lang="en-MY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AC0979AA-B1B3-DB1F-D97D-D861DF73F2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MY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CC2E9E26-EF01-7C36-815A-D4BE5FBB91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D825610-DF9A-4485-ACB1-020116CC5AB5}" type="slidenum">
              <a:rPr lang="en-MY" smtClean="0"/>
              <a:t>‹#›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28861133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98F6571-02AD-27C8-661B-5AF570DEE9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MY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5EBF58B-DAC2-3FD1-A576-752C048838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9C6DFC-2EB0-4803-A69B-43A7E4472A11}" type="datetimeFigureOut">
              <a:rPr lang="en-MY" smtClean="0"/>
              <a:t>23/5/2025</a:t>
            </a:fld>
            <a:endParaRPr lang="en-MY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F75BFFD-0030-D72F-4187-AC94FE127B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MY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F451D9D-AE11-058A-2BDA-03EE1242E8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D825610-DF9A-4485-ACB1-020116CC5AB5}" type="slidenum">
              <a:rPr lang="en-MY" smtClean="0"/>
              <a:t>‹#›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324172376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14B2879-683B-4778-9848-2C4E55B5D56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9C6DFC-2EB0-4803-A69B-43A7E4472A11}" type="datetimeFigureOut">
              <a:rPr lang="en-MY" smtClean="0"/>
              <a:t>23/5/2025</a:t>
            </a:fld>
            <a:endParaRPr lang="en-MY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31EC056-6AAF-C5C5-8BB6-7B5A3362AA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MY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F53820D-C241-E371-0382-184865839F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D825610-DF9A-4485-ACB1-020116CC5AB5}" type="slidenum">
              <a:rPr lang="en-MY" smtClean="0"/>
              <a:t>‹#›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239928695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12A7EC-8579-BD01-E29D-036FD971CD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MY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1F25E03-8D1D-6BF6-1FC9-C9A25B585E4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MY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B7F5333-977C-A156-F8EA-7B70F8B2225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2701978-C7F5-D743-3DFB-B86EB28274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9C6DFC-2EB0-4803-A69B-43A7E4472A11}" type="datetimeFigureOut">
              <a:rPr lang="en-MY" smtClean="0"/>
              <a:t>23/5/2025</a:t>
            </a:fld>
            <a:endParaRPr lang="en-MY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7552C63-7051-1264-5AC6-7AFDB3911F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MY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62F360A-0A0D-7526-9327-D4ED23FA2B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D825610-DF9A-4485-ACB1-020116CC5AB5}" type="slidenum">
              <a:rPr lang="en-MY" smtClean="0"/>
              <a:t>‹#›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227736540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FDE849-B3FF-2A8A-D72E-0A47E9AE5F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MY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873263D-83F9-748A-1440-0D634AF9321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MY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77542E5-C8AF-1648-9AF6-366F85AB9A4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D977480-7BCF-DC7B-E5FE-8E466BD375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9C6DFC-2EB0-4803-A69B-43A7E4472A11}" type="datetimeFigureOut">
              <a:rPr lang="en-MY" smtClean="0"/>
              <a:t>23/5/2025</a:t>
            </a:fld>
            <a:endParaRPr lang="en-MY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E0F48B6-A4E8-FDDD-42CF-E773ADD468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MY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371733F-E32B-C795-1C70-F296856CED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D825610-DF9A-4485-ACB1-020116CC5AB5}" type="slidenum">
              <a:rPr lang="en-MY" smtClean="0"/>
              <a:t>‹#›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6350247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282550-339F-0B75-20D0-CC65A8B2D9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MY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A7896570-407D-A1F5-803E-B74F690F1A8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MY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CD6D49-977C-7A91-695D-3076273BE05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9C6DFC-2EB0-4803-A69B-43A7E4472A11}" type="datetimeFigureOut">
              <a:rPr lang="en-MY" smtClean="0"/>
              <a:t>23/5/2025</a:t>
            </a:fld>
            <a:endParaRPr lang="en-MY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DCF01EA-10CC-4565-99BC-38A227DFE6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MY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7334F16-3529-65E9-ABC6-B672BF5E8C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D825610-DF9A-4485-ACB1-020116CC5AB5}" type="slidenum">
              <a:rPr lang="en-MY" smtClean="0"/>
              <a:t>‹#›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202463669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DB913E4E-00A1-EC3D-05CB-D69CE8BC74B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MY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C1C4624C-6EF6-9A30-67BA-73B989D880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MY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1B56C6D-CC85-E652-4AC7-C1A728F71DF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9C6DFC-2EB0-4803-A69B-43A7E4472A11}" type="datetimeFigureOut">
              <a:rPr lang="en-MY" smtClean="0"/>
              <a:t>23/5/2025</a:t>
            </a:fld>
            <a:endParaRPr lang="en-MY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FF25AB-A586-F720-DBA5-C16379A666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MY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2DB6A26-4295-5CE0-CC9D-AC4484411D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D825610-DF9A-4485-ACB1-020116CC5AB5}" type="slidenum">
              <a:rPr lang="en-MY" smtClean="0"/>
              <a:t>‹#›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323546803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807820C-03F8-923D-6C8D-59205CF975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MY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CEF08-5A18-2F3F-1ACF-3FE018ADBE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MY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96EF06E-A9BF-EF8C-C43C-5BF54D18CE8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E29C6DFC-2EB0-4803-A69B-43A7E4472A11}" type="datetimeFigureOut">
              <a:rPr lang="en-MY" smtClean="0"/>
              <a:t>23/5/2025</a:t>
            </a:fld>
            <a:endParaRPr lang="en-MY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F150060-2303-7AE6-57D8-6D215C4330D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MY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65A6459-5F63-57DF-0585-18D96720ED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4D825610-DF9A-4485-ACB1-020116CC5AB5}" type="slidenum">
              <a:rPr lang="en-MY" smtClean="0"/>
              <a:t>‹#›</a:t>
            </a:fld>
            <a:endParaRPr lang="en-MY"/>
          </a:p>
        </p:txBody>
      </p:sp>
    </p:spTree>
    <p:extLst>
      <p:ext uri="{BB962C8B-B14F-4D97-AF65-F5344CB8AC3E}">
        <p14:creationId xmlns:p14="http://schemas.microsoft.com/office/powerpoint/2010/main" val="25064368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4" Type="http://schemas.openxmlformats.org/officeDocument/2006/relationships/image" Target="cid:3287383400_2177562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Rectangle 46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55" name="Rectangle 54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C5236C2-4023-048B-4393-AF843278F22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1676400"/>
            <a:ext cx="3810000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/>
            <a:r>
              <a:rPr lang="en-US" sz="4000" b="0" i="0" u="none" strike="noStrike" kern="1200" baseline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Chapter 4: Object-Oriented Analysis </a:t>
            </a:r>
            <a:br>
              <a:rPr lang="en-US" sz="4000" b="0" i="0" u="none" strike="noStrike" kern="1200" baseline="0">
                <a:solidFill>
                  <a:schemeClr val="tx1"/>
                </a:solidFill>
                <a:latin typeface="+mj-lt"/>
                <a:ea typeface="+mj-ea"/>
                <a:cs typeface="+mj-cs"/>
              </a:rPr>
            </a:br>
            <a:endParaRPr lang="en-US" sz="4000" kern="120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D5D106F-F07E-6E87-ED23-FADF98A53E9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>
            <a:normAutofit/>
          </a:bodyPr>
          <a:lstStyle/>
          <a:p>
            <a:pPr marL="342900" indent="-228600" algn="l">
              <a:buFont typeface="Arial" panose="020B0604020202020204" pitchFamily="34" charset="0"/>
              <a:buChar char="•"/>
            </a:pPr>
            <a:r>
              <a:rPr lang="en-US" b="0" i="0" u="none" strike="noStrike" baseline="0" dirty="0">
                <a:solidFill>
                  <a:schemeClr val="tx1">
                    <a:alpha val="55000"/>
                  </a:schemeClr>
                </a:solidFill>
              </a:rPr>
              <a:t>Objects and classes </a:t>
            </a:r>
            <a:br>
              <a:rPr lang="en-US" b="0" i="0" u="none" strike="noStrike" baseline="0" dirty="0">
                <a:solidFill>
                  <a:schemeClr val="tx1">
                    <a:alpha val="55000"/>
                  </a:schemeClr>
                </a:solidFill>
              </a:rPr>
            </a:br>
            <a:r>
              <a:rPr lang="en-US" b="0" i="0" u="none" strike="noStrike" baseline="0" dirty="0">
                <a:solidFill>
                  <a:schemeClr val="tx1">
                    <a:alpha val="55000"/>
                  </a:schemeClr>
                </a:solidFill>
              </a:rPr>
              <a:t>o Use cases </a:t>
            </a:r>
            <a:br>
              <a:rPr lang="en-US" b="0" i="0" u="none" strike="noStrike" baseline="0" dirty="0">
                <a:solidFill>
                  <a:schemeClr val="tx1">
                    <a:alpha val="55000"/>
                  </a:schemeClr>
                </a:solidFill>
              </a:rPr>
            </a:br>
            <a:r>
              <a:rPr lang="en-US" b="0" i="0" u="none" strike="noStrike" baseline="0" dirty="0">
                <a:solidFill>
                  <a:schemeClr val="tx1">
                    <a:alpha val="55000"/>
                  </a:schemeClr>
                </a:solidFill>
              </a:rPr>
              <a:t>o</a:t>
            </a:r>
            <a:r>
              <a:rPr lang="en-US" dirty="0">
                <a:solidFill>
                  <a:schemeClr val="tx1">
                    <a:alpha val="55000"/>
                  </a:schemeClr>
                </a:solidFill>
              </a:rPr>
              <a:t> Activity diagram</a:t>
            </a:r>
            <a:br>
              <a:rPr lang="en-US" b="0" i="0" u="none" strike="noStrike" baseline="0" dirty="0">
                <a:solidFill>
                  <a:schemeClr val="tx1">
                    <a:alpha val="55000"/>
                  </a:schemeClr>
                </a:solidFill>
              </a:rPr>
            </a:br>
            <a:br>
              <a:rPr lang="en-US" b="0" i="0" u="none" strike="noStrike" baseline="0" dirty="0">
                <a:solidFill>
                  <a:schemeClr val="tx1">
                    <a:alpha val="55000"/>
                  </a:schemeClr>
                </a:solidFill>
              </a:rPr>
            </a:br>
            <a:endParaRPr lang="en-US" dirty="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641562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63F39CA-0838-EA3F-D051-5A427B305F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MY" sz="4000" dirty="0"/>
              <a:t>Object-Oriented Analysis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1004831-F0E8-A277-48FF-2BF747F1EA6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sz="2200" dirty="0">
                <a:solidFill>
                  <a:schemeClr val="tx1">
                    <a:alpha val="55000"/>
                  </a:schemeClr>
                </a:solidFill>
              </a:rPr>
              <a:t>Definition: OOA is the process of analyzing a problem domain to develop a conceptual model using object-oriented concepts.</a:t>
            </a:r>
          </a:p>
          <a:p>
            <a:r>
              <a:rPr lang="en-US" sz="2200" dirty="0">
                <a:solidFill>
                  <a:schemeClr val="tx1">
                    <a:alpha val="55000"/>
                  </a:schemeClr>
                </a:solidFill>
              </a:rPr>
              <a:t>Goal: Understand system requirements and identify the objects involved.</a:t>
            </a:r>
          </a:p>
        </p:txBody>
      </p:sp>
    </p:spTree>
    <p:extLst>
      <p:ext uri="{BB962C8B-B14F-4D97-AF65-F5344CB8AC3E}">
        <p14:creationId xmlns:p14="http://schemas.microsoft.com/office/powerpoint/2010/main" val="134166072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3CA3DAA-08BB-476F-9793-941CFAEA5E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1EF744A-E0CA-4659-9909-4B77BF70D3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09C8437-171E-4687-AA5E-A46A56AEE0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4FEFA667-DE58-4745-9E9D-C6E61CB06A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82424E0-255F-19CF-258F-8DE4A133F3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altLang="en-US" sz="4000"/>
              <a:t>Learning Objectives</a:t>
            </a:r>
            <a:endParaRPr lang="en-MY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3E4A580-0064-B3CF-A20B-6567EFFEF69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24404" y="1676400"/>
            <a:ext cx="5638796" cy="3505200"/>
          </a:xfrm>
        </p:spPr>
        <p:txBody>
          <a:bodyPr>
            <a:normAutofit/>
          </a:bodyPr>
          <a:lstStyle/>
          <a:p>
            <a:pPr eaLnBrk="1" hangingPunct="1">
              <a:buClr>
                <a:srgbClr val="BA2212"/>
              </a:buClr>
              <a:buFont typeface="Wingdings" panose="05000000000000000000" pitchFamily="2" charset="2"/>
              <a:buChar char="ü"/>
            </a:pPr>
            <a:r>
              <a:rPr lang="en-US" altLang="en-US" sz="2400">
                <a:solidFill>
                  <a:schemeClr val="tx1">
                    <a:alpha val="55000"/>
                  </a:schemeClr>
                </a:solidFill>
              </a:rPr>
              <a:t>Explain use cases and use case diagrams and how they can be used to model system functionality.</a:t>
            </a:r>
          </a:p>
          <a:p>
            <a:pPr eaLnBrk="1" hangingPunct="1">
              <a:buClr>
                <a:srgbClr val="BA2212"/>
              </a:buClr>
              <a:buFont typeface="Wingdings" panose="05000000000000000000" pitchFamily="2" charset="2"/>
              <a:buChar char="ü"/>
            </a:pPr>
            <a:r>
              <a:rPr lang="en-US" altLang="en-US" sz="2400">
                <a:solidFill>
                  <a:schemeClr val="tx1">
                    <a:alpha val="55000"/>
                  </a:schemeClr>
                </a:solidFill>
              </a:rPr>
              <a:t>Present the basic aspects of how to create written use cases.</a:t>
            </a:r>
          </a:p>
          <a:p>
            <a:pPr>
              <a:buClr>
                <a:srgbClr val="BA2212"/>
              </a:buClr>
              <a:buFont typeface="Wingdings" panose="05000000000000000000" pitchFamily="2" charset="2"/>
              <a:buChar char="ü"/>
            </a:pPr>
            <a:r>
              <a:rPr lang="en-US" altLang="en-US" sz="2400">
                <a:solidFill>
                  <a:schemeClr val="tx1">
                    <a:alpha val="55000"/>
                  </a:schemeClr>
                </a:solidFill>
              </a:rPr>
              <a:t>Understand how to represent system logic with activity diagrams.</a:t>
            </a:r>
          </a:p>
          <a:p>
            <a:pPr marL="0" indent="0" eaLnBrk="1" hangingPunct="1">
              <a:buClr>
                <a:srgbClr val="BA2212"/>
              </a:buClr>
              <a:buNone/>
            </a:pPr>
            <a:endParaRPr lang="en-US" altLang="en-US" sz="2400" b="1">
              <a:solidFill>
                <a:schemeClr val="tx1">
                  <a:alpha val="55000"/>
                </a:schemeClr>
              </a:solidFill>
              <a:highlight>
                <a:srgbClr val="FFFF00"/>
              </a:highlight>
            </a:endParaRPr>
          </a:p>
          <a:p>
            <a:endParaRPr lang="en-MY" sz="24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996328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3CA3DAA-08BB-476F-9793-941CFAEA5E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1EF744A-E0CA-4659-9909-4B77BF70D3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09C8437-171E-4687-AA5E-A46A56AEE0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4FEFA667-DE58-4745-9E9D-C6E61CB06A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57BB8B4-3703-9808-9639-1F0EE1404E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MY" sz="4000"/>
              <a:t>Objects and Classes – Overview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56A2461-E3DA-D04B-8C5E-79F399B3C26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244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sz="2200">
                <a:solidFill>
                  <a:schemeClr val="tx1">
                    <a:alpha val="55000"/>
                  </a:schemeClr>
                </a:solidFill>
              </a:rPr>
              <a:t>Object: A real-world entity with state and behavior.</a:t>
            </a:r>
          </a:p>
          <a:p>
            <a:r>
              <a:rPr lang="en-US" sz="2200">
                <a:solidFill>
                  <a:schemeClr val="tx1">
                    <a:alpha val="55000"/>
                  </a:schemeClr>
                </a:solidFill>
              </a:rPr>
              <a:t>Class: A blueprint for creating objects; defines attributes and methods.</a:t>
            </a:r>
          </a:p>
          <a:p>
            <a:r>
              <a:rPr lang="en-US" sz="2200">
                <a:solidFill>
                  <a:schemeClr val="tx1">
                    <a:alpha val="55000"/>
                  </a:schemeClr>
                </a:solidFill>
              </a:rPr>
              <a:t>Example:</a:t>
            </a:r>
          </a:p>
          <a:p>
            <a:pPr lvl="1"/>
            <a:r>
              <a:rPr lang="en-US" sz="2200">
                <a:solidFill>
                  <a:schemeClr val="tx1">
                    <a:alpha val="55000"/>
                  </a:schemeClr>
                </a:solidFill>
              </a:rPr>
              <a:t>Class: Car</a:t>
            </a:r>
          </a:p>
          <a:p>
            <a:pPr lvl="1"/>
            <a:r>
              <a:rPr lang="en-US" sz="2200">
                <a:solidFill>
                  <a:schemeClr val="tx1">
                    <a:alpha val="55000"/>
                  </a:schemeClr>
                </a:solidFill>
              </a:rPr>
              <a:t>Object: myToyotaCorolla</a:t>
            </a:r>
          </a:p>
          <a:p>
            <a:pPr lvl="1"/>
            <a:r>
              <a:rPr lang="en-US" sz="2200">
                <a:solidFill>
                  <a:schemeClr val="tx1">
                    <a:alpha val="55000"/>
                  </a:schemeClr>
                </a:solidFill>
              </a:rPr>
              <a:t>Attributes: make, model, year</a:t>
            </a:r>
          </a:p>
          <a:p>
            <a:pPr lvl="1"/>
            <a:r>
              <a:rPr lang="en-US" sz="2200">
                <a:solidFill>
                  <a:schemeClr val="tx1">
                    <a:alpha val="55000"/>
                  </a:schemeClr>
                </a:solidFill>
              </a:rPr>
              <a:t>Methods: start(), stop(), accelerate()</a:t>
            </a:r>
            <a:endParaRPr lang="en-MY" sz="22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295130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D55EA0D-6D49-02A2-794B-A160A70832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sz="4000"/>
              <a:t>Objects and Classes – In Analysis</a:t>
            </a:r>
            <a:endParaRPr lang="en-MY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C199C7C-C122-0F5D-3456-BCB9F8D099E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Focus on what the system must do, not how.</a:t>
            </a:r>
          </a:p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Identify key entities in the system’s domain.</a:t>
            </a:r>
          </a:p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Group similar entities into classes.</a:t>
            </a:r>
          </a:p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Determine responsibilities of each class.</a:t>
            </a:r>
            <a:endParaRPr lang="en-MY" sz="24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801358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4158F31-5040-E576-C357-4B8F05E7F1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MY" sz="4000"/>
              <a:t>Use Cases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9E8220E-F093-B87B-1A18-DC6E774376C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A </a:t>
            </a:r>
            <a:r>
              <a:rPr lang="en-US" sz="1700" b="1">
                <a:solidFill>
                  <a:schemeClr val="tx1">
                    <a:alpha val="55000"/>
                  </a:schemeClr>
                </a:solidFill>
              </a:rPr>
              <a:t>use case</a:t>
            </a:r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 is a depiction of a system’s behavior or functionality under various conditions as the system responds to requests from users.</a:t>
            </a:r>
          </a:p>
          <a:p>
            <a:pPr lvl="1"/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Describe how users interact with a system to achieve specific goals.</a:t>
            </a:r>
          </a:p>
          <a:p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An </a:t>
            </a:r>
            <a:r>
              <a:rPr lang="en-US" sz="1700" b="1">
                <a:solidFill>
                  <a:schemeClr val="tx1">
                    <a:alpha val="55000"/>
                  </a:schemeClr>
                </a:solidFill>
              </a:rPr>
              <a:t>actor</a:t>
            </a:r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 is an external entity that interacts with the system.</a:t>
            </a:r>
          </a:p>
          <a:p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Purpose: Capture functional requirements</a:t>
            </a:r>
          </a:p>
          <a:p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Elements:</a:t>
            </a:r>
          </a:p>
          <a:p>
            <a:pPr lvl="1"/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Actors: Users or systems interacting with the system</a:t>
            </a:r>
          </a:p>
          <a:p>
            <a:pPr lvl="1"/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Use Case: Sequence of actions providing value</a:t>
            </a:r>
          </a:p>
          <a:p>
            <a:endParaRPr lang="en-MY" sz="17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375419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itle 1">
            <a:extLst>
              <a:ext uri="{FF2B5EF4-FFF2-40B4-BE49-F238E27FC236}">
                <a16:creationId xmlns:a16="http://schemas.microsoft.com/office/drawing/2014/main" id="{D94BEF21-1439-DBDA-2DA5-C1614C2D72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981200" y="304800"/>
            <a:ext cx="8229600" cy="1371600"/>
          </a:xfrm>
        </p:spPr>
        <p:txBody>
          <a:bodyPr/>
          <a:lstStyle/>
          <a:p>
            <a:r>
              <a:rPr lang="en-US" altLang="en-US"/>
              <a:t>Use Cases (Cont.)</a:t>
            </a:r>
          </a:p>
        </p:txBody>
      </p:sp>
      <p:sp>
        <p:nvSpPr>
          <p:cNvPr id="16387" name="Slide Number Placeholder 4">
            <a:extLst>
              <a:ext uri="{FF2B5EF4-FFF2-40B4-BE49-F238E27FC236}">
                <a16:creationId xmlns:a16="http://schemas.microsoft.com/office/drawing/2014/main" id="{7188B7D6-011A-14F4-A63C-B5EF7834ECB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9C3E44C5-1813-4F71-9230-C8AF5A861321}" type="slidenum">
              <a:rPr lang="en-US" altLang="en-US">
                <a:latin typeface="Arial Black" panose="020B0A04020102020204" pitchFamily="34" charset="0"/>
              </a:rPr>
              <a:pPr eaLnBrk="1" hangingPunct="1"/>
              <a:t>7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16388" name="Date Placeholder 5">
            <a:extLst>
              <a:ext uri="{FF2B5EF4-FFF2-40B4-BE49-F238E27FC236}">
                <a16:creationId xmlns:a16="http://schemas.microsoft.com/office/drawing/2014/main" id="{5E980319-9A1D-2C8E-C2DB-D78B77E3964C}"/>
              </a:ext>
            </a:extLst>
          </p:cNvPr>
          <p:cNvSpPr>
            <a:spLocks noGrp="1"/>
          </p:cNvSpPr>
          <p:nvPr>
            <p:ph type="dt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/>
              <a:t>Chapter 7 Appendix A</a:t>
            </a:r>
          </a:p>
        </p:txBody>
      </p:sp>
      <p:pic>
        <p:nvPicPr>
          <p:cNvPr id="16389" name="Picture 8" descr="Noname.gif">
            <a:extLst>
              <a:ext uri="{FF2B5EF4-FFF2-40B4-BE49-F238E27FC236}">
                <a16:creationId xmlns:a16="http://schemas.microsoft.com/office/drawing/2014/main" id="{CEF90ED4-DE42-B5D4-A6B6-F9B0126E028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62175" y="1249364"/>
            <a:ext cx="7867650" cy="4429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90" name="Rectangle 10">
            <a:extLst>
              <a:ext uri="{FF2B5EF4-FFF2-40B4-BE49-F238E27FC236}">
                <a16:creationId xmlns:a16="http://schemas.microsoft.com/office/drawing/2014/main" id="{952A71DB-1DF9-389E-71C1-0DA9BA606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5449888"/>
            <a:ext cx="62484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b="1"/>
              <a:t>FIGURE 7-26</a:t>
            </a:r>
          </a:p>
          <a:p>
            <a:pPr eaLnBrk="1" hangingPunct="1"/>
            <a:r>
              <a:rPr lang="en-US" altLang="en-US"/>
              <a:t>A use case diagram for a university registration system</a:t>
            </a:r>
          </a:p>
        </p:txBody>
      </p:sp>
      <p:sp>
        <p:nvSpPr>
          <p:cNvPr id="16391" name="Rectangle 2">
            <a:extLst>
              <a:ext uri="{FF2B5EF4-FFF2-40B4-BE49-F238E27FC236}">
                <a16:creationId xmlns:a16="http://schemas.microsoft.com/office/drawing/2014/main" id="{77399C8C-2C2F-1712-8D4F-C710DACFEB1D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733800" y="6248400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/>
              <a:t>Copyright © 2014 Pearson Education, Inc. Publishing as Prentice Hall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EFCCB4C-4331-3C8A-D97A-1D51EA11F1EE}"/>
              </a:ext>
            </a:extLst>
          </p:cNvPr>
          <p:cNvSpPr txBox="1"/>
          <p:nvPr/>
        </p:nvSpPr>
        <p:spPr>
          <a:xfrm>
            <a:off x="4883338" y="272059"/>
            <a:ext cx="6540124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</a:rPr>
              <a:t>Demonstrates system functionality from the user’s perspective.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dirty="0">
                <a:solidFill>
                  <a:srgbClr val="FF0000"/>
                </a:solidFill>
              </a:rPr>
              <a:t>Useful for validating requirements with stakeholders.</a:t>
            </a:r>
          </a:p>
          <a:p>
            <a:endParaRPr lang="en-MY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FFE64810-1297-6B47-8C89-F43BBEC3D11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Use Cases (Cont.)</a:t>
            </a:r>
          </a:p>
        </p:txBody>
      </p:sp>
      <p:sp>
        <p:nvSpPr>
          <p:cNvPr id="17411" name="Rectangle 3" descr="Rectangle: Click to edit Master text styles&#10;Second level&#10;Third level&#10;Fourth level&#10;Fifth level">
            <a:extLst>
              <a:ext uri="{FF2B5EF4-FFF2-40B4-BE49-F238E27FC236}">
                <a16:creationId xmlns:a16="http://schemas.microsoft.com/office/drawing/2014/main" id="{4420FDFC-12D1-7DFD-7199-A456E99D8FD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Most actors represent user roles, but actors can also be external systems.</a:t>
            </a:r>
          </a:p>
          <a:p>
            <a:pPr eaLnBrk="1" hangingPunct="1"/>
            <a:r>
              <a:rPr lang="en-US" altLang="en-US"/>
              <a:t>An actor is a role, not a specific user; one user may play many roles, and an actor may represent many users.</a:t>
            </a:r>
          </a:p>
          <a:p>
            <a:pPr eaLnBrk="1" hangingPunct="1"/>
            <a:r>
              <a:rPr lang="en-US" altLang="en-US"/>
              <a:t>A use case model consists of actors and use cases.</a:t>
            </a:r>
          </a:p>
        </p:txBody>
      </p:sp>
      <p:sp>
        <p:nvSpPr>
          <p:cNvPr id="17413" name="Slide Number Placeholder 4">
            <a:extLst>
              <a:ext uri="{FF2B5EF4-FFF2-40B4-BE49-F238E27FC236}">
                <a16:creationId xmlns:a16="http://schemas.microsoft.com/office/drawing/2014/main" id="{1450D8F2-C729-E42F-7D3F-64DF8FC49B9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B7873066-7BB8-41E4-B71A-2D6F48BD304D}" type="slidenum">
              <a:rPr lang="en-US" altLang="en-US" smtClean="0">
                <a:latin typeface="Arial Black" panose="020B0A04020102020204" pitchFamily="34" charset="0"/>
              </a:rPr>
              <a:pPr eaLnBrk="1" hangingPunct="1"/>
              <a:t>8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17414" name="Rectangle 2">
            <a:extLst>
              <a:ext uri="{FF2B5EF4-FFF2-40B4-BE49-F238E27FC236}">
                <a16:creationId xmlns:a16="http://schemas.microsoft.com/office/drawing/2014/main" id="{5A63034B-058A-2855-FD31-763E7B212012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733802" y="6038057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/>
              <a:t>Copyright © 2014 Pearson Education, Inc. Publishing as Prentice Hall</a:t>
            </a:r>
            <a:endParaRPr lang="en-US" altLang="en-US" dirty="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Title 1">
            <a:extLst>
              <a:ext uri="{FF2B5EF4-FFF2-40B4-BE49-F238E27FC236}">
                <a16:creationId xmlns:a16="http://schemas.microsoft.com/office/drawing/2014/main" id="{04B91982-231C-318C-BD20-B529730F28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Use Cases diagrams</a:t>
            </a:r>
          </a:p>
        </p:txBody>
      </p:sp>
      <p:sp>
        <p:nvSpPr>
          <p:cNvPr id="18435" name="Content Placeholder 2">
            <a:extLst>
              <a:ext uri="{FF2B5EF4-FFF2-40B4-BE49-F238E27FC236}">
                <a16:creationId xmlns:a16="http://schemas.microsoft.com/office/drawing/2014/main" id="{201A1DE6-3373-4BB0-FA8E-C4B30D9AC91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b="1" dirty="0"/>
              <a:t>Use case diagram: </a:t>
            </a:r>
            <a:r>
              <a:rPr lang="en-US" altLang="en-US" dirty="0"/>
              <a:t>a picture showing system behavior along with the key actors that interact with the system</a:t>
            </a:r>
          </a:p>
          <a:p>
            <a:r>
              <a:rPr lang="en-US" altLang="en-US" b="1" i="1" dirty="0"/>
              <a:t>Abstract use case </a:t>
            </a:r>
            <a:r>
              <a:rPr lang="en-US" altLang="en-US" dirty="0"/>
              <a:t>is when a use case is initiated by another use case.</a:t>
            </a:r>
          </a:p>
          <a:p>
            <a:r>
              <a:rPr lang="en-US" altLang="en-US" dirty="0"/>
              <a:t>A </a:t>
            </a:r>
            <a:r>
              <a:rPr lang="en-US" altLang="en-US" b="1" dirty="0"/>
              <a:t>use case represents complete functionality.</a:t>
            </a:r>
          </a:p>
        </p:txBody>
      </p:sp>
      <p:sp>
        <p:nvSpPr>
          <p:cNvPr id="18436" name="Slide Number Placeholder 4">
            <a:extLst>
              <a:ext uri="{FF2B5EF4-FFF2-40B4-BE49-F238E27FC236}">
                <a16:creationId xmlns:a16="http://schemas.microsoft.com/office/drawing/2014/main" id="{1F500EA6-1FD3-FCFD-736A-1AA1C1431AE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B0B82B41-ED8C-4A79-88FB-0F7CEC1780FA}" type="slidenum">
              <a:rPr lang="en-US" altLang="en-US">
                <a:latin typeface="Arial Black" panose="020B0A04020102020204" pitchFamily="34" charset="0"/>
              </a:rPr>
              <a:pPr eaLnBrk="1" hangingPunct="1"/>
              <a:t>9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18438" name="Rectangle 2">
            <a:extLst>
              <a:ext uri="{FF2B5EF4-FFF2-40B4-BE49-F238E27FC236}">
                <a16:creationId xmlns:a16="http://schemas.microsoft.com/office/drawing/2014/main" id="{6B0A8EA4-A11B-574C-B63F-581A39D2FFBE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733802" y="5998552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dirty="0"/>
              <a:t>Copyright © 2014 Pearson Education, Inc. Publishing as Prentice Hall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80" name="Rectangle 19479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9482" name="Group 19481">
            <a:extLst>
              <a:ext uri="{FF2B5EF4-FFF2-40B4-BE49-F238E27FC236}">
                <a16:creationId xmlns:a16="http://schemas.microsoft.com/office/drawing/2014/main" id="{6CEC401A-BC46-41FC-AD55-F7810C3CFA9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9483" name="Rectangle 19482">
              <a:extLst>
                <a:ext uri="{FF2B5EF4-FFF2-40B4-BE49-F238E27FC236}">
                  <a16:creationId xmlns:a16="http://schemas.microsoft.com/office/drawing/2014/main" id="{A287F808-5648-477A-80D6-A0F3BF6DF3C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84" name="Rectangle 19483">
              <a:extLst>
                <a:ext uri="{FF2B5EF4-FFF2-40B4-BE49-F238E27FC236}">
                  <a16:creationId xmlns:a16="http://schemas.microsoft.com/office/drawing/2014/main" id="{0A116CF9-DCF6-4F08-B01A-D5F353F83B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479" name="Freeform: Shape 19478">
            <a:extLst>
              <a:ext uri="{FF2B5EF4-FFF2-40B4-BE49-F238E27FC236}">
                <a16:creationId xmlns:a16="http://schemas.microsoft.com/office/drawing/2014/main" id="{44D26783-C1CA-4BE1-9D40-3EA516AE3E0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9481" name="Rectangle 19480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9458" name="Rectangle 2">
            <a:extLst>
              <a:ext uri="{FF2B5EF4-FFF2-40B4-BE49-F238E27FC236}">
                <a16:creationId xmlns:a16="http://schemas.microsoft.com/office/drawing/2014/main" id="{E33E2398-7613-4915-E4ED-2BE644E9C21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142999" y="1676401"/>
            <a:ext cx="4495801" cy="2286002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sz="4800"/>
              <a:t>Definitions and Symbols</a:t>
            </a:r>
          </a:p>
        </p:txBody>
      </p:sp>
      <p:sp>
        <p:nvSpPr>
          <p:cNvPr id="19466" name="Date Placeholder 19">
            <a:extLst>
              <a:ext uri="{FF2B5EF4-FFF2-40B4-BE49-F238E27FC236}">
                <a16:creationId xmlns:a16="http://schemas.microsoft.com/office/drawing/2014/main" id="{DDBA7C5C-64D4-E190-FD54-EB39DCD8998D}"/>
              </a:ext>
            </a:extLst>
          </p:cNvPr>
          <p:cNvSpPr>
            <a:spLocks noGrp="1"/>
          </p:cNvSpPr>
          <p:nvPr>
            <p:ph type="dt" sz="quarter" idx="11"/>
          </p:nvPr>
        </p:nvSpPr>
        <p:spPr>
          <a:xfrm rot="16200000">
            <a:off x="152400" y="2209801"/>
            <a:ext cx="1752602" cy="685801"/>
          </a:xfr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>
              <a:spcAft>
                <a:spcPts val="600"/>
              </a:spcAft>
              <a:defRPr/>
            </a:pPr>
            <a:r>
              <a:rPr lang="en-US" altLang="en-US">
                <a:solidFill>
                  <a:srgbClr val="437D98"/>
                </a:solidFill>
                <a:latin typeface="Calibri" panose="020F0502020204030204"/>
                <a:cs typeface="+mn-cs"/>
              </a:rPr>
              <a:t>Chapter 7 Appendix A</a:t>
            </a:r>
          </a:p>
        </p:txBody>
      </p:sp>
      <p:pic>
        <p:nvPicPr>
          <p:cNvPr id="3" name="Picture 2" descr="A diagram of a symbol&#10;&#10;AI-generated content may be incorrect.">
            <a:extLst>
              <a:ext uri="{FF2B5EF4-FFF2-40B4-BE49-F238E27FC236}">
                <a16:creationId xmlns:a16="http://schemas.microsoft.com/office/drawing/2014/main" id="{556D7FF1-EC82-C113-7219-CB264E9BD27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77" r="516" b="1"/>
          <a:stretch>
            <a:fillRect/>
          </a:stretch>
        </p:blipFill>
        <p:spPr>
          <a:xfrm>
            <a:off x="6619874" y="990598"/>
            <a:ext cx="4657726" cy="4876800"/>
          </a:xfrm>
          <a:prstGeom prst="rect">
            <a:avLst/>
          </a:prstGeom>
        </p:spPr>
      </p:pic>
      <p:sp>
        <p:nvSpPr>
          <p:cNvPr id="19468" name="Rectangle 2">
            <a:extLst>
              <a:ext uri="{FF2B5EF4-FFF2-40B4-BE49-F238E27FC236}">
                <a16:creationId xmlns:a16="http://schemas.microsoft.com/office/drawing/2014/main" id="{0DB4787A-818D-F110-964E-210E45D91F25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457200" y="6400800"/>
            <a:ext cx="7010400" cy="457200"/>
          </a:xfr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 eaLnBrk="1" hangingPunct="1">
              <a:spcAft>
                <a:spcPts val="600"/>
              </a:spcAft>
              <a:defRPr/>
            </a:pPr>
            <a:r>
              <a:rPr lang="en-US" altLang="en-US" sz="900" kern="1200">
                <a:solidFill>
                  <a:srgbClr val="000000">
                    <a:alpha val="70000"/>
                  </a:srgbClr>
                </a:solidFill>
                <a:latin typeface="Calibri" panose="020F0502020204030204"/>
                <a:ea typeface="+mn-ea"/>
                <a:cs typeface="+mn-cs"/>
              </a:rPr>
              <a:t>Copyright © 2014 Pearson Education, Inc. Publishing as Prentice Hall</a:t>
            </a:r>
          </a:p>
        </p:txBody>
      </p:sp>
      <p:sp>
        <p:nvSpPr>
          <p:cNvPr id="19467" name="Slide Number Placeholder 20">
            <a:extLst>
              <a:ext uri="{FF2B5EF4-FFF2-40B4-BE49-F238E27FC236}">
                <a16:creationId xmlns:a16="http://schemas.microsoft.com/office/drawing/2014/main" id="{0B4E9BC8-4459-0AD6-003B-C24F7D137FB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1049000" y="6400800"/>
            <a:ext cx="685800" cy="457200"/>
          </a:xfr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>
              <a:spcAft>
                <a:spcPts val="600"/>
              </a:spcAft>
              <a:defRPr/>
            </a:pPr>
            <a:fld id="{55628140-BF87-42DC-8C1F-04D89D6DA047}" type="slidenum">
              <a:rPr lang="en-US" altLang="en-US" sz="1000">
                <a:solidFill>
                  <a:srgbClr val="000000">
                    <a:alpha val="70000"/>
                  </a:srgbClr>
                </a:solidFill>
                <a:latin typeface="Calibri" panose="020F0502020204030204"/>
                <a:cs typeface="+mn-cs"/>
              </a:rPr>
              <a:pPr algn="r" eaLnBrk="1" hangingPunct="1">
                <a:spcAft>
                  <a:spcPts val="600"/>
                </a:spcAft>
                <a:defRPr/>
              </a:pPr>
              <a:t>10</a:t>
            </a:fld>
            <a:endParaRPr lang="en-US" altLang="en-US" sz="1000">
              <a:solidFill>
                <a:srgbClr val="000000">
                  <a:alpha val="70000"/>
                </a:srgbClr>
              </a:solidFill>
              <a:latin typeface="Calibri" panose="020F0502020204030204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19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58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Title 1">
            <a:extLst>
              <a:ext uri="{FF2B5EF4-FFF2-40B4-BE49-F238E27FC236}">
                <a16:creationId xmlns:a16="http://schemas.microsoft.com/office/drawing/2014/main" id="{A464574E-7652-DFCE-4576-5C429CF7FF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Definitions and Symbols (Cont.)</a:t>
            </a:r>
          </a:p>
        </p:txBody>
      </p:sp>
      <p:sp>
        <p:nvSpPr>
          <p:cNvPr id="20483" name="Content Placeholder 2">
            <a:extLst>
              <a:ext uri="{FF2B5EF4-FFF2-40B4-BE49-F238E27FC236}">
                <a16:creationId xmlns:a16="http://schemas.microsoft.com/office/drawing/2014/main" id="{16778E94-8888-35FC-BAFE-AC82CB65C7E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en-US" b="1"/>
              <a:t>Actor</a:t>
            </a:r>
            <a:r>
              <a:rPr lang="en-US" altLang="en-US"/>
              <a:t> is a role, not an individual.</a:t>
            </a:r>
          </a:p>
          <a:p>
            <a:pPr lvl="1"/>
            <a:r>
              <a:rPr lang="en-US" altLang="en-US"/>
              <a:t>Involved with the functioning of the system at some basic level</a:t>
            </a:r>
          </a:p>
          <a:p>
            <a:pPr lvl="1"/>
            <a:r>
              <a:rPr lang="en-US" altLang="en-US"/>
              <a:t>Represented by stick figures</a:t>
            </a:r>
          </a:p>
          <a:p>
            <a:r>
              <a:rPr lang="en-US" altLang="en-US" b="1"/>
              <a:t>Use case </a:t>
            </a:r>
            <a:r>
              <a:rPr lang="en-US" altLang="en-US"/>
              <a:t>represents a single system function.</a:t>
            </a:r>
          </a:p>
          <a:p>
            <a:pPr lvl="1"/>
            <a:r>
              <a:rPr lang="en-US" altLang="en-US"/>
              <a:t>Represented as an eclipse</a:t>
            </a:r>
          </a:p>
        </p:txBody>
      </p:sp>
      <p:sp>
        <p:nvSpPr>
          <p:cNvPr id="20484" name="Slide Number Placeholder 4">
            <a:extLst>
              <a:ext uri="{FF2B5EF4-FFF2-40B4-BE49-F238E27FC236}">
                <a16:creationId xmlns:a16="http://schemas.microsoft.com/office/drawing/2014/main" id="{38A13DDF-1F56-68F2-5C9F-4A640C86022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442D3141-960C-47AD-9E79-D24A28399814}" type="slidenum">
              <a:rPr lang="en-US" altLang="en-US">
                <a:latin typeface="Arial Black" panose="020B0A04020102020204" pitchFamily="34" charset="0"/>
              </a:rPr>
              <a:pPr eaLnBrk="1" hangingPunct="1"/>
              <a:t>11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20486" name="Rectangle 2">
            <a:extLst>
              <a:ext uri="{FF2B5EF4-FFF2-40B4-BE49-F238E27FC236}">
                <a16:creationId xmlns:a16="http://schemas.microsoft.com/office/drawing/2014/main" id="{5E69E945-DD1C-8B4D-C701-305BEF1FFFE9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733802" y="6038057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dirty="0"/>
              <a:t>Copyright © 2014 Pearson Education, Inc. Publishing as Prentice Hall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C327FAF-8654-0C93-F54D-1848CE340B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158341" y="1825625"/>
            <a:ext cx="1019317" cy="1124107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911FBE27-8670-2399-1793-3A046DF88BD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72168" y="3605951"/>
            <a:ext cx="1886213" cy="790685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FF30FFB1-FF43-C874-E11D-8B7C0813C54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Definitions and Symbols (Cont.)</a:t>
            </a:r>
          </a:p>
        </p:txBody>
      </p:sp>
      <p:sp>
        <p:nvSpPr>
          <p:cNvPr id="21507" name="Rectangle 3" descr="Rectangle: Click to edit Master text styles&#10;Second level&#10;Third level&#10;Fourth level&#10;Fifth level">
            <a:extLst>
              <a:ext uri="{FF2B5EF4-FFF2-40B4-BE49-F238E27FC236}">
                <a16:creationId xmlns:a16="http://schemas.microsoft.com/office/drawing/2014/main" id="{079C5D60-5389-29A3-6CC9-BF2E47FE33C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981200" y="1752600"/>
            <a:ext cx="8229600" cy="4114800"/>
          </a:xfrm>
        </p:spPr>
        <p:txBody>
          <a:bodyPr/>
          <a:lstStyle/>
          <a:p>
            <a:pPr eaLnBrk="1" hangingPunct="1"/>
            <a:r>
              <a:rPr lang="en-US" altLang="en-US" b="1"/>
              <a:t>System boundary</a:t>
            </a:r>
            <a:r>
              <a:rPr lang="en-US" altLang="en-US"/>
              <a:t> includes all the relevant use cases.</a:t>
            </a:r>
          </a:p>
          <a:p>
            <a:pPr lvl="1"/>
            <a:r>
              <a:rPr lang="en-US" altLang="en-US"/>
              <a:t>A boundary is the dividing line between the system and its environment.</a:t>
            </a:r>
          </a:p>
          <a:p>
            <a:pPr lvl="1"/>
            <a:r>
              <a:rPr lang="en-US" altLang="en-US"/>
              <a:t>Use cases are within the boundary.</a:t>
            </a:r>
          </a:p>
          <a:p>
            <a:pPr lvl="1"/>
            <a:r>
              <a:rPr lang="en-US" altLang="en-US"/>
              <a:t>Actors are outside of the boundary.</a:t>
            </a:r>
          </a:p>
          <a:p>
            <a:pPr lvl="1" eaLnBrk="1" hangingPunct="1"/>
            <a:r>
              <a:rPr lang="en-US" altLang="en-US"/>
              <a:t>Represented as a box</a:t>
            </a:r>
          </a:p>
        </p:txBody>
      </p:sp>
      <p:sp>
        <p:nvSpPr>
          <p:cNvPr id="21509" name="Slide Number Placeholder 4">
            <a:extLst>
              <a:ext uri="{FF2B5EF4-FFF2-40B4-BE49-F238E27FC236}">
                <a16:creationId xmlns:a16="http://schemas.microsoft.com/office/drawing/2014/main" id="{D274D61F-1579-6A62-CD22-4D4284CF887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175BB941-B8E6-490F-A2CE-D9D6FC77C77A}" type="slidenum">
              <a:rPr lang="en-US" altLang="en-US">
                <a:latin typeface="Arial Black" panose="020B0A04020102020204" pitchFamily="34" charset="0"/>
              </a:rPr>
              <a:pPr eaLnBrk="1" hangingPunct="1"/>
              <a:t>12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21510" name="Rectangle 2">
            <a:extLst>
              <a:ext uri="{FF2B5EF4-FFF2-40B4-BE49-F238E27FC236}">
                <a16:creationId xmlns:a16="http://schemas.microsoft.com/office/drawing/2014/main" id="{F29F5D4D-D6E9-56D3-0D4B-CE49B8514C68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581400" y="6081712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dirty="0"/>
              <a:t>Copyright © 2014 Pearson Education, Inc. Publishing as Prentice Hall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3320E0BF-8C03-5DCB-FBF8-809421034576}"/>
              </a:ext>
            </a:extLst>
          </p:cNvPr>
          <p:cNvSpPr/>
          <p:nvPr/>
        </p:nvSpPr>
        <p:spPr>
          <a:xfrm>
            <a:off x="8238226" y="3286664"/>
            <a:ext cx="3115574" cy="2642648"/>
          </a:xfrm>
          <a:prstGeom prst="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MY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061CE810-ED78-DDCE-63DF-BE99ABF5901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Definitions and Symbols (Cont.)</a:t>
            </a:r>
          </a:p>
        </p:txBody>
      </p:sp>
      <p:sp>
        <p:nvSpPr>
          <p:cNvPr id="22531" name="Rectangle 3" descr="Rectangle: Click to edit Master text styles&#10;Second level&#10;Third level&#10;Fourth level&#10;Fifth level">
            <a:extLst>
              <a:ext uri="{FF2B5EF4-FFF2-40B4-BE49-F238E27FC236}">
                <a16:creationId xmlns:a16="http://schemas.microsoft.com/office/drawing/2014/main" id="{A0DBE647-F3D5-F1D0-A5F2-9CCA1488747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981200" y="1752600"/>
            <a:ext cx="8229600" cy="4114800"/>
          </a:xfrm>
        </p:spPr>
        <p:txBody>
          <a:bodyPr/>
          <a:lstStyle/>
          <a:p>
            <a:pPr eaLnBrk="1" hangingPunct="1"/>
            <a:r>
              <a:rPr lang="en-US" altLang="en-US" b="1"/>
              <a:t>Connection</a:t>
            </a:r>
            <a:r>
              <a:rPr lang="en-US" altLang="en-US"/>
              <a:t> is an association between an actor and a use case.</a:t>
            </a:r>
          </a:p>
          <a:p>
            <a:pPr lvl="1" eaLnBrk="1" hangingPunct="1"/>
            <a:r>
              <a:rPr lang="en-US" altLang="en-US"/>
              <a:t>Depicts a usage relationship</a:t>
            </a:r>
          </a:p>
          <a:p>
            <a:pPr lvl="1" eaLnBrk="1" hangingPunct="1"/>
            <a:r>
              <a:rPr lang="en-US" altLang="en-US"/>
              <a:t>Connection does not indicate data flow</a:t>
            </a:r>
          </a:p>
          <a:p>
            <a:pPr lvl="1" eaLnBrk="1" hangingPunct="1"/>
            <a:r>
              <a:rPr lang="en-US" altLang="en-US"/>
              <a:t>Actors are connected to use cases with lines.</a:t>
            </a:r>
          </a:p>
          <a:p>
            <a:pPr lvl="1" eaLnBrk="1" hangingPunct="1"/>
            <a:r>
              <a:rPr lang="en-US" altLang="en-US"/>
              <a:t>Use cases are connected to each other with arrows.</a:t>
            </a:r>
          </a:p>
        </p:txBody>
      </p:sp>
      <p:sp>
        <p:nvSpPr>
          <p:cNvPr id="22533" name="Slide Number Placeholder 4">
            <a:extLst>
              <a:ext uri="{FF2B5EF4-FFF2-40B4-BE49-F238E27FC236}">
                <a16:creationId xmlns:a16="http://schemas.microsoft.com/office/drawing/2014/main" id="{6249D253-1D79-40F4-E91F-E9CEA2CCB31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2CD22C6D-C2F7-4C31-B805-D05B7446485D}" type="slidenum">
              <a:rPr lang="en-US" altLang="en-US">
                <a:latin typeface="Arial Black" panose="020B0A04020102020204" pitchFamily="34" charset="0"/>
              </a:rPr>
              <a:pPr eaLnBrk="1" hangingPunct="1"/>
              <a:t>13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22534" name="Rectangle 2">
            <a:extLst>
              <a:ext uri="{FF2B5EF4-FFF2-40B4-BE49-F238E27FC236}">
                <a16:creationId xmlns:a16="http://schemas.microsoft.com/office/drawing/2014/main" id="{6F2F8516-B0D2-BE4A-F164-14A7B9A6DEBB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733802" y="6035675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dirty="0"/>
              <a:t>Copyright © 2014 Pearson Education, Inc. Publishing as Prentice Hall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862E7D65-DEA4-BED5-5EB5-1AD4CB2031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Definitions and Symbols (Cont.)</a:t>
            </a:r>
          </a:p>
        </p:txBody>
      </p:sp>
      <p:sp>
        <p:nvSpPr>
          <p:cNvPr id="23555" name="Rectangle 3" descr="Rectangle: Click to edit Master text styles&#10;Second level&#10;Third level&#10;Fourth level&#10;Fifth level">
            <a:extLst>
              <a:ext uri="{FF2B5EF4-FFF2-40B4-BE49-F238E27FC236}">
                <a16:creationId xmlns:a16="http://schemas.microsoft.com/office/drawing/2014/main" id="{8AF82B17-5C6A-9582-C74C-6616D5FBC41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i="1"/>
              <a:t>Extend relationship </a:t>
            </a:r>
            <a:r>
              <a:rPr lang="en-US" altLang="en-US"/>
              <a:t>is an association between two use cases where one adds new behaviors or actions to the other.</a:t>
            </a:r>
          </a:p>
          <a:p>
            <a:pPr lvl="1" eaLnBrk="1" hangingPunct="1"/>
            <a:r>
              <a:rPr lang="en-US" altLang="en-US"/>
              <a:t>Extends a use case by adding new behavior or actions</a:t>
            </a:r>
          </a:p>
          <a:p>
            <a:pPr lvl="1" eaLnBrk="1" hangingPunct="1"/>
            <a:r>
              <a:rPr lang="en-US" altLang="en-US"/>
              <a:t>Specialized use case extends the general use case.</a:t>
            </a:r>
          </a:p>
        </p:txBody>
      </p:sp>
      <p:sp>
        <p:nvSpPr>
          <p:cNvPr id="23557" name="Slide Number Placeholder 4">
            <a:extLst>
              <a:ext uri="{FF2B5EF4-FFF2-40B4-BE49-F238E27FC236}">
                <a16:creationId xmlns:a16="http://schemas.microsoft.com/office/drawing/2014/main" id="{5871CBA0-8DB9-8441-760A-D5F0D312F39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C3817565-35A3-4698-A87F-6A99FB1AC2B6}" type="slidenum">
              <a:rPr lang="en-US" altLang="en-US">
                <a:latin typeface="Arial Black" panose="020B0A04020102020204" pitchFamily="34" charset="0"/>
              </a:rPr>
              <a:pPr eaLnBrk="1" hangingPunct="1"/>
              <a:t>14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23558" name="Rectangle 2">
            <a:extLst>
              <a:ext uri="{FF2B5EF4-FFF2-40B4-BE49-F238E27FC236}">
                <a16:creationId xmlns:a16="http://schemas.microsoft.com/office/drawing/2014/main" id="{000DB909-6986-AB6C-0E4A-8628D8053D80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733802" y="6120216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dirty="0"/>
              <a:t>Copyright © 2014 Pearson Education, Inc. Publishing as Prentice Hall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1CFD518-9C36-FC6D-2B66-42703EEE644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19470" y="4001294"/>
            <a:ext cx="2391109" cy="533474"/>
          </a:xfrm>
          <a:prstGeom prst="rect">
            <a:avLst/>
          </a:prstGeom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908D3A25-5295-E8C2-0CEE-7BA851175A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Definitions and Symbols (Cont.)</a:t>
            </a:r>
          </a:p>
        </p:txBody>
      </p:sp>
      <p:sp>
        <p:nvSpPr>
          <p:cNvPr id="24579" name="Rectangle 3" descr="Rectangle: Click to edit Master text styles&#10;Second level&#10;Third level&#10;Fourth level&#10;Fifth level">
            <a:extLst>
              <a:ext uri="{FF2B5EF4-FFF2-40B4-BE49-F238E27FC236}">
                <a16:creationId xmlns:a16="http://schemas.microsoft.com/office/drawing/2014/main" id="{7A7E9E4B-459E-CA51-3C57-DC4C766FA3E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i="1"/>
              <a:t>Include relationship </a:t>
            </a:r>
            <a:r>
              <a:rPr lang="en-US" altLang="en-US"/>
              <a:t>is an association between two use cases where one use case uses the functionality contained in the other.</a:t>
            </a:r>
          </a:p>
          <a:p>
            <a:pPr lvl="1" eaLnBrk="1" hangingPunct="1"/>
            <a:r>
              <a:rPr lang="en-US" altLang="en-US"/>
              <a:t>Indicates a use case that is used (invoked) by another use case</a:t>
            </a:r>
          </a:p>
          <a:p>
            <a:pPr lvl="1" eaLnBrk="1" hangingPunct="1"/>
            <a:r>
              <a:rPr lang="en-US" altLang="en-US"/>
              <a:t>Links to general purpose functions, used by many other use cases</a:t>
            </a:r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E7266419-BA45-EF28-D5B6-D6CF403E90B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B96C7A74-976D-4C72-A5E0-8FE158ACF79A}" type="slidenum">
              <a:rPr lang="en-US" altLang="en-US">
                <a:latin typeface="Arial Black" panose="020B0A04020102020204" pitchFamily="34" charset="0"/>
              </a:rPr>
              <a:pPr eaLnBrk="1" hangingPunct="1"/>
              <a:t>15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24582" name="Rectangle 2">
            <a:extLst>
              <a:ext uri="{FF2B5EF4-FFF2-40B4-BE49-F238E27FC236}">
                <a16:creationId xmlns:a16="http://schemas.microsoft.com/office/drawing/2014/main" id="{651ABD3F-0BAF-DED7-8400-C719C34FC01F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838575" y="5809457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dirty="0"/>
              <a:t>Copyright © 2014 Pearson Education, Inc. Publishing as Prentice Hall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FDDC25E-5175-8B48-0230-BC1B58B2E71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71893" y="3767114"/>
            <a:ext cx="2248214" cy="333422"/>
          </a:xfrm>
          <a:prstGeom prst="rect">
            <a:avLst/>
          </a:prstGeom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Title 1">
            <a:extLst>
              <a:ext uri="{FF2B5EF4-FFF2-40B4-BE49-F238E27FC236}">
                <a16:creationId xmlns:a16="http://schemas.microsoft.com/office/drawing/2014/main" id="{EE3F8AD4-5F90-D8F9-0F2C-062EBE72C0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981200" y="457200"/>
            <a:ext cx="8229600" cy="1143000"/>
          </a:xfrm>
        </p:spPr>
        <p:txBody>
          <a:bodyPr/>
          <a:lstStyle/>
          <a:p>
            <a:r>
              <a:rPr lang="en-US" altLang="en-US"/>
              <a:t>Definitions and Symbols (Cont.)</a:t>
            </a:r>
          </a:p>
        </p:txBody>
      </p:sp>
      <p:sp>
        <p:nvSpPr>
          <p:cNvPr id="25603" name="Slide Number Placeholder 4">
            <a:extLst>
              <a:ext uri="{FF2B5EF4-FFF2-40B4-BE49-F238E27FC236}">
                <a16:creationId xmlns:a16="http://schemas.microsoft.com/office/drawing/2014/main" id="{EBA8AE73-095F-F8EA-86BF-636C74156E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CBA5AD53-3745-4128-9AE0-C4BC6D767245}" type="slidenum">
              <a:rPr lang="en-US" altLang="en-US">
                <a:latin typeface="Arial Black" panose="020B0A04020102020204" pitchFamily="34" charset="0"/>
              </a:rPr>
              <a:pPr eaLnBrk="1" hangingPunct="1"/>
              <a:t>16</a:t>
            </a:fld>
            <a:endParaRPr lang="en-US" altLang="en-US">
              <a:latin typeface="Arial Black" panose="020B0A04020102020204" pitchFamily="34" charset="0"/>
            </a:endParaRPr>
          </a:p>
        </p:txBody>
      </p:sp>
      <p:pic>
        <p:nvPicPr>
          <p:cNvPr id="25605" name="Picture 8" descr="Noname.gif">
            <a:extLst>
              <a:ext uri="{FF2B5EF4-FFF2-40B4-BE49-F238E27FC236}">
                <a16:creationId xmlns:a16="http://schemas.microsoft.com/office/drawing/2014/main" id="{DF109190-CB59-4014-8F10-BFB505D357E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71750" y="1433514"/>
            <a:ext cx="7029450" cy="4103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6" name="Rectangle 9">
            <a:extLst>
              <a:ext uri="{FF2B5EF4-FFF2-40B4-BE49-F238E27FC236}">
                <a16:creationId xmlns:a16="http://schemas.microsoft.com/office/drawing/2014/main" id="{829AE4D3-C980-F6FE-7B24-EE581EB5B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5373688"/>
            <a:ext cx="73152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b="1"/>
              <a:t>FIGURE 7-27</a:t>
            </a:r>
          </a:p>
          <a:p>
            <a:pPr eaLnBrk="1" hangingPunct="1"/>
            <a:r>
              <a:rPr lang="en-US" altLang="en-US"/>
              <a:t>A use case diagram featuring an include relationship</a:t>
            </a:r>
          </a:p>
        </p:txBody>
      </p:sp>
      <p:sp>
        <p:nvSpPr>
          <p:cNvPr id="25607" name="Rectangle 2">
            <a:extLst>
              <a:ext uri="{FF2B5EF4-FFF2-40B4-BE49-F238E27FC236}">
                <a16:creationId xmlns:a16="http://schemas.microsoft.com/office/drawing/2014/main" id="{BF59B692-43A8-56F3-B0EE-0509C3052B60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733802" y="6172200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dirty="0"/>
              <a:t>Copyright © 2014 Pearson Education, Inc. Publishing as Prentice Hall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4C132834-DE9F-C9A5-282F-B7D170BC47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Written Use Cases</a:t>
            </a:r>
          </a:p>
        </p:txBody>
      </p:sp>
      <p:sp>
        <p:nvSpPr>
          <p:cNvPr id="26627" name="Rectangle 3" descr="Rectangle: Click to edit Master text styles&#10;Second level&#10;Third level&#10;Fourth level&#10;Fifth level">
            <a:extLst>
              <a:ext uri="{FF2B5EF4-FFF2-40B4-BE49-F238E27FC236}">
                <a16:creationId xmlns:a16="http://schemas.microsoft.com/office/drawing/2014/main" id="{B2DDE260-1712-FD68-A6C5-5597C39512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Document containing detailed specifications for a use case</a:t>
            </a:r>
          </a:p>
          <a:p>
            <a:pPr eaLnBrk="1" hangingPunct="1"/>
            <a:r>
              <a:rPr lang="en-US" altLang="en-US"/>
              <a:t>Contents can be written as simple text or in a specified format</a:t>
            </a:r>
          </a:p>
          <a:p>
            <a:pPr eaLnBrk="1" hangingPunct="1"/>
            <a:r>
              <a:rPr lang="en-US" altLang="en-US"/>
              <a:t>Step-by-step description of what must occur in a successful use case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/>
          </a:p>
        </p:txBody>
      </p:sp>
      <p:sp>
        <p:nvSpPr>
          <p:cNvPr id="26629" name="Slide Number Placeholder 4">
            <a:extLst>
              <a:ext uri="{FF2B5EF4-FFF2-40B4-BE49-F238E27FC236}">
                <a16:creationId xmlns:a16="http://schemas.microsoft.com/office/drawing/2014/main" id="{CE5F1F9C-4F32-1C08-D3C8-FEA284486BF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9E9601F5-01D7-4615-94F1-B3D1051E016F}" type="slidenum">
              <a:rPr lang="en-US" altLang="en-US">
                <a:latin typeface="Arial Black" panose="020B0A04020102020204" pitchFamily="34" charset="0"/>
              </a:rPr>
              <a:pPr eaLnBrk="1" hangingPunct="1"/>
              <a:t>17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26630" name="Rectangle 2">
            <a:extLst>
              <a:ext uri="{FF2B5EF4-FFF2-40B4-BE49-F238E27FC236}">
                <a16:creationId xmlns:a16="http://schemas.microsoft.com/office/drawing/2014/main" id="{C1A38734-C0A4-BC90-A53C-80D1BD674622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733802" y="6127750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dirty="0"/>
              <a:t>Copyright © 2014 Pearson Education, Inc. Publishing as Prentice Hall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Picture 4" descr="Noname.gif">
            <a:extLst>
              <a:ext uri="{FF2B5EF4-FFF2-40B4-BE49-F238E27FC236}">
                <a16:creationId xmlns:a16="http://schemas.microsoft.com/office/drawing/2014/main" id="{57ECE0C3-9973-10E4-DDD8-8CD5F390888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7438" y="455614"/>
            <a:ext cx="3586162" cy="5945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1" name="Rectangle 5">
            <a:extLst>
              <a:ext uri="{FF2B5EF4-FFF2-40B4-BE49-F238E27FC236}">
                <a16:creationId xmlns:a16="http://schemas.microsoft.com/office/drawing/2014/main" id="{F890F503-2BB2-E7F2-170F-9E73563B8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1425576"/>
            <a:ext cx="3733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b="1"/>
              <a:t>Figure 7-29</a:t>
            </a:r>
          </a:p>
          <a:p>
            <a:pPr eaLnBrk="1" hangingPunct="1"/>
            <a:r>
              <a:rPr lang="en-US" altLang="en-US"/>
              <a:t>A template for writing use cases</a:t>
            </a:r>
          </a:p>
          <a:p>
            <a:pPr eaLnBrk="1" hangingPunct="1"/>
            <a:r>
              <a:rPr lang="en-US" altLang="en-US"/>
              <a:t>(</a:t>
            </a:r>
            <a:r>
              <a:rPr lang="en-US" altLang="en-US" i="1"/>
              <a:t>Source: </a:t>
            </a:r>
            <a:r>
              <a:rPr lang="en-US" altLang="en-US"/>
              <a:t>Cockburn, Alistair, </a:t>
            </a:r>
            <a:r>
              <a:rPr lang="en-US" altLang="en-US" i="1"/>
              <a:t>Writing Effective Use Cases, </a:t>
            </a:r>
            <a:r>
              <a:rPr lang="en-US" altLang="en-US"/>
              <a:t>1st ed., © 2001. Reprinted and Electronically reproduced by permission of Pearson Education, Inc. Upper Saddle River, New Jersey.)</a:t>
            </a:r>
          </a:p>
        </p:txBody>
      </p:sp>
      <p:sp>
        <p:nvSpPr>
          <p:cNvPr id="27652" name="Slide Number Placeholder 4">
            <a:extLst>
              <a:ext uri="{FF2B5EF4-FFF2-40B4-BE49-F238E27FC236}">
                <a16:creationId xmlns:a16="http://schemas.microsoft.com/office/drawing/2014/main" id="{E92FAC4F-B042-BD00-93D4-0D8CF49AA71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24CA37D7-FC33-414B-959F-684F96651DB3}" type="slidenum">
              <a:rPr lang="en-US" altLang="en-US">
                <a:latin typeface="Arial Black" panose="020B0A04020102020204" pitchFamily="34" charset="0"/>
              </a:rPr>
              <a:pPr eaLnBrk="1" hangingPunct="1"/>
              <a:t>18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27654" name="Rectangle 2">
            <a:extLst>
              <a:ext uri="{FF2B5EF4-FFF2-40B4-BE49-F238E27FC236}">
                <a16:creationId xmlns:a16="http://schemas.microsoft.com/office/drawing/2014/main" id="{4A39560E-A4E5-7E08-265A-FB4B7FBFCA41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480582" y="6172201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dirty="0"/>
              <a:t>Copyright © 2014 Pearson Education, Inc. Publishing as Prentice Hall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C2AC4C4C-861F-DCB4-8D73-4A45B4708C9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09800" y="514350"/>
            <a:ext cx="7772400" cy="1143000"/>
          </a:xfrm>
        </p:spPr>
        <p:txBody>
          <a:bodyPr/>
          <a:lstStyle/>
          <a:p>
            <a:r>
              <a:rPr lang="en-US" altLang="en-US"/>
              <a:t>Level of Use Case</a:t>
            </a:r>
          </a:p>
        </p:txBody>
      </p:sp>
      <p:sp>
        <p:nvSpPr>
          <p:cNvPr id="28675" name="Rectangle 3">
            <a:extLst>
              <a:ext uri="{FF2B5EF4-FFF2-40B4-BE49-F238E27FC236}">
                <a16:creationId xmlns:a16="http://schemas.microsoft.com/office/drawing/2014/main" id="{0646EE47-A55D-9843-CAF5-0154715CE2A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962150" y="1600200"/>
            <a:ext cx="8458200" cy="4495800"/>
          </a:xfrm>
        </p:spPr>
        <p:txBody>
          <a:bodyPr/>
          <a:lstStyle/>
          <a:p>
            <a:pPr marL="609600" indent="-609600"/>
            <a:r>
              <a:rPr lang="en-US" altLang="en-US"/>
              <a:t>Refers to degree of detail in the use case description</a:t>
            </a:r>
          </a:p>
          <a:p>
            <a:pPr marL="609600" indent="-609600"/>
            <a:endParaRPr lang="en-US" altLang="en-US"/>
          </a:p>
          <a:p>
            <a:pPr marL="609600" indent="-609600"/>
            <a:r>
              <a:rPr lang="en-US" altLang="en-US"/>
              <a:t>Five suggested levels (Cockburn)</a:t>
            </a:r>
          </a:p>
          <a:p>
            <a:pPr marL="990600" lvl="1" indent="-533400">
              <a:buFont typeface="Wingdings" panose="05000000000000000000" pitchFamily="2" charset="2"/>
              <a:buAutoNum type="arabicPeriod"/>
            </a:pPr>
            <a:r>
              <a:rPr lang="en-US" altLang="en-US"/>
              <a:t>White – as seen from clouds</a:t>
            </a:r>
          </a:p>
          <a:p>
            <a:pPr marL="990600" lvl="1" indent="-533400">
              <a:buFont typeface="Wingdings" panose="05000000000000000000" pitchFamily="2" charset="2"/>
              <a:buAutoNum type="arabicPeriod"/>
            </a:pPr>
            <a:r>
              <a:rPr lang="en-US" altLang="en-US"/>
              <a:t>Kite – “birds-eye view”</a:t>
            </a:r>
          </a:p>
          <a:p>
            <a:pPr marL="990600" lvl="1" indent="-533400">
              <a:buFont typeface="Wingdings" panose="05000000000000000000" pitchFamily="2" charset="2"/>
              <a:buAutoNum type="arabicPeriod"/>
            </a:pPr>
            <a:r>
              <a:rPr lang="en-US" altLang="en-US"/>
              <a:t>Blue – sea-level view</a:t>
            </a:r>
          </a:p>
          <a:p>
            <a:pPr marL="990600" lvl="1" indent="-533400">
              <a:buFont typeface="Wingdings" panose="05000000000000000000" pitchFamily="2" charset="2"/>
              <a:buAutoNum type="arabicPeriod"/>
            </a:pPr>
            <a:r>
              <a:rPr lang="en-US" altLang="en-US"/>
              <a:t>Fish – below sea-level</a:t>
            </a:r>
          </a:p>
          <a:p>
            <a:pPr marL="990600" lvl="1" indent="-533400">
              <a:buFont typeface="Wingdings" panose="05000000000000000000" pitchFamily="2" charset="2"/>
              <a:buAutoNum type="arabicPeriod"/>
            </a:pPr>
            <a:r>
              <a:rPr lang="en-US" altLang="en-US"/>
              <a:t>Black – bottom of the sea</a:t>
            </a:r>
          </a:p>
          <a:p>
            <a:pPr marL="609600" indent="-609600">
              <a:buNone/>
            </a:pPr>
            <a:endParaRPr lang="en-US" altLang="en-US"/>
          </a:p>
        </p:txBody>
      </p:sp>
      <p:sp>
        <p:nvSpPr>
          <p:cNvPr id="28676" name="AutoShape 5">
            <a:extLst>
              <a:ext uri="{FF2B5EF4-FFF2-40B4-BE49-F238E27FC236}">
                <a16:creationId xmlns:a16="http://schemas.microsoft.com/office/drawing/2014/main" id="{163126EF-D0C6-1A5E-40E8-7D727EDA4C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3619500"/>
            <a:ext cx="819150" cy="2476500"/>
          </a:xfrm>
          <a:prstGeom prst="upDownArrow">
            <a:avLst>
              <a:gd name="adj1" fmla="val 50000"/>
              <a:gd name="adj2" fmla="val 60465"/>
            </a:avLst>
          </a:prstGeom>
          <a:solidFill>
            <a:schemeClr val="accent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8677" name="Text Box 6">
            <a:extLst>
              <a:ext uri="{FF2B5EF4-FFF2-40B4-BE49-F238E27FC236}">
                <a16:creationId xmlns:a16="http://schemas.microsoft.com/office/drawing/2014/main" id="{34F8ED0D-9A69-1252-B5CE-871595518C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32825" y="3552825"/>
            <a:ext cx="113364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/>
              <a:t>summary</a:t>
            </a:r>
          </a:p>
        </p:txBody>
      </p:sp>
      <p:sp>
        <p:nvSpPr>
          <p:cNvPr id="28678" name="Text Box 7">
            <a:extLst>
              <a:ext uri="{FF2B5EF4-FFF2-40B4-BE49-F238E27FC236}">
                <a16:creationId xmlns:a16="http://schemas.microsoft.com/office/drawing/2014/main" id="{CD036176-FF79-B48C-1102-DDA8D6696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6176" y="5476875"/>
            <a:ext cx="73609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/>
              <a:t>detail</a:t>
            </a:r>
          </a:p>
        </p:txBody>
      </p:sp>
      <p:sp>
        <p:nvSpPr>
          <p:cNvPr id="28679" name="Slide Number Placeholder 4">
            <a:extLst>
              <a:ext uri="{FF2B5EF4-FFF2-40B4-BE49-F238E27FC236}">
                <a16:creationId xmlns:a16="http://schemas.microsoft.com/office/drawing/2014/main" id="{43ABDFC0-2D6E-9311-AB71-9BEB5FEF7DB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9C65960E-7E60-4E87-9C51-886BD437368B}" type="slidenum">
              <a:rPr lang="en-US" altLang="en-US">
                <a:latin typeface="Arial Black" panose="020B0A04020102020204" pitchFamily="34" charset="0"/>
              </a:rPr>
              <a:pPr eaLnBrk="1" hangingPunct="1"/>
              <a:t>19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28681" name="Rectangle 2">
            <a:extLst>
              <a:ext uri="{FF2B5EF4-FFF2-40B4-BE49-F238E27FC236}">
                <a16:creationId xmlns:a16="http://schemas.microsoft.com/office/drawing/2014/main" id="{FDCC8A9B-C06F-557F-2C85-CA53EC9C1BE3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733802" y="6163871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/>
              <a:t>Copyright © 2014 Pearson Education, Inc. Publishing as Prentice Hall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81B05D82-BEBD-FE50-3C52-290E1DBEA9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4000"/>
              <a:t>Sample Format for Written Use Case</a:t>
            </a:r>
          </a:p>
        </p:txBody>
      </p:sp>
      <p:sp>
        <p:nvSpPr>
          <p:cNvPr id="29699" name="Rectangle 3">
            <a:extLst>
              <a:ext uri="{FF2B5EF4-FFF2-40B4-BE49-F238E27FC236}">
                <a16:creationId xmlns:a16="http://schemas.microsoft.com/office/drawing/2014/main" id="{C446A6E7-51EF-29BC-500A-E25CEDA0530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981200" y="1981200"/>
            <a:ext cx="8229600" cy="3657600"/>
          </a:xfrm>
        </p:spPr>
        <p:txBody>
          <a:bodyPr/>
          <a:lstStyle/>
          <a:p>
            <a:r>
              <a:rPr lang="en-US" altLang="en-US" b="1" i="1"/>
              <a:t>Title</a:t>
            </a:r>
            <a:r>
              <a:rPr lang="en-US" altLang="en-US"/>
              <a:t> – descriptive name, matches name in use case diagram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/>
          </a:p>
          <a:p>
            <a:r>
              <a:rPr lang="en-US" altLang="en-US" b="1" i="1"/>
              <a:t>Primary actor</a:t>
            </a:r>
            <a:r>
              <a:rPr lang="en-US" altLang="en-US"/>
              <a:t> – usually a user role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/>
          </a:p>
          <a:p>
            <a:r>
              <a:rPr lang="en-US" altLang="en-US" b="1" i="1"/>
              <a:t>Stakeholders</a:t>
            </a:r>
            <a:r>
              <a:rPr lang="en-US" altLang="en-US"/>
              <a:t> – any group or individual with an interest in the function of the use case</a:t>
            </a:r>
          </a:p>
        </p:txBody>
      </p:sp>
      <p:sp>
        <p:nvSpPr>
          <p:cNvPr id="29700" name="Slide Number Placeholder 4">
            <a:extLst>
              <a:ext uri="{FF2B5EF4-FFF2-40B4-BE49-F238E27FC236}">
                <a16:creationId xmlns:a16="http://schemas.microsoft.com/office/drawing/2014/main" id="{E4121231-7195-8198-F34B-D2DCC0DE2C9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8214A509-18E3-4C5B-8639-9148EF47EE4C}" type="slidenum">
              <a:rPr lang="en-US" altLang="en-US">
                <a:latin typeface="Arial Black" panose="020B0A04020102020204" pitchFamily="34" charset="0"/>
              </a:rPr>
              <a:pPr eaLnBrk="1" hangingPunct="1"/>
              <a:t>20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29702" name="Rectangle 2">
            <a:extLst>
              <a:ext uri="{FF2B5EF4-FFF2-40B4-BE49-F238E27FC236}">
                <a16:creationId xmlns:a16="http://schemas.microsoft.com/office/drawing/2014/main" id="{D6AB9BD8-18BA-68AD-BDE9-733727CD7950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733802" y="6035675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dirty="0"/>
              <a:t>Copyright © 2014 Pearson Education, Inc. Publishing as Prentice Hall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3A477001-44A9-600B-75CF-B5E1244BFFD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09800" y="533400"/>
            <a:ext cx="7772400" cy="1143000"/>
          </a:xfrm>
        </p:spPr>
        <p:txBody>
          <a:bodyPr>
            <a:normAutofit fontScale="90000"/>
          </a:bodyPr>
          <a:lstStyle/>
          <a:p>
            <a:r>
              <a:rPr lang="en-US" altLang="en-US" sz="4000"/>
              <a:t>Sample Format for Written Use Case (Continued)</a:t>
            </a:r>
          </a:p>
        </p:txBody>
      </p:sp>
      <p:sp>
        <p:nvSpPr>
          <p:cNvPr id="30723" name="Rectangle 3">
            <a:extLst>
              <a:ext uri="{FF2B5EF4-FFF2-40B4-BE49-F238E27FC236}">
                <a16:creationId xmlns:a16="http://schemas.microsoft.com/office/drawing/2014/main" id="{C8C4C24F-6223-9556-2919-EDF68CE8027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905000" y="1981200"/>
            <a:ext cx="8382000" cy="411480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en-US" b="1" i="1"/>
              <a:t>Precondition</a:t>
            </a:r>
            <a:r>
              <a:rPr lang="en-US" altLang="en-US"/>
              <a:t> – conditions that must be satisfied in order to execute the use case</a:t>
            </a:r>
            <a:r>
              <a:rPr lang="en-US" altLang="en-US" b="1" i="1"/>
              <a:t> </a:t>
            </a:r>
          </a:p>
          <a:p>
            <a:pPr>
              <a:lnSpc>
                <a:spcPct val="90000"/>
              </a:lnSpc>
            </a:pPr>
            <a:endParaRPr lang="en-US" altLang="en-US" b="1" i="1"/>
          </a:p>
          <a:p>
            <a:pPr>
              <a:lnSpc>
                <a:spcPct val="90000"/>
              </a:lnSpc>
            </a:pPr>
            <a:r>
              <a:rPr lang="en-US" altLang="en-US" b="1" i="1"/>
              <a:t>Minimal guarantee</a:t>
            </a:r>
            <a:r>
              <a:rPr lang="en-US" altLang="en-US"/>
              <a:t> – outputs that can be expected if the service attempt failed</a:t>
            </a:r>
          </a:p>
          <a:p>
            <a:pPr>
              <a:lnSpc>
                <a:spcPct val="90000"/>
              </a:lnSpc>
            </a:pPr>
            <a:endParaRPr lang="en-US" altLang="en-US"/>
          </a:p>
          <a:p>
            <a:pPr>
              <a:lnSpc>
                <a:spcPct val="90000"/>
              </a:lnSpc>
            </a:pPr>
            <a:r>
              <a:rPr lang="en-US" altLang="en-US" b="1" i="1"/>
              <a:t>Success guarantee</a:t>
            </a:r>
            <a:r>
              <a:rPr lang="en-US" altLang="en-US"/>
              <a:t> – outputs that can be expected if the service succeeds</a:t>
            </a:r>
          </a:p>
        </p:txBody>
      </p:sp>
      <p:sp>
        <p:nvSpPr>
          <p:cNvPr id="30724" name="Slide Number Placeholder 4">
            <a:extLst>
              <a:ext uri="{FF2B5EF4-FFF2-40B4-BE49-F238E27FC236}">
                <a16:creationId xmlns:a16="http://schemas.microsoft.com/office/drawing/2014/main" id="{94C6C5BE-E419-7EF4-5A20-EAA918D080C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150FCE7A-4270-401A-823B-EBDFE7D33B21}" type="slidenum">
              <a:rPr lang="en-US" altLang="en-US">
                <a:latin typeface="Arial Black" panose="020B0A04020102020204" pitchFamily="34" charset="0"/>
              </a:rPr>
              <a:pPr eaLnBrk="1" hangingPunct="1"/>
              <a:t>21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30726" name="Rectangle 2">
            <a:extLst>
              <a:ext uri="{FF2B5EF4-FFF2-40B4-BE49-F238E27FC236}">
                <a16:creationId xmlns:a16="http://schemas.microsoft.com/office/drawing/2014/main" id="{C1F34B8F-5622-129E-876C-73A10748D999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733802" y="6164092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/>
              <a:t>Copyright © 2014 Pearson Education, Inc. Publishing as Prentice Hall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>
            <a:extLst>
              <a:ext uri="{FF2B5EF4-FFF2-40B4-BE49-F238E27FC236}">
                <a16:creationId xmlns:a16="http://schemas.microsoft.com/office/drawing/2014/main" id="{8670C7A8-2FFE-97B5-C201-0D8615701A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09800" y="514350"/>
            <a:ext cx="7772400" cy="1143000"/>
          </a:xfrm>
        </p:spPr>
        <p:txBody>
          <a:bodyPr>
            <a:normAutofit fontScale="90000"/>
          </a:bodyPr>
          <a:lstStyle/>
          <a:p>
            <a:r>
              <a:rPr lang="en-US" altLang="en-US" sz="4000"/>
              <a:t>Sample Format for Written Use Case (Continued)</a:t>
            </a:r>
          </a:p>
        </p:txBody>
      </p:sp>
      <p:sp>
        <p:nvSpPr>
          <p:cNvPr id="31747" name="Rectangle 3">
            <a:extLst>
              <a:ext uri="{FF2B5EF4-FFF2-40B4-BE49-F238E27FC236}">
                <a16:creationId xmlns:a16="http://schemas.microsoft.com/office/drawing/2014/main" id="{1E47FF9F-83C8-FBE8-51CF-F6B479248A7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905000" y="1752600"/>
            <a:ext cx="8382000" cy="2800350"/>
          </a:xfrm>
        </p:spPr>
        <p:txBody>
          <a:bodyPr>
            <a:normAutofit fontScale="85000" lnSpcReduction="10000"/>
          </a:bodyPr>
          <a:lstStyle/>
          <a:p>
            <a:pPr>
              <a:lnSpc>
                <a:spcPct val="90000"/>
              </a:lnSpc>
            </a:pPr>
            <a:r>
              <a:rPr lang="en-US" altLang="en-US" b="1" i="1"/>
              <a:t>Trigger</a:t>
            </a:r>
            <a:r>
              <a:rPr lang="en-US" altLang="en-US"/>
              <a:t> – an event or action that initiates the use case</a:t>
            </a:r>
          </a:p>
          <a:p>
            <a:pPr>
              <a:lnSpc>
                <a:spcPct val="90000"/>
              </a:lnSpc>
            </a:pPr>
            <a:endParaRPr lang="en-US" altLang="en-US"/>
          </a:p>
          <a:p>
            <a:pPr>
              <a:lnSpc>
                <a:spcPct val="90000"/>
              </a:lnSpc>
            </a:pPr>
            <a:r>
              <a:rPr lang="en-US" altLang="en-US" b="1" i="1"/>
              <a:t>Main success scenario</a:t>
            </a:r>
            <a:r>
              <a:rPr lang="en-US" altLang="en-US"/>
              <a:t> – description of sequence of interactions between actor and use case during the use case execution</a:t>
            </a:r>
          </a:p>
          <a:p>
            <a:pPr>
              <a:lnSpc>
                <a:spcPct val="90000"/>
              </a:lnSpc>
            </a:pPr>
            <a:endParaRPr lang="en-US" altLang="en-US"/>
          </a:p>
          <a:p>
            <a:pPr>
              <a:lnSpc>
                <a:spcPct val="90000"/>
              </a:lnSpc>
            </a:pPr>
            <a:r>
              <a:rPr lang="en-US" altLang="en-US" b="1" i="1"/>
              <a:t>Extensions</a:t>
            </a:r>
            <a:r>
              <a:rPr lang="en-US" altLang="en-US"/>
              <a:t> – detailed description of how errors are handled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endParaRPr lang="en-US" altLang="en-US"/>
          </a:p>
        </p:txBody>
      </p:sp>
      <p:sp>
        <p:nvSpPr>
          <p:cNvPr id="31748" name="Slide Number Placeholder 4">
            <a:extLst>
              <a:ext uri="{FF2B5EF4-FFF2-40B4-BE49-F238E27FC236}">
                <a16:creationId xmlns:a16="http://schemas.microsoft.com/office/drawing/2014/main" id="{68A77356-3E4A-ED42-D511-5CB190D2732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721E6636-6D41-4DBF-AF73-19276DD9C025}" type="slidenum">
              <a:rPr lang="en-US" altLang="en-US">
                <a:latin typeface="Arial Black" panose="020B0A04020102020204" pitchFamily="34" charset="0"/>
              </a:rPr>
              <a:pPr eaLnBrk="1" hangingPunct="1"/>
              <a:t>22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31750" name="Rectangle 2">
            <a:extLst>
              <a:ext uri="{FF2B5EF4-FFF2-40B4-BE49-F238E27FC236}">
                <a16:creationId xmlns:a16="http://schemas.microsoft.com/office/drawing/2014/main" id="{BE640A06-6D14-3B0C-1827-E6DAF44749EA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733800" y="6248400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/>
              <a:t>Copyright © 2014 Pearson Education, Inc. Publishing as Prentice Hall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Slide Number Placeholder 4">
            <a:extLst>
              <a:ext uri="{FF2B5EF4-FFF2-40B4-BE49-F238E27FC236}">
                <a16:creationId xmlns:a16="http://schemas.microsoft.com/office/drawing/2014/main" id="{75655A40-21DB-38AC-D84A-42478BBF4E0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FC41CA0F-170A-4CF1-A1BF-D0D8F8271440}" type="slidenum">
              <a:rPr lang="en-US" altLang="en-US">
                <a:latin typeface="Arial Black" panose="020B0A04020102020204" pitchFamily="34" charset="0"/>
              </a:rPr>
              <a:pPr eaLnBrk="1" hangingPunct="1"/>
              <a:t>23</a:t>
            </a:fld>
            <a:endParaRPr lang="en-US" altLang="en-US">
              <a:latin typeface="Arial Black" panose="020B0A04020102020204" pitchFamily="34" charset="0"/>
            </a:endParaRPr>
          </a:p>
        </p:txBody>
      </p:sp>
      <p:sp>
        <p:nvSpPr>
          <p:cNvPr id="32772" name="Rectangle 2">
            <a:extLst>
              <a:ext uri="{FF2B5EF4-FFF2-40B4-BE49-F238E27FC236}">
                <a16:creationId xmlns:a16="http://schemas.microsoft.com/office/drawing/2014/main" id="{14F7EF93-3613-75DC-3865-E4AF7DE75378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>
          <a:xfrm>
            <a:off x="3733802" y="6009225"/>
            <a:ext cx="48768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dirty="0"/>
              <a:t>Copyright © 2014 Pearson Education, Inc. Publishing as Prentice Hall</a:t>
            </a:r>
          </a:p>
        </p:txBody>
      </p:sp>
      <p:pic>
        <p:nvPicPr>
          <p:cNvPr id="32773" name="Picture 7">
            <a:extLst>
              <a:ext uri="{FF2B5EF4-FFF2-40B4-BE49-F238E27FC236}">
                <a16:creationId xmlns:a16="http://schemas.microsoft.com/office/drawing/2014/main" id="{90D0AE41-4D1C-15EA-BA36-EF78B17014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0200" y="482600"/>
            <a:ext cx="6096000" cy="571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4" name="Rectangle 1">
            <a:extLst>
              <a:ext uri="{FF2B5EF4-FFF2-40B4-BE49-F238E27FC236}">
                <a16:creationId xmlns:a16="http://schemas.microsoft.com/office/drawing/2014/main" id="{A8A4AA0E-7B23-C556-41FB-94B33C8DC3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1981201"/>
            <a:ext cx="3124200" cy="286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b="1"/>
              <a:t>Figure 7-34</a:t>
            </a:r>
          </a:p>
          <a:p>
            <a:pPr eaLnBrk="1" hangingPunct="1"/>
            <a:r>
              <a:rPr lang="en-US" altLang="en-US"/>
              <a:t>Jim Woo’s kite level written use case for buying a product at PVF’s WebStore</a:t>
            </a:r>
          </a:p>
          <a:p>
            <a:pPr eaLnBrk="1" hangingPunct="1"/>
            <a:r>
              <a:rPr lang="en-US" altLang="en-US"/>
              <a:t>(</a:t>
            </a:r>
            <a:r>
              <a:rPr lang="en-US" altLang="en-US" i="1"/>
              <a:t>Source: </a:t>
            </a:r>
            <a:r>
              <a:rPr lang="en-US" altLang="en-US"/>
              <a:t>George, Hoffer, Valacich, Batra, 2006. </a:t>
            </a:r>
            <a:r>
              <a:rPr lang="en-US" altLang="en-US" i="1"/>
              <a:t>Object-Oriented Systems Analysis and Design</a:t>
            </a:r>
            <a:r>
              <a:rPr lang="en-US" altLang="en-US"/>
              <a:t>, 2nd ed. Upper Saddle River, NJ:</a:t>
            </a:r>
          </a:p>
          <a:p>
            <a:pPr eaLnBrk="1" hangingPunct="1"/>
            <a:r>
              <a:rPr lang="en-US" altLang="en-US"/>
              <a:t>Prentice Hall.)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BA9146-A31B-AF3F-EB99-2CFA576CFE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MY" b="1" dirty="0"/>
              <a:t>Process </a:t>
            </a:r>
            <a:r>
              <a:rPr lang="en-MY" b="1" dirty="0" err="1"/>
              <a:t>Modeling</a:t>
            </a:r>
            <a:r>
              <a:rPr lang="en-MY" b="1" dirty="0"/>
              <a:t>: Activity Diagrams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5219D80-FDDA-D488-9F5B-70CC76410A5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sz="4000" dirty="0"/>
              <a:t>Activity Diagrams </a:t>
            </a:r>
          </a:p>
          <a:p>
            <a:pPr lvl="1"/>
            <a:r>
              <a:rPr lang="en-US" sz="3600" dirty="0"/>
              <a:t>Show the conditional logic for the sequence of system activities needed to accomplish a business process.</a:t>
            </a:r>
          </a:p>
          <a:p>
            <a:pPr lvl="1"/>
            <a:r>
              <a:rPr lang="en-US" sz="3600" dirty="0"/>
              <a:t>Clearly show parallel and alternative behaviors.</a:t>
            </a:r>
          </a:p>
          <a:p>
            <a:pPr lvl="1"/>
            <a:r>
              <a:rPr lang="en-US" sz="3600" dirty="0"/>
              <a:t>Can be used to show the logic of a use case.</a:t>
            </a:r>
          </a:p>
          <a:p>
            <a:endParaRPr lang="en-MY" dirty="0"/>
          </a:p>
        </p:txBody>
      </p:sp>
    </p:spTree>
    <p:extLst>
      <p:ext uri="{BB962C8B-B14F-4D97-AF65-F5344CB8AC3E}">
        <p14:creationId xmlns:p14="http://schemas.microsoft.com/office/powerpoint/2010/main" val="137578140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998FD2-5053-E04C-96D0-6A3F7EF9CC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Use Activity Diagrams to:</a:t>
            </a:r>
            <a:endParaRPr lang="en-MY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D06BC1-4840-FE1A-4769-A6C696BBCA8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Depict the flow of control from activity to activity.</a:t>
            </a:r>
          </a:p>
          <a:p>
            <a:r>
              <a:rPr lang="en-US" dirty="0"/>
              <a:t>Help in use case analysis to understand what actions need to take place.</a:t>
            </a:r>
          </a:p>
          <a:p>
            <a:r>
              <a:rPr lang="en-US" dirty="0"/>
              <a:t>Help in identifying extensions in a use case.</a:t>
            </a:r>
          </a:p>
          <a:p>
            <a:r>
              <a:rPr lang="en-US" dirty="0"/>
              <a:t>Model work flow and business processes.</a:t>
            </a:r>
          </a:p>
          <a:p>
            <a:r>
              <a:rPr lang="en-US" dirty="0"/>
              <a:t>Model the sequential and concurrent steps in a computation process.</a:t>
            </a:r>
          </a:p>
          <a:p>
            <a:pPr marL="0" indent="0">
              <a:buNone/>
            </a:pPr>
            <a:endParaRPr lang="en-MY" dirty="0"/>
          </a:p>
        </p:txBody>
      </p:sp>
    </p:spTree>
    <p:extLst>
      <p:ext uri="{BB962C8B-B14F-4D97-AF65-F5344CB8AC3E}">
        <p14:creationId xmlns:p14="http://schemas.microsoft.com/office/powerpoint/2010/main" val="136934107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22587ECF-85E9-4393-9D87-8EB6F3F6C2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F8836DF-276D-2889-A4E6-4701FAE8BF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537883"/>
            <a:ext cx="4783697" cy="1942810"/>
          </a:xfrm>
        </p:spPr>
        <p:txBody>
          <a:bodyPr anchor="b">
            <a:normAutofit/>
          </a:bodyPr>
          <a:lstStyle/>
          <a:p>
            <a:r>
              <a:rPr lang="en-US" sz="4000"/>
              <a:t>Process Modeling: Activity Diagrams (Cont.)</a:t>
            </a:r>
            <a:endParaRPr lang="en-MY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48AB45F-B49C-250B-AEE7-A36AF4BA613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2686323"/>
            <a:ext cx="4783697" cy="3433583"/>
          </a:xfrm>
        </p:spPr>
        <p:txBody>
          <a:bodyPr>
            <a:normAutofit/>
          </a:bodyPr>
          <a:lstStyle/>
          <a:p>
            <a:r>
              <a:rPr lang="en-US" sz="2000"/>
              <a:t>Elements of Activity Diagrams:</a:t>
            </a:r>
          </a:p>
          <a:p>
            <a:r>
              <a:rPr lang="en-US" sz="2000" b="1"/>
              <a:t>Activity</a:t>
            </a:r>
            <a:r>
              <a:rPr lang="en-US" sz="2000"/>
              <a:t>: a behavior that an object carries out while in a particular state</a:t>
            </a:r>
          </a:p>
          <a:p>
            <a:r>
              <a:rPr lang="en-US" sz="2000" b="1"/>
              <a:t>Branch</a:t>
            </a:r>
            <a:r>
              <a:rPr lang="en-US" sz="2000"/>
              <a:t>: a diamond symbol containing a condition whose results provide transitions to different paths of activities</a:t>
            </a:r>
          </a:p>
          <a:p>
            <a:r>
              <a:rPr lang="en-US" sz="2000" b="1"/>
              <a:t>Merge</a:t>
            </a:r>
            <a:r>
              <a:rPr lang="en-US" sz="2000"/>
              <a:t>: a circular symbol where different paths converge</a:t>
            </a:r>
          </a:p>
          <a:p>
            <a:endParaRPr lang="en-MY" sz="200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CDB6E037-F9FB-41D5-05E5-DCE1B1C990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88424" y="1071686"/>
            <a:ext cx="5365375" cy="451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737044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2B97F24A-32CE-4C1C-A50D-3016B394DCF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EDDE51F-4761-A65A-3CAC-8D6824B2EA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0936" y="639520"/>
            <a:ext cx="3429000" cy="1719072"/>
          </a:xfrm>
        </p:spPr>
        <p:txBody>
          <a:bodyPr anchor="b">
            <a:normAutofit/>
          </a:bodyPr>
          <a:lstStyle/>
          <a:p>
            <a:r>
              <a:rPr lang="en-US" sz="3400"/>
              <a:t>Process Modeling: Activity Diagrams (Cont.)</a:t>
            </a:r>
            <a:endParaRPr lang="en-MY" sz="3400"/>
          </a:p>
        </p:txBody>
      </p:sp>
      <p:sp>
        <p:nvSpPr>
          <p:cNvPr id="12" name="sketch line">
            <a:extLst>
              <a:ext uri="{FF2B5EF4-FFF2-40B4-BE49-F238E27FC236}">
                <a16:creationId xmlns:a16="http://schemas.microsoft.com/office/drawing/2014/main" id="{CD8B4F24-440B-49E9-B85D-733523DC06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3278" y="2573756"/>
            <a:ext cx="3255095" cy="18288"/>
          </a:xfrm>
          <a:custGeom>
            <a:avLst/>
            <a:gdLst>
              <a:gd name="connsiteX0" fmla="*/ 0 w 3255095"/>
              <a:gd name="connsiteY0" fmla="*/ 0 h 18288"/>
              <a:gd name="connsiteX1" fmla="*/ 618468 w 3255095"/>
              <a:gd name="connsiteY1" fmla="*/ 0 h 18288"/>
              <a:gd name="connsiteX2" fmla="*/ 1269487 w 3255095"/>
              <a:gd name="connsiteY2" fmla="*/ 0 h 18288"/>
              <a:gd name="connsiteX3" fmla="*/ 1953057 w 3255095"/>
              <a:gd name="connsiteY3" fmla="*/ 0 h 18288"/>
              <a:gd name="connsiteX4" fmla="*/ 2636627 w 3255095"/>
              <a:gd name="connsiteY4" fmla="*/ 0 h 18288"/>
              <a:gd name="connsiteX5" fmla="*/ 3255095 w 3255095"/>
              <a:gd name="connsiteY5" fmla="*/ 0 h 18288"/>
              <a:gd name="connsiteX6" fmla="*/ 3255095 w 3255095"/>
              <a:gd name="connsiteY6" fmla="*/ 18288 h 18288"/>
              <a:gd name="connsiteX7" fmla="*/ 2538974 w 3255095"/>
              <a:gd name="connsiteY7" fmla="*/ 18288 h 18288"/>
              <a:gd name="connsiteX8" fmla="*/ 1822853 w 3255095"/>
              <a:gd name="connsiteY8" fmla="*/ 18288 h 18288"/>
              <a:gd name="connsiteX9" fmla="*/ 1171834 w 3255095"/>
              <a:gd name="connsiteY9" fmla="*/ 18288 h 18288"/>
              <a:gd name="connsiteX10" fmla="*/ 0 w 3255095"/>
              <a:gd name="connsiteY10" fmla="*/ 18288 h 18288"/>
              <a:gd name="connsiteX11" fmla="*/ 0 w 3255095"/>
              <a:gd name="connsiteY11" fmla="*/ 0 h 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255095" h="18288" fill="none" extrusionOk="0">
                <a:moveTo>
                  <a:pt x="0" y="0"/>
                </a:moveTo>
                <a:cubicBezTo>
                  <a:pt x="240201" y="-22123"/>
                  <a:pt x="462021" y="-19623"/>
                  <a:pt x="618468" y="0"/>
                </a:cubicBezTo>
                <a:cubicBezTo>
                  <a:pt x="774915" y="19623"/>
                  <a:pt x="974734" y="2035"/>
                  <a:pt x="1269487" y="0"/>
                </a:cubicBezTo>
                <a:cubicBezTo>
                  <a:pt x="1564240" y="-2035"/>
                  <a:pt x="1733579" y="10639"/>
                  <a:pt x="1953057" y="0"/>
                </a:cubicBezTo>
                <a:cubicBezTo>
                  <a:pt x="2172535" y="-10639"/>
                  <a:pt x="2453962" y="14018"/>
                  <a:pt x="2636627" y="0"/>
                </a:cubicBezTo>
                <a:cubicBezTo>
                  <a:pt x="2819292" y="-14018"/>
                  <a:pt x="3121375" y="5399"/>
                  <a:pt x="3255095" y="0"/>
                </a:cubicBezTo>
                <a:cubicBezTo>
                  <a:pt x="3254386" y="8157"/>
                  <a:pt x="3254682" y="12125"/>
                  <a:pt x="3255095" y="18288"/>
                </a:cubicBezTo>
                <a:cubicBezTo>
                  <a:pt x="3088545" y="23203"/>
                  <a:pt x="2687475" y="7419"/>
                  <a:pt x="2538974" y="18288"/>
                </a:cubicBezTo>
                <a:cubicBezTo>
                  <a:pt x="2390473" y="29157"/>
                  <a:pt x="2137381" y="-8959"/>
                  <a:pt x="1822853" y="18288"/>
                </a:cubicBezTo>
                <a:cubicBezTo>
                  <a:pt x="1508325" y="45535"/>
                  <a:pt x="1466437" y="20385"/>
                  <a:pt x="1171834" y="18288"/>
                </a:cubicBezTo>
                <a:cubicBezTo>
                  <a:pt x="877231" y="16191"/>
                  <a:pt x="561097" y="37643"/>
                  <a:pt x="0" y="18288"/>
                </a:cubicBezTo>
                <a:cubicBezTo>
                  <a:pt x="-46" y="12483"/>
                  <a:pt x="-203" y="6491"/>
                  <a:pt x="0" y="0"/>
                </a:cubicBezTo>
                <a:close/>
              </a:path>
              <a:path w="3255095" h="18288" stroke="0" extrusionOk="0">
                <a:moveTo>
                  <a:pt x="0" y="0"/>
                </a:moveTo>
                <a:cubicBezTo>
                  <a:pt x="291965" y="19429"/>
                  <a:pt x="363155" y="8568"/>
                  <a:pt x="618468" y="0"/>
                </a:cubicBezTo>
                <a:cubicBezTo>
                  <a:pt x="873781" y="-8568"/>
                  <a:pt x="904459" y="-19505"/>
                  <a:pt x="1171834" y="0"/>
                </a:cubicBezTo>
                <a:cubicBezTo>
                  <a:pt x="1439209" y="19505"/>
                  <a:pt x="1744369" y="9790"/>
                  <a:pt x="1887955" y="0"/>
                </a:cubicBezTo>
                <a:cubicBezTo>
                  <a:pt x="2031541" y="-9790"/>
                  <a:pt x="2346378" y="21240"/>
                  <a:pt x="2506423" y="0"/>
                </a:cubicBezTo>
                <a:cubicBezTo>
                  <a:pt x="2666468" y="-21240"/>
                  <a:pt x="2990257" y="30414"/>
                  <a:pt x="3255095" y="0"/>
                </a:cubicBezTo>
                <a:cubicBezTo>
                  <a:pt x="3254831" y="4493"/>
                  <a:pt x="3255479" y="9472"/>
                  <a:pt x="3255095" y="18288"/>
                </a:cubicBezTo>
                <a:cubicBezTo>
                  <a:pt x="3120743" y="16690"/>
                  <a:pt x="2759628" y="42462"/>
                  <a:pt x="2604076" y="18288"/>
                </a:cubicBezTo>
                <a:cubicBezTo>
                  <a:pt x="2448524" y="-5886"/>
                  <a:pt x="2184336" y="19599"/>
                  <a:pt x="1887955" y="18288"/>
                </a:cubicBezTo>
                <a:cubicBezTo>
                  <a:pt x="1591574" y="16977"/>
                  <a:pt x="1548845" y="6870"/>
                  <a:pt x="1334589" y="18288"/>
                </a:cubicBezTo>
                <a:cubicBezTo>
                  <a:pt x="1120333" y="29706"/>
                  <a:pt x="996014" y="9662"/>
                  <a:pt x="683570" y="18288"/>
                </a:cubicBezTo>
                <a:cubicBezTo>
                  <a:pt x="371126" y="26914"/>
                  <a:pt x="198687" y="16167"/>
                  <a:pt x="0" y="18288"/>
                </a:cubicBezTo>
                <a:cubicBezTo>
                  <a:pt x="843" y="9577"/>
                  <a:pt x="371" y="6900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38100" cap="rnd">
            <a:solidFill>
              <a:schemeClr val="accent2"/>
            </a:solidFill>
            <a:round/>
            <a:extLst>
              <a:ext uri="{C807C97D-BFC1-408E-A445-0C87EB9F89A2}">
                <ask:lineSketchStyleProps xmlns:ask="http://schemas.microsoft.com/office/drawing/2018/sketchyshapes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411645C-D623-0201-04BD-69C93EB57A5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30936" y="2807208"/>
            <a:ext cx="3429000" cy="3410712"/>
          </a:xfrm>
        </p:spPr>
        <p:txBody>
          <a:bodyPr anchor="t">
            <a:normAutofit/>
          </a:bodyPr>
          <a:lstStyle/>
          <a:p>
            <a:r>
              <a:rPr lang="en-US" sz="2200" b="1"/>
              <a:t>Fork</a:t>
            </a:r>
            <a:r>
              <a:rPr lang="en-US" sz="2200"/>
              <a:t>: the beginning of parallel activities</a:t>
            </a:r>
          </a:p>
          <a:p>
            <a:r>
              <a:rPr lang="en-US" sz="2200" b="1"/>
              <a:t>Join</a:t>
            </a:r>
            <a:r>
              <a:rPr lang="en-US" sz="2200"/>
              <a:t>: the end of parallel activities</a:t>
            </a:r>
          </a:p>
          <a:p>
            <a:r>
              <a:rPr lang="en-US" sz="2200" b="1"/>
              <a:t>Swimlanes</a:t>
            </a:r>
            <a:r>
              <a:rPr lang="en-US" sz="2200"/>
              <a:t>: columns representing different organizational units of the system</a:t>
            </a:r>
          </a:p>
          <a:p>
            <a:endParaRPr lang="en-MY" sz="220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045C1695-2D0F-9225-64CA-09800564A9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91529" y="640080"/>
            <a:ext cx="6629253" cy="55778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334062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60E9A6ED-B880-44EA-8D60-C9D3C82CCBD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5C2AE2A-3AF4-B73B-4511-087BC2CEA4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6046" y="-106870"/>
            <a:ext cx="5170852" cy="1671564"/>
          </a:xfrm>
        </p:spPr>
        <p:txBody>
          <a:bodyPr>
            <a:normAutofit/>
          </a:bodyPr>
          <a:lstStyle/>
          <a:p>
            <a:r>
              <a:rPr lang="en-US" sz="3700" dirty="0"/>
              <a:t>Simple activity diagram showing conditional logic.</a:t>
            </a:r>
            <a:endParaRPr lang="en-MY" sz="37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3496CCE-648C-658E-0C08-F663F6632E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6652" y="1295399"/>
            <a:ext cx="5180246" cy="4833688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2000" dirty="0"/>
              <a:t>A user wants to log into a system (like a website or application).</a:t>
            </a:r>
          </a:p>
          <a:p>
            <a:r>
              <a:rPr lang="en-US" sz="2000" dirty="0"/>
              <a:t>If the user is already registered, they go directly to the login process.</a:t>
            </a:r>
          </a:p>
          <a:p>
            <a:r>
              <a:rPr lang="en-US" sz="2000" dirty="0"/>
              <a:t>If the user is not registered, they must click the ‘Register’ button</a:t>
            </a:r>
          </a:p>
          <a:p>
            <a:pPr lvl="1"/>
            <a:r>
              <a:rPr lang="en-US" sz="1600" dirty="0"/>
              <a:t>A registration form appears, which the user must fill out.</a:t>
            </a:r>
          </a:p>
          <a:p>
            <a:pPr lvl="1"/>
            <a:r>
              <a:rPr lang="en-US" sz="1600" dirty="0"/>
              <a:t>The system checks if the form is filled out correctly.</a:t>
            </a:r>
          </a:p>
          <a:p>
            <a:pPr lvl="2"/>
            <a:r>
              <a:rPr lang="en-US" sz="1050" dirty="0"/>
              <a:t>If not, the user must correct it and try again.</a:t>
            </a:r>
          </a:p>
          <a:p>
            <a:pPr lvl="2"/>
            <a:r>
              <a:rPr lang="en-US" sz="1050" dirty="0"/>
              <a:t>If it is correct, the flow continues.</a:t>
            </a:r>
          </a:p>
          <a:p>
            <a:r>
              <a:rPr lang="en-US" sz="1850" dirty="0"/>
              <a:t>After successful login or registration, the flow reaches a merge point and continues.</a:t>
            </a:r>
          </a:p>
          <a:p>
            <a:pPr marL="0" indent="0">
              <a:buNone/>
            </a:pPr>
            <a:r>
              <a:rPr lang="en-US" sz="1850" dirty="0"/>
              <a:t>This activity diagram represents just one part of a larger system. Other steps may happen before login or after this flow completes.</a:t>
            </a:r>
            <a:endParaRPr lang="en-MY" sz="1850" dirty="0"/>
          </a:p>
        </p:txBody>
      </p:sp>
      <p:pic>
        <p:nvPicPr>
          <p:cNvPr id="7" name="Picture 6" descr="A diagram of a registration form&#10;&#10;AI-generated content may be incorrect.">
            <a:extLst>
              <a:ext uri="{FF2B5EF4-FFF2-40B4-BE49-F238E27FC236}">
                <a16:creationId xmlns:a16="http://schemas.microsoft.com/office/drawing/2014/main" id="{F96DC757-96B2-D778-8B13-A3D5DFC6302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8433" b="-3"/>
          <a:stretch>
            <a:fillRect/>
          </a:stretch>
        </p:blipFill>
        <p:spPr>
          <a:xfrm>
            <a:off x="6182944" y="557189"/>
            <a:ext cx="5170852" cy="5571898"/>
          </a:xfrm>
          <a:prstGeom prst="rect">
            <a:avLst/>
          </a:prstGeom>
          <a:effectLst/>
        </p:spPr>
      </p:pic>
    </p:spTree>
    <p:extLst>
      <p:ext uri="{BB962C8B-B14F-4D97-AF65-F5344CB8AC3E}">
        <p14:creationId xmlns:p14="http://schemas.microsoft.com/office/powerpoint/2010/main" val="208014684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A diagram of a flowchart&#10;&#10;AI-generated content may be incorrect.">
            <a:extLst>
              <a:ext uri="{FF2B5EF4-FFF2-40B4-BE49-F238E27FC236}">
                <a16:creationId xmlns:a16="http://schemas.microsoft.com/office/drawing/2014/main" id="{F25EAAED-0925-874E-E932-582B4651A2F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8271" y="643466"/>
            <a:ext cx="3955457" cy="55710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763178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490D8E-410E-2155-B14D-C48DB537EE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MY" dirty="0"/>
              <a:t>When to use An Activity Diagram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8497298-AB39-4A46-071B-964E16D7C2B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554480"/>
            <a:ext cx="10515600" cy="4938395"/>
          </a:xfrm>
        </p:spPr>
        <p:txBody>
          <a:bodyPr>
            <a:normAutofit lnSpcReduction="10000"/>
          </a:bodyPr>
          <a:lstStyle/>
          <a:p>
            <a:pPr algn="l"/>
            <a:r>
              <a:rPr lang="en-US" sz="2400" b="0" i="0" u="none" strike="noStrike" baseline="0" dirty="0">
                <a:solidFill>
                  <a:srgbClr val="000000"/>
                </a:solidFill>
                <a:latin typeface="NewBaskervilleITCPro-Roman"/>
              </a:rPr>
              <a:t>An activity diagram is a flexible tool that can be used in a variety of situations. It can be used at a high level as well as at a low level of abstraction. It should be used only when it adds value to the project. </a:t>
            </a:r>
          </a:p>
          <a:p>
            <a:pPr algn="l"/>
            <a:r>
              <a:rPr lang="en-US" sz="2400" b="0" i="0" u="none" strike="noStrike" baseline="0" dirty="0">
                <a:solidFill>
                  <a:srgbClr val="000000"/>
                </a:solidFill>
                <a:latin typeface="NewBaskervilleITCPro-Roman"/>
              </a:rPr>
              <a:t>Does it add value or is it redundant?</a:t>
            </a:r>
          </a:p>
          <a:p>
            <a:pPr algn="l"/>
            <a:r>
              <a:rPr lang="en-US" sz="2400" b="0" i="0" u="none" strike="noStrike" baseline="0" dirty="0">
                <a:solidFill>
                  <a:srgbClr val="000000"/>
                </a:solidFill>
                <a:latin typeface="NewBaskervilleITCPro-Roman"/>
              </a:rPr>
              <a:t> Specifically, an activity diagram can be used to accomplish the following tasks:</a:t>
            </a:r>
          </a:p>
          <a:p>
            <a:pPr marL="457200" lvl="1" indent="0">
              <a:buNone/>
            </a:pPr>
            <a:r>
              <a:rPr lang="en-US" sz="1800" b="0" i="0" u="none" strike="noStrike" baseline="0" dirty="0">
                <a:solidFill>
                  <a:srgbClr val="000000"/>
                </a:solidFill>
                <a:latin typeface="NewBaskervilleITCPro-Roman"/>
              </a:rPr>
              <a:t>1. Depict the flow of control from activity to activity.</a:t>
            </a:r>
          </a:p>
          <a:p>
            <a:pPr marL="457200" lvl="1" indent="0">
              <a:buNone/>
            </a:pPr>
            <a:r>
              <a:rPr lang="en-US" sz="1800" b="0" i="0" u="none" strike="noStrike" baseline="0" dirty="0">
                <a:solidFill>
                  <a:srgbClr val="000000"/>
                </a:solidFill>
                <a:latin typeface="NewBaskervilleITCPro-Roman"/>
              </a:rPr>
              <a:t>2. Help in use case analysis to understand what actions need to take place.</a:t>
            </a:r>
          </a:p>
          <a:p>
            <a:pPr marL="457200" lvl="1" indent="0">
              <a:buNone/>
            </a:pPr>
            <a:r>
              <a:rPr lang="en-US" sz="1800" b="0" i="0" u="none" strike="noStrike" baseline="0" dirty="0">
                <a:solidFill>
                  <a:srgbClr val="000000"/>
                </a:solidFill>
                <a:latin typeface="NewBaskervilleITCPro-Roman"/>
              </a:rPr>
              <a:t>3. Help in identifying extensions in a use case.</a:t>
            </a:r>
          </a:p>
          <a:p>
            <a:pPr marL="457200" lvl="1" indent="0">
              <a:buNone/>
            </a:pPr>
            <a:r>
              <a:rPr lang="en-US" sz="1800" b="0" i="0" u="none" strike="noStrike" baseline="0" dirty="0">
                <a:solidFill>
                  <a:srgbClr val="000000"/>
                </a:solidFill>
                <a:latin typeface="NewBaskervilleITCPro-Roman"/>
              </a:rPr>
              <a:t>4. Model work flow and business processes.</a:t>
            </a:r>
          </a:p>
          <a:p>
            <a:pPr marL="457200" lvl="1" indent="0">
              <a:buNone/>
            </a:pPr>
            <a:r>
              <a:rPr lang="en-US" sz="1800" b="0" i="0" u="none" strike="noStrike" baseline="0" dirty="0">
                <a:solidFill>
                  <a:srgbClr val="000000"/>
                </a:solidFill>
                <a:latin typeface="NewBaskervilleITCPro-Roman"/>
              </a:rPr>
              <a:t>5. Model the sequential and concurrent steps in a computation process.</a:t>
            </a:r>
          </a:p>
          <a:p>
            <a:pPr algn="l"/>
            <a:r>
              <a:rPr lang="en-US" sz="2400" b="0" i="0" u="none" strike="noStrike" baseline="0" dirty="0">
                <a:solidFill>
                  <a:srgbClr val="000000"/>
                </a:solidFill>
                <a:latin typeface="NewBaskervilleITCPro-Roman"/>
              </a:rPr>
              <a:t>The interpretation of the term </a:t>
            </a:r>
            <a:r>
              <a:rPr lang="en-US" sz="2400" b="0" i="1" u="none" strike="noStrike" baseline="0" dirty="0">
                <a:solidFill>
                  <a:srgbClr val="000000"/>
                </a:solidFill>
                <a:latin typeface="NewBaskervilleITCPro-Italic"/>
              </a:rPr>
              <a:t>activity </a:t>
            </a:r>
            <a:r>
              <a:rPr lang="en-US" sz="2400" b="0" i="0" u="none" strike="noStrike" baseline="0" dirty="0">
                <a:solidFill>
                  <a:srgbClr val="000000"/>
                </a:solidFill>
                <a:latin typeface="NewBaskervilleITCPro-Roman"/>
              </a:rPr>
              <a:t>depends on the perspective from which one is drawing the diagram.</a:t>
            </a:r>
          </a:p>
          <a:p>
            <a:pPr lvl="1"/>
            <a:r>
              <a:rPr lang="en-US" sz="1800" b="0" i="0" u="none" strike="noStrike" baseline="0" dirty="0">
                <a:solidFill>
                  <a:srgbClr val="000000"/>
                </a:solidFill>
                <a:latin typeface="NewBaskervilleITCPro-Roman"/>
              </a:rPr>
              <a:t>At a conceptual level, an activity is a task that needs to be done, whether by a human or a computer (Fowler and Scott, 1999).</a:t>
            </a:r>
          </a:p>
          <a:p>
            <a:pPr lvl="1"/>
            <a:r>
              <a:rPr lang="en-US" sz="1800" b="0" i="0" u="none" strike="noStrike" baseline="0" dirty="0">
                <a:solidFill>
                  <a:srgbClr val="000000"/>
                </a:solidFill>
                <a:latin typeface="NewBaskervilleITCPro-Roman"/>
              </a:rPr>
              <a:t>At an implementation level, an activity is a method or a class.</a:t>
            </a:r>
          </a:p>
          <a:p>
            <a:pPr lvl="1"/>
            <a:endParaRPr lang="en-MY" dirty="0"/>
          </a:p>
        </p:txBody>
      </p:sp>
    </p:spTree>
    <p:extLst>
      <p:ext uri="{BB962C8B-B14F-4D97-AF65-F5344CB8AC3E}">
        <p14:creationId xmlns:p14="http://schemas.microsoft.com/office/powerpoint/2010/main" val="36467270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FD1383-A144-748A-626E-7CD749D00A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MY" dirty="0"/>
              <a:t>Summary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1AFECAA-1B56-51B2-A9B5-3012168EC6C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MY" dirty="0"/>
              <a:t>Object-oriented analysis helps model a system using real-world concepts.</a:t>
            </a:r>
          </a:p>
          <a:p>
            <a:r>
              <a:rPr lang="en-MY" dirty="0"/>
              <a:t>Use cases guide functional understanding.</a:t>
            </a:r>
          </a:p>
          <a:p>
            <a:r>
              <a:rPr lang="en-MY" dirty="0"/>
              <a:t>Models (context, </a:t>
            </a:r>
            <a:r>
              <a:rPr lang="en-MY" dirty="0" err="1"/>
              <a:t>behavior</a:t>
            </a:r>
            <a:r>
              <a:rPr lang="en-MY" dirty="0"/>
              <a:t>, object) ensure comprehensive analysis.</a:t>
            </a:r>
          </a:p>
        </p:txBody>
      </p:sp>
    </p:spTree>
    <p:extLst>
      <p:ext uri="{BB962C8B-B14F-4D97-AF65-F5344CB8AC3E}">
        <p14:creationId xmlns:p14="http://schemas.microsoft.com/office/powerpoint/2010/main" val="107783315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6">
            <a:extLst>
              <a:ext uri="{FF2B5EF4-FFF2-40B4-BE49-F238E27FC236}">
                <a16:creationId xmlns:a16="http://schemas.microsoft.com/office/drawing/2014/main" id="{F62C0E24-D2AF-F687-C95D-0F52CE7D53ED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8077200" y="6245225"/>
            <a:ext cx="2133600" cy="47625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anchor="b"/>
          <a:lstStyle/>
          <a:p>
            <a:pPr algn="r">
              <a:defRPr/>
            </a:pPr>
            <a:endParaRPr lang="en-US" sz="140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pic>
        <p:nvPicPr>
          <p:cNvPr id="34819" name="Picture 3">
            <a:extLst>
              <a:ext uri="{FF2B5EF4-FFF2-40B4-BE49-F238E27FC236}">
                <a16:creationId xmlns:a16="http://schemas.microsoft.com/office/drawing/2014/main" id="{EC6DC621-3DD4-8B76-3EE8-0D40839DBC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r:link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801" y="914400"/>
            <a:ext cx="7242175" cy="2363788"/>
          </a:xfrm>
          <a:prstGeom prst="rect">
            <a:avLst/>
          </a:prstGeom>
          <a:solidFill>
            <a:schemeClr val="hlink"/>
          </a:solidFill>
          <a:ln w="9525">
            <a:solidFill>
              <a:schemeClr val="bg1"/>
            </a:solidFill>
            <a:miter lim="800000"/>
            <a:headEnd/>
            <a:tailEnd/>
          </a:ln>
        </p:spPr>
      </p:pic>
      <p:sp>
        <p:nvSpPr>
          <p:cNvPr id="5" name="Rectangle 5">
            <a:extLst>
              <a:ext uri="{FF2B5EF4-FFF2-40B4-BE49-F238E27FC236}">
                <a16:creationId xmlns:a16="http://schemas.microsoft.com/office/drawing/2014/main" id="{4F17D328-0618-8C57-52C8-2CB67BE462A6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2286001" y="5002214"/>
            <a:ext cx="7845425" cy="636587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anchor="b"/>
          <a:lstStyle/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ahoma" pitchFamily="34" charset="0"/>
              </a:rPr>
              <a:t>Copyright © 2014 Pearson Education, Inc.  </a:t>
            </a:r>
          </a:p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ahoma" pitchFamily="34" charset="0"/>
              </a:rPr>
              <a:t>Publishing as Prentice Hall</a:t>
            </a:r>
            <a:endParaRPr lang="en-US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</p:spTree>
  </p:cSld>
  <p:clrMapOvr>
    <a:masterClrMapping/>
  </p:clrMapOvr>
  <p:transition/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218</TotalTime>
  <Words>1830</Words>
  <Application>Microsoft Office PowerPoint</Application>
  <PresentationFormat>Widescreen</PresentationFormat>
  <Paragraphs>204</Paragraphs>
  <Slides>32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32</vt:i4>
      </vt:variant>
    </vt:vector>
  </HeadingPairs>
  <TitlesOfParts>
    <vt:vector size="43" baseType="lpstr">
      <vt:lpstr>Aptos</vt:lpstr>
      <vt:lpstr>Aptos Display</vt:lpstr>
      <vt:lpstr>Arial</vt:lpstr>
      <vt:lpstr>Arial Black</vt:lpstr>
      <vt:lpstr>Calibri</vt:lpstr>
      <vt:lpstr>NewBaskervilleITCPro-Bold</vt:lpstr>
      <vt:lpstr>NewBaskervilleITCPro-Italic</vt:lpstr>
      <vt:lpstr>NewBaskervilleITCPro-Roman</vt:lpstr>
      <vt:lpstr>Tahoma</vt:lpstr>
      <vt:lpstr>Wingdings</vt:lpstr>
      <vt:lpstr>Office Theme</vt:lpstr>
      <vt:lpstr>Chapter 4: Object-Oriented Analysis  </vt:lpstr>
      <vt:lpstr>Object-Oriented Analysis</vt:lpstr>
      <vt:lpstr>Learning Objectives</vt:lpstr>
      <vt:lpstr>Objects and Classes – Overview</vt:lpstr>
      <vt:lpstr>Objects and Classes – In Analysis</vt:lpstr>
      <vt:lpstr>Use Cases</vt:lpstr>
      <vt:lpstr>Use Cases (Cont.)</vt:lpstr>
      <vt:lpstr>Use Cases (Cont.)</vt:lpstr>
      <vt:lpstr>Use Cases diagrams</vt:lpstr>
      <vt:lpstr>Definitions and Symbols</vt:lpstr>
      <vt:lpstr>Definitions and Symbols (Cont.)</vt:lpstr>
      <vt:lpstr>Definitions and Symbols (Cont.)</vt:lpstr>
      <vt:lpstr>Definitions and Symbols (Cont.)</vt:lpstr>
      <vt:lpstr>Definitions and Symbols (Cont.)</vt:lpstr>
      <vt:lpstr>Definitions and Symbols (Cont.)</vt:lpstr>
      <vt:lpstr>Definitions and Symbols (Cont.)</vt:lpstr>
      <vt:lpstr>Written Use Cases</vt:lpstr>
      <vt:lpstr>PowerPoint Presentation</vt:lpstr>
      <vt:lpstr>Level of Use Case</vt:lpstr>
      <vt:lpstr>Sample Format for Written Use Case</vt:lpstr>
      <vt:lpstr>Sample Format for Written Use Case (Continued)</vt:lpstr>
      <vt:lpstr>Sample Format for Written Use Case (Continued)</vt:lpstr>
      <vt:lpstr>PowerPoint Presentation</vt:lpstr>
      <vt:lpstr>Process Modeling: Activity Diagrams</vt:lpstr>
      <vt:lpstr>Use Activity Diagrams to:</vt:lpstr>
      <vt:lpstr>Process Modeling: Activity Diagrams (Cont.)</vt:lpstr>
      <vt:lpstr>Process Modeling: Activity Diagrams (Cont.)</vt:lpstr>
      <vt:lpstr>Simple activity diagram showing conditional logic.</vt:lpstr>
      <vt:lpstr>PowerPoint Presentation</vt:lpstr>
      <vt:lpstr>When to use An Activity Diagram </vt:lpstr>
      <vt:lpstr>Summary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AINITA BINTI BAN</dc:creator>
  <cp:lastModifiedBy>AINITA BINTI BAN</cp:lastModifiedBy>
  <cp:revision>3</cp:revision>
  <dcterms:created xsi:type="dcterms:W3CDTF">2025-05-23T06:52:50Z</dcterms:created>
  <dcterms:modified xsi:type="dcterms:W3CDTF">2025-05-23T10:30:59Z</dcterms:modified>
</cp:coreProperties>
</file>