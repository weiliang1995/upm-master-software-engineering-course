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9" r:id="rId1"/>
  </p:sldMasterIdLst>
  <p:notesMasterIdLst>
    <p:notesMasterId r:id="rId82"/>
  </p:notesMasterIdLst>
  <p:handoutMasterIdLst>
    <p:handoutMasterId r:id="rId83"/>
  </p:handoutMasterIdLst>
  <p:sldIdLst>
    <p:sldId id="299" r:id="rId2"/>
    <p:sldId id="259" r:id="rId3"/>
    <p:sldId id="258" r:id="rId4"/>
    <p:sldId id="348" r:id="rId5"/>
    <p:sldId id="349" r:id="rId6"/>
    <p:sldId id="350" r:id="rId7"/>
    <p:sldId id="351" r:id="rId8"/>
    <p:sldId id="352" r:id="rId9"/>
    <p:sldId id="353" r:id="rId10"/>
    <p:sldId id="364" r:id="rId11"/>
    <p:sldId id="365" r:id="rId12"/>
    <p:sldId id="366" r:id="rId13"/>
    <p:sldId id="367" r:id="rId14"/>
    <p:sldId id="368" r:id="rId15"/>
    <p:sldId id="369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3" r:id="rId24"/>
    <p:sldId id="300" r:id="rId25"/>
    <p:sldId id="301" r:id="rId26"/>
    <p:sldId id="302" r:id="rId27"/>
    <p:sldId id="313" r:id="rId28"/>
    <p:sldId id="314" r:id="rId29"/>
    <p:sldId id="315" r:id="rId30"/>
    <p:sldId id="316" r:id="rId31"/>
    <p:sldId id="317" r:id="rId32"/>
    <p:sldId id="318" r:id="rId33"/>
    <p:sldId id="319" r:id="rId34"/>
    <p:sldId id="320" r:id="rId35"/>
    <p:sldId id="321" r:id="rId36"/>
    <p:sldId id="322" r:id="rId37"/>
    <p:sldId id="323" r:id="rId38"/>
    <p:sldId id="324" r:id="rId39"/>
    <p:sldId id="325" r:id="rId40"/>
    <p:sldId id="275" r:id="rId41"/>
    <p:sldId id="276" r:id="rId42"/>
    <p:sldId id="326" r:id="rId43"/>
    <p:sldId id="327" r:id="rId44"/>
    <p:sldId id="328" r:id="rId45"/>
    <p:sldId id="329" r:id="rId46"/>
    <p:sldId id="330" r:id="rId47"/>
    <p:sldId id="331" r:id="rId48"/>
    <p:sldId id="332" r:id="rId49"/>
    <p:sldId id="333" r:id="rId50"/>
    <p:sldId id="334" r:id="rId51"/>
    <p:sldId id="335" r:id="rId52"/>
    <p:sldId id="336" r:id="rId53"/>
    <p:sldId id="337" r:id="rId54"/>
    <p:sldId id="338" r:id="rId55"/>
    <p:sldId id="288" r:id="rId56"/>
    <p:sldId id="289" r:id="rId57"/>
    <p:sldId id="290" r:id="rId58"/>
    <p:sldId id="291" r:id="rId59"/>
    <p:sldId id="292" r:id="rId60"/>
    <p:sldId id="293" r:id="rId61"/>
    <p:sldId id="339" r:id="rId62"/>
    <p:sldId id="340" r:id="rId63"/>
    <p:sldId id="341" r:id="rId64"/>
    <p:sldId id="342" r:id="rId65"/>
    <p:sldId id="343" r:id="rId66"/>
    <p:sldId id="344" r:id="rId67"/>
    <p:sldId id="345" r:id="rId68"/>
    <p:sldId id="346" r:id="rId69"/>
    <p:sldId id="347" r:id="rId70"/>
    <p:sldId id="303" r:id="rId71"/>
    <p:sldId id="304" r:id="rId72"/>
    <p:sldId id="305" r:id="rId73"/>
    <p:sldId id="306" r:id="rId74"/>
    <p:sldId id="307" r:id="rId75"/>
    <p:sldId id="308" r:id="rId76"/>
    <p:sldId id="309" r:id="rId77"/>
    <p:sldId id="310" r:id="rId78"/>
    <p:sldId id="370" r:id="rId79"/>
    <p:sldId id="311" r:id="rId80"/>
    <p:sldId id="312" r:id="rId81"/>
  </p:sldIdLst>
  <p:sldSz cx="9144000" cy="6858000" type="screen4x3"/>
  <p:notesSz cx="9283700" cy="6997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Verdana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73" autoAdjust="0"/>
  </p:normalViewPr>
  <p:slideViewPr>
    <p:cSldViewPr>
      <p:cViewPr varScale="1">
        <p:scale>
          <a:sx n="83" d="100"/>
          <a:sy n="83" d="100"/>
        </p:scale>
        <p:origin x="108" y="5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3722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2656" cy="34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258939" y="0"/>
            <a:ext cx="4022656" cy="34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647098"/>
            <a:ext cx="4022656" cy="34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258939" y="6647098"/>
            <a:ext cx="4022656" cy="34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1F4BE040-C7E7-1C4F-A3FC-8F0583ABBC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3384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022656" cy="34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258939" y="0"/>
            <a:ext cx="4022656" cy="34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92425" y="525463"/>
            <a:ext cx="3498850" cy="26241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8792" y="3324147"/>
            <a:ext cx="7426118" cy="31482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647098"/>
            <a:ext cx="4022656" cy="34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 eaLnBrk="1" hangingPunct="1">
              <a:defRPr sz="1200">
                <a:latin typeface="Arial" pitchFamily="-111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258939" y="6647098"/>
            <a:ext cx="4022656" cy="3494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814E7085-1305-0842-BE75-461A9DC73B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542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charset="0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1" charset="0"/>
        <a:ea typeface="ＭＳ Ｐゴシック" pitchFamily="-111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7A7A9AB2-7B7D-7649-A201-BF927D68A19A}" type="slidenum">
              <a:rPr lang="en-US" sz="1200">
                <a:latin typeface="Arial" charset="0"/>
              </a:rPr>
              <a:pPr/>
              <a:t>2</a:t>
            </a:fld>
            <a:endParaRPr lang="en-US" sz="1200">
              <a:latin typeface="Arial" charset="0"/>
            </a:endParaRPr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20447" y="3326541"/>
            <a:ext cx="7042807" cy="295200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2062" tIns="45223" rIns="92062" bIns="45223"/>
          <a:lstStyle/>
          <a:p>
            <a:pPr eaLnBrk="1" hangingPunct="1"/>
            <a:endParaRPr lang="en-US">
              <a:latin typeface="Arial" charset="0"/>
            </a:endParaRPr>
          </a:p>
        </p:txBody>
      </p:sp>
      <p:sp>
        <p:nvSpPr>
          <p:cNvPr id="18435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08313" y="611188"/>
            <a:ext cx="3267075" cy="2449512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41388335-1167-5744-B1C6-8BD00DAC33E6}" type="slidenum">
              <a:rPr lang="en-US" sz="1200">
                <a:latin typeface="Arial" charset="0"/>
              </a:rPr>
              <a:pPr/>
              <a:t>3</a:t>
            </a:fld>
            <a:endParaRPr lang="en-US" sz="1200">
              <a:latin typeface="Arial" charset="0"/>
            </a:endParaRPr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1120447" y="3326541"/>
            <a:ext cx="7042807" cy="2952005"/>
          </a:xfrm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lIns="92062" tIns="45223" rIns="92062" bIns="45223"/>
          <a:lstStyle/>
          <a:p>
            <a:pPr eaLnBrk="1" hangingPunct="1"/>
            <a:endParaRPr lang="en-US" dirty="0">
              <a:latin typeface="Arial" charset="0"/>
            </a:endParaRPr>
          </a:p>
        </p:txBody>
      </p:sp>
      <p:sp>
        <p:nvSpPr>
          <p:cNvPr id="1638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008313" y="611188"/>
            <a:ext cx="3267075" cy="2449512"/>
          </a:xfrm>
          <a:ln w="12700" cap="flat">
            <a:solidFill>
              <a:schemeClr val="tx1"/>
            </a:solidFill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887C4376-10FB-5021-4A6B-05BCB49427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218868C-18EA-4CA0-94DE-39AF9CE70C7F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703DAAC9-F22C-DDB1-866F-95403053C6E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899307" y="552828"/>
            <a:ext cx="7021746" cy="2762943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FE6B589F-6829-864D-03BE-DAC2BE5B7D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5206" y="3500047"/>
            <a:ext cx="6465735" cy="331577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>
            <a:extLst>
              <a:ext uri="{FF2B5EF4-FFF2-40B4-BE49-F238E27FC236}">
                <a16:creationId xmlns:a16="http://schemas.microsoft.com/office/drawing/2014/main" id="{A9DA314E-C5A0-E413-83E0-17CFC46D72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4DAD870-870A-4221-8E00-0B73AB293C07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E48CF852-4B0E-63BD-78DE-ADC31247A5E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899307" y="552828"/>
            <a:ext cx="7021746" cy="2762943"/>
          </a:xfrm>
          <a:ln/>
        </p:spPr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0CF34D56-55E6-B5B0-4A12-65B18FBFF7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5206" y="3500047"/>
            <a:ext cx="6465735" cy="331577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>
            <a:extLst>
              <a:ext uri="{FF2B5EF4-FFF2-40B4-BE49-F238E27FC236}">
                <a16:creationId xmlns:a16="http://schemas.microsoft.com/office/drawing/2014/main" id="{CCCB5819-4932-A74F-EBF0-D6F7F48652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03288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8CF968-D7FE-426D-A19F-C4B8F95B478E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32771" name="Rectangle 2">
            <a:extLst>
              <a:ext uri="{FF2B5EF4-FFF2-40B4-BE49-F238E27FC236}">
                <a16:creationId xmlns:a16="http://schemas.microsoft.com/office/drawing/2014/main" id="{5E53A049-FA89-8445-8709-F8C2DF81B11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899307" y="552828"/>
            <a:ext cx="7021746" cy="2762943"/>
          </a:xfrm>
          <a:ln/>
        </p:spPr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BF2B5053-775F-696B-39AD-4067FAB14D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75206" y="3500047"/>
            <a:ext cx="6465735" cy="331577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GB" sz="2800" dirty="0">
                <a:cs typeface="Arial" charset="0"/>
              </a:rPr>
              <a:t>System response time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>
                <a:cs typeface="Arial" charset="0"/>
              </a:rPr>
              <a:t>time between the point at which user initiates some control action and the time when the system responds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>
                <a:cs typeface="Arial" charset="0"/>
              </a:rPr>
              <a:t>User help facilities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>
                <a:cs typeface="Arial" charset="0"/>
              </a:rPr>
              <a:t>integrated, context sensitive help versus add-on help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>
                <a:cs typeface="Arial" charset="0"/>
              </a:rPr>
              <a:t>Error information handling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>
                <a:cs typeface="Arial" charset="0"/>
              </a:rPr>
              <a:t>messages should be non-judgmental, describe problem precisely, and suggest valid solutions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>
                <a:cs typeface="Arial" charset="0"/>
              </a:rPr>
              <a:t>Command </a:t>
            </a:r>
            <a:r>
              <a:rPr lang="en-GB" sz="2800" dirty="0" err="1">
                <a:cs typeface="Arial" charset="0"/>
              </a:rPr>
              <a:t>labeling</a:t>
            </a:r>
            <a:r>
              <a:rPr lang="en-GB" sz="2800" dirty="0">
                <a:cs typeface="Arial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400" dirty="0">
                <a:cs typeface="Arial" charset="0"/>
              </a:rPr>
              <a:t>based on user vocabulary, simple grammar, and have consistent rules for abbreviation</a:t>
            </a:r>
            <a:endParaRPr lang="en-GB" sz="2400" dirty="0"/>
          </a:p>
          <a:p>
            <a:endParaRPr lang="en-MY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814E7085-1305-0842-BE75-461A9DC73BE3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483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A11358D4-DD20-D837-B178-7EC65A380A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E8AF055-CCCB-A413-C887-670E3044912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7EE3EBA-4749-2527-23E6-2D0D4E719B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B1D739E6-CAF3-4AAD-5295-743EA6EF445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7CBE2F9-64E3-953E-C9F0-D18161738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5A88EF2-082A-AC26-C0E6-B57E97C4B4E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3C66DEEB-8B45-B565-3E16-CB8CFA1AC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99F5B92D-20E1-3279-606D-2C981D74B09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EA7CFA8-78C7-D0E2-6831-35292F9D7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537E49C9-49B1-FB62-128E-8164F01F374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B1136AE0-ACF6-1D9A-9964-598E502D92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E242CA2D-7BA5-11DB-6FE3-907D1406362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EC7B23D6-7C41-0D39-3746-8495751360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0C73FD20-9116-3D2B-65F4-F654A84B9CA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C4301EB3-3889-561B-2128-80294E597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5FC2FDC1-0970-1D10-DAA5-E0CCE457C69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00AAEB6D-2B2B-49E0-403F-243B5C5468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CB4DB385-040C-4B48-DCDC-8527848A10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2B25B7E-25D9-1BC1-DB93-49BA73822C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4129FCDC-D1C5-3B37-ACB6-925AB081D3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362EC33-334E-BCC9-A495-1064F1BF1F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51D9A46C-4CF0-15D7-506A-4D96608F8BD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760A3AB9-0782-EB46-85E0-583FB3E10F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B6189276-0BF3-69F9-C9BB-C13D62050A2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A8D416B4-6D12-6E1D-E984-A1D49454F2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D183D2D2-316A-C9AE-C72E-81508254372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884A841B-7523-31BD-BA64-ACECEE8846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7ACF6F1A-65E6-D1D5-3BB0-EC8F7F9982E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9812AA87-7456-D0C8-949B-92749EA89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C39FC08-4848-D588-7238-8F9CA1985BD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4A4181C2-AA0F-5067-08C3-510F75C8D2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1CA05B54-68B9-DE54-C601-D0024F5240F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255B43F-B73D-9562-F385-091E7B4F3D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5C775378-9A4E-F7EB-4F2A-19006BC1285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03B4E68B-CF99-AB27-AC7A-CB650E8D13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713E7525-905E-4701-8AB1-F2F4D9FD483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>
            <a:extLst>
              <a:ext uri="{FF2B5EF4-FFF2-40B4-BE49-F238E27FC236}">
                <a16:creationId xmlns:a16="http://schemas.microsoft.com/office/drawing/2014/main" id="{AFB4FB6D-9141-E65B-81F6-FE9C77668A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DBA9DC6A-D9D6-A1B1-6BFA-6CA25BE37B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>
            <a:extLst>
              <a:ext uri="{FF2B5EF4-FFF2-40B4-BE49-F238E27FC236}">
                <a16:creationId xmlns:a16="http://schemas.microsoft.com/office/drawing/2014/main" id="{AA4969AA-21AC-D5B9-D5D5-FF74171489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B155EAE2-DD96-20F3-8847-418ABCC7492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>
            <a:extLst>
              <a:ext uri="{FF2B5EF4-FFF2-40B4-BE49-F238E27FC236}">
                <a16:creationId xmlns:a16="http://schemas.microsoft.com/office/drawing/2014/main" id="{A967B380-D6AC-F4C4-1E1B-92EEE6B12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1047C2CD-1E35-3B17-28BD-8B7454E16DB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4100E6FF-944E-AA88-81CE-78E75E402A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CB763E2C-4F26-A8EE-3A13-1D6DC0F1D21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>
            <a:extLst>
              <a:ext uri="{FF2B5EF4-FFF2-40B4-BE49-F238E27FC236}">
                <a16:creationId xmlns:a16="http://schemas.microsoft.com/office/drawing/2014/main" id="{96A51DDF-3BDB-3976-E9AF-0F41974F6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21C018FA-C487-3530-95D9-B703D395BD3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C6C795C9-B257-3584-C781-CF72061F1D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2CD24A2D-F305-47DB-C929-3AB591586D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>
            <a:extLst>
              <a:ext uri="{FF2B5EF4-FFF2-40B4-BE49-F238E27FC236}">
                <a16:creationId xmlns:a16="http://schemas.microsoft.com/office/drawing/2014/main" id="{93BAF28D-7813-5312-27B0-4923EF5BA2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72707" name="Rectangle 3">
            <a:extLst>
              <a:ext uri="{FF2B5EF4-FFF2-40B4-BE49-F238E27FC236}">
                <a16:creationId xmlns:a16="http://schemas.microsoft.com/office/drawing/2014/main" id="{DD8A87C9-8605-5081-E9BA-3054A483B4D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>
            <a:extLst>
              <a:ext uri="{FF2B5EF4-FFF2-40B4-BE49-F238E27FC236}">
                <a16:creationId xmlns:a16="http://schemas.microsoft.com/office/drawing/2014/main" id="{3DD10CEE-164C-9784-7749-D455411723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74755" name="Rectangle 3">
            <a:extLst>
              <a:ext uri="{FF2B5EF4-FFF2-40B4-BE49-F238E27FC236}">
                <a16:creationId xmlns:a16="http://schemas.microsoft.com/office/drawing/2014/main" id="{C85969A5-A842-69C1-A683-DBA683E2EE8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D35CE1A7-E541-0AFC-72AA-FEEC9C8AED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AD9627E4-10CC-7364-868F-0E9AD9567B3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>
            <a:extLst>
              <a:ext uri="{FF2B5EF4-FFF2-40B4-BE49-F238E27FC236}">
                <a16:creationId xmlns:a16="http://schemas.microsoft.com/office/drawing/2014/main" id="{BCBDE6E5-B13C-32F7-0613-8BA1AF5CD0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78851" name="Rectangle 3">
            <a:extLst>
              <a:ext uri="{FF2B5EF4-FFF2-40B4-BE49-F238E27FC236}">
                <a16:creationId xmlns:a16="http://schemas.microsoft.com/office/drawing/2014/main" id="{27B18A7C-0AE3-6037-EF52-0C75110E5FF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>
            <a:extLst>
              <a:ext uri="{FF2B5EF4-FFF2-40B4-BE49-F238E27FC236}">
                <a16:creationId xmlns:a16="http://schemas.microsoft.com/office/drawing/2014/main" id="{72F52602-2784-052F-4E46-483443A25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714058FE-3BC8-2981-3439-C9E6B09188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>
            <a:extLst>
              <a:ext uri="{FF2B5EF4-FFF2-40B4-BE49-F238E27FC236}">
                <a16:creationId xmlns:a16="http://schemas.microsoft.com/office/drawing/2014/main" id="{86AC6248-8EEE-7721-2DFA-A478679FB1E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83971" name="Rectangle 3">
            <a:extLst>
              <a:ext uri="{FF2B5EF4-FFF2-40B4-BE49-F238E27FC236}">
                <a16:creationId xmlns:a16="http://schemas.microsoft.com/office/drawing/2014/main" id="{93E9D7B7-65AF-135C-A4D1-BFA8A6A45A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>
            <a:extLst>
              <a:ext uri="{FF2B5EF4-FFF2-40B4-BE49-F238E27FC236}">
                <a16:creationId xmlns:a16="http://schemas.microsoft.com/office/drawing/2014/main" id="{1A382CB6-CBD7-B463-1454-59DCDE7F0D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86019" name="Rectangle 3">
            <a:extLst>
              <a:ext uri="{FF2B5EF4-FFF2-40B4-BE49-F238E27FC236}">
                <a16:creationId xmlns:a16="http://schemas.microsoft.com/office/drawing/2014/main" id="{05803A55-F75C-323F-CC92-AB4BA2255E6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>
            <a:extLst>
              <a:ext uri="{FF2B5EF4-FFF2-40B4-BE49-F238E27FC236}">
                <a16:creationId xmlns:a16="http://schemas.microsoft.com/office/drawing/2014/main" id="{547B7341-AA2E-0483-6AC9-D57FF9D2B6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88067" name="Rectangle 3">
            <a:extLst>
              <a:ext uri="{FF2B5EF4-FFF2-40B4-BE49-F238E27FC236}">
                <a16:creationId xmlns:a16="http://schemas.microsoft.com/office/drawing/2014/main" id="{2D93BC7F-DB09-AAA2-6366-D383F0EC6E4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>
            <a:extLst>
              <a:ext uri="{FF2B5EF4-FFF2-40B4-BE49-F238E27FC236}">
                <a16:creationId xmlns:a16="http://schemas.microsoft.com/office/drawing/2014/main" id="{9B8E7E83-A0DF-D020-A912-AA3DC89ECA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90115" name="Rectangle 3">
            <a:extLst>
              <a:ext uri="{FF2B5EF4-FFF2-40B4-BE49-F238E27FC236}">
                <a16:creationId xmlns:a16="http://schemas.microsoft.com/office/drawing/2014/main" id="{53934328-A85E-7CFE-60F2-C24D548FC1A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>
            <a:extLst>
              <a:ext uri="{FF2B5EF4-FFF2-40B4-BE49-F238E27FC236}">
                <a16:creationId xmlns:a16="http://schemas.microsoft.com/office/drawing/2014/main" id="{B15903A3-C43B-4BA1-D768-561F99A4D7F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92163" name="Rectangle 3">
            <a:extLst>
              <a:ext uri="{FF2B5EF4-FFF2-40B4-BE49-F238E27FC236}">
                <a16:creationId xmlns:a16="http://schemas.microsoft.com/office/drawing/2014/main" id="{FD6ED70A-F130-1BEB-4475-6435A90459D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>
            <a:extLst>
              <a:ext uri="{FF2B5EF4-FFF2-40B4-BE49-F238E27FC236}">
                <a16:creationId xmlns:a16="http://schemas.microsoft.com/office/drawing/2014/main" id="{B6C4D7F6-885C-ED56-4932-217D9E4F9C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94211" name="Rectangle 3">
            <a:extLst>
              <a:ext uri="{FF2B5EF4-FFF2-40B4-BE49-F238E27FC236}">
                <a16:creationId xmlns:a16="http://schemas.microsoft.com/office/drawing/2014/main" id="{48A4E776-4106-39EC-8CFE-90358A08AAA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ED4FCCCB-5F6C-E363-2E39-30A088F30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99331" name="Rectangle 3">
            <a:extLst>
              <a:ext uri="{FF2B5EF4-FFF2-40B4-BE49-F238E27FC236}">
                <a16:creationId xmlns:a16="http://schemas.microsoft.com/office/drawing/2014/main" id="{026BF66E-38E6-C573-575A-9E8B0903BE5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BF383E0E-2016-3749-B36F-7D9801041D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38548E1A-E7AA-6877-7C98-6D8470B7654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 cap="flat"/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289DEAEA-EC4E-0AF3-3A7A-1710022143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altLang="en-US"/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25E8106A-176D-6B61-6315-1D6A42FA59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xfrm>
            <a:off x="1933402" y="625821"/>
            <a:ext cx="4894582" cy="2086865"/>
          </a:xfrm>
          <a:ln cap="flat"/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-111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94C5C-D964-4262-A34D-32986D76A0E9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3CF97D-1C95-E84E-88B1-BE7CCB62C95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207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BF39CF-C344-48B4-90ED-C72C12C7C6FC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A85B20-BB4C-E54A-8F56-09F94BE4E4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663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790DC6-828F-433B-B3F7-AD44EBA3F819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E92205-7D3A-5645-95AA-3938AFD6AD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913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5624CE-3D5B-4DC7-91E1-603701EED0C5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35F4CC-F4AA-E94B-84F9-6B75D57B96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6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496D52-97CF-458F-8E6F-5F49AF5B2831}" type="datetime1">
              <a:rPr lang="en-US" smtClean="0"/>
              <a:t>6/16/2025</a:t>
            </a:fld>
            <a:endParaRPr lang="en-US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5BA753-FC0A-2D48-9B06-A514CDC905B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DBE07B-698B-4F16-BA11-6967A7B1041D}" type="datetime1">
              <a:rPr lang="en-US" smtClean="0"/>
              <a:t>6/16/2025</a:t>
            </a:fld>
            <a:endParaRPr 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748803-254F-DA45-9656-FBBF55F2B4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0441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B25D19-BE9F-4B51-A936-72640FFAC3FD}" type="datetime1">
              <a:rPr lang="en-US" smtClean="0"/>
              <a:t>6/16/2025</a:t>
            </a:fld>
            <a:endParaRPr lang="en-US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DF6B054-6ACE-A547-80AC-B45DA56C9F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818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DF659E-F11F-44D0-BA89-9F45C1622F7D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D3F8DC-89BD-4141-94DC-E2DAF609FC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23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EE502-13BE-44F7-9A17-7D3F00234DEF}" type="datetime1">
              <a:rPr lang="en-US" smtClean="0"/>
              <a:t>6/16/2025</a:t>
            </a:fld>
            <a:endParaRPr 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EA44B2-D8BD-254D-9450-3E27D0AB17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526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D5705C-905D-4D77-9F80-0CEBCD61163B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B107B1-0D2E-094B-995A-E86ACB401B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179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918914-BEDD-41AB-B44B-F642B1F4EA05}" type="datetime1">
              <a:rPr lang="en-US" smtClean="0"/>
              <a:t>6/16/2025</a:t>
            </a:fld>
            <a:endParaRPr lang="en-US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B4522-579E-074D-98B9-0D1F3F29AA6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138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7 w 1000"/>
              <a:gd name="T3" fmla="*/ 0 h 1000"/>
              <a:gd name="T4" fmla="*/ 2147483647 w 1000"/>
              <a:gd name="T5" fmla="*/ 2147483647 h 1000"/>
              <a:gd name="T6" fmla="*/ 0 w 1000"/>
              <a:gd name="T7" fmla="*/ 2147483647 h 1000"/>
              <a:gd name="T8" fmla="*/ 0 w 1000"/>
              <a:gd name="T9" fmla="*/ 0 h 1000"/>
              <a:gd name="T10" fmla="*/ 2147483647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fld id="{8CEA3F64-2F5A-479B-9B30-2493FAC9519F}" type="datetime1">
              <a:rPr lang="en-US" smtClean="0"/>
              <a:t>6/16/2025</a:t>
            </a:fld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/>
            </a:lvl1pPr>
          </a:lstStyle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19812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1F59E20-9E8B-264E-8090-C7253478CC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-111" charset="0"/>
          <a:ea typeface="ＭＳ Ｐゴシック" charset="0"/>
          <a:cs typeface="ＭＳ Ｐゴシック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-111" charset="0"/>
          <a:ea typeface="ＭＳ Ｐゴシック" charset="0"/>
          <a:cs typeface="ＭＳ Ｐゴシック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-111" charset="0"/>
          <a:ea typeface="ＭＳ Ｐゴシック" charset="0"/>
          <a:cs typeface="ＭＳ Ｐゴシック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-111" charset="0"/>
          <a:ea typeface="ＭＳ Ｐゴシック" charset="0"/>
          <a:cs typeface="ＭＳ Ｐゴシック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-111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-111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-111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-111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o"/>
        <a:defRPr sz="30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n"/>
        <a:defRPr sz="2600">
          <a:solidFill>
            <a:schemeClr val="tx1"/>
          </a:solidFill>
          <a:latin typeface="+mn-lt"/>
          <a:ea typeface="ＭＳ Ｐゴシック" pitchFamily="-111" charset="-128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o"/>
        <a:defRPr sz="2300">
          <a:solidFill>
            <a:schemeClr val="tx1"/>
          </a:solidFill>
          <a:latin typeface="+mn-lt"/>
          <a:ea typeface="ＭＳ Ｐゴシック" pitchFamily="-111" charset="-128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charset="0"/>
        <a:buChar char="n"/>
        <a:defRPr sz="2000">
          <a:solidFill>
            <a:schemeClr val="tx1"/>
          </a:solidFill>
          <a:latin typeface="+mn-lt"/>
          <a:ea typeface="ＭＳ Ｐゴシック" pitchFamily="-111" charset="-128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charset="0"/>
        <a:buChar char="§"/>
        <a:defRPr sz="2000">
          <a:solidFill>
            <a:schemeClr val="tx1"/>
          </a:solidFill>
          <a:latin typeface="+mn-lt"/>
          <a:ea typeface="ＭＳ Ｐゴシック" pitchFamily="-111" charset="-128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-111" charset="2"/>
        <a:buChar char="§"/>
        <a:defRPr sz="2000">
          <a:solidFill>
            <a:schemeClr val="tx1"/>
          </a:solidFill>
          <a:latin typeface="+mn-lt"/>
          <a:ea typeface="ＭＳ Ｐゴシック" pitchFamily="-111" charset="-128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-111" charset="2"/>
        <a:buChar char="§"/>
        <a:defRPr sz="2000">
          <a:solidFill>
            <a:schemeClr val="tx1"/>
          </a:solidFill>
          <a:latin typeface="+mn-lt"/>
          <a:ea typeface="ＭＳ Ｐゴシック" pitchFamily="-111" charset="-128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-111" charset="2"/>
        <a:buChar char="§"/>
        <a:defRPr sz="2000">
          <a:solidFill>
            <a:schemeClr val="tx1"/>
          </a:solidFill>
          <a:latin typeface="+mn-lt"/>
          <a:ea typeface="ＭＳ Ｐゴシック" pitchFamily="-111" charset="-128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-111" charset="2"/>
        <a:buChar char="§"/>
        <a:defRPr sz="2000">
          <a:solidFill>
            <a:schemeClr val="tx1"/>
          </a:solidFill>
          <a:latin typeface="+mn-lt"/>
          <a:ea typeface="ＭＳ Ｐゴシック" pitchFamily="-111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wmf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8EC5C-A118-E5EF-DE85-36F4145E2AE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Y" dirty="0"/>
              <a:t>Chapter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8603A6-631B-F061-3BC6-6A438E22F9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MY" dirty="0"/>
              <a:t>User Interface Design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518C32-94F4-382C-F590-8C6132CE2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C20BF9-1C53-3170-36B5-2DE2C598F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83CF97D-1C95-E84E-88B1-BE7CCB62C95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99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en-US" sz="1200"/>
              <a:t>Chapter 6</a:t>
            </a:r>
          </a:p>
        </p:txBody>
      </p:sp>
      <p:sp>
        <p:nvSpPr>
          <p:cNvPr id="1741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93B13573-252E-A44A-8565-6F02548BA476}" type="slidenum">
              <a:rPr lang="en-US" sz="1200"/>
              <a:pPr/>
              <a:t>2</a:t>
            </a:fld>
            <a:endParaRPr lang="en-US" sz="1200"/>
          </a:p>
        </p:txBody>
      </p:sp>
      <p:sp>
        <p:nvSpPr>
          <p:cNvPr id="17412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841" tIns="44623" rIns="90841" bIns="44623"/>
          <a:lstStyle/>
          <a:p>
            <a:pPr eaLnBrk="1" hangingPunct="1"/>
            <a:r>
              <a:rPr lang="en-US">
                <a:latin typeface="Verdana" charset="0"/>
              </a:rPr>
              <a:t> User interface</a:t>
            </a:r>
          </a:p>
        </p:txBody>
      </p:sp>
      <p:sp>
        <p:nvSpPr>
          <p:cNvPr id="1741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0841" tIns="44623" rIns="90841" bIns="44623"/>
          <a:lstStyle/>
          <a:p>
            <a:pPr eaLnBrk="1" hangingPunct="1"/>
            <a:r>
              <a:rPr lang="en-US" dirty="0">
                <a:latin typeface="Verdana" charset="0"/>
              </a:rPr>
              <a:t>System users often judge a system by its interface rather than its functionality</a:t>
            </a:r>
          </a:p>
          <a:p>
            <a:pPr eaLnBrk="1" hangingPunct="1"/>
            <a:r>
              <a:rPr lang="en-US" dirty="0">
                <a:latin typeface="Verdana" charset="0"/>
              </a:rPr>
              <a:t>A poorly designed interface can cause a user to make catastrophic errors</a:t>
            </a:r>
          </a:p>
          <a:p>
            <a:pPr eaLnBrk="1" hangingPunct="1"/>
            <a:r>
              <a:rPr lang="en-US" dirty="0">
                <a:latin typeface="Verdana" charset="0"/>
              </a:rPr>
              <a:t>Poor user interface design is the reason why so many software systems are </a:t>
            </a:r>
            <a:r>
              <a:rPr lang="en-US" dirty="0">
                <a:solidFill>
                  <a:srgbClr val="FF0000"/>
                </a:solidFill>
                <a:latin typeface="Verdana" charset="0"/>
              </a:rPr>
              <a:t>never used</a:t>
            </a: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r>
              <a:rPr lang="en-US" sz="1200"/>
              <a:t>Chapter 6</a:t>
            </a:r>
          </a:p>
        </p:txBody>
      </p:sp>
      <p:sp>
        <p:nvSpPr>
          <p:cNvPr id="1536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charset="0"/>
                <a:ea typeface="ＭＳ Ｐゴシック" charset="0"/>
              </a:defRPr>
            </a:lvl9pPr>
          </a:lstStyle>
          <a:p>
            <a:fld id="{06106D24-CFF0-D34A-BE09-D200DB34D6E3}" type="slidenum">
              <a:rPr lang="en-US" sz="1200"/>
              <a:pPr/>
              <a:t>3</a:t>
            </a:fld>
            <a:endParaRPr lang="en-US" sz="1200"/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0841" tIns="44623" rIns="90841" bIns="44623"/>
          <a:lstStyle/>
          <a:p>
            <a:pPr eaLnBrk="1" hangingPunct="1"/>
            <a:r>
              <a:rPr lang="en-US">
                <a:latin typeface="Verdana" charset="0"/>
              </a:rPr>
              <a:t>User interface design</a:t>
            </a:r>
          </a:p>
        </p:txBody>
      </p:sp>
      <p:sp>
        <p:nvSpPr>
          <p:cNvPr id="1536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28663" y="1817687"/>
            <a:ext cx="7805737" cy="4130675"/>
          </a:xfrm>
          <a:noFill/>
        </p:spPr>
        <p:txBody>
          <a:bodyPr lIns="90841" tIns="44623" rIns="90841" bIns="44623"/>
          <a:lstStyle/>
          <a:p>
            <a:pPr eaLnBrk="1" hangingPunct="1"/>
            <a:r>
              <a:rPr lang="en-US" sz="2400" dirty="0">
                <a:latin typeface="Verdana" charset="0"/>
              </a:rPr>
              <a:t>Designing graphical interfaces for software systems</a:t>
            </a:r>
          </a:p>
          <a:p>
            <a:pPr eaLnBrk="1" hangingPunct="1"/>
            <a:r>
              <a:rPr lang="en-US" sz="2400" dirty="0"/>
              <a:t>The interface design elements for software tell </a:t>
            </a:r>
            <a:r>
              <a:rPr lang="en-US" sz="2400" b="1" dirty="0"/>
              <a:t>how information flows into and out of the system </a:t>
            </a:r>
            <a:r>
              <a:rPr lang="en-US" sz="2400" dirty="0"/>
              <a:t>and how it is </a:t>
            </a:r>
            <a:r>
              <a:rPr lang="en-US" sz="2400" b="1" dirty="0"/>
              <a:t>communicated among the components</a:t>
            </a:r>
            <a:r>
              <a:rPr lang="en-US" sz="2400" dirty="0"/>
              <a:t> defined as part of the architecture</a:t>
            </a:r>
          </a:p>
          <a:p>
            <a:pPr eaLnBrk="1" hangingPunct="1"/>
            <a:endParaRPr lang="en-US" sz="2400" dirty="0">
              <a:latin typeface="Verdana" charset="0"/>
            </a:endParaRPr>
          </a:p>
        </p:txBody>
      </p:sp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E180B-909F-BCF4-BFC1-230ACF65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62545-35C4-2152-75BA-13E0F37F6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ADDA12A-F8A2-63EE-C65C-70B437C8D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84705"/>
            <a:ext cx="8382000" cy="634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49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D30AE3B-F042-BA3D-8893-68EA33EBD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432B84-3974-1D88-A2C0-F783C13F4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F6B054-6ACE-A547-80AC-B45DA56C9FD0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454676-57CF-1477-3737-7F93580D78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70212"/>
            <a:ext cx="7848600" cy="6783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86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F927D8-7A1F-D770-12CD-52158D7FF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Golden Rules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B408FF-FD31-0C2B-FCE7-8F4519BAE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Place the user in control</a:t>
            </a:r>
          </a:p>
          <a:p>
            <a:pPr lvl="1"/>
            <a:r>
              <a:rPr lang="en-US" sz="2000" dirty="0"/>
              <a:t>“What I really would like is a system that reads my mind. It knows what I want to do before I need to do it and makes it very easy for me to get it done. That’s all, just that.”</a:t>
            </a:r>
          </a:p>
          <a:p>
            <a:pPr lvl="1"/>
            <a:endParaRPr lang="en-US" sz="2000" dirty="0"/>
          </a:p>
          <a:p>
            <a:r>
              <a:rPr lang="en-US" sz="2400" dirty="0"/>
              <a:t>Reduce the user’s memory load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/>
              <a:t>The more a user has to remember, the more error-prone interaction with the system will be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000" dirty="0"/>
              <a:t>The system should ‘remember’ </a:t>
            </a:r>
          </a:p>
          <a:p>
            <a:pPr marL="471487" lvl="1" indent="0" eaLnBrk="1" hangingPunct="1">
              <a:lnSpc>
                <a:spcPct val="90000"/>
              </a:lnSpc>
              <a:buNone/>
              <a:defRPr/>
            </a:pPr>
            <a:endParaRPr lang="en-US" sz="2000" dirty="0"/>
          </a:p>
          <a:p>
            <a:r>
              <a:rPr lang="en-US" sz="2400" dirty="0"/>
              <a:t>Make the interface consistent</a:t>
            </a:r>
            <a:endParaRPr lang="en-MY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EB968-14FB-062B-9B17-B1B76E1B8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Chapter 6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96DA75A-E055-7E0E-0484-7E068D1F7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DF6B054-6ACE-A547-80AC-B45DA56C9FD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414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3DE6D-C4AB-52C7-E41D-779746103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Place the User in Control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87B71-2B3B-7D4C-5861-485319DCA4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Define interaction modes in a way that </a:t>
            </a:r>
            <a:r>
              <a:rPr lang="en-US" sz="2000" b="1" dirty="0"/>
              <a:t>does not force a user </a:t>
            </a:r>
            <a:r>
              <a:rPr lang="en-US" sz="2000" dirty="0"/>
              <a:t>into unnecessary or undesired actions.</a:t>
            </a:r>
          </a:p>
          <a:p>
            <a:r>
              <a:rPr lang="en-MY" sz="2000" dirty="0"/>
              <a:t>Provide </a:t>
            </a:r>
            <a:r>
              <a:rPr lang="en-MY" sz="2000" b="1" dirty="0"/>
              <a:t>for flexible interaction</a:t>
            </a:r>
            <a:r>
              <a:rPr lang="en-MY" sz="2000" dirty="0"/>
              <a:t>.(</a:t>
            </a:r>
            <a:r>
              <a:rPr lang="en-GB" sz="2000" dirty="0">
                <a:cs typeface="Arial" charset="0"/>
              </a:rPr>
              <a:t>(users have varying preferences) )</a:t>
            </a:r>
            <a:endParaRPr lang="en-MY" sz="2000" dirty="0"/>
          </a:p>
          <a:p>
            <a:r>
              <a:rPr lang="en-US" sz="2000" dirty="0"/>
              <a:t>Allow user interaction to be </a:t>
            </a:r>
            <a:r>
              <a:rPr lang="en-US" sz="2000" b="1" dirty="0"/>
              <a:t>interruptible and </a:t>
            </a:r>
            <a:r>
              <a:rPr lang="en-MY" sz="2000" b="1" dirty="0"/>
              <a:t>undoable</a:t>
            </a:r>
            <a:r>
              <a:rPr lang="en-MY" sz="2000" dirty="0"/>
              <a:t>.</a:t>
            </a:r>
          </a:p>
          <a:p>
            <a:r>
              <a:rPr lang="en-US" sz="2000" dirty="0"/>
              <a:t>Streamline interaction as skill levels advance and allow the </a:t>
            </a:r>
            <a:r>
              <a:rPr lang="en-US" sz="2000" b="1" dirty="0"/>
              <a:t>interaction to be customized</a:t>
            </a:r>
            <a:r>
              <a:rPr lang="en-US" sz="2000" dirty="0"/>
              <a:t>.</a:t>
            </a:r>
          </a:p>
          <a:p>
            <a:r>
              <a:rPr lang="en-US" sz="2000" b="1" dirty="0"/>
              <a:t>Hide technical internals </a:t>
            </a:r>
            <a:r>
              <a:rPr lang="en-US" sz="2000" dirty="0"/>
              <a:t>from the casual user.</a:t>
            </a:r>
          </a:p>
          <a:p>
            <a:r>
              <a:rPr lang="en-US" sz="2000" dirty="0"/>
              <a:t>Design for </a:t>
            </a:r>
            <a:r>
              <a:rPr lang="en-US" sz="2000" b="1" dirty="0"/>
              <a:t>direct interaction </a:t>
            </a:r>
            <a:r>
              <a:rPr lang="en-US" sz="2000" dirty="0"/>
              <a:t>with objects that appear </a:t>
            </a:r>
            <a:r>
              <a:rPr lang="en-MY" sz="2000" dirty="0"/>
              <a:t>on the screen.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551402-3007-250A-B82E-98C7311CA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466C70-011E-5EC6-C60A-F0E48E0BA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858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23C60-0CC1-C63C-020B-5733877C2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Reduce the User’s Memory Load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26226-8694-1134-6E5B-C9104308C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Reduce demand on short-term memory. </a:t>
            </a:r>
            <a:r>
              <a:rPr lang="en-GB" sz="2400" dirty="0">
                <a:cs typeface="Arial" charset="0"/>
              </a:rPr>
              <a:t>(exp. providing visual cues)</a:t>
            </a:r>
            <a:endParaRPr lang="en-US" sz="2400" dirty="0"/>
          </a:p>
          <a:p>
            <a:r>
              <a:rPr lang="en-US" sz="2400" dirty="0"/>
              <a:t>Establish meaningful defaults.</a:t>
            </a:r>
            <a:r>
              <a:rPr lang="en-GB" sz="2400" dirty="0">
                <a:cs typeface="Arial" charset="0"/>
              </a:rPr>
              <a:t> (“reset” option should be available)</a:t>
            </a:r>
            <a:endParaRPr lang="en-US" sz="2400" dirty="0"/>
          </a:p>
          <a:p>
            <a:r>
              <a:rPr lang="en-US" sz="2400" dirty="0"/>
              <a:t>Define shortcuts that are intuitive </a:t>
            </a:r>
            <a:r>
              <a:rPr lang="en-GB" sz="2400" dirty="0">
                <a:cs typeface="Arial" charset="0"/>
              </a:rPr>
              <a:t>(easy to remember).</a:t>
            </a:r>
          </a:p>
          <a:p>
            <a:r>
              <a:rPr lang="en-US" sz="2400" dirty="0"/>
              <a:t>The visual layout of the interface should be based on a real world metaphor.</a:t>
            </a:r>
          </a:p>
          <a:p>
            <a:r>
              <a:rPr lang="en-US" sz="2400" dirty="0"/>
              <a:t>Disclose information in a progressive fashion.</a:t>
            </a:r>
            <a:endParaRPr lang="en-MY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B3F691-0B8E-3285-587F-E67EA5066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64715E-FC3E-DC2D-9538-FE2DD41A9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79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67365-0B4E-FBBA-B55D-CBFE9EC85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Make the Interface Consistent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C4D21-FD31-64DF-CE79-56B66E020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Allow the user to put the current task into a meaningful context.</a:t>
            </a:r>
          </a:p>
          <a:p>
            <a:r>
              <a:rPr lang="en-US" sz="2800" dirty="0"/>
              <a:t>Maintain consistency across a family of applications.</a:t>
            </a:r>
          </a:p>
          <a:p>
            <a:r>
              <a:rPr lang="en-US" sz="2800" dirty="0"/>
              <a:t>If past interactive models have created user expectations, do not make changes unless there is a compelling reason to do so.</a:t>
            </a:r>
            <a:endParaRPr lang="en-MY" sz="2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C64DBE-CB44-408C-7CED-E829DA8F2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1AC2D4-B696-187D-2F38-50A8F2F11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65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514" name="Rectangle 2">
            <a:extLst>
              <a:ext uri="{FF2B5EF4-FFF2-40B4-BE49-F238E27FC236}">
                <a16:creationId xmlns:a16="http://schemas.microsoft.com/office/drawing/2014/main" id="{3B9BD3F2-3425-2527-39AA-41696681C2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3694" dirty="0"/>
              <a:t>User Interface Analysis and Design</a:t>
            </a:r>
          </a:p>
        </p:txBody>
      </p:sp>
      <p:sp>
        <p:nvSpPr>
          <p:cNvPr id="576515" name="Rectangle 3">
            <a:extLst>
              <a:ext uri="{FF2B5EF4-FFF2-40B4-BE49-F238E27FC236}">
                <a16:creationId xmlns:a16="http://schemas.microsoft.com/office/drawing/2014/main" id="{FB6DD0A8-5327-E79C-E18D-4849D0C302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4675" y="1752600"/>
            <a:ext cx="8111979" cy="4174216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sz="2586" dirty="0"/>
              <a:t>The models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216" dirty="0"/>
              <a:t>The human engineer establishes a </a:t>
            </a:r>
            <a:r>
              <a:rPr lang="en-US" sz="2216" u="sng" dirty="0"/>
              <a:t>user model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216" dirty="0"/>
              <a:t>The software engineer creates a </a:t>
            </a:r>
            <a:r>
              <a:rPr lang="en-US" sz="2216" u="sng" dirty="0"/>
              <a:t>design model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216" dirty="0"/>
              <a:t>The end-user develops a mental image or </a:t>
            </a:r>
            <a:r>
              <a:rPr lang="en-US" sz="2216" u="sng" dirty="0"/>
              <a:t>user’s mental model</a:t>
            </a:r>
            <a:r>
              <a:rPr lang="en-US" sz="2216" dirty="0"/>
              <a:t> (system perception)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US" sz="2216" dirty="0"/>
              <a:t>The implementers create an </a:t>
            </a:r>
            <a:r>
              <a:rPr lang="en-US" sz="2216" u="sng" dirty="0"/>
              <a:t>implementation model</a:t>
            </a:r>
            <a:endParaRPr lang="en-US" sz="2216" dirty="0"/>
          </a:p>
          <a:p>
            <a:pPr eaLnBrk="1" hangingPunct="1">
              <a:lnSpc>
                <a:spcPct val="90000"/>
              </a:lnSpc>
              <a:defRPr/>
            </a:pPr>
            <a:r>
              <a:rPr lang="en-US" sz="2586" dirty="0"/>
              <a:t>The process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216" dirty="0">
                <a:cs typeface="Arial" charset="0"/>
              </a:rPr>
              <a:t>User, task, and environment analysis and </a:t>
            </a:r>
            <a:r>
              <a:rPr lang="en-GB" sz="2216" dirty="0" err="1">
                <a:cs typeface="Arial" charset="0"/>
              </a:rPr>
              <a:t>modeling</a:t>
            </a:r>
            <a:r>
              <a:rPr lang="en-GB" sz="2216" dirty="0">
                <a:cs typeface="Arial" charset="0"/>
              </a:rPr>
              <a:t>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216" dirty="0">
                <a:cs typeface="Arial" charset="0"/>
              </a:rPr>
              <a:t>Interface design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216" dirty="0">
                <a:cs typeface="Arial" charset="0"/>
              </a:rPr>
              <a:t>Interface construction </a:t>
            </a:r>
          </a:p>
          <a:p>
            <a:pPr lvl="1" eaLnBrk="1" hangingPunct="1">
              <a:lnSpc>
                <a:spcPct val="90000"/>
              </a:lnSpc>
              <a:defRPr/>
            </a:pPr>
            <a:r>
              <a:rPr lang="en-GB" sz="2216" dirty="0">
                <a:cs typeface="Arial" charset="0"/>
              </a:rPr>
              <a:t>Interface validation</a:t>
            </a:r>
            <a:endParaRPr lang="en-US" sz="2216" dirty="0">
              <a:cs typeface="Arial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890" name="Rectangle 2">
            <a:extLst>
              <a:ext uri="{FF2B5EF4-FFF2-40B4-BE49-F238E27FC236}">
                <a16:creationId xmlns:a16="http://schemas.microsoft.com/office/drawing/2014/main" id="{DDC28EAB-7737-8730-98D7-12B6C7D670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347" y="516348"/>
            <a:ext cx="8229307" cy="731461"/>
          </a:xfrm>
        </p:spPr>
        <p:txBody>
          <a:bodyPr/>
          <a:lstStyle/>
          <a:p>
            <a:pPr eaLnBrk="1" hangingPunct="1">
              <a:defRPr/>
            </a:pPr>
            <a:r>
              <a:rPr lang="en-GB">
                <a:cs typeface="Arial" charset="0"/>
              </a:rPr>
              <a:t>The Models</a:t>
            </a:r>
          </a:p>
        </p:txBody>
      </p:sp>
      <p:sp>
        <p:nvSpPr>
          <p:cNvPr id="549891" name="Rectangle 3">
            <a:extLst>
              <a:ext uri="{FF2B5EF4-FFF2-40B4-BE49-F238E27FC236}">
                <a16:creationId xmlns:a16="http://schemas.microsoft.com/office/drawing/2014/main" id="{70089936-DF7C-6AED-790E-7C9689508D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91106" y="1907108"/>
            <a:ext cx="8229307" cy="4397563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GB" sz="2400" dirty="0">
                <a:cs typeface="Arial" charset="0"/>
              </a:rPr>
              <a:t>User model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2000" dirty="0">
                <a:cs typeface="Arial" charset="0"/>
              </a:rPr>
              <a:t>end user profiles: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GB" sz="1800" dirty="0">
                <a:cs typeface="Arial" charset="0"/>
              </a:rPr>
              <a:t>Novice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GB" sz="1800" dirty="0">
                <a:cs typeface="Arial" charset="0"/>
              </a:rPr>
              <a:t>Knowledgeable, intermittent user,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GB" sz="1800" dirty="0">
                <a:cs typeface="Arial" charset="0"/>
              </a:rPr>
              <a:t>Knowledgeable, frequent users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sz="2400" dirty="0">
                <a:cs typeface="Arial" charset="0"/>
              </a:rPr>
              <a:t>Design model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2000" dirty="0">
                <a:cs typeface="Arial" charset="0"/>
              </a:rPr>
              <a:t>incorporates data, architectural, interface, and procedural representations of the software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sz="2400" dirty="0">
                <a:cs typeface="Arial" charset="0"/>
              </a:rPr>
              <a:t>User's model or system perception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2000" dirty="0">
                <a:cs typeface="Arial" charset="0"/>
              </a:rPr>
              <a:t>user's mental image of system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GB" sz="2400" dirty="0">
                <a:cs typeface="Arial" charset="0"/>
              </a:rPr>
              <a:t>Implementation model 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en-GB" sz="2000" dirty="0">
                <a:cs typeface="Arial" charset="0"/>
              </a:rPr>
              <a:t>look and feel of the interface and supporting media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538" name="Rectangle 2">
            <a:extLst>
              <a:ext uri="{FF2B5EF4-FFF2-40B4-BE49-F238E27FC236}">
                <a16:creationId xmlns:a16="http://schemas.microsoft.com/office/drawing/2014/main" id="{9ECCC7EA-0375-4928-FA68-5B55E205C5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z="3694">
                <a:cs typeface="Arial" charset="0"/>
              </a:rPr>
              <a:t>The Process - User Analysis </a:t>
            </a:r>
            <a:endParaRPr lang="en-US" sz="3694">
              <a:cs typeface="Arial" charset="0"/>
            </a:endParaRPr>
          </a:p>
        </p:txBody>
      </p:sp>
      <p:sp>
        <p:nvSpPr>
          <p:cNvPr id="577539" name="Rectangle 3">
            <a:extLst>
              <a:ext uri="{FF2B5EF4-FFF2-40B4-BE49-F238E27FC236}">
                <a16:creationId xmlns:a16="http://schemas.microsoft.com/office/drawing/2014/main" id="{B80C116E-ECEF-3DAD-D263-053F551730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/>
              <a:t>Understand who the end-users are</a:t>
            </a:r>
          </a:p>
          <a:p>
            <a:pPr eaLnBrk="1" hangingPunct="1">
              <a:defRPr/>
            </a:pPr>
            <a:r>
              <a:rPr lang="en-US" sz="2800" dirty="0"/>
              <a:t>What is likely to motivate and please them</a:t>
            </a:r>
          </a:p>
          <a:p>
            <a:pPr eaLnBrk="1" hangingPunct="1">
              <a:defRPr/>
            </a:pPr>
            <a:r>
              <a:rPr lang="en-US" sz="2800" dirty="0"/>
              <a:t>How they can be grouped into different user classes or profiles</a:t>
            </a:r>
          </a:p>
          <a:p>
            <a:pPr eaLnBrk="1" hangingPunct="1">
              <a:defRPr/>
            </a:pPr>
            <a:r>
              <a:rPr lang="en-US" sz="2800" dirty="0"/>
              <a:t>What their mental models of the system are</a:t>
            </a:r>
          </a:p>
          <a:p>
            <a:pPr eaLnBrk="1" hangingPunct="1">
              <a:defRPr/>
            </a:pPr>
            <a:r>
              <a:rPr lang="en-US" sz="2800" dirty="0"/>
              <a:t>How the user interface must be characterized to meet their needs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>
            <a:extLst>
              <a:ext uri="{FF2B5EF4-FFF2-40B4-BE49-F238E27FC236}">
                <a16:creationId xmlns:a16="http://schemas.microsoft.com/office/drawing/2014/main" id="{112C199B-F313-0563-7175-CF2EECE628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z="3324">
                <a:cs typeface="Arial" charset="0"/>
              </a:rPr>
              <a:t>The Process - Task Analysis and Modeling</a:t>
            </a:r>
          </a:p>
        </p:txBody>
      </p:sp>
      <p:sp>
        <p:nvSpPr>
          <p:cNvPr id="553987" name="Rectangle 3">
            <a:extLst>
              <a:ext uri="{FF2B5EF4-FFF2-40B4-BE49-F238E27FC236}">
                <a16:creationId xmlns:a16="http://schemas.microsoft.com/office/drawing/2014/main" id="{412D1003-C687-BE7F-FD03-F536158646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46368" y="1752600"/>
            <a:ext cx="8229307" cy="4467924"/>
          </a:xfrm>
        </p:spPr>
        <p:txBody>
          <a:bodyPr/>
          <a:lstStyle/>
          <a:p>
            <a:pPr eaLnBrk="1" hangingPunct="1">
              <a:defRPr/>
            </a:pPr>
            <a:r>
              <a:rPr lang="en-GB" sz="1847" dirty="0">
                <a:cs typeface="Arial" charset="0"/>
              </a:rPr>
              <a:t>Software engineer studies </a:t>
            </a:r>
            <a:r>
              <a:rPr lang="en-GB" sz="1847" u="sng" dirty="0">
                <a:cs typeface="Arial" charset="0"/>
              </a:rPr>
              <a:t>tasks human users must complete</a:t>
            </a:r>
            <a:r>
              <a:rPr lang="en-GB" sz="1847" dirty="0">
                <a:cs typeface="Arial" charset="0"/>
              </a:rPr>
              <a:t> to accomplish their goal in the real world without the computer and </a:t>
            </a:r>
            <a:r>
              <a:rPr lang="en-GB" sz="1847" u="sng" dirty="0">
                <a:cs typeface="Arial" charset="0"/>
              </a:rPr>
              <a:t>map these into a similar set of tasks</a:t>
            </a:r>
            <a:r>
              <a:rPr lang="en-GB" sz="1847" dirty="0">
                <a:cs typeface="Arial" charset="0"/>
              </a:rPr>
              <a:t> that are to be implemented in the context of the user interface </a:t>
            </a:r>
          </a:p>
          <a:p>
            <a:pPr eaLnBrk="1" hangingPunct="1">
              <a:defRPr/>
            </a:pPr>
            <a:r>
              <a:rPr lang="en-GB" sz="1847" dirty="0">
                <a:cs typeface="Arial" charset="0"/>
              </a:rPr>
              <a:t>Software engineer studies </a:t>
            </a:r>
            <a:r>
              <a:rPr lang="en-GB" sz="1847" u="sng" dirty="0">
                <a:cs typeface="Arial" charset="0"/>
              </a:rPr>
              <a:t>existing specification for computer-based solution</a:t>
            </a:r>
            <a:r>
              <a:rPr lang="en-GB" sz="1847" dirty="0">
                <a:cs typeface="Arial" charset="0"/>
              </a:rPr>
              <a:t> and derives a set of tasks that will accommodate the user model, design model, and system perception </a:t>
            </a:r>
          </a:p>
          <a:p>
            <a:pPr eaLnBrk="1" hangingPunct="1">
              <a:defRPr/>
            </a:pPr>
            <a:r>
              <a:rPr lang="en-GB" sz="1847" dirty="0">
                <a:cs typeface="Arial" charset="0"/>
              </a:rPr>
              <a:t>Software engineer may devise </a:t>
            </a:r>
            <a:r>
              <a:rPr lang="en-GB" sz="1847" u="sng" dirty="0">
                <a:cs typeface="Arial" charset="0"/>
              </a:rPr>
              <a:t>an object-oriented approach by observing the objects and actions</a:t>
            </a:r>
            <a:r>
              <a:rPr lang="en-GB" sz="1847" dirty="0">
                <a:cs typeface="Arial" charset="0"/>
              </a:rPr>
              <a:t> the user makes use of in the real world and model the interface objects after their real world counterparts</a:t>
            </a:r>
          </a:p>
          <a:p>
            <a:pPr eaLnBrk="1" hangingPunct="1">
              <a:defRPr/>
            </a:pPr>
            <a:endParaRPr lang="en-GB" sz="1847" dirty="0">
              <a:cs typeface="Arial" charset="0"/>
            </a:endParaRPr>
          </a:p>
          <a:p>
            <a:pPr eaLnBrk="1" hangingPunct="1">
              <a:buFont typeface="Wingdings" panose="05000000000000000000" pitchFamily="2" charset="2"/>
              <a:buNone/>
              <a:defRPr/>
            </a:pPr>
            <a:r>
              <a:rPr lang="en-GB" sz="1847" dirty="0">
                <a:sym typeface="Wingdings" pitchFamily="2" charset="2"/>
              </a:rPr>
              <a:t> Know the user, know the tasks</a:t>
            </a:r>
            <a:endParaRPr lang="en-GB" sz="1847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562" name="Rectangle 2">
            <a:extLst>
              <a:ext uri="{FF2B5EF4-FFF2-40B4-BE49-F238E27FC236}">
                <a16:creationId xmlns:a16="http://schemas.microsoft.com/office/drawing/2014/main" id="{74C41CC9-4A09-8535-8B77-874FC9AFA4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z="3324">
                <a:cs typeface="Arial" charset="0"/>
              </a:rPr>
              <a:t>The Process - Analysis of Display Content</a:t>
            </a:r>
            <a:endParaRPr lang="en-US" sz="3324">
              <a:cs typeface="Arial" charset="0"/>
            </a:endParaRPr>
          </a:p>
        </p:txBody>
      </p:sp>
      <p:sp>
        <p:nvSpPr>
          <p:cNvPr id="578563" name="Rectangle 3">
            <a:extLst>
              <a:ext uri="{FF2B5EF4-FFF2-40B4-BE49-F238E27FC236}">
                <a16:creationId xmlns:a16="http://schemas.microsoft.com/office/drawing/2014/main" id="{FE4067F8-9669-AC40-6292-BBFC81A593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32749" y="1712157"/>
            <a:ext cx="8229307" cy="4186480"/>
          </a:xfrm>
        </p:spPr>
        <p:txBody>
          <a:bodyPr/>
          <a:lstStyle/>
          <a:p>
            <a:pPr eaLnBrk="1" hangingPunct="1">
              <a:defRPr/>
            </a:pPr>
            <a:r>
              <a:rPr lang="en-US" sz="2800" dirty="0"/>
              <a:t>Type of content</a:t>
            </a:r>
          </a:p>
          <a:p>
            <a:pPr lvl="1" eaLnBrk="1" hangingPunct="1">
              <a:defRPr/>
            </a:pPr>
            <a:r>
              <a:rPr lang="en-US" sz="2400" dirty="0"/>
              <a:t>Character-based reports</a:t>
            </a:r>
          </a:p>
          <a:p>
            <a:pPr lvl="1" eaLnBrk="1" hangingPunct="1">
              <a:defRPr/>
            </a:pPr>
            <a:r>
              <a:rPr lang="en-US" sz="2400" dirty="0"/>
              <a:t>Graphical displays</a:t>
            </a:r>
          </a:p>
          <a:p>
            <a:pPr lvl="1" eaLnBrk="1" hangingPunct="1">
              <a:defRPr/>
            </a:pPr>
            <a:r>
              <a:rPr lang="en-US" sz="2400" dirty="0"/>
              <a:t>Specialized information</a:t>
            </a:r>
          </a:p>
          <a:p>
            <a:pPr eaLnBrk="1" hangingPunct="1">
              <a:defRPr/>
            </a:pPr>
            <a:r>
              <a:rPr lang="en-US" sz="2800" dirty="0"/>
              <a:t>Source of content</a:t>
            </a:r>
          </a:p>
          <a:p>
            <a:pPr lvl="1" eaLnBrk="1" hangingPunct="1">
              <a:defRPr/>
            </a:pPr>
            <a:r>
              <a:rPr lang="en-US" sz="2400" dirty="0"/>
              <a:t>Generated by components</a:t>
            </a:r>
          </a:p>
          <a:p>
            <a:pPr lvl="1" eaLnBrk="1" hangingPunct="1">
              <a:defRPr/>
            </a:pPr>
            <a:r>
              <a:rPr lang="en-US" sz="2400" dirty="0"/>
              <a:t>Acquired from data store</a:t>
            </a:r>
          </a:p>
          <a:p>
            <a:pPr lvl="1" eaLnBrk="1" hangingPunct="1">
              <a:defRPr/>
            </a:pPr>
            <a:r>
              <a:rPr lang="en-US" sz="2400" dirty="0"/>
              <a:t>Transmitted from systems external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034" name="Rectangle 2">
            <a:extLst>
              <a:ext uri="{FF2B5EF4-FFF2-40B4-BE49-F238E27FC236}">
                <a16:creationId xmlns:a16="http://schemas.microsoft.com/office/drawing/2014/main" id="{889A4169-C7B9-311E-65D4-1FACFB4F5E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20702" y="0"/>
            <a:ext cx="8001000" cy="1216025"/>
          </a:xfrm>
        </p:spPr>
        <p:txBody>
          <a:bodyPr/>
          <a:lstStyle/>
          <a:p>
            <a:pPr eaLnBrk="1" hangingPunct="1">
              <a:defRPr/>
            </a:pPr>
            <a:r>
              <a:rPr lang="en-GB" sz="2955" dirty="0">
                <a:cs typeface="Arial" charset="0"/>
              </a:rPr>
              <a:t>The Process - Interface Design Activities</a:t>
            </a:r>
          </a:p>
        </p:txBody>
      </p:sp>
      <p:sp>
        <p:nvSpPr>
          <p:cNvPr id="556035" name="Rectangle 3">
            <a:extLst>
              <a:ext uri="{FF2B5EF4-FFF2-40B4-BE49-F238E27FC236}">
                <a16:creationId xmlns:a16="http://schemas.microsoft.com/office/drawing/2014/main" id="{D173536B-6EF0-80E5-4A3D-BD00224A6A4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10092" y="1828800"/>
            <a:ext cx="8229307" cy="4186480"/>
          </a:xfrm>
        </p:spPr>
        <p:txBody>
          <a:bodyPr/>
          <a:lstStyle/>
          <a:p>
            <a:pPr eaLnBrk="1" hangingPunct="1">
              <a:defRPr/>
            </a:pPr>
            <a:r>
              <a:rPr lang="en-GB" sz="2000" dirty="0">
                <a:cs typeface="Arial" charset="0"/>
              </a:rPr>
              <a:t>Establish the goals and intentions of each task </a:t>
            </a:r>
          </a:p>
          <a:p>
            <a:pPr eaLnBrk="1" hangingPunct="1">
              <a:defRPr/>
            </a:pPr>
            <a:r>
              <a:rPr lang="en-GB" sz="2000" dirty="0">
                <a:cs typeface="Arial" charset="0"/>
              </a:rPr>
              <a:t>Map each goal/intention to a sequence of specific actions </a:t>
            </a:r>
          </a:p>
          <a:p>
            <a:pPr eaLnBrk="1" hangingPunct="1">
              <a:defRPr/>
            </a:pPr>
            <a:r>
              <a:rPr lang="en-GB" sz="2000" dirty="0">
                <a:cs typeface="Arial" charset="0"/>
              </a:rPr>
              <a:t>Specify the action sequence of tasks and subtasks (user scenario) </a:t>
            </a:r>
          </a:p>
          <a:p>
            <a:pPr eaLnBrk="1" hangingPunct="1">
              <a:defRPr/>
            </a:pPr>
            <a:r>
              <a:rPr lang="en-GB" sz="2000" dirty="0">
                <a:cs typeface="Arial" charset="0"/>
              </a:rPr>
              <a:t>Indicate the state of the system at the time the user scenario is performed </a:t>
            </a:r>
          </a:p>
          <a:p>
            <a:pPr eaLnBrk="1" hangingPunct="1">
              <a:defRPr/>
            </a:pPr>
            <a:r>
              <a:rPr lang="en-GB" sz="2000" dirty="0">
                <a:cs typeface="Arial" charset="0"/>
              </a:rPr>
              <a:t>Define control mechanisms </a:t>
            </a:r>
            <a:r>
              <a:rPr lang="en-GB" sz="2000" dirty="0">
                <a:cs typeface="Arial" charset="0"/>
                <a:sym typeface="Wingdings" pitchFamily="2" charset="2"/>
              </a:rPr>
              <a:t> object and action</a:t>
            </a:r>
            <a:endParaRPr lang="en-GB" sz="2000" dirty="0">
              <a:cs typeface="Arial" charset="0"/>
            </a:endParaRPr>
          </a:p>
          <a:p>
            <a:pPr eaLnBrk="1" hangingPunct="1">
              <a:defRPr/>
            </a:pPr>
            <a:r>
              <a:rPr lang="en-GB" sz="2000" dirty="0">
                <a:cs typeface="Arial" charset="0"/>
              </a:rPr>
              <a:t>Show how control mechanisms affect the state of the system </a:t>
            </a:r>
          </a:p>
          <a:p>
            <a:pPr eaLnBrk="1" hangingPunct="1">
              <a:defRPr/>
            </a:pPr>
            <a:r>
              <a:rPr lang="en-GB" sz="2000" dirty="0">
                <a:cs typeface="Arial" charset="0"/>
              </a:rPr>
              <a:t>Indicate how the user interprets the state of the system from information provided through the interface</a:t>
            </a:r>
            <a:endParaRPr lang="en-GB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B9B84-F116-F94A-DB57-F0066D317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Task Analysis and </a:t>
            </a:r>
            <a:r>
              <a:rPr lang="en-MY" dirty="0" err="1"/>
              <a:t>Modeling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68AB6-58E3-6D3A-5988-260582F49D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sz="2000" dirty="0"/>
              <a:t>Answers the following questions …</a:t>
            </a:r>
          </a:p>
          <a:p>
            <a:pPr lvl="1"/>
            <a:r>
              <a:rPr lang="en-US" sz="1600" dirty="0"/>
              <a:t>What work will the user perform in specific circumstances?</a:t>
            </a:r>
          </a:p>
          <a:p>
            <a:pPr lvl="1"/>
            <a:r>
              <a:rPr lang="en-US" sz="1600" dirty="0"/>
              <a:t>What tasks and subtasks will be performed as the user does </a:t>
            </a:r>
            <a:r>
              <a:rPr lang="en-MY" sz="1600" dirty="0"/>
              <a:t>the work?</a:t>
            </a:r>
          </a:p>
          <a:p>
            <a:pPr lvl="1"/>
            <a:r>
              <a:rPr lang="en-US" sz="1600" dirty="0"/>
              <a:t>What specific problem domain objects will the user manipulate </a:t>
            </a:r>
            <a:r>
              <a:rPr lang="en-MY" sz="1600" dirty="0"/>
              <a:t>as work is performed?</a:t>
            </a:r>
          </a:p>
          <a:p>
            <a:pPr lvl="1"/>
            <a:r>
              <a:rPr lang="en-US" sz="1600" dirty="0"/>
              <a:t>What is the sequence of work tasks—the workflow?</a:t>
            </a:r>
          </a:p>
          <a:p>
            <a:pPr lvl="1"/>
            <a:r>
              <a:rPr lang="en-US" sz="1600" dirty="0"/>
              <a:t>What is the hierarchy of tasks?</a:t>
            </a:r>
          </a:p>
          <a:p>
            <a:r>
              <a:rPr lang="en-MY" sz="2000" dirty="0"/>
              <a:t> Use-cases define basic interaction</a:t>
            </a:r>
          </a:p>
          <a:p>
            <a:r>
              <a:rPr lang="en-US" sz="2000" dirty="0"/>
              <a:t> Task elaboration refines interactive tasks</a:t>
            </a:r>
          </a:p>
          <a:p>
            <a:r>
              <a:rPr lang="en-MY" sz="2000" dirty="0"/>
              <a:t> Object elaboration identifies interface objects (classes)</a:t>
            </a:r>
          </a:p>
          <a:p>
            <a:r>
              <a:rPr lang="en-US" sz="2000" dirty="0"/>
              <a:t> Workflow analysis defines how a work process is completed when several people (and roles) are involved</a:t>
            </a:r>
            <a:endParaRPr lang="en-MY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27AAB-61EC-C5CF-7EDE-7C1AC0C28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3619D-6AA9-03A4-10E6-F31DDC8F9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882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79935-116A-FDC7-2839-0D2BD613E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Analysis of Display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A80B6-8137-5C97-45F5-81E0F9559A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752600"/>
            <a:ext cx="8196262" cy="4267200"/>
          </a:xfrm>
        </p:spPr>
        <p:txBody>
          <a:bodyPr/>
          <a:lstStyle/>
          <a:p>
            <a:r>
              <a:rPr lang="en-US" sz="2000" dirty="0"/>
              <a:t>Are different types of data assigned to consistent geographic locations on the screen (e.g., photos always appear in the upper right-hand corner)?</a:t>
            </a:r>
          </a:p>
          <a:p>
            <a:r>
              <a:rPr lang="en-US" sz="2000" dirty="0"/>
              <a:t>Can the user customize the screen location for content?</a:t>
            </a:r>
          </a:p>
          <a:p>
            <a:r>
              <a:rPr lang="en-US" sz="2000" dirty="0"/>
              <a:t>Is proper on-screen identification assigned to all content?</a:t>
            </a:r>
          </a:p>
          <a:p>
            <a:r>
              <a:rPr lang="en-US" sz="2000" dirty="0"/>
              <a:t>If a large report is to be presented, how should it be partitioned for ease of understanding?</a:t>
            </a:r>
          </a:p>
          <a:p>
            <a:r>
              <a:rPr lang="en-US" sz="2000" dirty="0"/>
              <a:t>Will mechanisms be available for moving directly to summary information for large collections of data.</a:t>
            </a:r>
          </a:p>
          <a:p>
            <a:r>
              <a:rPr lang="en-US" sz="2000" dirty="0"/>
              <a:t>Will graphical output be scaled to fit within the bounds of the display device that is used?</a:t>
            </a:r>
          </a:p>
          <a:p>
            <a:r>
              <a:rPr lang="en-US" sz="2000" dirty="0"/>
              <a:t>How will color to be used to enhance understanding?</a:t>
            </a:r>
          </a:p>
          <a:p>
            <a:r>
              <a:rPr lang="en-US" sz="2000" dirty="0"/>
              <a:t>How will error messages and warning be presented to the user?</a:t>
            </a:r>
            <a:endParaRPr lang="en-MY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2D5A3C-DE45-C523-8111-EC3994752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C8D90-D170-5F85-02EE-2584CA691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662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9932E-CED5-70BE-325B-836D39853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Interface Design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18C09-9407-408E-67D2-EBE4147920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752600"/>
            <a:ext cx="7815262" cy="4267200"/>
          </a:xfrm>
        </p:spPr>
        <p:txBody>
          <a:bodyPr/>
          <a:lstStyle/>
          <a:p>
            <a:r>
              <a:rPr lang="en-US" sz="2400" dirty="0"/>
              <a:t>Using information developed during interface analysis, define interface objects and actions (operations).</a:t>
            </a:r>
          </a:p>
          <a:p>
            <a:r>
              <a:rPr lang="en-US" sz="2400" dirty="0"/>
              <a:t>Define events (user actions) that will cause the state of the user interface to change. Model this behavior. </a:t>
            </a:r>
          </a:p>
          <a:p>
            <a:r>
              <a:rPr lang="en-US" sz="2400" dirty="0"/>
              <a:t>Depict each interface state as it will actually look to the end-user.</a:t>
            </a:r>
          </a:p>
          <a:p>
            <a:r>
              <a:rPr lang="en-US" sz="2400" dirty="0"/>
              <a:t>Indicate how the user interprets the state of the system from information provided through the interface.</a:t>
            </a:r>
            <a:endParaRPr lang="en-MY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7610BE-A06F-BD88-AB82-DAD893AAF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74054-CDED-F54D-B74D-5F724FB54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392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A659D-0E44-498D-7311-9D07D4C11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Design Issues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84186-A2EE-A5EF-ABC5-4A910CC85B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Response time</a:t>
            </a:r>
          </a:p>
          <a:p>
            <a:r>
              <a:rPr lang="en-MY" dirty="0"/>
              <a:t>Help facilities</a:t>
            </a:r>
          </a:p>
          <a:p>
            <a:r>
              <a:rPr lang="en-MY" dirty="0"/>
              <a:t>Error handling</a:t>
            </a:r>
          </a:p>
          <a:p>
            <a:r>
              <a:rPr lang="en-MY" dirty="0"/>
              <a:t>Menu and command labelling</a:t>
            </a:r>
          </a:p>
          <a:p>
            <a:r>
              <a:rPr lang="en-MY" dirty="0"/>
              <a:t>Application accessibility</a:t>
            </a:r>
          </a:p>
          <a:p>
            <a:r>
              <a:rPr lang="en-MY" dirty="0"/>
              <a:t>Internationalization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F217C4-6C05-D9A6-B3A5-FE65B7E3E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AAD42-A203-AD51-20DF-CCD211E31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30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B231E-E3ED-DE6F-6D45-F7BC8D853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Interface Design Principles-I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F04DE-74F2-1FC5-D7AD-096E1E801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Anticipation—A WebApp should be designed so that it anticipates the use’s next move.</a:t>
            </a:r>
          </a:p>
          <a:p>
            <a:r>
              <a:rPr lang="en-US" sz="1800" dirty="0"/>
              <a:t>Communication—The interface should communicate the status of any activity initiated by the user</a:t>
            </a:r>
          </a:p>
          <a:p>
            <a:r>
              <a:rPr lang="en-US" sz="1800" dirty="0"/>
              <a:t>Consistency—The use of navigation controls, menus, icons, and aesthetics (e.g., color, shape, layout)</a:t>
            </a:r>
          </a:p>
          <a:p>
            <a:r>
              <a:rPr lang="en-US" sz="1800" dirty="0"/>
              <a:t>Controlled autonomy—The interface should facilitate user movement throughout the WebApp, but it should do so in a manner that enforces navigation conventions that have been </a:t>
            </a:r>
            <a:r>
              <a:rPr lang="en-MY" sz="1800" dirty="0"/>
              <a:t>established for the application.</a:t>
            </a:r>
          </a:p>
          <a:p>
            <a:r>
              <a:rPr lang="en-US" sz="1800" dirty="0"/>
              <a:t>Efficiency—The design of the WebApp and its interface should optimize the user’s work efficiency, not the efficiency of the Web engineer who designs and builds it or the client-server </a:t>
            </a:r>
            <a:r>
              <a:rPr lang="en-MY" sz="1800" dirty="0"/>
              <a:t>environment that executes it.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5B1B6A-D79F-9229-7618-CA2D37D8D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067E98-343E-1C2A-081E-B32914D1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961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D67E7-2BA6-BBDC-D5E7-9027C3EC5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Interface Design Principles-II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D7C7F8-E289-79BE-1BD7-6DC954772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738" y="1981200"/>
            <a:ext cx="8001000" cy="4038600"/>
          </a:xfrm>
        </p:spPr>
        <p:txBody>
          <a:bodyPr/>
          <a:lstStyle/>
          <a:p>
            <a:r>
              <a:rPr lang="en-US" sz="1800" dirty="0"/>
              <a:t>Focus—The WebApp interface (and the content it presents) should stay focused on the user task(s) at hand.</a:t>
            </a:r>
          </a:p>
          <a:p>
            <a:r>
              <a:rPr lang="en-US" sz="1800" dirty="0" err="1"/>
              <a:t>Fitt’s</a:t>
            </a:r>
            <a:r>
              <a:rPr lang="en-US" sz="1800" dirty="0"/>
              <a:t> Law—“The time to acquire a target is a function of the distance to and size of the target.”</a:t>
            </a:r>
          </a:p>
          <a:p>
            <a:r>
              <a:rPr lang="en-US" sz="1800" dirty="0"/>
              <a:t>Human interface objects—A vast library of reusable human interface objects has been developed for </a:t>
            </a:r>
            <a:r>
              <a:rPr lang="en-US" sz="1800" dirty="0" err="1"/>
              <a:t>WebApps</a:t>
            </a:r>
            <a:r>
              <a:rPr lang="en-US" sz="1800" dirty="0"/>
              <a:t>.</a:t>
            </a:r>
          </a:p>
          <a:p>
            <a:r>
              <a:rPr lang="en-US" sz="1800" dirty="0"/>
              <a:t>Latency reduction—The WebApp should use multi-tasking in a way that lets the user proceed with work as if the operation has been completed.</a:t>
            </a:r>
          </a:p>
          <a:p>
            <a:r>
              <a:rPr lang="en-US" sz="1800" dirty="0"/>
              <a:t>Learnability— A WebApp interface should be designed to minimize learning time, and once learned, to minimize relearning required when the WebApp is revisited.</a:t>
            </a:r>
            <a:endParaRPr lang="en-MY" sz="18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7EA29-AA01-0F08-4A80-73571641F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BFD088-CF79-8D01-0CC9-AB34C7527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0834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8DF1-0642-F2DB-B87D-94CA9F16E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Interface Design Principles-III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54345-7E9E-4276-97DA-3603E49C9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Maintain work product integrity—A work product (e.g., a form completed by the user, a user specified list) must be automatically saved so that it will not be lost if an error occurs.</a:t>
            </a:r>
          </a:p>
          <a:p>
            <a:r>
              <a:rPr lang="en-US" sz="2000" dirty="0"/>
              <a:t>Readability—All information presented through the interface should be readable by young and old.</a:t>
            </a:r>
          </a:p>
          <a:p>
            <a:r>
              <a:rPr lang="en-US" sz="2000" dirty="0"/>
              <a:t>Track state—When appropriate, the state of the user interaction should be tracked and stored so that a user can logoff and return later to pick up where she left off.</a:t>
            </a:r>
          </a:p>
          <a:p>
            <a:r>
              <a:rPr lang="en-US" sz="2000" dirty="0"/>
              <a:t>Visible navigation—A well-designed WebApp interface provides “the illusion that users are in the same place, with the work brought to them.”</a:t>
            </a:r>
            <a:endParaRPr lang="en-MY" sz="20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9515E3-EA3D-89A1-87DE-4E663DBF6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ECB058-57A1-A2AA-492F-950230485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5293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76920-5D67-D52F-289C-1004631D6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Aesthetic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11280-603A-79BF-7B77-0D66BD92D4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Don’t be afraid of white space.</a:t>
            </a:r>
          </a:p>
          <a:p>
            <a:r>
              <a:rPr lang="en-US" sz="2400" dirty="0"/>
              <a:t> Emphasize content.</a:t>
            </a:r>
          </a:p>
          <a:p>
            <a:r>
              <a:rPr lang="en-US" sz="2400" dirty="0"/>
              <a:t> Organize layout elements from top-left to bottom right.</a:t>
            </a:r>
          </a:p>
          <a:p>
            <a:r>
              <a:rPr lang="en-US" sz="2400" dirty="0"/>
              <a:t>Group navigation, content, and function geographically within the page.</a:t>
            </a:r>
          </a:p>
          <a:p>
            <a:r>
              <a:rPr lang="en-US" sz="2400" dirty="0"/>
              <a:t>Don’t extend your real estate with the scrolling bar.</a:t>
            </a:r>
          </a:p>
          <a:p>
            <a:r>
              <a:rPr lang="en-US" sz="2400" dirty="0"/>
              <a:t>Consider resolution and browser window size when designing layout.</a:t>
            </a:r>
            <a:endParaRPr lang="en-MY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74A2A4-4DB7-1975-0B9E-8969A4E44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2B6296-4884-531B-43E4-902D72D7B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75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1E8AD4E-B09C-C748-9DB7-362B09B6BC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Graphical user interfaces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9149E2F-AF92-E393-38B2-469F20ACEC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Most users of business systems interact with these systems through graphical interfaces although, in some cases, legacy text-based interfaces are still used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0F80F1EE-E0E8-5C56-5EE3-4C7434DF80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GUI characteristics</a:t>
            </a:r>
          </a:p>
        </p:txBody>
      </p:sp>
      <p:graphicFrame>
        <p:nvGraphicFramePr>
          <p:cNvPr id="12291" name="Object 3">
            <a:extLst>
              <a:ext uri="{FF2B5EF4-FFF2-40B4-BE49-F238E27FC236}">
                <a16:creationId xmlns:a16="http://schemas.microsoft.com/office/drawing/2014/main" id="{E67A0F1E-5052-4EBF-D329-BAAFAA2A8653}"/>
              </a:ext>
            </a:extLst>
          </p:cNvPr>
          <p:cNvGraphicFramePr>
            <a:graphicFrameLocks/>
          </p:cNvGraphicFramePr>
          <p:nvPr/>
        </p:nvGraphicFramePr>
        <p:xfrm>
          <a:off x="312738" y="1903413"/>
          <a:ext cx="8194675" cy="4097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4191000" imgH="2095500" progId="Word.Document.6">
                  <p:embed/>
                </p:oleObj>
              </mc:Choice>
              <mc:Fallback>
                <p:oleObj name="Document" r:id="rId3" imgW="4191000" imgH="2095500" progId="Word.Document.6">
                  <p:embed/>
                  <p:pic>
                    <p:nvPicPr>
                      <p:cNvPr id="12291" name="Object 3">
                        <a:extLst>
                          <a:ext uri="{FF2B5EF4-FFF2-40B4-BE49-F238E27FC236}">
                            <a16:creationId xmlns:a16="http://schemas.microsoft.com/office/drawing/2014/main" id="{E67A0F1E-5052-4EBF-D329-BAAFAA2A865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738" y="1903413"/>
                        <a:ext cx="8194675" cy="40973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B93B8AC3-EE6E-40C9-1631-CC48340A0B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GUI advantages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692A3E24-5C09-50AC-72E8-D625AC30C1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They are easy to learn and use. </a:t>
            </a:r>
          </a:p>
          <a:p>
            <a:pPr lvl="1"/>
            <a:r>
              <a:rPr lang="en-GB" altLang="en-US" sz="2000" dirty="0"/>
              <a:t>Users without experience can learn to use the system </a:t>
            </a:r>
            <a:br>
              <a:rPr lang="en-GB" altLang="en-US" sz="2000" dirty="0"/>
            </a:br>
            <a:r>
              <a:rPr lang="en-GB" altLang="en-US" sz="2000" dirty="0"/>
              <a:t>quickly.</a:t>
            </a:r>
          </a:p>
          <a:p>
            <a:r>
              <a:rPr lang="en-GB" altLang="en-US" sz="2400" dirty="0"/>
              <a:t>The user may switch quickly from one task to </a:t>
            </a:r>
            <a:br>
              <a:rPr lang="en-GB" altLang="en-US" sz="2400" dirty="0"/>
            </a:br>
            <a:r>
              <a:rPr lang="en-GB" altLang="en-US" sz="2400" dirty="0"/>
              <a:t>another and can interact with several different applications.</a:t>
            </a:r>
          </a:p>
          <a:p>
            <a:pPr lvl="1"/>
            <a:r>
              <a:rPr lang="en-GB" altLang="en-US" sz="2000" dirty="0"/>
              <a:t>Information remains visible in its own window when </a:t>
            </a:r>
            <a:br>
              <a:rPr lang="en-GB" altLang="en-US" sz="2000" dirty="0"/>
            </a:br>
            <a:r>
              <a:rPr lang="en-GB" altLang="en-US" sz="2000" dirty="0"/>
              <a:t>attention is switched.</a:t>
            </a:r>
          </a:p>
          <a:p>
            <a:r>
              <a:rPr lang="en-GB" altLang="en-US" sz="2400" dirty="0"/>
              <a:t>Fast, full-screen interaction is possible with immediate access to anywhere on the screen</a:t>
            </a:r>
          </a:p>
        </p:txBody>
      </p:sp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19DE975B-FB21-2299-5303-48274FD5CD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User-centred design</a:t>
            </a:r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446CDC15-CBF0-9956-C331-476E96B62C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 dirty="0"/>
              <a:t>The aim of this chapter is to sensitise software engineers to key issues underlying the design rather than the implementation of user interfaces</a:t>
            </a:r>
          </a:p>
          <a:p>
            <a:r>
              <a:rPr lang="en-GB" altLang="en-US" sz="2400" dirty="0"/>
              <a:t>User-centred design is an approach to UI design where the needs of the user are paramount and where the user is involved in the design process</a:t>
            </a:r>
          </a:p>
          <a:p>
            <a:r>
              <a:rPr lang="en-GB" altLang="en-US" sz="2400" dirty="0"/>
              <a:t>UI design always involves the development of prototype interfaces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D8EB0E9A-B434-ECE9-BC0E-6330B9A237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User interface design process</a:t>
            </a:r>
          </a:p>
        </p:txBody>
      </p:sp>
      <p:pic>
        <p:nvPicPr>
          <p:cNvPr id="107524" name="Picture 4">
            <a:extLst>
              <a:ext uri="{FF2B5EF4-FFF2-40B4-BE49-F238E27FC236}">
                <a16:creationId xmlns:a16="http://schemas.microsoft.com/office/drawing/2014/main" id="{1B333C11-F27C-DDBF-8EC8-75425ABAB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88" y="1835150"/>
            <a:ext cx="8340725" cy="3975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1BE90054-6350-CA94-C0AC-1BFD523A76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UI design principles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74407BF-466D-A503-525E-3E185B5A34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UI design must take account of the needs, experience and capabilities of the system users</a:t>
            </a:r>
          </a:p>
          <a:p>
            <a:r>
              <a:rPr lang="en-GB" altLang="en-US" sz="2400" dirty="0"/>
              <a:t>Designers should be aware of people’s physical and mental limitations (e.g. limited short-term memory) and should recognise that people make mistakes</a:t>
            </a:r>
          </a:p>
          <a:p>
            <a:r>
              <a:rPr lang="en-GB" altLang="en-US" sz="2400" dirty="0"/>
              <a:t>UI design principles underlie interface designs although not all principles are applicable to all designs</a:t>
            </a:r>
          </a:p>
        </p:txBody>
      </p:sp>
    </p:spTree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90913C7B-7F17-1BC2-C61E-8350F4AA89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User interface design principles</a:t>
            </a:r>
          </a:p>
        </p:txBody>
      </p:sp>
      <p:graphicFrame>
        <p:nvGraphicFramePr>
          <p:cNvPr id="17412" name="Object 4">
            <a:extLst>
              <a:ext uri="{FF2B5EF4-FFF2-40B4-BE49-F238E27FC236}">
                <a16:creationId xmlns:a16="http://schemas.microsoft.com/office/drawing/2014/main" id="{F1D1AB96-42BA-EEB3-D2B3-CCD613814B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634428"/>
              </p:ext>
            </p:extLst>
          </p:nvPr>
        </p:nvGraphicFramePr>
        <p:xfrm>
          <a:off x="152400" y="1752600"/>
          <a:ext cx="8534400" cy="454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468320" imgH="3252240" progId="Word.Document.8">
                  <p:embed/>
                </p:oleObj>
              </mc:Choice>
              <mc:Fallback>
                <p:oleObj name="Document" r:id="rId2" imgW="4468320" imgH="3252240" progId="Word.Document.8">
                  <p:embed/>
                  <p:pic>
                    <p:nvPicPr>
                      <p:cNvPr id="17412" name="Object 4">
                        <a:extLst>
                          <a:ext uri="{FF2B5EF4-FFF2-40B4-BE49-F238E27FC236}">
                            <a16:creationId xmlns:a16="http://schemas.microsoft.com/office/drawing/2014/main" id="{F1D1AB96-42BA-EEB3-D2B3-CCD613814B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752600"/>
                        <a:ext cx="8534400" cy="454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5020DB1-644B-C5DE-FA52-4959E4861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Design principles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FC413C2B-E306-88F1-0144-E2F5B23A43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000" dirty="0"/>
              <a:t>User familiarity</a:t>
            </a:r>
          </a:p>
          <a:p>
            <a:pPr lvl="1"/>
            <a:r>
              <a:rPr lang="en-GB" altLang="en-US" sz="1800" dirty="0"/>
              <a:t>The interface should be based on user-oriented </a:t>
            </a:r>
            <a:br>
              <a:rPr lang="en-GB" altLang="en-US" sz="1800" dirty="0"/>
            </a:br>
            <a:r>
              <a:rPr lang="en-GB" altLang="en-US" sz="1800" dirty="0"/>
              <a:t>terms and concepts rather than computer concepts. For example, an office system should use concepts such as letters, documents, folders etc. rather than directories, file identifiers, etc.</a:t>
            </a:r>
          </a:p>
          <a:p>
            <a:r>
              <a:rPr lang="en-GB" altLang="en-US" sz="2000" dirty="0"/>
              <a:t>Consistency</a:t>
            </a:r>
          </a:p>
          <a:p>
            <a:pPr lvl="1"/>
            <a:r>
              <a:rPr lang="en-GB" altLang="en-US" sz="1800" dirty="0"/>
              <a:t>The system should display an appropriate level </a:t>
            </a:r>
            <a:br>
              <a:rPr lang="en-GB" altLang="en-US" sz="1800" dirty="0"/>
            </a:br>
            <a:r>
              <a:rPr lang="en-GB" altLang="en-US" sz="1800" dirty="0"/>
              <a:t>of consistency. Commands and menus should have the same format, command punctuation should be similar, etc.</a:t>
            </a:r>
          </a:p>
          <a:p>
            <a:r>
              <a:rPr lang="en-GB" altLang="en-US" sz="2000" dirty="0"/>
              <a:t>Minimal surprise</a:t>
            </a:r>
          </a:p>
          <a:p>
            <a:pPr lvl="1"/>
            <a:r>
              <a:rPr lang="en-GB" altLang="en-US" sz="1800" dirty="0"/>
              <a:t>If a command operates in a known way, the user should be </a:t>
            </a:r>
            <a:br>
              <a:rPr lang="en-GB" altLang="en-US" sz="1800" dirty="0"/>
            </a:br>
            <a:r>
              <a:rPr lang="en-GB" altLang="en-US" sz="1800" dirty="0"/>
              <a:t>able to predict the operation of comparable commands</a:t>
            </a:r>
          </a:p>
        </p:txBody>
      </p:sp>
    </p:spTree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F78BDC21-3416-031B-639B-99C43BA94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Design principles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8564DA18-A0EC-BE47-7320-5465F5BC06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Recoverability</a:t>
            </a:r>
          </a:p>
          <a:p>
            <a:pPr lvl="1"/>
            <a:r>
              <a:rPr lang="en-GB" altLang="en-US" sz="2000" dirty="0"/>
              <a:t>The system should provide some resilience to </a:t>
            </a:r>
            <a:br>
              <a:rPr lang="en-GB" altLang="en-US" sz="2000" dirty="0"/>
            </a:br>
            <a:r>
              <a:rPr lang="en-GB" altLang="en-US" sz="2000" dirty="0"/>
              <a:t>user errors and allow the user to recover from errors. This might include an undo facility, confirmation of  destructive actions, 'soft' deletes, etc.</a:t>
            </a:r>
          </a:p>
          <a:p>
            <a:r>
              <a:rPr lang="en-GB" altLang="en-US" sz="2400" dirty="0"/>
              <a:t>User guidance</a:t>
            </a:r>
          </a:p>
          <a:p>
            <a:pPr lvl="1"/>
            <a:r>
              <a:rPr lang="en-GB" altLang="en-US" sz="2000" dirty="0"/>
              <a:t>Some user guidance such as help systems, on-line manuals, etc. should be supplied</a:t>
            </a:r>
          </a:p>
          <a:p>
            <a:r>
              <a:rPr lang="en-GB" altLang="en-US" sz="2400" dirty="0"/>
              <a:t>User diversity</a:t>
            </a:r>
          </a:p>
          <a:p>
            <a:pPr lvl="1"/>
            <a:r>
              <a:rPr lang="en-GB" altLang="en-US" sz="2000" dirty="0"/>
              <a:t>Interaction facilities for different types of user should be supported. For example, some users have seeing difficulties and so larger text should be available</a:t>
            </a:r>
          </a:p>
          <a:p>
            <a:pPr lvl="1"/>
            <a:endParaRPr lang="en-GB" altLang="en-US" sz="2000" dirty="0"/>
          </a:p>
        </p:txBody>
      </p:sp>
    </p:spTree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7EC39C0-C5EA-25DB-704A-024F7010B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User-system interaction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94CCE289-E609-96CD-A5FE-9B0E24A984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Two problems must be addressed in interactive systems design</a:t>
            </a:r>
          </a:p>
          <a:p>
            <a:pPr lvl="1"/>
            <a:r>
              <a:rPr lang="en-GB" altLang="en-US" sz="2000" dirty="0"/>
              <a:t>How should information from the user be provided to the computer system?</a:t>
            </a:r>
          </a:p>
          <a:p>
            <a:pPr lvl="1"/>
            <a:r>
              <a:rPr lang="en-GB" altLang="en-US" sz="2000" dirty="0"/>
              <a:t>How should information from the computer system be presented to the user?</a:t>
            </a:r>
          </a:p>
          <a:p>
            <a:r>
              <a:rPr lang="en-GB" altLang="en-US" sz="2400" dirty="0"/>
              <a:t>User interaction and information presentation may be integrated through a coherent framework such as a user interface metaphor</a:t>
            </a:r>
          </a:p>
        </p:txBody>
      </p:sp>
    </p:spTree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98926AFB-1013-37E1-7242-B063BC77DD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Interaction styles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E6A8E903-05A4-D2E9-0822-F3644CE6F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Direct manipulation</a:t>
            </a:r>
          </a:p>
          <a:p>
            <a:r>
              <a:rPr lang="en-GB" altLang="en-US"/>
              <a:t>Menu selection</a:t>
            </a:r>
          </a:p>
          <a:p>
            <a:r>
              <a:rPr lang="en-GB" altLang="en-US"/>
              <a:t>Form fill-in</a:t>
            </a:r>
          </a:p>
          <a:p>
            <a:r>
              <a:rPr lang="en-GB" altLang="en-US"/>
              <a:t>Command language</a:t>
            </a:r>
          </a:p>
          <a:p>
            <a:r>
              <a:rPr lang="en-GB" altLang="en-US"/>
              <a:t>Natural language</a:t>
            </a:r>
          </a:p>
        </p:txBody>
      </p:sp>
    </p:spTree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546" name="Rectangle 2">
            <a:extLst>
              <a:ext uri="{FF2B5EF4-FFF2-40B4-BE49-F238E27FC236}">
                <a16:creationId xmlns:a16="http://schemas.microsoft.com/office/drawing/2014/main" id="{05D09480-611B-2C97-2861-8DDB9B15B9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5434" y="188390"/>
            <a:ext cx="5190332" cy="962025"/>
          </a:xfrm>
        </p:spPr>
        <p:txBody>
          <a:bodyPr/>
          <a:lstStyle/>
          <a:p>
            <a:r>
              <a:rPr lang="en-GB" altLang="en-US" sz="2000" dirty="0"/>
              <a:t>Advantages and disadvantages</a:t>
            </a:r>
          </a:p>
        </p:txBody>
      </p:sp>
      <p:graphicFrame>
        <p:nvGraphicFramePr>
          <p:cNvPr id="1132548" name="Object 4">
            <a:extLst>
              <a:ext uri="{FF2B5EF4-FFF2-40B4-BE49-F238E27FC236}">
                <a16:creationId xmlns:a16="http://schemas.microsoft.com/office/drawing/2014/main" id="{586B650C-4565-6369-21DA-F0F5781177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55182457"/>
              </p:ext>
            </p:extLst>
          </p:nvPr>
        </p:nvGraphicFramePr>
        <p:xfrm>
          <a:off x="838200" y="1600200"/>
          <a:ext cx="7924800" cy="487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19440" imgH="3624120" progId="Word.Document.8">
                  <p:embed/>
                </p:oleObj>
              </mc:Choice>
              <mc:Fallback>
                <p:oleObj name="Document" r:id="rId2" imgW="5419440" imgH="3624120" progId="Word.Document.8">
                  <p:embed/>
                  <p:pic>
                    <p:nvPicPr>
                      <p:cNvPr id="1132548" name="Object 4">
                        <a:extLst>
                          <a:ext uri="{FF2B5EF4-FFF2-40B4-BE49-F238E27FC236}">
                            <a16:creationId xmlns:a16="http://schemas.microsoft.com/office/drawing/2014/main" id="{586B650C-4565-6369-21DA-F0F5781177A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00200"/>
                        <a:ext cx="7924800" cy="487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48A5E09A-A5C3-99AE-3847-D2E0314276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63525"/>
            <a:ext cx="8483600" cy="1108075"/>
          </a:xfrm>
          <a:noFill/>
          <a:ln/>
        </p:spPr>
        <p:txBody>
          <a:bodyPr/>
          <a:lstStyle/>
          <a:p>
            <a:r>
              <a:rPr lang="en-GB" altLang="en-US"/>
              <a:t>Direct manipulation advantages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70910B72-AE60-E5DB-DED2-EE4E1EC49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800" dirty="0"/>
              <a:t>Users feel in control of the computer and are less likely to be intimidated by it</a:t>
            </a:r>
          </a:p>
          <a:p>
            <a:r>
              <a:rPr lang="en-GB" altLang="en-US" sz="2800" dirty="0"/>
              <a:t>User learning time is relatively short</a:t>
            </a:r>
          </a:p>
          <a:p>
            <a:r>
              <a:rPr lang="en-GB" altLang="en-US" sz="2800" dirty="0"/>
              <a:t>Users get immediate feedback on their actions </a:t>
            </a:r>
            <a:br>
              <a:rPr lang="en-GB" altLang="en-US" sz="2800" dirty="0"/>
            </a:br>
            <a:r>
              <a:rPr lang="en-GB" altLang="en-US" sz="2800" dirty="0"/>
              <a:t>so mistakes can be quickly detected and </a:t>
            </a:r>
            <a:br>
              <a:rPr lang="en-GB" altLang="en-US" sz="2800" dirty="0"/>
            </a:br>
            <a:r>
              <a:rPr lang="en-GB" altLang="en-US" sz="2800" dirty="0"/>
              <a:t>corrected</a:t>
            </a:r>
          </a:p>
        </p:txBody>
      </p:sp>
    </p:spTree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CE4B0A31-EFA5-85DA-DC35-942666AC34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Direct manipulation problems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CF8414DB-EFEF-3E17-70F8-EA181604D8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39951" y="2057400"/>
            <a:ext cx="8001000" cy="4267200"/>
          </a:xfrm>
          <a:noFill/>
          <a:ln/>
        </p:spPr>
        <p:txBody>
          <a:bodyPr/>
          <a:lstStyle/>
          <a:p>
            <a:r>
              <a:rPr lang="en-GB" altLang="en-US" sz="2400" dirty="0"/>
              <a:t>The derivation of an appropriate information </a:t>
            </a:r>
            <a:br>
              <a:rPr lang="en-GB" altLang="en-US" sz="2400" dirty="0"/>
            </a:br>
            <a:r>
              <a:rPr lang="en-GB" altLang="en-US" sz="2400" dirty="0"/>
              <a:t>space model can be very difficult</a:t>
            </a:r>
          </a:p>
          <a:p>
            <a:r>
              <a:rPr lang="en-GB" altLang="en-US" sz="2400" dirty="0"/>
              <a:t>Given that users have a large information </a:t>
            </a:r>
            <a:br>
              <a:rPr lang="en-GB" altLang="en-US" sz="2400" dirty="0"/>
            </a:br>
            <a:r>
              <a:rPr lang="en-GB" altLang="en-US" sz="2400" dirty="0"/>
              <a:t>space, what facilities for navigating around that </a:t>
            </a:r>
            <a:br>
              <a:rPr lang="en-GB" altLang="en-US" sz="2400" dirty="0"/>
            </a:br>
            <a:r>
              <a:rPr lang="en-GB" altLang="en-US" sz="2400" dirty="0"/>
              <a:t>space should be provided?</a:t>
            </a:r>
          </a:p>
          <a:p>
            <a:r>
              <a:rPr lang="en-GB" altLang="en-US" sz="2400" dirty="0"/>
              <a:t>Direct manipulation interfaces can be complex to program and make heavy demands on the computer system</a:t>
            </a:r>
          </a:p>
        </p:txBody>
      </p:sp>
    </p:spTree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DE3B52D-7C02-B29F-2218-59A2D12EB5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Control panel interface</a:t>
            </a:r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02BE01B1-4321-81E6-FB95-4BC71E34E978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713" y="1712913"/>
            <a:ext cx="8404225" cy="3862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D53E0D1D-A898-C6B0-6324-157E2BFC79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Menu systems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697AD78-A9EC-0914-90B2-16C59F9053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571500" y="1981200"/>
            <a:ext cx="8001000" cy="4267200"/>
          </a:xfrm>
          <a:noFill/>
          <a:ln/>
        </p:spPr>
        <p:txBody>
          <a:bodyPr/>
          <a:lstStyle/>
          <a:p>
            <a:r>
              <a:rPr lang="en-GB" altLang="en-US" sz="2400" dirty="0"/>
              <a:t>Users make a selection from a list of </a:t>
            </a:r>
            <a:br>
              <a:rPr lang="en-GB" altLang="en-US" sz="2400" dirty="0"/>
            </a:br>
            <a:r>
              <a:rPr lang="en-GB" altLang="en-US" sz="2400" dirty="0"/>
              <a:t>possibilities presented to them by the system</a:t>
            </a:r>
          </a:p>
          <a:p>
            <a:r>
              <a:rPr lang="en-GB" altLang="en-US" sz="2400" dirty="0"/>
              <a:t>The selection may be made by pointing and </a:t>
            </a:r>
            <a:br>
              <a:rPr lang="en-GB" altLang="en-US" sz="2400" dirty="0"/>
            </a:br>
            <a:r>
              <a:rPr lang="en-GB" altLang="en-US" sz="2400" dirty="0"/>
              <a:t>clicking with a mouse, using cursor keys or by </a:t>
            </a:r>
            <a:br>
              <a:rPr lang="en-GB" altLang="en-US" sz="2400" dirty="0"/>
            </a:br>
            <a:r>
              <a:rPr lang="en-GB" altLang="en-US" sz="2400" dirty="0"/>
              <a:t>typing the name of the selection</a:t>
            </a:r>
          </a:p>
          <a:p>
            <a:r>
              <a:rPr lang="en-GB" altLang="en-US" sz="2400" dirty="0"/>
              <a:t>May make use of simple-to-use terminals such as touchscreens</a:t>
            </a:r>
          </a:p>
        </p:txBody>
      </p:sp>
    </p:spTree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42A4A6AE-5C3C-780B-4EBF-BF5C75A0F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Advantages of menu systems</a:t>
            </a:r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44116F5A-DD15-2A89-6A42-0511BC509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Users need not remember command names as they are always presented with a list of valid commands</a:t>
            </a:r>
          </a:p>
          <a:p>
            <a:r>
              <a:rPr lang="en-GB" altLang="en-US" sz="2400" dirty="0"/>
              <a:t>Typing effort is minimal</a:t>
            </a:r>
          </a:p>
          <a:p>
            <a:r>
              <a:rPr lang="en-GB" altLang="en-US" sz="2400" dirty="0"/>
              <a:t>User errors are trapped by the interface</a:t>
            </a:r>
          </a:p>
          <a:p>
            <a:r>
              <a:rPr lang="en-GB" altLang="en-US" sz="2400" dirty="0"/>
              <a:t>Context-dependent help can be provided. The user’s context is indicated by the current menu selection</a:t>
            </a:r>
          </a:p>
        </p:txBody>
      </p:sp>
    </p:spTree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AFD54DB7-AC9C-A269-D468-FF25A83265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Problems with menu systems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88A7FF29-889A-0A95-2F8E-02A4A71D70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Actions which involve logical conjunction (and) </a:t>
            </a:r>
            <a:br>
              <a:rPr lang="en-GB" altLang="en-US" sz="2400" dirty="0"/>
            </a:br>
            <a:r>
              <a:rPr lang="en-GB" altLang="en-US" sz="2400" dirty="0"/>
              <a:t>or disjunction (or) are awkward to represent</a:t>
            </a:r>
          </a:p>
          <a:p>
            <a:r>
              <a:rPr lang="en-GB" altLang="en-US" sz="2400" dirty="0"/>
              <a:t>Menu systems are best suited to presenting a </a:t>
            </a:r>
            <a:br>
              <a:rPr lang="en-GB" altLang="en-US" sz="2400" dirty="0"/>
            </a:br>
            <a:r>
              <a:rPr lang="en-GB" altLang="en-US" sz="2400" dirty="0"/>
              <a:t>small number of choices. If there are many </a:t>
            </a:r>
            <a:br>
              <a:rPr lang="en-GB" altLang="en-US" sz="2400" dirty="0"/>
            </a:br>
            <a:r>
              <a:rPr lang="en-GB" altLang="en-US" sz="2400" dirty="0"/>
              <a:t>choices, some menu structuring facility must be </a:t>
            </a:r>
            <a:br>
              <a:rPr lang="en-GB" altLang="en-US" sz="2400" dirty="0"/>
            </a:br>
            <a:r>
              <a:rPr lang="en-GB" altLang="en-US" sz="2400" dirty="0"/>
              <a:t>used</a:t>
            </a:r>
          </a:p>
          <a:p>
            <a:r>
              <a:rPr lang="en-GB" altLang="en-US" sz="2400" dirty="0"/>
              <a:t>Experienced users find menus slower than </a:t>
            </a:r>
            <a:br>
              <a:rPr lang="en-GB" altLang="en-US" sz="2400" dirty="0"/>
            </a:br>
            <a:r>
              <a:rPr lang="en-GB" altLang="en-US" sz="2400" dirty="0"/>
              <a:t>command language</a:t>
            </a:r>
          </a:p>
        </p:txBody>
      </p:sp>
    </p:spTree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53F1B6AC-C873-D827-01AE-1B41AAF0CC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Form-based interface</a:t>
            </a:r>
          </a:p>
        </p:txBody>
      </p:sp>
      <p:pic>
        <p:nvPicPr>
          <p:cNvPr id="25603" name="Picture 3">
            <a:extLst>
              <a:ext uri="{FF2B5EF4-FFF2-40B4-BE49-F238E27FC236}">
                <a16:creationId xmlns:a16="http://schemas.microsoft.com/office/drawing/2014/main" id="{5F50C98B-AEC6-A079-0BD2-71F98202A8D3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075" y="1484313"/>
            <a:ext cx="8072438" cy="4986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5FA34860-C603-06EB-D86C-22CADDDD37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Command interfaces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21E4A717-A70F-D3E7-401C-3D2DC53F19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User types commands to give instructions to the system e.g. UNIX</a:t>
            </a:r>
          </a:p>
          <a:p>
            <a:r>
              <a:rPr lang="en-GB" altLang="en-US" sz="2400" dirty="0"/>
              <a:t>May be implemented using cheap terminals.</a:t>
            </a:r>
          </a:p>
          <a:p>
            <a:r>
              <a:rPr lang="en-GB" altLang="en-US" sz="2400" dirty="0"/>
              <a:t>Easy to process using compiler techniques</a:t>
            </a:r>
          </a:p>
          <a:p>
            <a:r>
              <a:rPr lang="en-GB" altLang="en-US" sz="2400" dirty="0"/>
              <a:t>Commands of arbitrary complexity can be </a:t>
            </a:r>
            <a:br>
              <a:rPr lang="en-GB" altLang="en-US" sz="2400" dirty="0"/>
            </a:br>
            <a:r>
              <a:rPr lang="en-GB" altLang="en-US" sz="2400" dirty="0"/>
              <a:t>created by command combination</a:t>
            </a:r>
          </a:p>
          <a:p>
            <a:r>
              <a:rPr lang="en-GB" altLang="en-US" sz="2400" dirty="0"/>
              <a:t>Concise interfaces requiring minimal typing can </a:t>
            </a:r>
            <a:br>
              <a:rPr lang="en-GB" altLang="en-US" sz="2400" dirty="0"/>
            </a:br>
            <a:r>
              <a:rPr lang="en-GB" altLang="en-US" sz="2400" dirty="0"/>
              <a:t>be created</a:t>
            </a:r>
          </a:p>
        </p:txBody>
      </p:sp>
    </p:spTree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B1AAD763-E01B-05D5-F439-A27F412D4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63525"/>
            <a:ext cx="8272463" cy="1108075"/>
          </a:xfrm>
          <a:noFill/>
          <a:ln/>
        </p:spPr>
        <p:txBody>
          <a:bodyPr/>
          <a:lstStyle/>
          <a:p>
            <a:r>
              <a:rPr lang="en-GB" altLang="en-US"/>
              <a:t>Problems with command interfaces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524B624-2C49-AB9A-6DE6-9B1455B4D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Users have to learn and remember a command </a:t>
            </a:r>
            <a:br>
              <a:rPr lang="en-GB" altLang="en-US" sz="2400" dirty="0"/>
            </a:br>
            <a:r>
              <a:rPr lang="en-GB" altLang="en-US" sz="2400" dirty="0"/>
              <a:t>language. Command interfaces are therefore </a:t>
            </a:r>
            <a:br>
              <a:rPr lang="en-GB" altLang="en-US" sz="2400" dirty="0"/>
            </a:br>
            <a:r>
              <a:rPr lang="en-GB" altLang="en-US" sz="2400" dirty="0"/>
              <a:t>unsuitable for occasional users</a:t>
            </a:r>
          </a:p>
          <a:p>
            <a:r>
              <a:rPr lang="en-GB" altLang="en-US" sz="2400" dirty="0"/>
              <a:t>Users make errors in command. An error </a:t>
            </a:r>
            <a:br>
              <a:rPr lang="en-GB" altLang="en-US" sz="2400" dirty="0"/>
            </a:br>
            <a:r>
              <a:rPr lang="en-GB" altLang="en-US" sz="2400" dirty="0"/>
              <a:t>detection and recovery system is required</a:t>
            </a:r>
          </a:p>
          <a:p>
            <a:r>
              <a:rPr lang="en-GB" altLang="en-US" sz="2400" dirty="0"/>
              <a:t>System interaction is through a keyboard so </a:t>
            </a:r>
            <a:br>
              <a:rPr lang="en-GB" altLang="en-US" sz="2400" dirty="0"/>
            </a:br>
            <a:r>
              <a:rPr lang="en-GB" altLang="en-US" sz="2400" dirty="0"/>
              <a:t>typing ability is required</a:t>
            </a:r>
          </a:p>
        </p:txBody>
      </p:sp>
    </p:spTree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131B606-052B-D80E-25C7-4EB661658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Command languages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F3235095-F6C7-E28D-5502-AEF29D94F2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Often preferred by experienced users because they allow for faster interaction with the system</a:t>
            </a:r>
          </a:p>
          <a:p>
            <a:r>
              <a:rPr lang="en-GB" altLang="en-US" sz="2400" dirty="0"/>
              <a:t>Not suitable for casual or inexperienced users</a:t>
            </a:r>
          </a:p>
          <a:p>
            <a:r>
              <a:rPr lang="en-GB" altLang="en-US" sz="2400" dirty="0"/>
              <a:t>May be provided as an alternative to menu commands (keyboard shortcuts). In some cases, a command language interface and a menu-based interface are supported at the same time</a:t>
            </a:r>
          </a:p>
        </p:txBody>
      </p:sp>
    </p:spTree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570" name="Rectangle 2">
            <a:extLst>
              <a:ext uri="{FF2B5EF4-FFF2-40B4-BE49-F238E27FC236}">
                <a16:creationId xmlns:a16="http://schemas.microsoft.com/office/drawing/2014/main" id="{4BA1FFB8-E568-EDA8-3FA2-D51375E7A5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Natural language interfaces</a:t>
            </a:r>
          </a:p>
        </p:txBody>
      </p:sp>
      <p:sp>
        <p:nvSpPr>
          <p:cNvPr id="1133571" name="Rectangle 3">
            <a:extLst>
              <a:ext uri="{FF2B5EF4-FFF2-40B4-BE49-F238E27FC236}">
                <a16:creationId xmlns:a16="http://schemas.microsoft.com/office/drawing/2014/main" id="{98D59549-EC44-4FAF-8957-09F9FB1DC2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 dirty="0"/>
              <a:t>The user types a command in a natural language. Generally, the vocabulary is limited and these systems are confined to specific application domains (e.g. timetable enquiries)</a:t>
            </a:r>
          </a:p>
          <a:p>
            <a:r>
              <a:rPr lang="en-GB" altLang="en-US" sz="2400" dirty="0"/>
              <a:t>NL processing technology is now good enough to make these interfaces effective for casual users but experienced users find that they require too much typing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D7FCF762-F5CF-3CEC-F493-97F65FFCA8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Multiple user interfaces</a:t>
            </a:r>
          </a:p>
        </p:txBody>
      </p:sp>
      <p:pic>
        <p:nvPicPr>
          <p:cNvPr id="50180" name="Picture 4">
            <a:extLst>
              <a:ext uri="{FF2B5EF4-FFF2-40B4-BE49-F238E27FC236}">
                <a16:creationId xmlns:a16="http://schemas.microsoft.com/office/drawing/2014/main" id="{086BF251-D90F-43E2-C6D4-DE1519D4A1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1682750"/>
            <a:ext cx="7115175" cy="46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594" name="Rectangle 2">
            <a:extLst>
              <a:ext uri="{FF2B5EF4-FFF2-40B4-BE49-F238E27FC236}">
                <a16:creationId xmlns:a16="http://schemas.microsoft.com/office/drawing/2014/main" id="{AB0A8659-645E-FF86-730A-EFAC7BB052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Information presentation</a:t>
            </a:r>
          </a:p>
        </p:txBody>
      </p:sp>
      <p:sp>
        <p:nvSpPr>
          <p:cNvPr id="1134595" name="Rectangle 3">
            <a:extLst>
              <a:ext uri="{FF2B5EF4-FFF2-40B4-BE49-F238E27FC236}">
                <a16:creationId xmlns:a16="http://schemas.microsoft.com/office/drawing/2014/main" id="{5EE981B6-E0E4-85B8-35A1-A6C7A5EB9A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en-US" sz="2400" dirty="0"/>
              <a:t>Information presentation is concerned with presenting system information to system users</a:t>
            </a:r>
          </a:p>
          <a:p>
            <a:r>
              <a:rPr lang="en-GB" altLang="en-US" sz="2400" dirty="0"/>
              <a:t>The information may be presented directly (e.g. text in a word processor) or may be transformed in some way for presentation (e.g. in some graphical form)</a:t>
            </a:r>
          </a:p>
          <a:p>
            <a:r>
              <a:rPr lang="en-GB" altLang="en-US" sz="2400" dirty="0"/>
              <a:t>The Model-View-Controller approach is a way of supporting multiple presentations of data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F7EE29A9-C0B8-C8A2-3A7B-02E4FAEAA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Information presentation</a:t>
            </a:r>
          </a:p>
        </p:txBody>
      </p:sp>
      <p:pic>
        <p:nvPicPr>
          <p:cNvPr id="56323" name="Picture 3">
            <a:extLst>
              <a:ext uri="{FF2B5EF4-FFF2-40B4-BE49-F238E27FC236}">
                <a16:creationId xmlns:a16="http://schemas.microsoft.com/office/drawing/2014/main" id="{2987C5F8-E2E2-6219-D05C-CECB8246AB5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438" y="2128838"/>
            <a:ext cx="8639175" cy="313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618" name="Rectangle 2">
            <a:extLst>
              <a:ext uri="{FF2B5EF4-FFF2-40B4-BE49-F238E27FC236}">
                <a16:creationId xmlns:a16="http://schemas.microsoft.com/office/drawing/2014/main" id="{03058370-AD53-6FF9-29CE-DB1EB5DABB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Model-view-controller</a:t>
            </a:r>
          </a:p>
        </p:txBody>
      </p:sp>
      <p:pic>
        <p:nvPicPr>
          <p:cNvPr id="1135620" name="Picture 4">
            <a:extLst>
              <a:ext uri="{FF2B5EF4-FFF2-40B4-BE49-F238E27FC236}">
                <a16:creationId xmlns:a16="http://schemas.microsoft.com/office/drawing/2014/main" id="{679BEB27-6DDE-AD01-90AA-E4DF3C0A6A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788" y="2524125"/>
            <a:ext cx="8188325" cy="2994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>
            <a:extLst>
              <a:ext uri="{FF2B5EF4-FFF2-40B4-BE49-F238E27FC236}">
                <a16:creationId xmlns:a16="http://schemas.microsoft.com/office/drawing/2014/main" id="{FDEFFA6C-6988-79E9-06FB-E26D8C74F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Information presentation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6E33D980-6C21-CAA7-A1EA-EDE435BA63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Static information</a:t>
            </a:r>
          </a:p>
          <a:p>
            <a:pPr lvl="1"/>
            <a:r>
              <a:rPr lang="en-GB" altLang="en-US"/>
              <a:t>Initialised at the beginning of a session. It does not change </a:t>
            </a:r>
            <a:br>
              <a:rPr lang="en-GB" altLang="en-US"/>
            </a:br>
            <a:r>
              <a:rPr lang="en-GB" altLang="en-US"/>
              <a:t>during the session</a:t>
            </a:r>
          </a:p>
          <a:p>
            <a:pPr lvl="1"/>
            <a:r>
              <a:rPr lang="en-GB" altLang="en-US"/>
              <a:t>May be either numeric or textual</a:t>
            </a:r>
          </a:p>
          <a:p>
            <a:r>
              <a:rPr lang="en-GB" altLang="en-US"/>
              <a:t>Dynamic  information</a:t>
            </a:r>
          </a:p>
          <a:p>
            <a:pPr lvl="1"/>
            <a:r>
              <a:rPr lang="en-GB" altLang="en-US"/>
              <a:t>Changes during a session and the changes must be </a:t>
            </a:r>
            <a:br>
              <a:rPr lang="en-GB" altLang="en-US"/>
            </a:br>
            <a:r>
              <a:rPr lang="en-GB" altLang="en-US"/>
              <a:t>communicated to the system user</a:t>
            </a:r>
          </a:p>
          <a:p>
            <a:pPr lvl="1"/>
            <a:r>
              <a:rPr lang="en-GB" altLang="en-US"/>
              <a:t>May be either numeric or textual</a:t>
            </a:r>
          </a:p>
        </p:txBody>
      </p:sp>
    </p:spTree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BCB382E4-121C-F437-9F9C-A8F863D68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Information display factors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40C0CDD-05AF-CFDB-0F13-4041814DEB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000" dirty="0"/>
              <a:t>Is the user interested in precise information or </a:t>
            </a:r>
            <a:br>
              <a:rPr lang="en-GB" altLang="en-US" sz="2000" dirty="0"/>
            </a:br>
            <a:r>
              <a:rPr lang="en-GB" altLang="en-US" sz="2000" dirty="0"/>
              <a:t>data relationships?</a:t>
            </a:r>
          </a:p>
          <a:p>
            <a:r>
              <a:rPr lang="en-GB" altLang="en-US" sz="2000" dirty="0"/>
              <a:t>How quickly do information values change? </a:t>
            </a:r>
            <a:br>
              <a:rPr lang="en-GB" altLang="en-US" sz="2000" dirty="0"/>
            </a:br>
            <a:r>
              <a:rPr lang="en-GB" altLang="en-US" sz="2000" dirty="0"/>
              <a:t>Must the change be indicated immediately?</a:t>
            </a:r>
          </a:p>
          <a:p>
            <a:r>
              <a:rPr lang="en-GB" altLang="en-US" sz="2000" dirty="0"/>
              <a:t>Must the user take some action in response to </a:t>
            </a:r>
            <a:br>
              <a:rPr lang="en-GB" altLang="en-US" sz="2000" dirty="0"/>
            </a:br>
            <a:r>
              <a:rPr lang="en-GB" altLang="en-US" sz="2000" dirty="0"/>
              <a:t>a change?</a:t>
            </a:r>
          </a:p>
          <a:p>
            <a:r>
              <a:rPr lang="en-GB" altLang="en-US" sz="2000" dirty="0"/>
              <a:t>Is there a direct manipulation interface?</a:t>
            </a:r>
          </a:p>
          <a:p>
            <a:r>
              <a:rPr lang="en-GB" altLang="en-US" sz="2000" dirty="0"/>
              <a:t>Is the information textual or numeric? Are relative values important?</a:t>
            </a:r>
          </a:p>
        </p:txBody>
      </p:sp>
    </p:spTree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0F9DDCD6-DC30-E916-C1DA-1ED189BF1C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63525"/>
            <a:ext cx="8266113" cy="1108075"/>
          </a:xfrm>
          <a:noFill/>
          <a:ln/>
        </p:spPr>
        <p:txBody>
          <a:bodyPr/>
          <a:lstStyle/>
          <a:p>
            <a:r>
              <a:rPr lang="en-GB" altLang="en-US" sz="3600"/>
              <a:t>Alternative information presentations</a:t>
            </a:r>
            <a:endParaRPr lang="en-GB" altLang="en-US"/>
          </a:p>
        </p:txBody>
      </p:sp>
      <p:pic>
        <p:nvPicPr>
          <p:cNvPr id="58371" name="Picture 3">
            <a:extLst>
              <a:ext uri="{FF2B5EF4-FFF2-40B4-BE49-F238E27FC236}">
                <a16:creationId xmlns:a16="http://schemas.microsoft.com/office/drawing/2014/main" id="{7E7190A1-C322-AF47-3B17-A710823BBFE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925" y="1490663"/>
            <a:ext cx="5408613" cy="5302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A874DBC5-87AE-B0CE-53C0-B43C16DCFF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63525"/>
            <a:ext cx="8335963" cy="1108075"/>
          </a:xfrm>
          <a:noFill/>
          <a:ln/>
        </p:spPr>
        <p:txBody>
          <a:bodyPr/>
          <a:lstStyle/>
          <a:p>
            <a:r>
              <a:rPr lang="en-GB" altLang="en-US"/>
              <a:t>Analogue vs. digital presentation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A9BDF25D-591B-5F78-1AB5-D56F1B8E55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Digital presentation</a:t>
            </a:r>
          </a:p>
          <a:p>
            <a:pPr lvl="1"/>
            <a:r>
              <a:rPr lang="en-GB" altLang="en-US"/>
              <a:t>Compact - takes up little screen space</a:t>
            </a:r>
          </a:p>
          <a:p>
            <a:pPr lvl="1"/>
            <a:r>
              <a:rPr lang="en-GB" altLang="en-US"/>
              <a:t>Precise values can be communicated</a:t>
            </a:r>
          </a:p>
          <a:p>
            <a:r>
              <a:rPr lang="en-GB" altLang="en-US"/>
              <a:t>Analogue presentation</a:t>
            </a:r>
          </a:p>
          <a:p>
            <a:pPr lvl="1"/>
            <a:r>
              <a:rPr lang="en-GB" altLang="en-US"/>
              <a:t>Easier to get an 'at a glance' impression of a value</a:t>
            </a:r>
          </a:p>
          <a:p>
            <a:pPr lvl="1"/>
            <a:r>
              <a:rPr lang="en-GB" altLang="en-US"/>
              <a:t>Possible to show relative values</a:t>
            </a:r>
          </a:p>
          <a:p>
            <a:pPr lvl="1"/>
            <a:r>
              <a:rPr lang="en-GB" altLang="en-US"/>
              <a:t>Easier to see exceptional data values</a:t>
            </a:r>
          </a:p>
        </p:txBody>
      </p:sp>
    </p:spTree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A7C449B0-328E-C1CD-EE4E-38A68B4189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Dynamic information display</a:t>
            </a:r>
          </a:p>
        </p:txBody>
      </p:sp>
      <p:pic>
        <p:nvPicPr>
          <p:cNvPr id="62467" name="Picture 3">
            <a:extLst>
              <a:ext uri="{FF2B5EF4-FFF2-40B4-BE49-F238E27FC236}">
                <a16:creationId xmlns:a16="http://schemas.microsoft.com/office/drawing/2014/main" id="{CBE250B3-884D-529B-C3BF-2D9C986ACC46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2141538"/>
            <a:ext cx="8672512" cy="3392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D766CF82-6989-CD99-58F0-E9A55967E8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Displaying relative values</a:t>
            </a:r>
          </a:p>
        </p:txBody>
      </p:sp>
      <p:pic>
        <p:nvPicPr>
          <p:cNvPr id="64515" name="Picture 3">
            <a:extLst>
              <a:ext uri="{FF2B5EF4-FFF2-40B4-BE49-F238E27FC236}">
                <a16:creationId xmlns:a16="http://schemas.microsoft.com/office/drawing/2014/main" id="{ED0215CB-9C6D-A8C7-0503-D9A28D2E6695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138" y="2752725"/>
            <a:ext cx="8518525" cy="174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CB6AA37D-B183-4FD7-0148-14F781D0C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Textual highlighting</a:t>
            </a:r>
          </a:p>
        </p:txBody>
      </p:sp>
      <p:pic>
        <p:nvPicPr>
          <p:cNvPr id="66564" name="Picture 4">
            <a:extLst>
              <a:ext uri="{FF2B5EF4-FFF2-40B4-BE49-F238E27FC236}">
                <a16:creationId xmlns:a16="http://schemas.microsoft.com/office/drawing/2014/main" id="{0F21225E-2A0C-1554-BF97-0F219E1DD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988" y="1911350"/>
            <a:ext cx="7881937" cy="3630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485A4689-627D-5089-E287-977A1529E7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Data visualisation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6910F52-A3C0-51AA-3066-28553F3C22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000" dirty="0"/>
              <a:t>Concerned with techniques for displaying large amounts of information</a:t>
            </a:r>
          </a:p>
          <a:p>
            <a:r>
              <a:rPr lang="en-GB" altLang="en-US" sz="2000" dirty="0"/>
              <a:t>Visualisation can reveal relationships between entities and trends in the data</a:t>
            </a:r>
          </a:p>
          <a:p>
            <a:r>
              <a:rPr lang="en-GB" altLang="en-US" sz="2000" dirty="0"/>
              <a:t>Possible data visualisations are:</a:t>
            </a:r>
          </a:p>
          <a:p>
            <a:pPr lvl="1"/>
            <a:r>
              <a:rPr lang="en-GB" altLang="en-US" sz="1800" dirty="0"/>
              <a:t>Weather information collected from a number of sources</a:t>
            </a:r>
          </a:p>
          <a:p>
            <a:pPr lvl="1"/>
            <a:r>
              <a:rPr lang="en-GB" altLang="en-US" sz="1800" dirty="0"/>
              <a:t>The state of a telephone network as a linked set of nodes</a:t>
            </a:r>
          </a:p>
          <a:p>
            <a:pPr lvl="1"/>
            <a:r>
              <a:rPr lang="en-GB" altLang="en-US" sz="1800" dirty="0"/>
              <a:t>Chemical plant visualised by showing pressures and temperatures in a linked set of tanks and pipes</a:t>
            </a:r>
          </a:p>
          <a:p>
            <a:pPr lvl="1"/>
            <a:r>
              <a:rPr lang="en-GB" altLang="en-US" sz="1800" dirty="0"/>
              <a:t>A model of a molecule displayed in 3 dimensions</a:t>
            </a:r>
          </a:p>
          <a:p>
            <a:pPr lvl="1"/>
            <a:r>
              <a:rPr lang="en-GB" altLang="en-US" sz="1800" dirty="0"/>
              <a:t>Web pages displayed as a hyperbolic tree</a:t>
            </a:r>
          </a:p>
        </p:txBody>
      </p:sp>
    </p:spTree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>
            <a:extLst>
              <a:ext uri="{FF2B5EF4-FFF2-40B4-BE49-F238E27FC236}">
                <a16:creationId xmlns:a16="http://schemas.microsoft.com/office/drawing/2014/main" id="{C702B8E7-E703-4205-1BF3-868A3A14F4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Colour displays</a:t>
            </a:r>
          </a:p>
        </p:txBody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8550289-2C53-5647-21E3-72C553B1B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Colour adds an extra dimension to an interface </a:t>
            </a:r>
            <a:br>
              <a:rPr lang="en-GB" altLang="en-US" sz="2400" dirty="0"/>
            </a:br>
            <a:r>
              <a:rPr lang="en-GB" altLang="en-US" sz="2400" dirty="0"/>
              <a:t>and can help the user understand complex </a:t>
            </a:r>
            <a:br>
              <a:rPr lang="en-GB" altLang="en-US" sz="2400" dirty="0"/>
            </a:br>
            <a:r>
              <a:rPr lang="en-GB" altLang="en-US" sz="2400" dirty="0"/>
              <a:t>information structures</a:t>
            </a:r>
          </a:p>
          <a:p>
            <a:r>
              <a:rPr lang="en-GB" altLang="en-US" sz="2400" dirty="0"/>
              <a:t>Can be used to highlight exceptional events</a:t>
            </a:r>
          </a:p>
          <a:p>
            <a:r>
              <a:rPr lang="en-GB" altLang="en-US" sz="2400" dirty="0"/>
              <a:t>Common mistakes in the use of colour in </a:t>
            </a:r>
            <a:br>
              <a:rPr lang="en-GB" altLang="en-US" sz="2400" dirty="0"/>
            </a:br>
            <a:r>
              <a:rPr lang="en-GB" altLang="en-US" sz="2400" dirty="0"/>
              <a:t>interface design include:</a:t>
            </a:r>
          </a:p>
          <a:p>
            <a:pPr lvl="1"/>
            <a:r>
              <a:rPr lang="en-GB" altLang="en-US" sz="2000" dirty="0"/>
              <a:t>The use of colour to communicate meaning</a:t>
            </a:r>
          </a:p>
          <a:p>
            <a:pPr lvl="1"/>
            <a:r>
              <a:rPr lang="en-GB" altLang="en-US" sz="2000" dirty="0"/>
              <a:t>Over-use of colour in the display</a:t>
            </a:r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9A13C22E-60B8-CACE-8E26-56E8B1EFB8C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Colour use guidelines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570D3129-940E-E105-319A-45B387C2F6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Don't use too many colours</a:t>
            </a:r>
          </a:p>
          <a:p>
            <a:r>
              <a:rPr lang="en-GB" altLang="en-US" sz="2400" dirty="0"/>
              <a:t>Use colour coding to support use tasks</a:t>
            </a:r>
          </a:p>
          <a:p>
            <a:r>
              <a:rPr lang="en-GB" altLang="en-US" sz="2400" dirty="0"/>
              <a:t>Allow users to control colour coding</a:t>
            </a:r>
          </a:p>
          <a:p>
            <a:r>
              <a:rPr lang="en-GB" altLang="en-US" sz="2400" dirty="0"/>
              <a:t>Design for monochrome then add colour</a:t>
            </a:r>
          </a:p>
          <a:p>
            <a:r>
              <a:rPr lang="en-GB" altLang="en-US" sz="2400" dirty="0"/>
              <a:t>Use colour coding consistently</a:t>
            </a:r>
          </a:p>
          <a:p>
            <a:r>
              <a:rPr lang="en-GB" altLang="en-US" sz="2400" dirty="0"/>
              <a:t>Avoid colour pairings which clash</a:t>
            </a:r>
          </a:p>
          <a:p>
            <a:r>
              <a:rPr lang="en-GB" altLang="en-US" sz="2400" dirty="0"/>
              <a:t>Use colour change to show status change</a:t>
            </a:r>
          </a:p>
          <a:p>
            <a:r>
              <a:rPr lang="en-GB" altLang="en-US" sz="2400" dirty="0"/>
              <a:t>Be aware that colour displays are usually lower </a:t>
            </a:r>
            <a:br>
              <a:rPr lang="en-GB" altLang="en-US" sz="2400" dirty="0"/>
            </a:br>
            <a:r>
              <a:rPr lang="en-GB" altLang="en-US" sz="2400" dirty="0"/>
              <a:t>resolution</a:t>
            </a:r>
          </a:p>
        </p:txBody>
      </p:sp>
    </p:spTree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03D6A677-DF47-BE54-53F5-606A8940C8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User support  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1CE963F6-BA84-C803-57E1-17FC94C97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User guidance covers all system facilities to support users including on-line help, error messages, manuals etc.</a:t>
            </a:r>
          </a:p>
          <a:p>
            <a:r>
              <a:rPr lang="en-GB" altLang="en-US" sz="2400" dirty="0"/>
              <a:t>The user guidance system should be integrated with the user interface to help users when they need information about the system or when they make some kind of error</a:t>
            </a:r>
          </a:p>
          <a:p>
            <a:r>
              <a:rPr lang="en-GB" altLang="en-US" sz="2400" dirty="0"/>
              <a:t>The help and message system should, if possible, be integrated </a:t>
            </a:r>
          </a:p>
        </p:txBody>
      </p:sp>
    </p:spTree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C6BD9049-3C6E-4F20-6ACA-BF5E83FE85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Help and message system</a:t>
            </a:r>
          </a:p>
        </p:txBody>
      </p:sp>
      <p:pic>
        <p:nvPicPr>
          <p:cNvPr id="75779" name="Picture 3">
            <a:extLst>
              <a:ext uri="{FF2B5EF4-FFF2-40B4-BE49-F238E27FC236}">
                <a16:creationId xmlns:a16="http://schemas.microsoft.com/office/drawing/2014/main" id="{1A934719-EA79-F608-03AF-49A42A9F94BC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2900" y="1414463"/>
            <a:ext cx="5713413" cy="5018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A5F5AD87-17ED-3163-19C9-8A19B2F20B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Error messages</a:t>
            </a:r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276E4EAB-89C3-781C-0E9E-E155942E6E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Error message design is critically important. </a:t>
            </a:r>
            <a:br>
              <a:rPr lang="en-GB" altLang="en-US" sz="2400" dirty="0"/>
            </a:br>
            <a:r>
              <a:rPr lang="en-GB" altLang="en-US" sz="2400" dirty="0"/>
              <a:t>Poor error messages can mean that a user </a:t>
            </a:r>
            <a:br>
              <a:rPr lang="en-GB" altLang="en-US" sz="2400" dirty="0"/>
            </a:br>
            <a:r>
              <a:rPr lang="en-GB" altLang="en-US" sz="2400" dirty="0"/>
              <a:t>rejects rather than accepts a system</a:t>
            </a:r>
          </a:p>
          <a:p>
            <a:r>
              <a:rPr lang="en-GB" altLang="en-US" sz="2400" dirty="0"/>
              <a:t>Messages should be polite, concise, consistent </a:t>
            </a:r>
            <a:br>
              <a:rPr lang="en-GB" altLang="en-US" sz="2400" dirty="0"/>
            </a:br>
            <a:r>
              <a:rPr lang="en-GB" altLang="en-US" sz="2400" dirty="0"/>
              <a:t>and constructive</a:t>
            </a:r>
          </a:p>
          <a:p>
            <a:r>
              <a:rPr lang="en-GB" altLang="en-US" sz="2400" dirty="0"/>
              <a:t>The background and experience of users </a:t>
            </a:r>
            <a:br>
              <a:rPr lang="en-GB" altLang="en-US" sz="2400" dirty="0"/>
            </a:br>
            <a:r>
              <a:rPr lang="en-GB" altLang="en-US" sz="2400" dirty="0"/>
              <a:t>should be the determining factor in message </a:t>
            </a:r>
            <a:br>
              <a:rPr lang="en-GB" altLang="en-US" sz="2400" dirty="0"/>
            </a:br>
            <a:r>
              <a:rPr lang="en-GB" altLang="en-US" sz="2400" dirty="0"/>
              <a:t>design</a:t>
            </a:r>
          </a:p>
        </p:txBody>
      </p:sp>
    </p:spTree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>
            <a:extLst>
              <a:ext uri="{FF2B5EF4-FFF2-40B4-BE49-F238E27FC236}">
                <a16:creationId xmlns:a16="http://schemas.microsoft.com/office/drawing/2014/main" id="{DB2E6888-2EF5-792B-1006-006F1046CF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263525"/>
            <a:ext cx="8462963" cy="1108075"/>
          </a:xfrm>
          <a:noFill/>
          <a:ln/>
        </p:spPr>
        <p:txBody>
          <a:bodyPr/>
          <a:lstStyle/>
          <a:p>
            <a:r>
              <a:rPr lang="en-GB" altLang="en-US"/>
              <a:t>Design factors in message wording</a:t>
            </a:r>
          </a:p>
        </p:txBody>
      </p:sp>
      <p:graphicFrame>
        <p:nvGraphicFramePr>
          <p:cNvPr id="79875" name="Object 3">
            <a:extLst>
              <a:ext uri="{FF2B5EF4-FFF2-40B4-BE49-F238E27FC236}">
                <a16:creationId xmlns:a16="http://schemas.microsoft.com/office/drawing/2014/main" id="{22F6A306-E60D-CC7D-5207-993139F8186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71697666"/>
              </p:ext>
            </p:extLst>
          </p:nvPr>
        </p:nvGraphicFramePr>
        <p:xfrm>
          <a:off x="665163" y="1905000"/>
          <a:ext cx="7470775" cy="4848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4356100" imgH="3060700" progId="Word.Document.6">
                  <p:embed/>
                </p:oleObj>
              </mc:Choice>
              <mc:Fallback>
                <p:oleObj name="Document" r:id="rId2" imgW="4356100" imgH="3060700" progId="Word.Document.6">
                  <p:embed/>
                  <p:pic>
                    <p:nvPicPr>
                      <p:cNvPr id="79875" name="Object 3">
                        <a:extLst>
                          <a:ext uri="{FF2B5EF4-FFF2-40B4-BE49-F238E27FC236}">
                            <a16:creationId xmlns:a16="http://schemas.microsoft.com/office/drawing/2014/main" id="{22F6A306-E60D-CC7D-5207-993139F8186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163" y="1905000"/>
                        <a:ext cx="7470775" cy="4848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>
            <a:extLst>
              <a:ext uri="{FF2B5EF4-FFF2-40B4-BE49-F238E27FC236}">
                <a16:creationId xmlns:a16="http://schemas.microsoft.com/office/drawing/2014/main" id="{7D3598D1-EC4D-3C57-F4DD-222937735F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Nurse input of a patient’s name</a:t>
            </a:r>
          </a:p>
        </p:txBody>
      </p:sp>
      <p:sp>
        <p:nvSpPr>
          <p:cNvPr id="80900" name="Rectangle 4">
            <a:extLst>
              <a:ext uri="{FF2B5EF4-FFF2-40B4-BE49-F238E27FC236}">
                <a16:creationId xmlns:a16="http://schemas.microsoft.com/office/drawing/2014/main" id="{CAEA422E-E3A0-02B7-4AE6-F1B1160963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138" y="2019300"/>
            <a:ext cx="8467725" cy="3733800"/>
          </a:xfrm>
          <a:prstGeom prst="rect">
            <a:avLst/>
          </a:prstGeom>
          <a:solidFill>
            <a:srgbClr val="D3E2C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01" name="Rectangle 5">
            <a:extLst>
              <a:ext uri="{FF2B5EF4-FFF2-40B4-BE49-F238E27FC236}">
                <a16:creationId xmlns:a16="http://schemas.microsoft.com/office/drawing/2014/main" id="{C3EB16A4-0893-F0DE-D006-9015FB7C6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013" y="2035175"/>
            <a:ext cx="8469312" cy="3740150"/>
          </a:xfrm>
          <a:prstGeom prst="rect">
            <a:avLst/>
          </a:prstGeom>
          <a:noFill/>
          <a:ln w="333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02" name="Rectangle 6">
            <a:extLst>
              <a:ext uri="{FF2B5EF4-FFF2-40B4-BE49-F238E27FC236}">
                <a16:creationId xmlns:a16="http://schemas.microsoft.com/office/drawing/2014/main" id="{D5C32597-7D81-3D81-BF67-506ACBE0CC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" y="2519363"/>
            <a:ext cx="7731125" cy="539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03" name="Rectangle 7">
            <a:extLst>
              <a:ext uri="{FF2B5EF4-FFF2-40B4-BE49-F238E27FC236}">
                <a16:creationId xmlns:a16="http://schemas.microsoft.com/office/drawing/2014/main" id="{20EAB663-D177-CFE9-02D8-E5B5BDD8C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2535238"/>
            <a:ext cx="7732713" cy="546100"/>
          </a:xfrm>
          <a:prstGeom prst="rect">
            <a:avLst/>
          </a:prstGeom>
          <a:noFill/>
          <a:ln w="333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04" name="Rectangle 8">
            <a:extLst>
              <a:ext uri="{FF2B5EF4-FFF2-40B4-BE49-F238E27FC236}">
                <a16:creationId xmlns:a16="http://schemas.microsoft.com/office/drawing/2014/main" id="{AAE895AD-8578-E310-F86A-B1A8A7FB4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667000"/>
            <a:ext cx="750887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 sz="2000" b="1">
                <a:solidFill>
                  <a:srgbClr val="000000"/>
                </a:solidFill>
                <a:latin typeface="Arial" panose="020B0604020202020204" pitchFamily="34" charset="0"/>
              </a:rPr>
              <a:t>Please type the patient name in the box then click ok</a:t>
            </a:r>
            <a:endParaRPr lang="en-US" altLang="en-US" sz="2000">
              <a:latin typeface="Arial" panose="020B0604020202020204" pitchFamily="34" charset="0"/>
            </a:endParaRPr>
          </a:p>
        </p:txBody>
      </p:sp>
      <p:sp>
        <p:nvSpPr>
          <p:cNvPr id="80908" name="Rectangle 12">
            <a:extLst>
              <a:ext uri="{FF2B5EF4-FFF2-40B4-BE49-F238E27FC236}">
                <a16:creationId xmlns:a16="http://schemas.microsoft.com/office/drawing/2014/main" id="{160DA9A9-BDE6-8513-728C-8E0052C650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3100" y="3327400"/>
            <a:ext cx="7731125" cy="7318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09" name="Rectangle 13">
            <a:extLst>
              <a:ext uri="{FF2B5EF4-FFF2-40B4-BE49-F238E27FC236}">
                <a16:creationId xmlns:a16="http://schemas.microsoft.com/office/drawing/2014/main" id="{2B00E53D-3D08-34A4-3DB6-F162F34BB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8975" y="3343275"/>
            <a:ext cx="7732713" cy="738188"/>
          </a:xfrm>
          <a:prstGeom prst="rect">
            <a:avLst/>
          </a:prstGeom>
          <a:noFill/>
          <a:ln w="333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10" name="Rectangle 14">
            <a:extLst>
              <a:ext uri="{FF2B5EF4-FFF2-40B4-BE49-F238E27FC236}">
                <a16:creationId xmlns:a16="http://schemas.microsoft.com/office/drawing/2014/main" id="{820814E0-3EA8-C721-E16F-E57D4DC20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3125" y="3521075"/>
            <a:ext cx="955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Bates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11" name="Rectangle 15">
            <a:extLst>
              <a:ext uri="{FF2B5EF4-FFF2-40B4-BE49-F238E27FC236}">
                <a16:creationId xmlns:a16="http://schemas.microsoft.com/office/drawing/2014/main" id="{117DE53A-3A4F-A612-4619-D97F3AE792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388" y="3521075"/>
            <a:ext cx="3206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, J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12" name="Rectangle 16">
            <a:extLst>
              <a:ext uri="{FF2B5EF4-FFF2-40B4-BE49-F238E27FC236}">
                <a16:creationId xmlns:a16="http://schemas.microsoft.com/office/drawing/2014/main" id="{9C100C6C-FE9B-D789-D51E-B90EE56CD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3521075"/>
            <a:ext cx="4413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13" name="Oval 17">
            <a:extLst>
              <a:ext uri="{FF2B5EF4-FFF2-40B4-BE49-F238E27FC236}">
                <a16:creationId xmlns:a16="http://schemas.microsoft.com/office/drawing/2014/main" id="{CAA39570-36FA-E4A0-6D32-9C91F55C5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3025" y="4097338"/>
            <a:ext cx="1404938" cy="1577975"/>
          </a:xfrm>
          <a:prstGeom prst="ellipse">
            <a:avLst/>
          </a:prstGeom>
          <a:solidFill>
            <a:srgbClr val="D8E7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14" name="Oval 18">
            <a:extLst>
              <a:ext uri="{FF2B5EF4-FFF2-40B4-BE49-F238E27FC236}">
                <a16:creationId xmlns:a16="http://schemas.microsoft.com/office/drawing/2014/main" id="{DA303950-BDAB-DDC7-0FD1-0CFB8D679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3038" y="4175125"/>
            <a:ext cx="1238250" cy="1423988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15" name="Oval 19">
            <a:extLst>
              <a:ext uri="{FF2B5EF4-FFF2-40B4-BE49-F238E27FC236}">
                <a16:creationId xmlns:a16="http://schemas.microsoft.com/office/drawing/2014/main" id="{DD57D45A-27DF-EDA1-ECE4-BFDC0C275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9713" y="4251325"/>
            <a:ext cx="1104900" cy="1270000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16" name="Oval 20">
            <a:extLst>
              <a:ext uri="{FF2B5EF4-FFF2-40B4-BE49-F238E27FC236}">
                <a16:creationId xmlns:a16="http://schemas.microsoft.com/office/drawing/2014/main" id="{3A01766D-8068-13F5-A00C-086CFB9148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388" y="4329113"/>
            <a:ext cx="936625" cy="1116012"/>
          </a:xfrm>
          <a:prstGeom prst="ellipse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17" name="Oval 21">
            <a:extLst>
              <a:ext uri="{FF2B5EF4-FFF2-40B4-BE49-F238E27FC236}">
                <a16:creationId xmlns:a16="http://schemas.microsoft.com/office/drawing/2014/main" id="{D3D3A048-6647-E0C7-9924-66B5B9ED7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4405313"/>
            <a:ext cx="803275" cy="962025"/>
          </a:xfrm>
          <a:prstGeom prst="ellipse">
            <a:avLst/>
          </a:prstGeom>
          <a:blipFill dpi="0" rotWithShape="0">
            <a:blip r:embed="rId6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18" name="Oval 22">
            <a:extLst>
              <a:ext uri="{FF2B5EF4-FFF2-40B4-BE49-F238E27FC236}">
                <a16:creationId xmlns:a16="http://schemas.microsoft.com/office/drawing/2014/main" id="{F6F71049-8F0B-0389-AADA-0E3CBB184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9738" y="4483100"/>
            <a:ext cx="669925" cy="808038"/>
          </a:xfrm>
          <a:prstGeom prst="ellipse">
            <a:avLst/>
          </a:prstGeom>
          <a:blipFill dpi="0" rotWithShape="0">
            <a:blip r:embed="rId7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19" name="Oval 23">
            <a:extLst>
              <a:ext uri="{FF2B5EF4-FFF2-40B4-BE49-F238E27FC236}">
                <a16:creationId xmlns:a16="http://schemas.microsoft.com/office/drawing/2014/main" id="{0EFE6341-3875-7E3D-6A47-E2EC8CDCE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8000" y="4559300"/>
            <a:ext cx="534988" cy="615950"/>
          </a:xfrm>
          <a:prstGeom prst="ellipse">
            <a:avLst/>
          </a:prstGeom>
          <a:blipFill dpi="0" rotWithShape="0">
            <a:blip r:embed="rId8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0" name="Oval 24">
            <a:extLst>
              <a:ext uri="{FF2B5EF4-FFF2-40B4-BE49-F238E27FC236}">
                <a16:creationId xmlns:a16="http://schemas.microsoft.com/office/drawing/2014/main" id="{97269156-571F-E35A-B94D-C97CFE024D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4637088"/>
            <a:ext cx="401638" cy="461962"/>
          </a:xfrm>
          <a:prstGeom prst="ellipse">
            <a:avLst/>
          </a:prstGeom>
          <a:blipFill dpi="0" rotWithShape="0">
            <a:blip r:embed="rId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1" name="Oval 25">
            <a:extLst>
              <a:ext uri="{FF2B5EF4-FFF2-40B4-BE49-F238E27FC236}">
                <a16:creationId xmlns:a16="http://schemas.microsoft.com/office/drawing/2014/main" id="{176F0756-6E19-F2A5-6AB5-D58EE6AEC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0" y="4713288"/>
            <a:ext cx="268288" cy="307975"/>
          </a:xfrm>
          <a:prstGeom prst="ellipse">
            <a:avLst/>
          </a:prstGeom>
          <a:blipFill dpi="0" rotWithShape="0">
            <a:blip r:embed="rId10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2" name="Oval 26">
            <a:extLst>
              <a:ext uri="{FF2B5EF4-FFF2-40B4-BE49-F238E27FC236}">
                <a16:creationId xmlns:a16="http://schemas.microsoft.com/office/drawing/2014/main" id="{0F713EE1-899E-3B53-ADE2-411BC2E2B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78025" y="4791075"/>
            <a:ext cx="133350" cy="15398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3" name="AutoShape 27">
            <a:extLst>
              <a:ext uri="{FF2B5EF4-FFF2-40B4-BE49-F238E27FC236}">
                <a16:creationId xmlns:a16="http://schemas.microsoft.com/office/drawing/2014/main" id="{D073D1F0-12E0-6F90-9591-3C0D38A23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238" y="4498975"/>
            <a:ext cx="1339850" cy="776288"/>
          </a:xfrm>
          <a:prstGeom prst="roundRect">
            <a:avLst>
              <a:gd name="adj" fmla="val 47620"/>
            </a:avLst>
          </a:prstGeom>
          <a:noFill/>
          <a:ln w="333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4" name="Rectangle 28">
            <a:extLst>
              <a:ext uri="{FF2B5EF4-FFF2-40B4-BE49-F238E27FC236}">
                <a16:creationId xmlns:a16="http://schemas.microsoft.com/office/drawing/2014/main" id="{10B6BE21-16A8-8FE7-198D-7174A592A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4675" y="4675188"/>
            <a:ext cx="457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OK</a:t>
            </a: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0925" name="Oval 29">
            <a:extLst>
              <a:ext uri="{FF2B5EF4-FFF2-40B4-BE49-F238E27FC236}">
                <a16:creationId xmlns:a16="http://schemas.microsoft.com/office/drawing/2014/main" id="{852EB75C-1178-1C51-FCE4-049CF43DD0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4575" y="4097338"/>
            <a:ext cx="1338263" cy="1577975"/>
          </a:xfrm>
          <a:prstGeom prst="ellipse">
            <a:avLst/>
          </a:prstGeom>
          <a:solidFill>
            <a:srgbClr val="D8E7F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6" name="Oval 30">
            <a:extLst>
              <a:ext uri="{FF2B5EF4-FFF2-40B4-BE49-F238E27FC236}">
                <a16:creationId xmlns:a16="http://schemas.microsoft.com/office/drawing/2014/main" id="{EB3770C3-D579-B3F5-72B7-C81E017FD7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1250" y="4175125"/>
            <a:ext cx="1204913" cy="1423988"/>
          </a:xfrm>
          <a:prstGeom prst="ellipse">
            <a:avLst/>
          </a:prstGeom>
          <a:blipFill dpi="0" rotWithShape="0">
            <a:blip r:embed="rId3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7" name="Oval 31">
            <a:extLst>
              <a:ext uri="{FF2B5EF4-FFF2-40B4-BE49-F238E27FC236}">
                <a16:creationId xmlns:a16="http://schemas.microsoft.com/office/drawing/2014/main" id="{482D5052-9DBD-807B-3871-EE63FD53D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925" y="4251325"/>
            <a:ext cx="1071563" cy="1270000"/>
          </a:xfrm>
          <a:prstGeom prst="ellipse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8" name="Oval 32">
            <a:extLst>
              <a:ext uri="{FF2B5EF4-FFF2-40B4-BE49-F238E27FC236}">
                <a16:creationId xmlns:a16="http://schemas.microsoft.com/office/drawing/2014/main" id="{3F88E154-D174-661A-C933-ED7F8555A2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6188" y="4329113"/>
            <a:ext cx="936625" cy="1116012"/>
          </a:xfrm>
          <a:prstGeom prst="ellipse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29" name="Oval 33">
            <a:extLst>
              <a:ext uri="{FF2B5EF4-FFF2-40B4-BE49-F238E27FC236}">
                <a16:creationId xmlns:a16="http://schemas.microsoft.com/office/drawing/2014/main" id="{08F53597-7875-CFA2-8131-89A9A3E41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4405313"/>
            <a:ext cx="803275" cy="962025"/>
          </a:xfrm>
          <a:prstGeom prst="ellipse">
            <a:avLst/>
          </a:prstGeom>
          <a:blipFill dpi="0" rotWithShape="0">
            <a:blip r:embed="rId6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30" name="Oval 34">
            <a:extLst>
              <a:ext uri="{FF2B5EF4-FFF2-40B4-BE49-F238E27FC236}">
                <a16:creationId xmlns:a16="http://schemas.microsoft.com/office/drawing/2014/main" id="{10EEE52C-7766-A0B9-9345-611C942B3A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38" y="4483100"/>
            <a:ext cx="669925" cy="808038"/>
          </a:xfrm>
          <a:prstGeom prst="ellipse">
            <a:avLst/>
          </a:prstGeom>
          <a:blipFill dpi="0" rotWithShape="0">
            <a:blip r:embed="rId7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31" name="Oval 35">
            <a:extLst>
              <a:ext uri="{FF2B5EF4-FFF2-40B4-BE49-F238E27FC236}">
                <a16:creationId xmlns:a16="http://schemas.microsoft.com/office/drawing/2014/main" id="{637D4D72-4692-A4C5-0E3B-5ADE7418C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86213" y="4559300"/>
            <a:ext cx="568325" cy="615950"/>
          </a:xfrm>
          <a:prstGeom prst="ellipse">
            <a:avLst/>
          </a:prstGeom>
          <a:blipFill dpi="0" rotWithShape="0">
            <a:blip r:embed="rId8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32" name="Oval 36">
            <a:extLst>
              <a:ext uri="{FF2B5EF4-FFF2-40B4-BE49-F238E27FC236}">
                <a16:creationId xmlns:a16="http://schemas.microsoft.com/office/drawing/2014/main" id="{DDC6FD7A-A60A-543E-EE4B-419BC5AAB7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2888" y="4637088"/>
            <a:ext cx="434975" cy="461962"/>
          </a:xfrm>
          <a:prstGeom prst="ellipse">
            <a:avLst/>
          </a:prstGeom>
          <a:blipFill dpi="0" rotWithShape="0">
            <a:blip r:embed="rId9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33" name="Oval 37">
            <a:extLst>
              <a:ext uri="{FF2B5EF4-FFF2-40B4-BE49-F238E27FC236}">
                <a16:creationId xmlns:a16="http://schemas.microsoft.com/office/drawing/2014/main" id="{32C4C65E-08B0-EC20-C35A-BEC368D5F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2900" y="4713288"/>
            <a:ext cx="268288" cy="307975"/>
          </a:xfrm>
          <a:prstGeom prst="ellipse">
            <a:avLst/>
          </a:prstGeom>
          <a:blipFill dpi="0" rotWithShape="0">
            <a:blip r:embed="rId10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34" name="Oval 38">
            <a:extLst>
              <a:ext uri="{FF2B5EF4-FFF2-40B4-BE49-F238E27FC236}">
                <a16:creationId xmlns:a16="http://schemas.microsoft.com/office/drawing/2014/main" id="{F31EEC3D-95A3-209E-E4E8-A3B8F918D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1163" y="4791075"/>
            <a:ext cx="133350" cy="153988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35" name="AutoShape 39">
            <a:extLst>
              <a:ext uri="{FF2B5EF4-FFF2-40B4-BE49-F238E27FC236}">
                <a16:creationId xmlns:a16="http://schemas.microsoft.com/office/drawing/2014/main" id="{7B7564BE-0F44-5183-0979-B53932CB26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788" y="4498975"/>
            <a:ext cx="1306512" cy="776288"/>
          </a:xfrm>
          <a:prstGeom prst="roundRect">
            <a:avLst>
              <a:gd name="adj" fmla="val 47620"/>
            </a:avLst>
          </a:prstGeom>
          <a:noFill/>
          <a:ln w="33338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80936" name="Rectangle 40">
            <a:extLst>
              <a:ext uri="{FF2B5EF4-FFF2-40B4-BE49-F238E27FC236}">
                <a16:creationId xmlns:a16="http://schemas.microsoft.com/office/drawing/2014/main" id="{145B6870-2A09-CE7F-1603-2D14A9A6D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2863" y="4675188"/>
            <a:ext cx="10001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b="1">
                <a:solidFill>
                  <a:srgbClr val="000000"/>
                </a:solidFill>
                <a:latin typeface="Arial" panose="020B0604020202020204" pitchFamily="34" charset="0"/>
              </a:rPr>
              <a:t>Cancel</a:t>
            </a:r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>
            <a:extLst>
              <a:ext uri="{FF2B5EF4-FFF2-40B4-BE49-F238E27FC236}">
                <a16:creationId xmlns:a16="http://schemas.microsoft.com/office/drawing/2014/main" id="{5BF3EACA-888C-3A7E-B142-E66C763D7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 sz="3200"/>
              <a:t>System and user-oriented error messages</a:t>
            </a:r>
            <a:endParaRPr lang="en-GB" altLang="en-US"/>
          </a:p>
        </p:txBody>
      </p:sp>
      <p:pic>
        <p:nvPicPr>
          <p:cNvPr id="82949" name="Picture 5">
            <a:extLst>
              <a:ext uri="{FF2B5EF4-FFF2-40B4-BE49-F238E27FC236}">
                <a16:creationId xmlns:a16="http://schemas.microsoft.com/office/drawing/2014/main" id="{5C5CBA71-026B-7E6A-2D53-558B46EF2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447925"/>
            <a:ext cx="8799513" cy="2646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9042A28F-2DCA-36F5-46E9-80D87C972D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Help system design</a:t>
            </a:r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D592CAD8-55E0-77B6-EF8D-22B241B4E6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800" i="1" dirty="0"/>
              <a:t>Help?</a:t>
            </a:r>
            <a:r>
              <a:rPr lang="en-GB" altLang="en-US" sz="2800" dirty="0"/>
              <a:t> means ‘help I want information”</a:t>
            </a:r>
          </a:p>
          <a:p>
            <a:r>
              <a:rPr lang="en-GB" altLang="en-US" sz="2800" i="1" dirty="0"/>
              <a:t>Help!</a:t>
            </a:r>
            <a:r>
              <a:rPr lang="en-GB" altLang="en-US" sz="2800" dirty="0"/>
              <a:t> means “HELP. I'm in trouble”</a:t>
            </a:r>
          </a:p>
          <a:p>
            <a:r>
              <a:rPr lang="en-GB" altLang="en-US" sz="2800" dirty="0"/>
              <a:t>Both of these requirements have to be taken </a:t>
            </a:r>
            <a:br>
              <a:rPr lang="en-GB" altLang="en-US" sz="2800" dirty="0"/>
            </a:br>
            <a:r>
              <a:rPr lang="en-GB" altLang="en-US" sz="2800" dirty="0"/>
              <a:t>into account in help system design</a:t>
            </a:r>
          </a:p>
          <a:p>
            <a:r>
              <a:rPr lang="en-GB" altLang="en-US" sz="2800" dirty="0"/>
              <a:t>Different facilities in the help system may be </a:t>
            </a:r>
            <a:br>
              <a:rPr lang="en-GB" altLang="en-US" sz="2800" dirty="0"/>
            </a:br>
            <a:r>
              <a:rPr lang="en-GB" altLang="en-US" sz="2800" dirty="0"/>
              <a:t>required</a:t>
            </a:r>
          </a:p>
        </p:txBody>
      </p:sp>
    </p:spTree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8EF4C21E-506D-D056-2AD5-06A600979E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Help information </a:t>
            </a:r>
          </a:p>
        </p:txBody>
      </p:sp>
      <p:sp>
        <p:nvSpPr>
          <p:cNvPr id="87043" name="Rectangle 3">
            <a:extLst>
              <a:ext uri="{FF2B5EF4-FFF2-40B4-BE49-F238E27FC236}">
                <a16:creationId xmlns:a16="http://schemas.microsoft.com/office/drawing/2014/main" id="{71F103A9-5665-3312-FA51-4ECD7256CB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800" dirty="0"/>
              <a:t>Should not simply be an on-line manual</a:t>
            </a:r>
          </a:p>
          <a:p>
            <a:r>
              <a:rPr lang="en-GB" altLang="en-US" sz="2800" dirty="0"/>
              <a:t>Screens or windows don't map well onto paper </a:t>
            </a:r>
            <a:br>
              <a:rPr lang="en-GB" altLang="en-US" sz="2800" dirty="0"/>
            </a:br>
            <a:r>
              <a:rPr lang="en-GB" altLang="en-US" sz="2800" dirty="0"/>
              <a:t>pages.</a:t>
            </a:r>
          </a:p>
          <a:p>
            <a:r>
              <a:rPr lang="en-GB" altLang="en-US" sz="2800" dirty="0"/>
              <a:t>The dynamic characteristics of the display can </a:t>
            </a:r>
            <a:br>
              <a:rPr lang="en-GB" altLang="en-US" sz="2800" dirty="0"/>
            </a:br>
            <a:r>
              <a:rPr lang="en-GB" altLang="en-US" sz="2800" dirty="0"/>
              <a:t>improve information presentation.</a:t>
            </a:r>
          </a:p>
          <a:p>
            <a:r>
              <a:rPr lang="en-GB" altLang="en-US" sz="2800" dirty="0"/>
              <a:t>People are not so good at reading screen as </a:t>
            </a:r>
            <a:br>
              <a:rPr lang="en-GB" altLang="en-US" sz="2800" dirty="0"/>
            </a:br>
            <a:r>
              <a:rPr lang="en-GB" altLang="en-US" sz="2800" dirty="0"/>
              <a:t>they are text.</a:t>
            </a:r>
          </a:p>
        </p:txBody>
      </p:sp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>
            <a:extLst>
              <a:ext uri="{FF2B5EF4-FFF2-40B4-BE49-F238E27FC236}">
                <a16:creationId xmlns:a16="http://schemas.microsoft.com/office/drawing/2014/main" id="{E6621065-3D5A-53C4-1E9C-67CB65C34B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Help system use</a:t>
            </a:r>
          </a:p>
        </p:txBody>
      </p:sp>
      <p:sp>
        <p:nvSpPr>
          <p:cNvPr id="89091" name="Rectangle 3">
            <a:extLst>
              <a:ext uri="{FF2B5EF4-FFF2-40B4-BE49-F238E27FC236}">
                <a16:creationId xmlns:a16="http://schemas.microsoft.com/office/drawing/2014/main" id="{4DF82B50-A767-677F-DB10-7D96A998A3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Multiple entry points should be provided so that </a:t>
            </a:r>
            <a:br>
              <a:rPr lang="en-GB" altLang="en-US" sz="2400" dirty="0"/>
            </a:br>
            <a:r>
              <a:rPr lang="en-GB" altLang="en-US" sz="2400" dirty="0"/>
              <a:t>the user can get into the help system from </a:t>
            </a:r>
            <a:br>
              <a:rPr lang="en-GB" altLang="en-US" sz="2400" dirty="0"/>
            </a:br>
            <a:r>
              <a:rPr lang="en-GB" altLang="en-US" sz="2400" dirty="0"/>
              <a:t>different places.</a:t>
            </a:r>
          </a:p>
          <a:p>
            <a:r>
              <a:rPr lang="en-GB" altLang="en-US" sz="2400" dirty="0"/>
              <a:t>Some indication of where the user is positioned </a:t>
            </a:r>
            <a:br>
              <a:rPr lang="en-GB" altLang="en-US" sz="2400" dirty="0"/>
            </a:br>
            <a:r>
              <a:rPr lang="en-GB" altLang="en-US" sz="2400" dirty="0"/>
              <a:t>in the help system is valuable.</a:t>
            </a:r>
          </a:p>
          <a:p>
            <a:r>
              <a:rPr lang="en-GB" altLang="en-US" sz="2400" dirty="0"/>
              <a:t>Facilities should be provided to allow the user </a:t>
            </a:r>
            <a:br>
              <a:rPr lang="en-GB" altLang="en-US" sz="2400" dirty="0"/>
            </a:br>
            <a:r>
              <a:rPr lang="en-GB" altLang="en-US" sz="2400" dirty="0"/>
              <a:t>to navigate and traverse the help system.</a:t>
            </a:r>
          </a:p>
        </p:txBody>
      </p:sp>
    </p:spTree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777E9546-667D-F61F-81DC-7AE28AA47B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Entry points to a help system</a:t>
            </a:r>
          </a:p>
        </p:txBody>
      </p:sp>
      <p:sp>
        <p:nvSpPr>
          <p:cNvPr id="91139" name="Rectangle 3">
            <a:extLst>
              <a:ext uri="{FF2B5EF4-FFF2-40B4-BE49-F238E27FC236}">
                <a16:creationId xmlns:a16="http://schemas.microsoft.com/office/drawing/2014/main" id="{B24AE8C2-B646-3F5D-9EF7-4083095AA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8775" y="1951038"/>
            <a:ext cx="1746250" cy="203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pic>
        <p:nvPicPr>
          <p:cNvPr id="91140" name="Picture 4">
            <a:extLst>
              <a:ext uri="{FF2B5EF4-FFF2-40B4-BE49-F238E27FC236}">
                <a16:creationId xmlns:a16="http://schemas.microsoft.com/office/drawing/2014/main" id="{04493F5D-D533-1251-B071-0CD84235A817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6513" y="1606550"/>
            <a:ext cx="6326187" cy="473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>
            <a:extLst>
              <a:ext uri="{FF2B5EF4-FFF2-40B4-BE49-F238E27FC236}">
                <a16:creationId xmlns:a16="http://schemas.microsoft.com/office/drawing/2014/main" id="{7942F1BE-6897-02F7-6DFF-57F311BA9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Help system windows</a:t>
            </a:r>
          </a:p>
        </p:txBody>
      </p:sp>
      <p:pic>
        <p:nvPicPr>
          <p:cNvPr id="93187" name="Picture 3">
            <a:extLst>
              <a:ext uri="{FF2B5EF4-FFF2-40B4-BE49-F238E27FC236}">
                <a16:creationId xmlns:a16="http://schemas.microsoft.com/office/drawing/2014/main" id="{113E12C6-375D-1721-CA3F-F0EE4D39D4C0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25" y="1543050"/>
            <a:ext cx="6823075" cy="4773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3188" name="Line 4">
            <a:extLst>
              <a:ext uri="{FF2B5EF4-FFF2-40B4-BE49-F238E27FC236}">
                <a16:creationId xmlns:a16="http://schemas.microsoft.com/office/drawing/2014/main" id="{93D91F30-20DD-45EF-E274-CB570FDEB9B6}"/>
              </a:ext>
            </a:extLst>
          </p:cNvPr>
          <p:cNvSpPr>
            <a:spLocks noChangeShapeType="1"/>
          </p:cNvSpPr>
          <p:nvPr/>
        </p:nvSpPr>
        <p:spPr bwMode="auto">
          <a:xfrm>
            <a:off x="752475" y="6335713"/>
            <a:ext cx="67976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  <p:sp>
        <p:nvSpPr>
          <p:cNvPr id="93189" name="Line 5">
            <a:extLst>
              <a:ext uri="{FF2B5EF4-FFF2-40B4-BE49-F238E27FC236}">
                <a16:creationId xmlns:a16="http://schemas.microsoft.com/office/drawing/2014/main" id="{A66B0591-4AD4-3AEC-7206-8CF6933E1D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556500" y="1566863"/>
            <a:ext cx="0" cy="47625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MY"/>
          </a:p>
        </p:txBody>
      </p:sp>
    </p:spTree>
  </p:cSld>
  <p:clrMapOvr>
    <a:masterClrMapping/>
  </p:clrMapOvr>
  <p:transition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8886D00B-F2A9-97B1-0F51-32C384BF5A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User documentation</a:t>
            </a:r>
          </a:p>
        </p:txBody>
      </p:sp>
      <p:sp>
        <p:nvSpPr>
          <p:cNvPr id="95235" name="Rectangle 3">
            <a:extLst>
              <a:ext uri="{FF2B5EF4-FFF2-40B4-BE49-F238E27FC236}">
                <a16:creationId xmlns:a16="http://schemas.microsoft.com/office/drawing/2014/main" id="{ECDAC334-CCC0-129F-AE84-95F5F684D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As well as on-line information, paper documentation should be supplied with a system</a:t>
            </a:r>
          </a:p>
          <a:p>
            <a:r>
              <a:rPr lang="en-GB" altLang="en-US"/>
              <a:t>Documentation should be designed for a range of users from inexperienced to experienced</a:t>
            </a:r>
          </a:p>
          <a:p>
            <a:r>
              <a:rPr lang="en-GB" altLang="en-US"/>
              <a:t>As well as manuals, other easy-to-use documentation such as a quick reference card may be provided</a:t>
            </a:r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>
            <a:extLst>
              <a:ext uri="{FF2B5EF4-FFF2-40B4-BE49-F238E27FC236}">
                <a16:creationId xmlns:a16="http://schemas.microsoft.com/office/drawing/2014/main" id="{AAE63BB3-1768-8132-073E-D6F8EDC3777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User document types</a:t>
            </a:r>
          </a:p>
        </p:txBody>
      </p:sp>
      <p:pic>
        <p:nvPicPr>
          <p:cNvPr id="96259" name="Picture 3">
            <a:extLst>
              <a:ext uri="{FF2B5EF4-FFF2-40B4-BE49-F238E27FC236}">
                <a16:creationId xmlns:a16="http://schemas.microsoft.com/office/drawing/2014/main" id="{DF0AA2D1-7BEC-3D93-58C6-17174B2D36FA}"/>
              </a:ext>
            </a:extLst>
          </p:cNvPr>
          <p:cNvPicPr>
            <a:picLocks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" y="2312988"/>
            <a:ext cx="8816975" cy="3170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FD6840FB-DFB7-C1CD-B575-2FCDF37DB3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Document types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574DB2EF-7DB7-E8A0-4F9F-283371DF43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90600" y="1676400"/>
            <a:ext cx="7804150" cy="4600575"/>
          </a:xfrm>
          <a:noFill/>
          <a:ln/>
        </p:spPr>
        <p:txBody>
          <a:bodyPr/>
          <a:lstStyle/>
          <a:p>
            <a:r>
              <a:rPr lang="en-GB" altLang="en-US" sz="2400" dirty="0"/>
              <a:t>Functional description</a:t>
            </a:r>
          </a:p>
          <a:p>
            <a:pPr lvl="1"/>
            <a:r>
              <a:rPr lang="en-GB" altLang="en-US" sz="2000" dirty="0"/>
              <a:t>Brief description of what the system can do</a:t>
            </a:r>
          </a:p>
          <a:p>
            <a:r>
              <a:rPr lang="en-GB" altLang="en-US" sz="2400" dirty="0"/>
              <a:t>Introductory manual</a:t>
            </a:r>
          </a:p>
          <a:p>
            <a:pPr lvl="1"/>
            <a:r>
              <a:rPr lang="en-GB" altLang="en-US" sz="2000" dirty="0"/>
              <a:t>Presents an informal introduction to the system</a:t>
            </a:r>
          </a:p>
          <a:p>
            <a:r>
              <a:rPr lang="en-GB" altLang="en-US" sz="2400" dirty="0"/>
              <a:t>System reference manual</a:t>
            </a:r>
          </a:p>
          <a:p>
            <a:pPr lvl="1"/>
            <a:r>
              <a:rPr lang="en-GB" altLang="en-US" sz="2000" dirty="0"/>
              <a:t>Describes all system facilities in detail</a:t>
            </a:r>
          </a:p>
          <a:p>
            <a:r>
              <a:rPr lang="en-GB" altLang="en-US" sz="2400" dirty="0"/>
              <a:t>System installation manual</a:t>
            </a:r>
          </a:p>
          <a:p>
            <a:pPr lvl="1"/>
            <a:r>
              <a:rPr lang="en-GB" altLang="en-US" sz="2000" dirty="0"/>
              <a:t>Describes how to install the system</a:t>
            </a:r>
          </a:p>
          <a:p>
            <a:r>
              <a:rPr lang="en-GB" altLang="en-US" sz="2400" dirty="0"/>
              <a:t>System administrator’s manual</a:t>
            </a:r>
          </a:p>
          <a:p>
            <a:pPr lvl="1"/>
            <a:r>
              <a:rPr lang="en-GB" altLang="en-US" sz="2000" dirty="0"/>
              <a:t>Describes how to manage the system when it is in use</a:t>
            </a:r>
          </a:p>
        </p:txBody>
      </p:sp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>
            <a:extLst>
              <a:ext uri="{FF2B5EF4-FFF2-40B4-BE49-F238E27FC236}">
                <a16:creationId xmlns:a16="http://schemas.microsoft.com/office/drawing/2014/main" id="{4495EEBD-2E75-783C-10B6-5499ABE8A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User interface evaluation</a:t>
            </a:r>
          </a:p>
        </p:txBody>
      </p:sp>
      <p:sp>
        <p:nvSpPr>
          <p:cNvPr id="98307" name="Rectangle 3">
            <a:extLst>
              <a:ext uri="{FF2B5EF4-FFF2-40B4-BE49-F238E27FC236}">
                <a16:creationId xmlns:a16="http://schemas.microsoft.com/office/drawing/2014/main" id="{DBB56987-E09E-F319-C10D-8A5DE39F74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Some evaluation of a user interface design </a:t>
            </a:r>
            <a:br>
              <a:rPr lang="en-GB" altLang="en-US" sz="2400" dirty="0"/>
            </a:br>
            <a:r>
              <a:rPr lang="en-GB" altLang="en-US" sz="2400" dirty="0"/>
              <a:t>should be carried out to assess its suitability</a:t>
            </a:r>
          </a:p>
          <a:p>
            <a:r>
              <a:rPr lang="en-GB" altLang="en-US" sz="2400" dirty="0"/>
              <a:t>Full scale evaluation is very expensive and </a:t>
            </a:r>
            <a:br>
              <a:rPr lang="en-GB" altLang="en-US" sz="2400" dirty="0"/>
            </a:br>
            <a:r>
              <a:rPr lang="en-GB" altLang="en-US" sz="2400" dirty="0"/>
              <a:t>impractical for most systems</a:t>
            </a:r>
          </a:p>
          <a:p>
            <a:r>
              <a:rPr lang="en-GB" altLang="en-US" sz="2400" dirty="0"/>
              <a:t>Ideally, an interface should be evaluated against a usability specification. However, it is rare for such specifications to be produced</a:t>
            </a: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>
            <a:extLst>
              <a:ext uri="{FF2B5EF4-FFF2-40B4-BE49-F238E27FC236}">
                <a16:creationId xmlns:a16="http://schemas.microsoft.com/office/drawing/2014/main" id="{BD7437AC-E0C0-C186-9C3F-6641CDE012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Usability attributes</a:t>
            </a:r>
          </a:p>
        </p:txBody>
      </p:sp>
      <p:graphicFrame>
        <p:nvGraphicFramePr>
          <p:cNvPr id="100355" name="Object 3">
            <a:extLst>
              <a:ext uri="{FF2B5EF4-FFF2-40B4-BE49-F238E27FC236}">
                <a16:creationId xmlns:a16="http://schemas.microsoft.com/office/drawing/2014/main" id="{47CFECE0-7687-B97F-A370-6B89A9C951BF}"/>
              </a:ext>
            </a:extLst>
          </p:cNvPr>
          <p:cNvGraphicFramePr>
            <a:graphicFrameLocks/>
          </p:cNvGraphicFramePr>
          <p:nvPr/>
        </p:nvGraphicFramePr>
        <p:xfrm>
          <a:off x="206375" y="1927225"/>
          <a:ext cx="8512175" cy="3970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3594100" imgH="1676400" progId="Word.Document.6">
                  <p:embed/>
                </p:oleObj>
              </mc:Choice>
              <mc:Fallback>
                <p:oleObj name="Document" r:id="rId2" imgW="3594100" imgH="1676400" progId="Word.Document.6">
                  <p:embed/>
                  <p:pic>
                    <p:nvPicPr>
                      <p:cNvPr id="100355" name="Object 3">
                        <a:extLst>
                          <a:ext uri="{FF2B5EF4-FFF2-40B4-BE49-F238E27FC236}">
                            <a16:creationId xmlns:a16="http://schemas.microsoft.com/office/drawing/2014/main" id="{47CFECE0-7687-B97F-A370-6B89A9C951B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1927225"/>
                        <a:ext cx="8512175" cy="3970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A3E5DD49-263C-50BC-74FC-8BE59B7E73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Simple evaluation techniques</a:t>
            </a: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4CBC8DC7-3E32-64EB-20D4-D8F2BBF97A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Questionnaires for user feedback</a:t>
            </a:r>
          </a:p>
          <a:p>
            <a:r>
              <a:rPr lang="en-GB" altLang="en-US" sz="2400" dirty="0"/>
              <a:t>Video recording of system use and subsequent </a:t>
            </a:r>
            <a:br>
              <a:rPr lang="en-GB" altLang="en-US" sz="2400" dirty="0"/>
            </a:br>
            <a:r>
              <a:rPr lang="en-GB" altLang="en-US" sz="2400" dirty="0"/>
              <a:t>tape evaluation.</a:t>
            </a:r>
          </a:p>
          <a:p>
            <a:r>
              <a:rPr lang="en-GB" altLang="en-US" sz="2400" dirty="0"/>
              <a:t>Instrumentation of code to collect information </a:t>
            </a:r>
            <a:br>
              <a:rPr lang="en-GB" altLang="en-US" sz="2400" dirty="0"/>
            </a:br>
            <a:r>
              <a:rPr lang="en-GB" altLang="en-US" sz="2400" dirty="0"/>
              <a:t>about facility use and user errors.</a:t>
            </a:r>
          </a:p>
          <a:p>
            <a:r>
              <a:rPr lang="en-GB" altLang="en-US" sz="2400" dirty="0"/>
              <a:t>The provision of a grip button for on-line user </a:t>
            </a:r>
            <a:br>
              <a:rPr lang="en-GB" altLang="en-US" sz="2400" dirty="0"/>
            </a:br>
            <a:r>
              <a:rPr lang="en-GB" altLang="en-US" sz="2400" dirty="0"/>
              <a:t>feedback.</a:t>
            </a: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2D93-FFFD-0DA5-5491-EBA80F9C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Textbook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A83CB5-7D29-1BB8-DA85-07435BD8F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Pressman, R. S. (2020). Software engineering: A practitioner’s approach (9th ed.). McGraw Hill.</a:t>
            </a:r>
          </a:p>
          <a:p>
            <a:r>
              <a:rPr lang="en-US"/>
              <a:t>Sommerville</a:t>
            </a:r>
            <a:r>
              <a:rPr lang="en-US" dirty="0"/>
              <a:t>, I. (2021). Software engineering (10th ed.). Pearson Addison Wesley.</a:t>
            </a:r>
            <a:endParaRPr lang="en-MY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77E32B-727E-5673-871B-79E809393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F7F1C-1DB9-AF2C-0905-F0002E36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BA85B20-BB4C-E54A-8F56-09F94BE4E442}" type="slidenum">
              <a:rPr lang="en-US" smtClean="0"/>
              <a:pPr>
                <a:defRPr/>
              </a:pPr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9323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CF4BF7C9-F0D2-668B-A4C5-2A489536D5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Key points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D7853278-AD67-1DA2-D549-880FCCF064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Interface design should be user-centred. An interface should be logical and consistent and help users recover from errors</a:t>
            </a:r>
          </a:p>
          <a:p>
            <a:r>
              <a:rPr lang="en-GB" altLang="en-US" sz="2400" dirty="0"/>
              <a:t>Interaction styles include direct manipulation, menu systems form fill-in, command languages and natural language</a:t>
            </a:r>
          </a:p>
          <a:p>
            <a:r>
              <a:rPr lang="en-GB" altLang="en-US" sz="2400" dirty="0"/>
              <a:t>Graphical displays should be used to present trends and approximate values. Digital displays when precision is required</a:t>
            </a:r>
          </a:p>
          <a:p>
            <a:r>
              <a:rPr lang="en-GB" altLang="en-US" sz="2400" dirty="0"/>
              <a:t>Colour should be used sparingly and consistently</a:t>
            </a:r>
          </a:p>
        </p:txBody>
      </p:sp>
    </p:spTree>
  </p:cSld>
  <p:clrMapOvr>
    <a:masterClrMapping/>
  </p:clrMapOvr>
  <p:transition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CD9ECCD4-ED57-B46A-022D-0FB7AE092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n-GB" altLang="en-US"/>
              <a:t>Key points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C70882F4-63FB-4A29-006E-72E50801A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GB" altLang="en-US" sz="2400" dirty="0"/>
              <a:t>Systems should provide on-line help. This should include “help, I’m in trouble” and “help, I want information”</a:t>
            </a:r>
          </a:p>
          <a:p>
            <a:r>
              <a:rPr lang="en-GB" altLang="en-US" sz="2400" dirty="0"/>
              <a:t>Error messages should be positive rather than </a:t>
            </a:r>
            <a:br>
              <a:rPr lang="en-GB" altLang="en-US" sz="2400" dirty="0"/>
            </a:br>
            <a:r>
              <a:rPr lang="en-GB" altLang="en-US" sz="2400" dirty="0"/>
              <a:t>negative.</a:t>
            </a:r>
          </a:p>
          <a:p>
            <a:r>
              <a:rPr lang="en-GB" altLang="en-US" sz="2400" dirty="0"/>
              <a:t>A range of different types of user documents should be provided</a:t>
            </a:r>
          </a:p>
          <a:p>
            <a:r>
              <a:rPr lang="en-GB" altLang="en-US" sz="2400" dirty="0"/>
              <a:t>Ideally, a user interface should be evaluated against a usability specification</a:t>
            </a:r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-111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itchFamily="-111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1355</TotalTime>
  <Words>3662</Words>
  <Application>Microsoft Office PowerPoint</Application>
  <PresentationFormat>On-screen Show (4:3)</PresentationFormat>
  <Paragraphs>407</Paragraphs>
  <Slides>80</Slides>
  <Notes>44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80</vt:i4>
      </vt:variant>
    </vt:vector>
  </HeadingPairs>
  <TitlesOfParts>
    <vt:vector size="87" baseType="lpstr">
      <vt:lpstr>Arial</vt:lpstr>
      <vt:lpstr>Times New Roman</vt:lpstr>
      <vt:lpstr>Verdana</vt:lpstr>
      <vt:lpstr>Wingdings</vt:lpstr>
      <vt:lpstr>Profile</vt:lpstr>
      <vt:lpstr>Document</vt:lpstr>
      <vt:lpstr>Microsoft Word Document</vt:lpstr>
      <vt:lpstr>Chapter 6</vt:lpstr>
      <vt:lpstr> User interface</vt:lpstr>
      <vt:lpstr>User interface design</vt:lpstr>
      <vt:lpstr>PowerPoint Presentation</vt:lpstr>
      <vt:lpstr>PowerPoint Presentation</vt:lpstr>
      <vt:lpstr>Golden Rules</vt:lpstr>
      <vt:lpstr>Place the User in Control</vt:lpstr>
      <vt:lpstr>Reduce the User’s Memory Load</vt:lpstr>
      <vt:lpstr>Make the Interface Consistent</vt:lpstr>
      <vt:lpstr>User Interface Analysis and Design</vt:lpstr>
      <vt:lpstr>The Models</vt:lpstr>
      <vt:lpstr>The Process - User Analysis </vt:lpstr>
      <vt:lpstr>The Process - Task Analysis and Modeling</vt:lpstr>
      <vt:lpstr>The Process - Analysis of Display Content</vt:lpstr>
      <vt:lpstr>The Process - Interface Design Activities</vt:lpstr>
      <vt:lpstr>Task Analysis and Modeling</vt:lpstr>
      <vt:lpstr>Analysis of Display Content</vt:lpstr>
      <vt:lpstr>Interface Design Steps</vt:lpstr>
      <vt:lpstr>Design Issues</vt:lpstr>
      <vt:lpstr>Interface Design Principles-I</vt:lpstr>
      <vt:lpstr>Interface Design Principles-II</vt:lpstr>
      <vt:lpstr>Interface Design Principles-III</vt:lpstr>
      <vt:lpstr>Aesthetic Design</vt:lpstr>
      <vt:lpstr>Graphical user interfaces</vt:lpstr>
      <vt:lpstr>GUI characteristics</vt:lpstr>
      <vt:lpstr>GUI advantages</vt:lpstr>
      <vt:lpstr>User-centred design</vt:lpstr>
      <vt:lpstr>User interface design process</vt:lpstr>
      <vt:lpstr>UI design principles</vt:lpstr>
      <vt:lpstr>User interface design principles</vt:lpstr>
      <vt:lpstr>Design principles</vt:lpstr>
      <vt:lpstr>Design principles</vt:lpstr>
      <vt:lpstr>User-system interaction</vt:lpstr>
      <vt:lpstr>Interaction styles</vt:lpstr>
      <vt:lpstr>Advantages and disadvantages</vt:lpstr>
      <vt:lpstr>Direct manipulation advantages</vt:lpstr>
      <vt:lpstr>Direct manipulation problems</vt:lpstr>
      <vt:lpstr>Control panel interface</vt:lpstr>
      <vt:lpstr>Menu systems</vt:lpstr>
      <vt:lpstr>Advantages of menu systems</vt:lpstr>
      <vt:lpstr>Problems with menu systems</vt:lpstr>
      <vt:lpstr>Form-based interface</vt:lpstr>
      <vt:lpstr>Command interfaces</vt:lpstr>
      <vt:lpstr>Problems with command interfaces</vt:lpstr>
      <vt:lpstr>Command languages</vt:lpstr>
      <vt:lpstr>Natural language interfaces</vt:lpstr>
      <vt:lpstr>Multiple user interfaces</vt:lpstr>
      <vt:lpstr>Information presentation</vt:lpstr>
      <vt:lpstr>Information presentation</vt:lpstr>
      <vt:lpstr>Model-view-controller</vt:lpstr>
      <vt:lpstr>Information presentation</vt:lpstr>
      <vt:lpstr>Information display factors</vt:lpstr>
      <vt:lpstr>Alternative information presentations</vt:lpstr>
      <vt:lpstr>Analogue vs. digital presentation</vt:lpstr>
      <vt:lpstr>Dynamic information display</vt:lpstr>
      <vt:lpstr>Displaying relative values</vt:lpstr>
      <vt:lpstr>Textual highlighting</vt:lpstr>
      <vt:lpstr>Data visualisation</vt:lpstr>
      <vt:lpstr>Colour displays</vt:lpstr>
      <vt:lpstr>Colour use guidelines</vt:lpstr>
      <vt:lpstr>User support  </vt:lpstr>
      <vt:lpstr>Help and message system</vt:lpstr>
      <vt:lpstr>Error messages</vt:lpstr>
      <vt:lpstr>Design factors in message wording</vt:lpstr>
      <vt:lpstr>Nurse input of a patient’s name</vt:lpstr>
      <vt:lpstr>System and user-oriented error messages</vt:lpstr>
      <vt:lpstr>Help system design</vt:lpstr>
      <vt:lpstr>Help information </vt:lpstr>
      <vt:lpstr>Help system use</vt:lpstr>
      <vt:lpstr>Entry points to a help system</vt:lpstr>
      <vt:lpstr>Help system windows</vt:lpstr>
      <vt:lpstr>User documentation</vt:lpstr>
      <vt:lpstr>User document types</vt:lpstr>
      <vt:lpstr>Document types</vt:lpstr>
      <vt:lpstr>User interface evaluation</vt:lpstr>
      <vt:lpstr>Usability attributes</vt:lpstr>
      <vt:lpstr>Simple evaluation techniques</vt:lpstr>
      <vt:lpstr>Textbook sources</vt:lpstr>
      <vt:lpstr>Key points</vt:lpstr>
      <vt:lpstr>Key points</vt:lpstr>
    </vt:vector>
  </TitlesOfParts>
  <Company>University of Wisconsin - La Crosse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interface design</dc:title>
  <dc:creator>Mao Zheng</dc:creator>
  <cp:lastModifiedBy>AINITA BINTI BAN</cp:lastModifiedBy>
  <cp:revision>65</cp:revision>
  <cp:lastPrinted>2025-06-16T10:04:53Z</cp:lastPrinted>
  <dcterms:created xsi:type="dcterms:W3CDTF">2003-10-30T00:33:51Z</dcterms:created>
  <dcterms:modified xsi:type="dcterms:W3CDTF">2025-06-16T10:07:21Z</dcterms:modified>
</cp:coreProperties>
</file>